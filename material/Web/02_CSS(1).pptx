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0"/>
  </p:notesMasterIdLst>
  <p:sldIdLst>
    <p:sldId id="1004" r:id="rId2"/>
    <p:sldId id="1005" r:id="rId3"/>
    <p:sldId id="1006" r:id="rId4"/>
    <p:sldId id="557" r:id="rId5"/>
    <p:sldId id="288" r:id="rId6"/>
    <p:sldId id="289" r:id="rId7"/>
    <p:sldId id="262" r:id="rId8"/>
    <p:sldId id="1007" r:id="rId9"/>
    <p:sldId id="290" r:id="rId10"/>
    <p:sldId id="266" r:id="rId11"/>
    <p:sldId id="267" r:id="rId12"/>
    <p:sldId id="269" r:id="rId13"/>
    <p:sldId id="1008" r:id="rId14"/>
    <p:sldId id="293" r:id="rId15"/>
    <p:sldId id="296" r:id="rId16"/>
    <p:sldId id="332" r:id="rId17"/>
    <p:sldId id="344" r:id="rId18"/>
    <p:sldId id="260" r:id="rId19"/>
    <p:sldId id="261" r:id="rId20"/>
    <p:sldId id="346" r:id="rId21"/>
    <p:sldId id="694" r:id="rId22"/>
    <p:sldId id="691" r:id="rId23"/>
    <p:sldId id="297" r:id="rId24"/>
    <p:sldId id="298" r:id="rId25"/>
    <p:sldId id="299" r:id="rId26"/>
    <p:sldId id="300" r:id="rId27"/>
    <p:sldId id="684" r:id="rId28"/>
    <p:sldId id="690" r:id="rId29"/>
    <p:sldId id="301" r:id="rId30"/>
    <p:sldId id="349" r:id="rId31"/>
    <p:sldId id="302" r:id="rId32"/>
    <p:sldId id="303" r:id="rId33"/>
    <p:sldId id="304" r:id="rId34"/>
    <p:sldId id="683" r:id="rId35"/>
    <p:sldId id="689" r:id="rId36"/>
    <p:sldId id="282" r:id="rId37"/>
    <p:sldId id="283" r:id="rId38"/>
    <p:sldId id="284" r:id="rId39"/>
    <p:sldId id="285" r:id="rId40"/>
    <p:sldId id="676" r:id="rId41"/>
    <p:sldId id="307" r:id="rId42"/>
    <p:sldId id="308" r:id="rId43"/>
    <p:sldId id="309" r:id="rId44"/>
    <p:sldId id="310" r:id="rId45"/>
    <p:sldId id="685" r:id="rId46"/>
    <p:sldId id="688" r:id="rId47"/>
    <p:sldId id="294" r:id="rId48"/>
    <p:sldId id="348" r:id="rId49"/>
    <p:sldId id="295" r:id="rId50"/>
    <p:sldId id="347" r:id="rId51"/>
    <p:sldId id="354" r:id="rId52"/>
    <p:sldId id="687" r:id="rId53"/>
    <p:sldId id="360" r:id="rId54"/>
    <p:sldId id="356" r:id="rId55"/>
    <p:sldId id="357" r:id="rId56"/>
    <p:sldId id="686" r:id="rId57"/>
    <p:sldId id="338" r:id="rId58"/>
    <p:sldId id="813" r:id="rId5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7D31"/>
    <a:srgbClr val="00B050"/>
    <a:srgbClr val="00599C"/>
    <a:srgbClr val="2B2B2B"/>
    <a:srgbClr val="FF5050"/>
    <a:srgbClr val="00FF99"/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17" autoAdjust="0"/>
    <p:restoredTop sz="91676" autoAdjust="0"/>
  </p:normalViewPr>
  <p:slideViewPr>
    <p:cSldViewPr snapToGrid="0">
      <p:cViewPr varScale="1">
        <p:scale>
          <a:sx n="98" d="100"/>
          <a:sy n="98" d="100"/>
        </p:scale>
        <p:origin x="512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240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A13A867C-D490-40C2-AB8D-A60FA70A9BF5}" type="datetimeFigureOut">
              <a:rPr lang="ko-KR" altLang="en-US" smtClean="0"/>
              <a:pPr/>
              <a:t>2025-08-27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3E35EA20-6519-4513-9EDC-C89C5369BAE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416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웹 </a:t>
            </a:r>
            <a:r>
              <a:rPr lang="ko-KR" altLang="en-US" dirty="0" err="1"/>
              <a:t>퍼블리셔</a:t>
            </a:r>
            <a:r>
              <a:rPr lang="en-US" altLang="ko-KR" dirty="0"/>
              <a:t>, </a:t>
            </a:r>
            <a:r>
              <a:rPr lang="ko-KR" altLang="en-US" dirty="0" err="1"/>
              <a:t>프론트엔드</a:t>
            </a:r>
            <a:r>
              <a:rPr lang="ko-KR" altLang="en-US" dirty="0"/>
              <a:t> 개발자 희망한다</a:t>
            </a:r>
            <a:r>
              <a:rPr lang="en-US" altLang="ko-KR" dirty="0"/>
              <a:t>? </a:t>
            </a:r>
            <a:r>
              <a:rPr lang="ko-KR" altLang="en-US" dirty="0"/>
              <a:t>중요</a:t>
            </a:r>
            <a:r>
              <a:rPr lang="en-US" altLang="ko-KR" dirty="0"/>
              <a:t>! </a:t>
            </a:r>
            <a:r>
              <a:rPr lang="ko-KR" altLang="en-US" dirty="0" err="1"/>
              <a:t>집중집중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42850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내가 좋아하는 </a:t>
            </a:r>
            <a:r>
              <a:rPr lang="ko-KR" altLang="en-US" dirty="0" err="1"/>
              <a:t>미니언</a:t>
            </a:r>
            <a:r>
              <a:rPr lang="ko-KR" altLang="en-US" dirty="0"/>
              <a:t> 등장 </a:t>
            </a:r>
            <a:r>
              <a:rPr lang="en-US" altLang="ko-KR" dirty="0"/>
              <a:t>&gt;_&lt;</a:t>
            </a:r>
          </a:p>
          <a:p>
            <a:endParaRPr lang="en-US" altLang="ko-KR" dirty="0"/>
          </a:p>
          <a:p>
            <a:r>
              <a:rPr lang="ko-KR" altLang="en-US" dirty="0"/>
              <a:t>문장에</a:t>
            </a:r>
            <a:r>
              <a:rPr lang="en-US" altLang="ko-KR" dirty="0"/>
              <a:t> </a:t>
            </a:r>
            <a:r>
              <a:rPr lang="ko-KR" altLang="en-US" dirty="0"/>
              <a:t>비유하기</a:t>
            </a:r>
            <a:endParaRPr lang="en-US" altLang="ko-KR" dirty="0"/>
          </a:p>
          <a:p>
            <a:r>
              <a:rPr lang="en-US" altLang="ko-KR" dirty="0"/>
              <a:t>- HTML:</a:t>
            </a:r>
            <a:r>
              <a:rPr lang="ko-KR" altLang="en-US" dirty="0"/>
              <a:t> 명사</a:t>
            </a:r>
            <a:endParaRPr lang="en-US" altLang="ko-KR" dirty="0"/>
          </a:p>
          <a:p>
            <a:r>
              <a:rPr lang="en-US" altLang="ko-KR" dirty="0"/>
              <a:t>- CSS: </a:t>
            </a:r>
            <a:r>
              <a:rPr lang="ko-KR" altLang="en-US" dirty="0"/>
              <a:t>형용사</a:t>
            </a:r>
            <a:endParaRPr lang="en-US" altLang="ko-KR" dirty="0"/>
          </a:p>
          <a:p>
            <a:r>
              <a:rPr lang="en-US" altLang="ko-KR" dirty="0"/>
              <a:t>- JS: </a:t>
            </a:r>
            <a:r>
              <a:rPr lang="ko-KR" altLang="en-US" dirty="0"/>
              <a:t>동사</a:t>
            </a:r>
            <a:br>
              <a:rPr lang="en-US" altLang="ko-KR" dirty="0"/>
            </a:b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43248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73244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빈 집</a:t>
            </a:r>
            <a:r>
              <a:rPr lang="en-US" altLang="ko-KR" dirty="0"/>
              <a:t>, </a:t>
            </a:r>
            <a:r>
              <a:rPr lang="ko-KR" altLang="en-US" dirty="0"/>
              <a:t>인테리어 이쁘게 된 집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608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937FEB-0363-4A76-9B5C-2F2FC2E9CA7B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56476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21112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63122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937FEB-0363-4A76-9B5C-2F2FC2E9CA7B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59276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937FEB-0363-4A76-9B5C-2F2FC2E9CA7B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36682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17098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937FEB-0363-4A76-9B5C-2F2FC2E9CA7B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10408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02709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76607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848570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실습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45367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96F2B5-E9AF-9D40-A629-A66BB45D84D2}" type="slidenum">
              <a:rPr kumimoji="1" lang="ko-Kore-KR" altLang="en-US" smtClean="0"/>
              <a:t>18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18813051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92325A-6885-4172-AFBD-3BFE4F9BD9DD}" type="slidenum">
              <a:rPr lang="ko-KR" altLang="en-US" smtClean="0"/>
              <a:pPr/>
              <a:t>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5480831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92325A-6885-4172-AFBD-3BFE4F9BD9DD}" type="slidenum">
              <a:rPr lang="ko-KR" altLang="en-US" smtClean="0"/>
              <a:pPr/>
              <a:t>20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4260972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선택자의 종류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31A1BA-5463-484A-B77A-5C292E222CA2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21296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293680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6044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634733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실습 하기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691507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910788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243560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704235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190151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324648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291416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242223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92325A-6885-4172-AFBD-3BFE4F9BD9DD}" type="slidenum">
              <a:rPr lang="ko-KR" altLang="en-US" smtClean="0"/>
              <a:pPr/>
              <a:t>36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4343802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92325A-6885-4172-AFBD-3BFE4F9BD9DD}" type="slidenum">
              <a:rPr lang="ko-KR" altLang="en-US" smtClean="0"/>
              <a:pPr/>
              <a:t>37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5026027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92325A-6885-4172-AFBD-3BFE4F9BD9DD}" type="slidenum">
              <a:rPr lang="ko-KR" altLang="en-US" smtClean="0"/>
              <a:pPr/>
              <a:t>39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6794213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736002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Span, div </a:t>
            </a:r>
            <a:r>
              <a:rPr lang="ko-KR" altLang="en-US" dirty="0"/>
              <a:t>부분 삭제해도 </a:t>
            </a:r>
            <a:r>
              <a:rPr lang="ko-KR" altLang="en-US" dirty="0" err="1"/>
              <a:t>됌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875504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356360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582353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01757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334226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16857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C4E131-4E67-4CC3-AC0A-C0E63D678D16}" type="slidenum">
              <a:rPr lang="ko-KR" altLang="en-US" smtClean="0"/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207444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: 2</a:t>
            </a:r>
            <a:r>
              <a:rPr lang="ko-KR" altLang="en-US" dirty="0"/>
              <a:t>개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570733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96F2B5-E9AF-9D40-A629-A66BB45D84D2}" type="slidenum">
              <a:rPr kumimoji="1" lang="ko-Kore-KR" altLang="en-US" smtClean="0"/>
              <a:t>51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1199678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766716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697363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208173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513003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DCA84-D834-7EED-20D1-8EA7A0219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2C2548-3BDB-0A27-ACDF-B4EE7E71B6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C03A41-0342-B6B6-15E4-6C583E4249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4762EC-19F5-CEE1-1915-8492FF1648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58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040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E3F-2E9A-4FD8-8B8A-8619F3E161C0}" type="datetime1">
              <a:rPr lang="ko-KR" altLang="en-US" smtClean="0"/>
              <a:t>2025-08-27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1500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2025-08-27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40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5E23C3-0E3D-4E4E-8486-D7FB4C073DC1}" type="datetime1">
              <a:rPr lang="ko-KR" altLang="en-US" smtClean="0"/>
              <a:t>2025-08-27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267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파트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AAFCC098-95A8-6767-4379-8DD4626B9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51CCB6AA-ECDD-5B10-7505-0EFEAC9C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38B667F6-930A-7162-796D-3A16CE2AF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92A323E6-E95B-6EB2-7753-649DE78B1653}"/>
              </a:ext>
            </a:extLst>
          </p:cNvPr>
          <p:cNvSpPr txBox="1">
            <a:spLocks/>
          </p:cNvSpPr>
          <p:nvPr userDrawn="1"/>
        </p:nvSpPr>
        <p:spPr>
          <a:xfrm>
            <a:off x="6096000" y="2203895"/>
            <a:ext cx="3287846" cy="4585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400" dirty="0">
              <a:solidFill>
                <a:srgbClr val="6EC173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838200" y="2598269"/>
            <a:ext cx="10515600" cy="1325563"/>
          </a:xfrm>
        </p:spPr>
        <p:txBody>
          <a:bodyPr>
            <a:noAutofit/>
          </a:bodyPr>
          <a:lstStyle>
            <a:lvl1pPr algn="ctr">
              <a:defRPr sz="8000" b="1">
                <a:solidFill>
                  <a:srgbClr val="6EC173"/>
                </a:solidFill>
              </a:defRPr>
            </a:lvl1pPr>
          </a:lstStyle>
          <a:p>
            <a:r>
              <a:rPr lang="ko-KR" altLang="en-US" dirty="0"/>
              <a:t>파트 제목</a:t>
            </a:r>
          </a:p>
        </p:txBody>
      </p:sp>
    </p:spTree>
    <p:extLst>
      <p:ext uri="{BB962C8B-B14F-4D97-AF65-F5344CB8AC3E}">
        <p14:creationId xmlns:p14="http://schemas.microsoft.com/office/powerpoint/2010/main" val="3929745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69A2ED-4026-CEC5-0F77-74287163E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5CA756-D15D-464E-966E-2DF9AA9796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FDC8A21-839F-87B3-9ABB-E0DA07E88E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268EA5-E313-8CB5-4A12-914620F47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1BA25-D675-4234-A003-8449BDEEF18E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2797BB-0DAF-A25A-8AC2-46D61F5D6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48752A1-1625-10E7-A4F0-2E13719E4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29145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E23C3-0E3D-4E4E-8486-D7FB4C073DC1}" type="datetime1">
              <a:rPr lang="ko-KR" altLang="en-US" smtClean="0"/>
              <a:t>2025-08-27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14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FE122-E831-904C-0AAE-87F481BD3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561" y="2541087"/>
            <a:ext cx="853440" cy="935038"/>
          </a:xfrm>
        </p:spPr>
        <p:txBody>
          <a:bodyPr/>
          <a:lstStyle/>
          <a:p>
            <a:r>
              <a:rPr lang="en-US" altLang="ko-KR" b="1" dirty="0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F9E2036-8D3D-3C48-304C-6615D19E47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75349" y="3686684"/>
            <a:ext cx="2336503" cy="530087"/>
          </a:xfrm>
        </p:spPr>
        <p:txBody>
          <a:bodyPr wrap="square"/>
          <a:lstStyle/>
          <a:p>
            <a:pPr algn="just"/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재생에너지 </a:t>
            </a:r>
            <a:r>
              <a:rPr lang="en-US" altLang="ko-KR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3</a:t>
            </a:r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3AD1B1D-CD7D-EE4E-41B0-87A1CCAAD4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9511" y="3670957"/>
            <a:ext cx="3021223" cy="456225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FC9A9E68-1C40-179C-9126-E3D84DE20A0A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E78D3EA-D15D-AC23-FCDE-3921C4292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0" name="그림 9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A611E206-8734-8C1B-C7A0-99730D8C0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95912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5BDFA10-ECF7-38FE-C364-618B7085F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EAC1192-3240-5090-C940-3FE8EE2E7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5DC42BC-3382-7592-84ED-A0A40D69B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6000">
                <a:solidFill>
                  <a:srgbClr val="ED7D31"/>
                </a:solidFill>
              </a:rPr>
              <a:t>CSS(1)</a:t>
            </a:r>
            <a:endParaRPr lang="ko-KR" altLang="en-US" sz="6000" dirty="0">
              <a:solidFill>
                <a:srgbClr val="ED7D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22034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D7CA5C-A72D-FFC1-A78B-FE0820A75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2025-08-27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07EE994-4906-15FA-0A97-CBA23B4A7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</a:t>
            </a:fld>
            <a:endParaRPr lang="ko-KR" altLang="en-US"/>
          </a:p>
        </p:txBody>
      </p:sp>
      <p:pic>
        <p:nvPicPr>
          <p:cNvPr id="6146" name="Picture 2" descr="css란에 대한 이미지 검색결과">
            <a:extLst>
              <a:ext uri="{FF2B5EF4-FFF2-40B4-BE49-F238E27FC236}">
                <a16:creationId xmlns:a16="http://schemas.microsoft.com/office/drawing/2014/main" id="{BFA3DE42-B75C-B369-558E-D5C79BE9BD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2426" y="1138444"/>
            <a:ext cx="2916513" cy="4141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04800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노란색이(가) 표시된 사진&#10;&#10;자동 생성된 설명">
            <a:extLst>
              <a:ext uri="{FF2B5EF4-FFF2-40B4-BE49-F238E27FC236}">
                <a16:creationId xmlns:a16="http://schemas.microsoft.com/office/drawing/2014/main" id="{BFA66821-F4F3-9FEF-1B8C-13C88961F3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677" y="1400176"/>
            <a:ext cx="3470273" cy="3470273"/>
          </a:xfrm>
          <a:prstGeom prst="rect">
            <a:avLst/>
          </a:prstGeom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27C26C2-F30B-D886-0F39-161B6A3B6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47929-DE41-4EFD-B9A3-21C9B8736D52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3E3B06F-1C1A-D12E-6FD4-F6328DA14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F6AEBB6C-CE05-3C2C-EC00-AB5F72908457}"/>
              </a:ext>
            </a:extLst>
          </p:cNvPr>
          <p:cNvSpPr txBox="1">
            <a:spLocks/>
          </p:cNvSpPr>
          <p:nvPr/>
        </p:nvSpPr>
        <p:spPr>
          <a:xfrm>
            <a:off x="4724400" y="1400176"/>
            <a:ext cx="7200900" cy="385444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ko-KR" altLang="en-US" dirty="0"/>
              <a:t>귀여운 </a:t>
            </a:r>
            <a:r>
              <a:rPr lang="en-US" altLang="ko-KR" dirty="0"/>
              <a:t>– </a:t>
            </a:r>
            <a:r>
              <a:rPr lang="ko-KR" altLang="en-US" sz="4800" dirty="0"/>
              <a:t>형용사 </a:t>
            </a:r>
            <a:br>
              <a:rPr lang="en-US" altLang="ko-KR" sz="4800" dirty="0"/>
            </a:br>
            <a:r>
              <a:rPr lang="ko-KR" altLang="en-US" dirty="0" err="1"/>
              <a:t>미니언이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sz="4800" dirty="0"/>
              <a:t>명사</a:t>
            </a:r>
            <a:endParaRPr lang="en-US" altLang="ko-KR" sz="4800" dirty="0"/>
          </a:p>
          <a:p>
            <a:pPr algn="l">
              <a:lnSpc>
                <a:spcPct val="150000"/>
              </a:lnSpc>
            </a:pPr>
            <a:r>
              <a:rPr lang="ko-KR" altLang="en-US" dirty="0"/>
              <a:t>춤춘다</a:t>
            </a:r>
            <a:r>
              <a:rPr lang="en-US" altLang="ko-KR" dirty="0"/>
              <a:t> – </a:t>
            </a:r>
            <a:r>
              <a:rPr lang="ko-KR" altLang="en-US" sz="4800" dirty="0"/>
              <a:t>동사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C8AD632-EA7B-824A-FE5C-70FA1C5B0A5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716" t="8334" r="70543" b="16381"/>
          <a:stretch/>
        </p:blipFill>
        <p:spPr>
          <a:xfrm>
            <a:off x="9672635" y="2863139"/>
            <a:ext cx="781749" cy="1131721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1DAB6420-C25C-C332-739A-ECD92BF63FA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4661" t="12357" r="37847" b="12357"/>
          <a:stretch/>
        </p:blipFill>
        <p:spPr>
          <a:xfrm>
            <a:off x="9619452" y="1565797"/>
            <a:ext cx="834932" cy="1131721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523D4AFD-E2A5-EF52-68E6-FE121A5D83E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6755" t="6938" r="5976" b="13517"/>
          <a:stretch/>
        </p:blipFill>
        <p:spPr>
          <a:xfrm>
            <a:off x="9649445" y="4160481"/>
            <a:ext cx="828128" cy="1195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9455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71D7A679-B8D0-186F-C971-BA7EA28517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5646" y="2655412"/>
            <a:ext cx="6705600" cy="62285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ko-KR" altLang="en-US" sz="3600" b="1" dirty="0"/>
              <a:t>💡 </a:t>
            </a:r>
            <a:r>
              <a:rPr lang="en-US" altLang="ko-KR" sz="3600" b="1" dirty="0"/>
              <a:t>Cascading Style Sheet</a:t>
            </a:r>
            <a:endParaRPr lang="ko-KR" altLang="en-US" sz="3600" b="1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F0E118-13FA-729A-60AF-684E084F4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2025-08-27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4786A31-D818-35BC-E175-84E0289FB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E1DA36C-65CF-DE57-B375-6D86D2A7D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CSS</a:t>
            </a:r>
            <a:endParaRPr lang="ko-KR" altLang="en-US" dirty="0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7D05DCB7-AD04-98BC-4552-F188A7F03DB7}"/>
              </a:ext>
            </a:extLst>
          </p:cNvPr>
          <p:cNvSpPr txBox="1">
            <a:spLocks/>
          </p:cNvSpPr>
          <p:nvPr/>
        </p:nvSpPr>
        <p:spPr>
          <a:xfrm>
            <a:off x="4048216" y="3579737"/>
            <a:ext cx="7222622" cy="6228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➡️ 웹 페이지를 디자인하기 위해 사용하는 언어</a:t>
            </a:r>
          </a:p>
        </p:txBody>
      </p:sp>
      <p:pic>
        <p:nvPicPr>
          <p:cNvPr id="12" name="Picture 2" descr="css란에 대한 이미지 검색결과">
            <a:extLst>
              <a:ext uri="{FF2B5EF4-FFF2-40B4-BE49-F238E27FC236}">
                <a16:creationId xmlns:a16="http://schemas.microsoft.com/office/drawing/2014/main" id="{67DB9E5B-44BC-818E-CD11-A4ECF978C9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6180" y="1785249"/>
            <a:ext cx="2103065" cy="2986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60498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D52C80-CF42-D955-B270-CA1363835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2025-08-27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ED0816A-E489-1AA4-6B55-4C0427768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39072D0-8052-BF84-BF3B-6BAE1CAA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CSS </a:t>
            </a:r>
            <a:r>
              <a:rPr lang="ko-KR" altLang="en-US" dirty="0"/>
              <a:t>사용 이유</a:t>
            </a:r>
            <a:r>
              <a:rPr lang="en-US" altLang="ko-KR" dirty="0"/>
              <a:t>?</a:t>
            </a:r>
            <a:endParaRPr lang="ko-KR" altLang="en-US" dirty="0"/>
          </a:p>
        </p:txBody>
      </p:sp>
      <p:pic>
        <p:nvPicPr>
          <p:cNvPr id="6" name="Picture 2" descr="아파트 '올수리' 안해도 새집처럼 바꿀 수 있다 - 땅집고 &gt; 인테리어">
            <a:extLst>
              <a:ext uri="{FF2B5EF4-FFF2-40B4-BE49-F238E27FC236}">
                <a16:creationId xmlns:a16="http://schemas.microsoft.com/office/drawing/2014/main" id="{98F82BCD-06C1-5124-0FBA-F046390EED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667" y="1813379"/>
            <a:ext cx="4834775" cy="3231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아파트 '올수리' 안해도 새집처럼 바꿀 수 있다 - 땅집고 &gt; 인테리어">
            <a:extLst>
              <a:ext uri="{FF2B5EF4-FFF2-40B4-BE49-F238E27FC236}">
                <a16:creationId xmlns:a16="http://schemas.microsoft.com/office/drawing/2014/main" id="{D264FB04-75FC-4EB5-17E6-D9B8EEAA97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2560" y="1813379"/>
            <a:ext cx="4823730" cy="3215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41594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19D563A-2BEF-D833-AF37-F6C87B4E5F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0515600" cy="4912493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 브라우저에서 </a:t>
            </a:r>
            <a:r>
              <a:rPr lang="ko-KR" altLang="en-US" sz="2400" dirty="0">
                <a:solidFill>
                  <a:schemeClr val="accent1"/>
                </a:solidFill>
              </a:rPr>
              <a:t>개발 편의</a:t>
            </a:r>
            <a:r>
              <a:rPr lang="ko-KR" altLang="en-US" sz="2400" dirty="0"/>
              <a:t>를 위해 제공하는 도구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지금 보고 있는 웹페이지의 </a:t>
            </a:r>
            <a:r>
              <a:rPr lang="en-US" altLang="ko-KR" sz="2000" dirty="0">
                <a:solidFill>
                  <a:schemeClr val="accent1"/>
                </a:solidFill>
              </a:rPr>
              <a:t>HTML, CSS, JavaScript </a:t>
            </a:r>
            <a:r>
              <a:rPr lang="ko-KR" altLang="en-US" sz="2000" dirty="0"/>
              <a:t>등을 볼 수 있음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해당 코드를 </a:t>
            </a:r>
            <a:r>
              <a:rPr lang="ko-KR" altLang="en-US" sz="2000" dirty="0">
                <a:solidFill>
                  <a:schemeClr val="accent1"/>
                </a:solidFill>
              </a:rPr>
              <a:t>수정</a:t>
            </a:r>
            <a:r>
              <a:rPr lang="ko-KR" altLang="en-US" sz="2000" dirty="0"/>
              <a:t>하여 자기 마음대로 변경이 가능</a:t>
            </a:r>
            <a:r>
              <a:rPr lang="en-US" altLang="ko-KR" sz="2000" dirty="0"/>
              <a:t>!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HTML </a:t>
            </a:r>
            <a:r>
              <a:rPr lang="ko-KR" altLang="en-US" sz="2000" dirty="0"/>
              <a:t>구조 및 </a:t>
            </a:r>
            <a:r>
              <a:rPr lang="en-US" altLang="ko-KR" sz="2000" dirty="0"/>
              <a:t>CSS </a:t>
            </a:r>
            <a:r>
              <a:rPr lang="ko-KR" altLang="en-US" sz="2000" dirty="0"/>
              <a:t>값 등을 확인 가능하므로 자주 사용 예정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특정 요소 코드 보기 </a:t>
            </a:r>
            <a:r>
              <a:rPr lang="en-US" altLang="ko-KR" sz="2000" dirty="0"/>
              <a:t>/ </a:t>
            </a:r>
            <a:r>
              <a:rPr lang="ko-KR" altLang="en-US" sz="2000" dirty="0"/>
              <a:t>크기 줄이기 </a:t>
            </a:r>
            <a:r>
              <a:rPr lang="en-US" altLang="ko-KR" sz="2000" dirty="0"/>
              <a:t>/ </a:t>
            </a:r>
            <a:r>
              <a:rPr lang="ko-KR" altLang="en-US" sz="2000" dirty="0"/>
              <a:t>모바일 버전 확인 가능</a:t>
            </a:r>
            <a:endParaRPr lang="en-US" altLang="ko-KR" sz="2000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개발자 도구 열기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(Widows) F12 / ctrl + shift + </a:t>
            </a:r>
            <a:r>
              <a:rPr lang="en-US" altLang="ko-KR" sz="2000" dirty="0" err="1"/>
              <a:t>i</a:t>
            </a:r>
            <a:br>
              <a:rPr lang="en-US" altLang="ko-KR" sz="2000" dirty="0"/>
            </a:br>
            <a:r>
              <a:rPr lang="en-US" altLang="ko-KR" sz="2000" dirty="0"/>
              <a:t>(Mac) command + option +</a:t>
            </a: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1292F-9570-41D6-B1EF-AD0662BD256A}" type="datetime1">
              <a:rPr lang="ko-KR" altLang="en-US" smtClean="0"/>
              <a:t>2025-08-27</a:t>
            </a:fld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6B043-3504-4302-9525-2101E7FCDAE3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6A67ABD-DF30-CDE6-A2D4-633274537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+mj-ea"/>
              </a:rPr>
              <a:t>우리의 친구</a:t>
            </a:r>
            <a:r>
              <a:rPr lang="en-US" altLang="ko-KR" dirty="0">
                <a:latin typeface="+mj-ea"/>
              </a:rPr>
              <a:t>! </a:t>
            </a:r>
            <a:r>
              <a:rPr lang="ko-KR" altLang="en-US" dirty="0">
                <a:solidFill>
                  <a:schemeClr val="accent1"/>
                </a:solidFill>
                <a:latin typeface="+mj-ea"/>
              </a:rPr>
              <a:t>개발자 도구</a:t>
            </a:r>
          </a:p>
        </p:txBody>
      </p:sp>
    </p:spTree>
    <p:extLst>
      <p:ext uri="{BB962C8B-B14F-4D97-AF65-F5344CB8AC3E}">
        <p14:creationId xmlns:p14="http://schemas.microsoft.com/office/powerpoint/2010/main" val="17803642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D52C80-CF42-D955-B270-CA1363835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2025-08-27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ED0816A-E489-1AA4-6B55-4C0427768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39072D0-8052-BF84-BF3B-6BAE1CAA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CSS</a:t>
            </a:r>
            <a:r>
              <a:rPr lang="ko-KR" altLang="en-US" dirty="0"/>
              <a:t>를 지워보자</a:t>
            </a:r>
            <a:r>
              <a:rPr lang="en-US" altLang="ko-KR" dirty="0"/>
              <a:t>?!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9588" y="1364037"/>
            <a:ext cx="2985717" cy="4550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9652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4D63F7-0011-FB55-E934-B46245FFFD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/>
              <a:t>1️⃣ </a:t>
            </a:r>
            <a:r>
              <a:rPr lang="ko-KR" altLang="en-US" dirty="0"/>
              <a:t>인라인 방식 </a:t>
            </a:r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2️⃣ </a:t>
            </a:r>
            <a:r>
              <a:rPr lang="ko-KR" altLang="en-US" dirty="0"/>
              <a:t>내장 방식</a:t>
            </a:r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3️⃣ </a:t>
            </a:r>
            <a:r>
              <a:rPr lang="ko-KR" altLang="en-US" dirty="0"/>
              <a:t>링크 방식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3A8276D-3584-C341-BDB4-1B0016FAF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2025-08-27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86EA7AA-F339-9A8D-2D5B-DD119FBCB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C7D9BB0-1165-0949-4CBD-457F0BA97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CSS</a:t>
            </a:r>
            <a:r>
              <a:rPr lang="ko-KR" altLang="en-US" dirty="0"/>
              <a:t> 참조 방식</a:t>
            </a:r>
          </a:p>
        </p:txBody>
      </p:sp>
    </p:spTree>
    <p:extLst>
      <p:ext uri="{BB962C8B-B14F-4D97-AF65-F5344CB8AC3E}">
        <p14:creationId xmlns:p14="http://schemas.microsoft.com/office/powerpoint/2010/main" val="16925286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4EF63463-606A-588E-E74B-279A25C396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38" y="3051217"/>
            <a:ext cx="7959888" cy="169223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각 요소의 </a:t>
            </a:r>
            <a:r>
              <a:rPr lang="en-US" altLang="ko-KR" sz="2400" dirty="0"/>
              <a:t>style </a:t>
            </a:r>
            <a:r>
              <a:rPr lang="ko-KR" altLang="en-US" sz="2400" dirty="0"/>
              <a:t>속성에 전부 스타일을 직접 적어줘야 함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아래에서 같은 스타일을 가진 태그를 사용하려고 해도 코드를 </a:t>
            </a:r>
            <a:r>
              <a:rPr lang="ko-KR" altLang="en-US" sz="2000" dirty="0" err="1"/>
              <a:t>복붙</a:t>
            </a:r>
            <a:r>
              <a:rPr lang="ko-KR" altLang="en-US" sz="2000" dirty="0"/>
              <a:t> 필요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즉</a:t>
            </a:r>
            <a:r>
              <a:rPr lang="en-US" altLang="ko-KR" sz="2000" dirty="0"/>
              <a:t>, </a:t>
            </a:r>
            <a:r>
              <a:rPr lang="ko-KR" altLang="en-US" sz="2000" dirty="0">
                <a:solidFill>
                  <a:srgbClr val="6EC173"/>
                </a:solidFill>
              </a:rPr>
              <a:t>재사용이 불가능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09065-B160-4C23-B986-5A3C55D6AFAF}" type="datetime1">
              <a:rPr lang="ko-KR" altLang="en-US" smtClean="0"/>
              <a:t>2025-08-27</a:t>
            </a:fld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6B043-3504-4302-9525-2101E7FCDAE3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6A67ABD-DF30-CDE6-A2D4-633274537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+mj-ea"/>
                <a:ea typeface="+mj-ea"/>
              </a:rPr>
              <a:t>인라인 방식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9CE2DBF-F6CE-AB68-EA6D-2A1734F397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4706" y="2459370"/>
            <a:ext cx="9762587" cy="50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5898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4EF63463-606A-588E-E74B-279A25C396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0630" y="3429000"/>
            <a:ext cx="10150740" cy="2593911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</a:t>
            </a:r>
            <a:r>
              <a:rPr lang="en-US" altLang="ko-KR" sz="2400" dirty="0"/>
              <a:t>HTML</a:t>
            </a:r>
            <a:r>
              <a:rPr lang="ko-KR" altLang="en-US" sz="2400" dirty="0"/>
              <a:t>의 </a:t>
            </a:r>
            <a:r>
              <a:rPr lang="en-US" altLang="ko-KR" sz="2400" dirty="0"/>
              <a:t>&lt;head&gt; </a:t>
            </a:r>
            <a:r>
              <a:rPr lang="ko-KR" altLang="en-US" sz="2400" dirty="0"/>
              <a:t>태그 내부에 사용할 </a:t>
            </a:r>
            <a:r>
              <a:rPr lang="en-US" altLang="ko-KR" sz="2400" dirty="0"/>
              <a:t>Style</a:t>
            </a:r>
            <a:r>
              <a:rPr lang="ko-KR" altLang="en-US" sz="2400" dirty="0"/>
              <a:t>을 </a:t>
            </a:r>
            <a:r>
              <a:rPr lang="en-US" altLang="ko-KR" sz="2400" dirty="0">
                <a:solidFill>
                  <a:srgbClr val="00B050"/>
                </a:solidFill>
              </a:rPr>
              <a:t>&lt;style&gt;</a:t>
            </a:r>
            <a:r>
              <a:rPr lang="en-US" altLang="ko-KR" sz="2400" dirty="0"/>
              <a:t> </a:t>
            </a:r>
            <a:r>
              <a:rPr lang="ko-KR" altLang="en-US" sz="2400" dirty="0"/>
              <a:t>태그로 선언하여 사용</a:t>
            </a:r>
            <a:r>
              <a:rPr lang="en-US" altLang="ko-KR" sz="2400" dirty="0"/>
              <a:t>!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태그에 같은 스타일 적용이 가능</a:t>
            </a:r>
            <a:r>
              <a:rPr lang="en-US" altLang="ko-KR" sz="2000" dirty="0"/>
              <a:t>!!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그런데 </a:t>
            </a:r>
            <a:r>
              <a:rPr lang="ko-KR" altLang="en-US" sz="2000" dirty="0">
                <a:solidFill>
                  <a:srgbClr val="6EC173"/>
                </a:solidFill>
              </a:rPr>
              <a:t>다른 </a:t>
            </a:r>
            <a:r>
              <a:rPr lang="en-US" altLang="ko-KR" sz="2000" dirty="0">
                <a:solidFill>
                  <a:srgbClr val="6EC173"/>
                </a:solidFill>
              </a:rPr>
              <a:t>HTML </a:t>
            </a:r>
            <a:r>
              <a:rPr lang="ko-KR" altLang="en-US" sz="2000" dirty="0">
                <a:solidFill>
                  <a:srgbClr val="6EC173"/>
                </a:solidFill>
              </a:rPr>
              <a:t>파일</a:t>
            </a:r>
            <a:r>
              <a:rPr lang="ko-KR" altLang="en-US" sz="2000" dirty="0"/>
              <a:t>에는 어떻게 쓰죠</a:t>
            </a:r>
            <a:r>
              <a:rPr lang="en-US" altLang="ko-KR" sz="2000" dirty="0"/>
              <a:t>? 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혹시나 </a:t>
            </a:r>
            <a:r>
              <a:rPr lang="ko-KR" altLang="en-US" sz="2000" dirty="0">
                <a:solidFill>
                  <a:srgbClr val="6EC173"/>
                </a:solidFill>
              </a:rPr>
              <a:t>스타일이 바뀌면 </a:t>
            </a:r>
            <a:r>
              <a:rPr lang="ko-KR" altLang="en-US" sz="2000" dirty="0"/>
              <a:t>모두 바꿔줘야 하나요</a:t>
            </a:r>
            <a:r>
              <a:rPr lang="en-US" altLang="ko-KR" sz="2000" dirty="0"/>
              <a:t>?</a:t>
            </a:r>
            <a:endParaRPr lang="ko-KR" altLang="en-US" sz="2000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F1034-6CCC-40D2-8922-9671B2240F59}" type="datetime1">
              <a:rPr lang="ko-KR" altLang="en-US" smtClean="0"/>
              <a:t>2025-08-27</a:t>
            </a:fld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6B043-3504-4302-9525-2101E7FCDAE3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10" name="제목 9">
            <a:extLst>
              <a:ext uri="{FF2B5EF4-FFF2-40B4-BE49-F238E27FC236}">
                <a16:creationId xmlns:a16="http://schemas.microsoft.com/office/drawing/2014/main" id="{BFADBAC3-47FB-02E5-DBEF-098FAED58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내장 방식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7784D8A-0964-9115-3206-32C6847D0E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6300" y="1163235"/>
            <a:ext cx="4279399" cy="2030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1402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C3B807C3-7CED-56DB-6F88-319863F62C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688424" cy="4075948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모든 </a:t>
            </a:r>
            <a:r>
              <a:rPr lang="en-US" altLang="ko-KR" dirty="0"/>
              <a:t>Style</a:t>
            </a:r>
            <a:r>
              <a:rPr lang="ko-KR" altLang="en-US" dirty="0"/>
              <a:t>을 </a:t>
            </a:r>
            <a:r>
              <a:rPr lang="ko-KR" altLang="en-US" dirty="0">
                <a:solidFill>
                  <a:srgbClr val="6EC173"/>
                </a:solidFill>
              </a:rPr>
              <a:t>하나의 </a:t>
            </a:r>
            <a:r>
              <a:rPr lang="en-US" altLang="ko-KR" dirty="0">
                <a:solidFill>
                  <a:srgbClr val="6EC173"/>
                </a:solidFill>
              </a:rPr>
              <a:t>CSS </a:t>
            </a:r>
            <a:r>
              <a:rPr lang="ko-KR" altLang="en-US" dirty="0">
                <a:solidFill>
                  <a:srgbClr val="6EC173"/>
                </a:solidFill>
              </a:rPr>
              <a:t>파일</a:t>
            </a:r>
            <a:r>
              <a:rPr lang="ko-KR" altLang="en-US" dirty="0"/>
              <a:t>에 넣고</a:t>
            </a:r>
            <a:r>
              <a:rPr lang="en-US" altLang="ko-KR" dirty="0"/>
              <a:t>, </a:t>
            </a:r>
            <a:r>
              <a:rPr lang="ko-KR" altLang="en-US" dirty="0"/>
              <a:t>필요한 </a:t>
            </a:r>
            <a:r>
              <a:rPr lang="en-US" altLang="ko-KR" dirty="0"/>
              <a:t>HTML </a:t>
            </a:r>
            <a:r>
              <a:rPr lang="ko-KR" altLang="en-US" dirty="0"/>
              <a:t>파일에서 해당 </a:t>
            </a:r>
            <a:r>
              <a:rPr lang="ko-KR" altLang="en-US" dirty="0">
                <a:solidFill>
                  <a:srgbClr val="6EC173"/>
                </a:solidFill>
              </a:rPr>
              <a:t>파일을</a:t>
            </a:r>
            <a:endParaRPr lang="en-US" altLang="ko-KR" dirty="0">
              <a:solidFill>
                <a:srgbClr val="6EC173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dirty="0">
                <a:solidFill>
                  <a:srgbClr val="6EC173"/>
                </a:solidFill>
              </a:rPr>
              <a:t>      </a:t>
            </a:r>
            <a:r>
              <a:rPr lang="ko-KR" altLang="en-US" dirty="0">
                <a:solidFill>
                  <a:srgbClr val="6EC173"/>
                </a:solidFill>
              </a:rPr>
              <a:t>링크</a:t>
            </a:r>
            <a:r>
              <a:rPr lang="ko-KR" altLang="en-US" dirty="0"/>
              <a:t>해서 사용하는 방식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재사용</a:t>
            </a:r>
            <a:r>
              <a:rPr lang="en-US" altLang="ko-KR" dirty="0"/>
              <a:t>? </a:t>
            </a:r>
            <a:r>
              <a:rPr lang="en-US" altLang="ko-KR" dirty="0">
                <a:solidFill>
                  <a:srgbClr val="6EC173"/>
                </a:solidFill>
              </a:rPr>
              <a:t>OK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스타일 변경 발생</a:t>
            </a:r>
            <a:r>
              <a:rPr lang="en-US" altLang="ko-KR" dirty="0"/>
              <a:t>? </a:t>
            </a:r>
            <a:r>
              <a:rPr lang="en-US" altLang="ko-KR" dirty="0">
                <a:solidFill>
                  <a:srgbClr val="6EC173"/>
                </a:solidFill>
              </a:rPr>
              <a:t>OK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50917-1ED7-489B-87EB-30911B0F206C}" type="datetime1">
              <a:rPr lang="ko-KR" altLang="en-US" smtClean="0"/>
              <a:t>2025-08-27</a:t>
            </a:fld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6B043-3504-4302-9525-2101E7FCDAE3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14241401-BD37-E512-45E7-DF8B28D29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링크 방식</a:t>
            </a:r>
          </a:p>
        </p:txBody>
      </p:sp>
    </p:spTree>
    <p:extLst>
      <p:ext uri="{BB962C8B-B14F-4D97-AF65-F5344CB8AC3E}">
        <p14:creationId xmlns:p14="http://schemas.microsoft.com/office/powerpoint/2010/main" val="19249804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C25A3367-F72C-63F9-6B71-5A842F2E2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623" y="3063214"/>
            <a:ext cx="1857073" cy="617640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index.css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1C1A1-740B-40EC-B341-AFFFABB3121A}" type="datetime1">
              <a:rPr lang="ko-KR" altLang="en-US" smtClean="0"/>
              <a:t>2025-08-27</a:t>
            </a:fld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6B043-3504-4302-9525-2101E7FCDAE3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15" name="제목 14">
            <a:extLst>
              <a:ext uri="{FF2B5EF4-FFF2-40B4-BE49-F238E27FC236}">
                <a16:creationId xmlns:a16="http://schemas.microsoft.com/office/drawing/2014/main" id="{0600E99A-E7A6-BFEA-4F0C-DEE5E1CDA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링크 방식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B25A2A0-2EFE-DBDF-BEA7-7B428F1A39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3253" y="1934500"/>
            <a:ext cx="6451963" cy="52410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2FE1777-D472-2B01-21DB-11775EC7CE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3623" y="3680854"/>
            <a:ext cx="4203942" cy="1567061"/>
          </a:xfrm>
          <a:prstGeom prst="rect">
            <a:avLst/>
          </a:prstGeom>
        </p:spPr>
      </p:pic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3460AD68-B060-D5B0-0EBE-91729FDB93D3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3345594" y="2492214"/>
            <a:ext cx="6290775" cy="118864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내용 개체 틀 2">
            <a:extLst>
              <a:ext uri="{FF2B5EF4-FFF2-40B4-BE49-F238E27FC236}">
                <a16:creationId xmlns:a16="http://schemas.microsoft.com/office/drawing/2014/main" id="{42BE560E-384F-696C-BF00-70E15B06646F}"/>
              </a:ext>
            </a:extLst>
          </p:cNvPr>
          <p:cNvSpPr txBox="1">
            <a:spLocks/>
          </p:cNvSpPr>
          <p:nvPr/>
        </p:nvSpPr>
        <p:spPr>
          <a:xfrm>
            <a:off x="4533253" y="1306893"/>
            <a:ext cx="1857073" cy="61764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dirty="0"/>
              <a:t>index.html</a:t>
            </a:r>
          </a:p>
        </p:txBody>
      </p:sp>
    </p:spTree>
    <p:extLst>
      <p:ext uri="{BB962C8B-B14F-4D97-AF65-F5344CB8AC3E}">
        <p14:creationId xmlns:p14="http://schemas.microsoft.com/office/powerpoint/2010/main" val="25507269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BB230545-0757-9D17-38A3-54D3E13615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38384" y="3467367"/>
            <a:ext cx="7115232" cy="2807677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🤔 그런데 </a:t>
            </a:r>
            <a:r>
              <a:rPr lang="en-US" altLang="ko-KR" dirty="0"/>
              <a:t>3</a:t>
            </a:r>
            <a:r>
              <a:rPr lang="ko-KR" altLang="en-US" dirty="0"/>
              <a:t>가지 방식이 </a:t>
            </a:r>
            <a:r>
              <a:rPr lang="ko-KR" altLang="en-US" dirty="0">
                <a:solidFill>
                  <a:schemeClr val="accent1"/>
                </a:solidFill>
              </a:rPr>
              <a:t>겹치면</a:t>
            </a:r>
            <a:r>
              <a:rPr lang="ko-KR" altLang="en-US" dirty="0"/>
              <a:t> 어떻게 되죠</a:t>
            </a:r>
            <a:r>
              <a:rPr lang="en-US" altLang="ko-KR" dirty="0"/>
              <a:t>?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기본 룰은 </a:t>
            </a:r>
            <a:r>
              <a:rPr lang="ko-KR" altLang="en-US" dirty="0">
                <a:solidFill>
                  <a:schemeClr val="accent1"/>
                </a:solidFill>
              </a:rPr>
              <a:t>가장 늦게 읽히는 것이 우선</a:t>
            </a:r>
            <a:r>
              <a:rPr lang="ko-KR" altLang="en-US" dirty="0"/>
              <a:t>으로 적용 됩니다</a:t>
            </a:r>
            <a:r>
              <a:rPr lang="en-US" altLang="ko-KR" dirty="0"/>
              <a:t>!</a:t>
            </a:r>
          </a:p>
          <a:p>
            <a:pPr lvl="1">
              <a:lnSpc>
                <a:spcPct val="150000"/>
              </a:lnSpc>
            </a:pPr>
            <a:r>
              <a:rPr lang="ko-KR" altLang="en-US" dirty="0">
                <a:solidFill>
                  <a:schemeClr val="accent1"/>
                </a:solidFill>
              </a:rPr>
              <a:t>인라인 방식</a:t>
            </a:r>
            <a:r>
              <a:rPr lang="ko-KR" altLang="en-US" dirty="0"/>
              <a:t>은 내장</a:t>
            </a:r>
            <a:r>
              <a:rPr lang="en-US" altLang="ko-KR" dirty="0"/>
              <a:t>, </a:t>
            </a:r>
            <a:r>
              <a:rPr lang="ko-KR" altLang="en-US" dirty="0"/>
              <a:t>링크 방식에 </a:t>
            </a:r>
            <a:r>
              <a:rPr lang="ko-KR" altLang="en-US" dirty="0">
                <a:solidFill>
                  <a:schemeClr val="accent1"/>
                </a:solidFill>
              </a:rPr>
              <a:t>무조건 우선</a:t>
            </a:r>
            <a:r>
              <a:rPr lang="en-US" altLang="ko-KR" dirty="0"/>
              <a:t>!</a:t>
            </a:r>
          </a:p>
          <a:p>
            <a:pPr lvl="1">
              <a:lnSpc>
                <a:spcPct val="150000"/>
              </a:lnSpc>
            </a:pPr>
            <a:r>
              <a:rPr lang="ko-KR" altLang="en-US" dirty="0">
                <a:solidFill>
                  <a:schemeClr val="accent1"/>
                </a:solidFill>
              </a:rPr>
              <a:t>내장</a:t>
            </a:r>
            <a:r>
              <a:rPr lang="en-US" altLang="ko-KR" dirty="0">
                <a:solidFill>
                  <a:schemeClr val="accent1"/>
                </a:solidFill>
              </a:rPr>
              <a:t>, </a:t>
            </a:r>
            <a:r>
              <a:rPr lang="ko-KR" altLang="en-US" dirty="0">
                <a:solidFill>
                  <a:schemeClr val="accent1"/>
                </a:solidFill>
              </a:rPr>
              <a:t>링크 </a:t>
            </a:r>
            <a:r>
              <a:rPr lang="ko-KR" altLang="en-US" dirty="0"/>
              <a:t>방식은 </a:t>
            </a:r>
            <a:r>
              <a:rPr lang="ko-KR" altLang="en-US" dirty="0">
                <a:solidFill>
                  <a:schemeClr val="accent1"/>
                </a:solidFill>
              </a:rPr>
              <a:t>늦게 쓰여진 </a:t>
            </a:r>
            <a:r>
              <a:rPr lang="ko-KR" altLang="en-US" dirty="0"/>
              <a:t>것이 우선</a:t>
            </a:r>
            <a:r>
              <a:rPr lang="en-US" altLang="ko-KR" dirty="0"/>
              <a:t>!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3A8276D-3584-C341-BDB4-1B0016FAF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2025-08-27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86EA7AA-F339-9A8D-2D5B-DD119FBCB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C7D9BB0-1165-0949-4CBD-457F0BA97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CSS</a:t>
            </a:r>
            <a:r>
              <a:rPr lang="ko-KR" altLang="en-US" dirty="0"/>
              <a:t> 참조 방식</a:t>
            </a:r>
          </a:p>
        </p:txBody>
      </p:sp>
      <p:grpSp>
        <p:nvGrpSpPr>
          <p:cNvPr id="3" name="그룹 2"/>
          <p:cNvGrpSpPr/>
          <p:nvPr/>
        </p:nvGrpSpPr>
        <p:grpSpPr>
          <a:xfrm>
            <a:off x="1371600" y="1565213"/>
            <a:ext cx="9071551" cy="1468971"/>
            <a:chOff x="1530999" y="2440355"/>
            <a:chExt cx="9071551" cy="1468971"/>
          </a:xfrm>
        </p:grpSpPr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35F840AF-3B4A-77C2-EC3C-064BA094DA90}"/>
                </a:ext>
              </a:extLst>
            </p:cNvPr>
            <p:cNvSpPr/>
            <p:nvPr/>
          </p:nvSpPr>
          <p:spPr>
            <a:xfrm>
              <a:off x="1530999" y="2440355"/>
              <a:ext cx="1956318" cy="1455594"/>
            </a:xfrm>
            <a:prstGeom prst="roundRect">
              <a:avLst/>
            </a:prstGeom>
            <a:noFill/>
            <a:ln w="762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ko-KR" altLang="en-US" sz="2400" dirty="0">
                  <a:solidFill>
                    <a:srgbClr val="0070C0"/>
                  </a:solidFill>
                  <a:latin typeface="+mn-ea"/>
                </a:rPr>
                <a:t>인라인</a:t>
              </a:r>
              <a:endParaRPr lang="en-US" altLang="ko-KR" sz="2400" dirty="0">
                <a:solidFill>
                  <a:srgbClr val="0070C0"/>
                </a:solidFill>
                <a:latin typeface="+mn-ea"/>
              </a:endParaRPr>
            </a:p>
            <a:p>
              <a:pPr algn="ctr">
                <a:lnSpc>
                  <a:spcPct val="150000"/>
                </a:lnSpc>
              </a:pPr>
              <a:r>
                <a:rPr lang="ko-KR" altLang="en-US" sz="2400" dirty="0">
                  <a:solidFill>
                    <a:srgbClr val="0070C0"/>
                  </a:solidFill>
                  <a:latin typeface="+mn-ea"/>
                </a:rPr>
                <a:t>방식</a:t>
              </a:r>
            </a:p>
          </p:txBody>
        </p:sp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73522CCA-BE4B-0CC2-DC8D-1EB067814F05}"/>
                </a:ext>
              </a:extLst>
            </p:cNvPr>
            <p:cNvSpPr/>
            <p:nvPr/>
          </p:nvSpPr>
          <p:spPr>
            <a:xfrm>
              <a:off x="5088615" y="2453732"/>
              <a:ext cx="1956318" cy="1455594"/>
            </a:xfrm>
            <a:prstGeom prst="roundRect">
              <a:avLst/>
            </a:prstGeom>
            <a:noFill/>
            <a:ln w="762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ko-KR" altLang="en-US" sz="2400" dirty="0">
                  <a:solidFill>
                    <a:schemeClr val="accent2"/>
                  </a:solidFill>
                  <a:latin typeface="+mn-ea"/>
                </a:rPr>
                <a:t>내장</a:t>
              </a:r>
              <a:endParaRPr lang="en-US" altLang="ko-KR" sz="2400" dirty="0">
                <a:solidFill>
                  <a:schemeClr val="accent2"/>
                </a:solidFill>
                <a:latin typeface="+mn-ea"/>
              </a:endParaRPr>
            </a:p>
            <a:p>
              <a:pPr algn="ctr">
                <a:lnSpc>
                  <a:spcPct val="150000"/>
                </a:lnSpc>
              </a:pPr>
              <a:r>
                <a:rPr lang="ko-KR" altLang="en-US" sz="2400" dirty="0">
                  <a:solidFill>
                    <a:schemeClr val="accent2"/>
                  </a:solidFill>
                  <a:latin typeface="+mn-ea"/>
                </a:rPr>
                <a:t>방식</a:t>
              </a:r>
            </a:p>
          </p:txBody>
        </p:sp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4119E43F-BFD6-8249-D2A3-2E5012D2104F}"/>
                </a:ext>
              </a:extLst>
            </p:cNvPr>
            <p:cNvSpPr/>
            <p:nvPr/>
          </p:nvSpPr>
          <p:spPr>
            <a:xfrm>
              <a:off x="8646232" y="2453732"/>
              <a:ext cx="1956318" cy="1455594"/>
            </a:xfrm>
            <a:prstGeom prst="roundRect">
              <a:avLst/>
            </a:prstGeom>
            <a:noFill/>
            <a:ln w="762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ko-KR" altLang="en-US" sz="2400" dirty="0">
                  <a:solidFill>
                    <a:srgbClr val="00B050"/>
                  </a:solidFill>
                  <a:latin typeface="+mn-ea"/>
                </a:rPr>
                <a:t>링크</a:t>
              </a:r>
              <a:endParaRPr lang="en-US" altLang="ko-KR" sz="2400" dirty="0">
                <a:solidFill>
                  <a:srgbClr val="00B050"/>
                </a:solidFill>
                <a:latin typeface="+mn-ea"/>
              </a:endParaRPr>
            </a:p>
            <a:p>
              <a:pPr algn="ctr">
                <a:lnSpc>
                  <a:spcPct val="150000"/>
                </a:lnSpc>
              </a:pPr>
              <a:r>
                <a:rPr lang="ko-KR" altLang="en-US" sz="2400" dirty="0">
                  <a:solidFill>
                    <a:srgbClr val="00B050"/>
                  </a:solidFill>
                  <a:latin typeface="+mn-ea"/>
                </a:rPr>
                <a:t>방식</a:t>
              </a:r>
            </a:p>
          </p:txBody>
        </p:sp>
        <p:sp>
          <p:nvSpPr>
            <p:cNvPr id="10" name="제목 1">
              <a:extLst>
                <a:ext uri="{FF2B5EF4-FFF2-40B4-BE49-F238E27FC236}">
                  <a16:creationId xmlns:a16="http://schemas.microsoft.com/office/drawing/2014/main" id="{841B6AC9-54CA-E243-C12D-B1AF603640BF}"/>
                </a:ext>
              </a:extLst>
            </p:cNvPr>
            <p:cNvSpPr txBox="1">
              <a:spLocks/>
            </p:cNvSpPr>
            <p:nvPr/>
          </p:nvSpPr>
          <p:spPr>
            <a:xfrm>
              <a:off x="7510137" y="2514401"/>
              <a:ext cx="670890" cy="1325563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강한공군체 Medium" panose="020B0600000101010101" pitchFamily="50" charset="-127"/>
                  <a:ea typeface="강한공군체 Medium" panose="020B0600000101010101" pitchFamily="50" charset="-127"/>
                  <a:cs typeface="+mj-cs"/>
                </a:defRPr>
              </a:lvl1pPr>
            </a:lstStyle>
            <a:p>
              <a:pPr algn="ctr"/>
              <a:r>
                <a:rPr lang="en-US" altLang="ko-KR" sz="6600" dirty="0">
                  <a:latin typeface="+mn-ea"/>
                  <a:ea typeface="+mn-ea"/>
                </a:rPr>
                <a:t>?</a:t>
              </a:r>
              <a:endParaRPr lang="ko-KR" altLang="en-US" sz="6600" dirty="0">
                <a:latin typeface="+mn-ea"/>
                <a:ea typeface="+mn-ea"/>
              </a:endParaRPr>
            </a:p>
          </p:txBody>
        </p:sp>
        <p:sp>
          <p:nvSpPr>
            <p:cNvPr id="11" name="제목 1">
              <a:extLst>
                <a:ext uri="{FF2B5EF4-FFF2-40B4-BE49-F238E27FC236}">
                  <a16:creationId xmlns:a16="http://schemas.microsoft.com/office/drawing/2014/main" id="{841B6AC9-54CA-E243-C12D-B1AF603640BF}"/>
                </a:ext>
              </a:extLst>
            </p:cNvPr>
            <p:cNvSpPr txBox="1">
              <a:spLocks/>
            </p:cNvSpPr>
            <p:nvPr/>
          </p:nvSpPr>
          <p:spPr>
            <a:xfrm>
              <a:off x="3992848" y="2514401"/>
              <a:ext cx="670890" cy="1325563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강한공군체 Medium" panose="020B0600000101010101" pitchFamily="50" charset="-127"/>
                  <a:ea typeface="강한공군체 Medium" panose="020B0600000101010101" pitchFamily="50" charset="-127"/>
                  <a:cs typeface="+mj-cs"/>
                </a:defRPr>
              </a:lvl1pPr>
            </a:lstStyle>
            <a:p>
              <a:pPr algn="ctr"/>
              <a:r>
                <a:rPr lang="en-US" altLang="ko-KR" sz="6600" dirty="0">
                  <a:latin typeface="+mn-ea"/>
                  <a:ea typeface="+mn-ea"/>
                </a:rPr>
                <a:t>&gt;</a:t>
              </a:r>
              <a:endParaRPr lang="ko-KR" altLang="en-US" sz="6600" dirty="0">
                <a:latin typeface="+mn-ea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656267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CACE4B-89C4-F135-0CB0-8A3A38082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2025-08-27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FB79716-4245-E6F3-A3EC-D7E296BA9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DE2252B-B408-0AEE-0EBE-AE21EC46D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345" y="823188"/>
            <a:ext cx="10515600" cy="4840564"/>
          </a:xfrm>
        </p:spPr>
        <p:txBody>
          <a:bodyPr>
            <a:normAutofit/>
          </a:bodyPr>
          <a:lstStyle/>
          <a:p>
            <a:pPr algn="ctr"/>
            <a:r>
              <a:rPr lang="en-US" altLang="ko-KR" b="1" dirty="0">
                <a:solidFill>
                  <a:srgbClr val="6EC173"/>
                </a:solidFill>
              </a:rPr>
              <a:t>Quiz</a:t>
            </a:r>
            <a:r>
              <a:rPr lang="en-US" altLang="ko-KR" dirty="0">
                <a:solidFill>
                  <a:srgbClr val="6EC173"/>
                </a:solidFill>
              </a:rPr>
              <a:t>. </a:t>
            </a:r>
            <a:r>
              <a:rPr lang="ko-KR" altLang="en-US" dirty="0"/>
              <a:t>내장 방식을 이용할 때 </a:t>
            </a:r>
            <a:br>
              <a:rPr lang="en-US" altLang="ko-KR" dirty="0"/>
            </a:br>
            <a:r>
              <a:rPr lang="en-US" altLang="ko-KR" dirty="0"/>
              <a:t>&lt;style&gt; </a:t>
            </a:r>
            <a:r>
              <a:rPr lang="ko-KR" altLang="en-US" dirty="0"/>
              <a:t>태그는 어느 곳에 사용될까요</a:t>
            </a:r>
            <a:r>
              <a:rPr lang="en-US" altLang="ko-KR" dirty="0"/>
              <a:t>?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1. &lt;html&gt;</a:t>
            </a:r>
            <a:br>
              <a:rPr lang="en-US" altLang="ko-KR" dirty="0"/>
            </a:br>
            <a:r>
              <a:rPr lang="en-US" altLang="ko-KR" dirty="0"/>
              <a:t>2. &lt;head&gt;</a:t>
            </a:r>
            <a:br>
              <a:rPr lang="en-US" altLang="ko-KR" dirty="0"/>
            </a:br>
            <a:r>
              <a:rPr lang="en-US" altLang="ko-KR" dirty="0"/>
              <a:t>3. &lt;body&gt;</a:t>
            </a:r>
            <a:br>
              <a:rPr lang="en-US" altLang="ko-KR" dirty="0"/>
            </a:br>
            <a:r>
              <a:rPr lang="en-US" altLang="ko-KR" dirty="0"/>
              <a:t>4. </a:t>
            </a:r>
            <a:r>
              <a:rPr lang="ko-KR" altLang="en-US" dirty="0"/>
              <a:t>기타</a:t>
            </a:r>
          </a:p>
        </p:txBody>
      </p:sp>
    </p:spTree>
    <p:extLst>
      <p:ext uri="{BB962C8B-B14F-4D97-AF65-F5344CB8AC3E}">
        <p14:creationId xmlns:p14="http://schemas.microsoft.com/office/powerpoint/2010/main" val="2785209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날짜 개체 틀 3">
            <a:extLst>
              <a:ext uri="{FF2B5EF4-FFF2-40B4-BE49-F238E27FC236}">
                <a16:creationId xmlns:a16="http://schemas.microsoft.com/office/drawing/2014/main" id="{6FD7CA5C-A72D-FFC1-A78B-FE0820A75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2025-08-27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FB79716-4245-E6F3-A3EC-D7E296BA9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DE2252B-B408-0AEE-0EBE-AE21EC46D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345" y="823188"/>
            <a:ext cx="10515600" cy="4840564"/>
          </a:xfrm>
        </p:spPr>
        <p:txBody>
          <a:bodyPr>
            <a:normAutofit/>
          </a:bodyPr>
          <a:lstStyle/>
          <a:p>
            <a:pPr algn="ctr"/>
            <a:r>
              <a:rPr lang="en-US" altLang="ko-KR" b="1" dirty="0">
                <a:solidFill>
                  <a:srgbClr val="6EC173"/>
                </a:solidFill>
              </a:rPr>
              <a:t>Quiz</a:t>
            </a:r>
            <a:r>
              <a:rPr lang="en-US" altLang="ko-KR" dirty="0">
                <a:solidFill>
                  <a:srgbClr val="6EC173"/>
                </a:solidFill>
              </a:rPr>
              <a:t>. </a:t>
            </a:r>
            <a:r>
              <a:rPr lang="ko-KR" altLang="en-US" dirty="0"/>
              <a:t>내장 방식을 이용할 때 </a:t>
            </a:r>
            <a:br>
              <a:rPr lang="en-US" altLang="ko-KR" dirty="0"/>
            </a:br>
            <a:r>
              <a:rPr lang="en-US" altLang="ko-KR" dirty="0"/>
              <a:t>&lt;style&gt; </a:t>
            </a:r>
            <a:r>
              <a:rPr lang="ko-KR" altLang="en-US" dirty="0"/>
              <a:t>태그는 어느 곳에 사용될까요</a:t>
            </a:r>
            <a:r>
              <a:rPr lang="en-US" altLang="ko-KR" dirty="0"/>
              <a:t>?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1. &lt;html&gt;</a:t>
            </a:r>
            <a:br>
              <a:rPr lang="en-US" altLang="ko-KR" dirty="0"/>
            </a:br>
            <a:r>
              <a:rPr lang="en-US" altLang="ko-KR" dirty="0">
                <a:highlight>
                  <a:srgbClr val="FFFF00"/>
                </a:highlight>
              </a:rPr>
              <a:t>2. &lt;head&gt;</a:t>
            </a:r>
            <a:br>
              <a:rPr lang="en-US" altLang="ko-KR" dirty="0"/>
            </a:br>
            <a:r>
              <a:rPr lang="en-US" altLang="ko-KR" dirty="0"/>
              <a:t>3. &lt;body&gt;</a:t>
            </a:r>
            <a:br>
              <a:rPr lang="en-US" altLang="ko-KR" dirty="0"/>
            </a:br>
            <a:r>
              <a:rPr lang="en-US" altLang="ko-KR" dirty="0"/>
              <a:t>4. </a:t>
            </a:r>
            <a:r>
              <a:rPr lang="ko-KR" altLang="en-US" dirty="0"/>
              <a:t>기타</a:t>
            </a:r>
          </a:p>
        </p:txBody>
      </p:sp>
    </p:spTree>
    <p:extLst>
      <p:ext uri="{BB962C8B-B14F-4D97-AF65-F5344CB8AC3E}">
        <p14:creationId xmlns:p14="http://schemas.microsoft.com/office/powerpoint/2010/main" val="3013434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847FD532-7F61-A001-537F-B970BD821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540" y="1130974"/>
            <a:ext cx="11260802" cy="1145407"/>
          </a:xfrm>
        </p:spPr>
        <p:txBody>
          <a:bodyPr>
            <a:normAutofit/>
          </a:bodyPr>
          <a:lstStyle/>
          <a:p>
            <a:r>
              <a:rPr lang="ko-KR" altLang="en-US" dirty="0"/>
              <a:t>인라인 방식</a:t>
            </a:r>
            <a:r>
              <a:rPr lang="en-US" altLang="ko-KR" dirty="0"/>
              <a:t>, </a:t>
            </a:r>
            <a:r>
              <a:rPr lang="ko-KR" altLang="en-US" dirty="0"/>
              <a:t>내장 방식</a:t>
            </a:r>
            <a:r>
              <a:rPr lang="en-US" altLang="ko-KR" dirty="0"/>
              <a:t>, </a:t>
            </a:r>
            <a:r>
              <a:rPr lang="ko-KR" altLang="en-US" dirty="0"/>
              <a:t>링크 방식을 자유롭게 사용하여 아래 사진과 같이 만들어보세요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95DDE5-0A39-A366-4CFE-A2839119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2025-08-27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040F43-60A7-C50D-1F5B-F984054F2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AC57F5-99D7-9C46-B6C1-D1622415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. CSS </a:t>
            </a:r>
            <a:r>
              <a:rPr lang="ko-KR" altLang="en-US" dirty="0">
                <a:solidFill>
                  <a:srgbClr val="ED7D31"/>
                </a:solidFill>
              </a:rPr>
              <a:t>맛보기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552C0E9-776C-F95F-69EA-056430642F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472" y="2207173"/>
            <a:ext cx="3546787" cy="400900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005260" y="3288343"/>
            <a:ext cx="764908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힌트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&lt;div </a:t>
            </a:r>
            <a:r>
              <a:rPr lang="en-US" altLang="ko-KR" b="1" dirty="0"/>
              <a:t>style=“background-color: </a:t>
            </a:r>
            <a:r>
              <a:rPr lang="en-US" altLang="ko-KR" b="1" dirty="0">
                <a:solidFill>
                  <a:schemeClr val="accent1"/>
                </a:solidFill>
              </a:rPr>
              <a:t>‘</a:t>
            </a:r>
            <a:r>
              <a:rPr lang="ko-KR" altLang="en-US" b="1" dirty="0">
                <a:solidFill>
                  <a:schemeClr val="accent1"/>
                </a:solidFill>
              </a:rPr>
              <a:t>색상</a:t>
            </a:r>
            <a:r>
              <a:rPr lang="en-US" altLang="ko-KR" b="1" dirty="0">
                <a:solidFill>
                  <a:schemeClr val="accent1"/>
                </a:solidFill>
              </a:rPr>
              <a:t>’</a:t>
            </a:r>
            <a:r>
              <a:rPr lang="en-US" altLang="ko-KR" b="1" dirty="0"/>
              <a:t>; width: </a:t>
            </a:r>
            <a:r>
              <a:rPr lang="en-US" altLang="ko-KR" b="1" dirty="0">
                <a:solidFill>
                  <a:schemeClr val="accent1"/>
                </a:solidFill>
              </a:rPr>
              <a:t>0px</a:t>
            </a:r>
            <a:r>
              <a:rPr lang="en-US" altLang="ko-KR" b="1" dirty="0"/>
              <a:t>; height: </a:t>
            </a:r>
            <a:r>
              <a:rPr lang="en-US" altLang="ko-KR" b="1" dirty="0">
                <a:solidFill>
                  <a:schemeClr val="accent1"/>
                </a:solidFill>
              </a:rPr>
              <a:t>0px</a:t>
            </a:r>
            <a:r>
              <a:rPr lang="en-US" altLang="ko-KR" b="1" dirty="0"/>
              <a:t>”</a:t>
            </a:r>
            <a:r>
              <a:rPr lang="en-US" altLang="ko-KR" dirty="0"/>
              <a:t>&gt;&lt;/div&gt;</a:t>
            </a:r>
          </a:p>
        </p:txBody>
      </p:sp>
    </p:spTree>
    <p:extLst>
      <p:ext uri="{BB962C8B-B14F-4D97-AF65-F5344CB8AC3E}">
        <p14:creationId xmlns:p14="http://schemas.microsoft.com/office/powerpoint/2010/main" val="37821394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4">
            <a:extLst>
              <a:ext uri="{FF2B5EF4-FFF2-40B4-BE49-F238E27FC236}">
                <a16:creationId xmlns:a16="http://schemas.microsoft.com/office/drawing/2014/main" id="{4D40988C-D5D5-5F07-2D62-0B15767180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030936"/>
            <a:ext cx="10515600" cy="1989875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50000"/>
              </a:lnSpc>
            </a:pPr>
            <a:r>
              <a:rPr lang="en-US" altLang="ko-KR" i="0" dirty="0">
                <a:effectLst/>
              </a:rPr>
              <a:t>CSS</a:t>
            </a:r>
            <a:r>
              <a:rPr lang="ko-KR" altLang="en-US" i="0" dirty="0">
                <a:effectLst/>
              </a:rPr>
              <a:t>는 </a:t>
            </a:r>
            <a:r>
              <a:rPr lang="en-US" altLang="ko-KR" i="0" dirty="0">
                <a:effectLst/>
              </a:rPr>
              <a:t>HTML </a:t>
            </a:r>
            <a:r>
              <a:rPr lang="ko-KR" altLang="en-US" i="0" dirty="0">
                <a:effectLst/>
              </a:rPr>
              <a:t>요소의 </a:t>
            </a:r>
            <a:r>
              <a:rPr lang="en-US" altLang="ko-KR" i="0" dirty="0">
                <a:effectLst/>
              </a:rPr>
              <a:t>style</a:t>
            </a:r>
            <a:r>
              <a:rPr lang="ko-KR" altLang="en-US" i="0" dirty="0">
                <a:effectLst/>
              </a:rPr>
              <a:t>을 정의하여야 하므로 스타일을 적용하고자 하는 </a:t>
            </a:r>
            <a:r>
              <a:rPr lang="en-US" altLang="ko-KR" i="0" dirty="0">
                <a:effectLst/>
              </a:rPr>
              <a:t>HTML </a:t>
            </a:r>
            <a:r>
              <a:rPr lang="ko-KR" altLang="en-US" i="0" dirty="0">
                <a:effectLst/>
              </a:rPr>
              <a:t>요소를 선택할 수 있어야 한다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b="0" i="0" dirty="0">
                <a:effectLst/>
              </a:rPr>
              <a:t>선택자는 스타일을 적용하고자 하는 </a:t>
            </a:r>
            <a:r>
              <a:rPr lang="en-US" altLang="ko-KR" b="0" i="0" dirty="0">
                <a:effectLst/>
              </a:rPr>
              <a:t>HTML </a:t>
            </a:r>
            <a:r>
              <a:rPr lang="ko-KR" altLang="en-US" b="0" i="0" dirty="0">
                <a:effectLst/>
              </a:rPr>
              <a:t>요소를 선택하기 위해 </a:t>
            </a:r>
            <a:r>
              <a:rPr lang="en-US" altLang="ko-KR" b="0" i="0" dirty="0">
                <a:effectLst/>
              </a:rPr>
              <a:t>CSS</a:t>
            </a:r>
            <a:r>
              <a:rPr lang="ko-KR" altLang="en-US" b="0" i="0" dirty="0">
                <a:effectLst/>
              </a:rPr>
              <a:t>에서 제공하는 수단</a:t>
            </a:r>
            <a:endParaRPr lang="en-US" altLang="ko-KR" dirty="0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C03C4-2E39-4D58-800A-57885450E72F}" type="datetime1">
              <a:rPr lang="ko-KR" altLang="en-US" smtClean="0"/>
              <a:t>2025-08-27</a:t>
            </a:fld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0ADEE-E64B-4211-A976-A6B58240426F}" type="slidenum">
              <a:rPr lang="ko-KR" altLang="en-US" smtClean="0"/>
              <a:t>18</a:t>
            </a:fld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D1DE44D4-B4E3-097A-FACE-0CD25F6671E1}"/>
              </a:ext>
            </a:extLst>
          </p:cNvPr>
          <p:cNvGrpSpPr/>
          <p:nvPr/>
        </p:nvGrpSpPr>
        <p:grpSpPr>
          <a:xfrm>
            <a:off x="2099602" y="1595829"/>
            <a:ext cx="7992795" cy="2210507"/>
            <a:chOff x="838199" y="1480842"/>
            <a:chExt cx="7992795" cy="2210507"/>
          </a:xfrm>
        </p:grpSpPr>
        <p:pic>
          <p:nvPicPr>
            <p:cNvPr id="13314" name="Picture 2" descr="CSS: 선택자(Selector) 이해">
              <a:extLst>
                <a:ext uri="{FF2B5EF4-FFF2-40B4-BE49-F238E27FC236}">
                  <a16:creationId xmlns:a16="http://schemas.microsoft.com/office/drawing/2014/main" id="{65144CC9-3187-AFC1-8BE0-A14EA4719B9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8199" y="1480842"/>
              <a:ext cx="7992795" cy="22105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직사각형 2"/>
            <p:cNvSpPr/>
            <p:nvPr/>
          </p:nvSpPr>
          <p:spPr>
            <a:xfrm>
              <a:off x="1119553" y="2208528"/>
              <a:ext cx="531221" cy="696513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1A5D54EB-8AD8-B6B2-6B0A-87F9B19B9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CSS,</a:t>
            </a:r>
            <a:r>
              <a:rPr lang="ko-KR" altLang="en-US" dirty="0"/>
              <a:t> </a:t>
            </a:r>
            <a:r>
              <a:rPr lang="ko-KR" altLang="en-US" dirty="0" err="1">
                <a:solidFill>
                  <a:schemeClr val="accent1"/>
                </a:solidFill>
              </a:rPr>
              <a:t>선택자</a:t>
            </a:r>
            <a:r>
              <a:rPr lang="en-US" altLang="ko-KR" dirty="0">
                <a:solidFill>
                  <a:schemeClr val="accent1"/>
                </a:solidFill>
              </a:rPr>
              <a:t>(Selector)</a:t>
            </a:r>
            <a:endParaRPr lang="ko-KR" alt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49243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CSS: 선택자(Selector) 이해">
            <a:extLst>
              <a:ext uri="{FF2B5EF4-FFF2-40B4-BE49-F238E27FC236}">
                <a16:creationId xmlns:a16="http://schemas.microsoft.com/office/drawing/2014/main" id="{3FF23653-4554-FABA-1C7F-22BD8EF0B4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9602" y="1595829"/>
            <a:ext cx="7992795" cy="2210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내용 개체 틀 4">
            <a:extLst>
              <a:ext uri="{FF2B5EF4-FFF2-40B4-BE49-F238E27FC236}">
                <a16:creationId xmlns:a16="http://schemas.microsoft.com/office/drawing/2014/main" id="{4D40988C-D5D5-5F07-2D62-0B15767180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8458" y="4093028"/>
            <a:ext cx="10515600" cy="1930527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50000"/>
              </a:lnSpc>
            </a:pPr>
            <a:r>
              <a:rPr lang="ko-KR" altLang="en-US" b="0" i="0" dirty="0">
                <a:effectLst/>
              </a:rPr>
              <a:t>선택자로 </a:t>
            </a:r>
            <a:r>
              <a:rPr lang="en-US" altLang="ko-KR" b="0" i="0" dirty="0">
                <a:effectLst/>
              </a:rPr>
              <a:t>HTML </a:t>
            </a:r>
            <a:r>
              <a:rPr lang="ko-KR" altLang="en-US" b="0" i="0" dirty="0">
                <a:effectLst/>
              </a:rPr>
              <a:t>요소를 선택하고 </a:t>
            </a:r>
            <a:r>
              <a:rPr lang="en-US" altLang="ko-KR" b="0" i="0" dirty="0">
                <a:effectLst/>
              </a:rPr>
              <a:t>{ } </a:t>
            </a:r>
            <a:r>
              <a:rPr lang="ko-KR" altLang="en-US" b="0" i="0" dirty="0">
                <a:effectLst/>
              </a:rPr>
              <a:t>내에 속성 값을 지정하여 다양한 </a:t>
            </a:r>
            <a:r>
              <a:rPr lang="en-US" altLang="ko-KR" b="0" i="0" dirty="0">
                <a:effectLst/>
              </a:rPr>
              <a:t>style</a:t>
            </a:r>
            <a:r>
              <a:rPr lang="ko-KR" altLang="en-US" b="0" i="0" dirty="0">
                <a:effectLst/>
              </a:rPr>
              <a:t>을 정의</a:t>
            </a:r>
            <a:endParaRPr lang="en-US" altLang="ko-KR" b="0" i="0" dirty="0">
              <a:effectLst/>
            </a:endParaRPr>
          </a:p>
          <a:p>
            <a:pPr>
              <a:lnSpc>
                <a:spcPct val="150000"/>
              </a:lnSpc>
            </a:pPr>
            <a:r>
              <a:rPr lang="ko-KR" altLang="en-US" dirty="0"/>
              <a:t>여러 개의 </a:t>
            </a:r>
            <a:r>
              <a:rPr lang="ko-KR" altLang="en-US" dirty="0" err="1"/>
              <a:t>프로퍼티를</a:t>
            </a:r>
            <a:r>
              <a:rPr lang="ko-KR" altLang="en-US" dirty="0"/>
              <a:t> 연속해서 지정할 수 있으며 세미콜론</a:t>
            </a:r>
            <a:r>
              <a:rPr lang="en-US" altLang="ko-KR" dirty="0"/>
              <a:t>(;)</a:t>
            </a:r>
            <a:r>
              <a:rPr lang="ko-KR" altLang="en-US" dirty="0"/>
              <a:t>으로 구분</a:t>
            </a:r>
            <a:endParaRPr lang="en-US" altLang="ko-KR" b="0" i="0" dirty="0">
              <a:effectLst/>
            </a:endParaRPr>
          </a:p>
          <a:p>
            <a:pPr>
              <a:lnSpc>
                <a:spcPct val="150000"/>
              </a:lnSpc>
            </a:pPr>
            <a:r>
              <a:rPr lang="ko-KR" altLang="en-US" b="0" i="0" dirty="0">
                <a:effectLst/>
              </a:rPr>
              <a:t>속성은 </a:t>
            </a:r>
            <a:r>
              <a:rPr lang="ko-KR" altLang="en-US" b="0" i="0" u="none" strike="noStrike" dirty="0">
                <a:effectLst/>
              </a:rPr>
              <a:t>표준 스펙</a:t>
            </a:r>
            <a:r>
              <a:rPr lang="ko-KR" altLang="en-US" b="0" i="0" dirty="0">
                <a:effectLst/>
              </a:rPr>
              <a:t>으로 이미 지정되어 있는 것을 사용</a:t>
            </a:r>
            <a:r>
              <a:rPr lang="en-US" altLang="ko-KR" b="0" i="0" dirty="0">
                <a:effectLst/>
              </a:rPr>
              <a:t>,</a:t>
            </a:r>
            <a:r>
              <a:rPr lang="ko-KR" altLang="en-US" b="0" i="0" dirty="0">
                <a:effectLst/>
              </a:rPr>
              <a:t> 사용자가 임의로 정의할 수 없다</a:t>
            </a:r>
            <a:endParaRPr lang="en-US" altLang="ko-KR" b="0" i="0" dirty="0">
              <a:effectLst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AC3B9-9608-4505-872F-E91F76B287B7}" type="datetime1">
              <a:rPr lang="ko-KR" altLang="en-US" smtClean="0"/>
              <a:t>2025-08-27</a:t>
            </a:fld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0ADEE-E64B-4211-A976-A6B58240426F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3306739" y="2306156"/>
            <a:ext cx="1361639" cy="70593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6106258" y="2318856"/>
            <a:ext cx="2155092" cy="64758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723C21B-0223-C847-7F4B-6BF3D7468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CSS,</a:t>
            </a:r>
            <a:r>
              <a:rPr lang="ko-KR" altLang="en-US" dirty="0"/>
              <a:t> </a:t>
            </a:r>
            <a:r>
              <a:rPr lang="ko-KR" altLang="en-US" dirty="0">
                <a:solidFill>
                  <a:schemeClr val="accent1"/>
                </a:solidFill>
              </a:rPr>
              <a:t>속성</a:t>
            </a:r>
            <a:r>
              <a:rPr lang="en-US" altLang="ko-KR" dirty="0">
                <a:solidFill>
                  <a:schemeClr val="accent1"/>
                </a:solidFill>
              </a:rPr>
              <a:t>(Property)</a:t>
            </a:r>
            <a:endParaRPr lang="ko-KR" alt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7776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CSS: 선택자(Selector) 이해">
            <a:extLst>
              <a:ext uri="{FF2B5EF4-FFF2-40B4-BE49-F238E27FC236}">
                <a16:creationId xmlns:a16="http://schemas.microsoft.com/office/drawing/2014/main" id="{68FA6694-37DA-2ACC-2511-9D7A91DEB0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9602" y="1595829"/>
            <a:ext cx="7992795" cy="2210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내용 개체 틀 4">
            <a:extLst>
              <a:ext uri="{FF2B5EF4-FFF2-40B4-BE49-F238E27FC236}">
                <a16:creationId xmlns:a16="http://schemas.microsoft.com/office/drawing/2014/main" id="{4D40988C-D5D5-5F07-2D62-0B15767180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256758"/>
            <a:ext cx="10515600" cy="137807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b="0" i="0" dirty="0">
                <a:effectLst/>
                <a:latin typeface="Lora" pitchFamily="2" charset="0"/>
              </a:rPr>
              <a:t>값은 해당 속성에 사용할 수 있는 값을 키워드나 크기 단위 또는 색상 단위 등의 특정 단위로 지정</a:t>
            </a:r>
            <a:endParaRPr lang="en-US" altLang="ko-KR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05331-6A24-430B-98C3-C2EBD49CD31F}" type="datetime1">
              <a:rPr lang="ko-KR" altLang="en-US" smtClean="0"/>
              <a:t>2025-08-27</a:t>
            </a:fld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0ADEE-E64B-4211-A976-A6B58240426F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4925695" y="2301297"/>
            <a:ext cx="1101762" cy="723370"/>
          </a:xfrm>
          <a:prstGeom prst="rect">
            <a:avLst/>
          </a:prstGeom>
          <a:noFill/>
          <a:ln w="571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8454842" y="2333665"/>
            <a:ext cx="1229470" cy="658634"/>
          </a:xfrm>
          <a:prstGeom prst="rect">
            <a:avLst/>
          </a:prstGeom>
          <a:noFill/>
          <a:ln w="571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479DD8C-F955-9B44-ACBF-EF74BB5EC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CSS,</a:t>
            </a:r>
            <a:r>
              <a:rPr lang="ko-KR" altLang="en-US" dirty="0"/>
              <a:t> </a:t>
            </a:r>
            <a:r>
              <a:rPr lang="ko-KR" altLang="en-US" dirty="0">
                <a:solidFill>
                  <a:schemeClr val="accent1"/>
                </a:solidFill>
              </a:rPr>
              <a:t>값</a:t>
            </a:r>
            <a:r>
              <a:rPr lang="en-US" altLang="ko-KR" dirty="0">
                <a:solidFill>
                  <a:schemeClr val="accent1"/>
                </a:solidFill>
              </a:rPr>
              <a:t>(Value)</a:t>
            </a:r>
            <a:endParaRPr lang="ko-KR" alt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7180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4F01F0F0-7DDB-051F-B636-EEDB77D4FC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3467" y="1809524"/>
            <a:ext cx="8345065" cy="3238952"/>
          </a:xfrm>
          <a:prstGeom prst="rect">
            <a:avLst/>
          </a:prstGeom>
        </p:spPr>
      </p:pic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821B38FF-42EF-30C5-D419-6D7C425F4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6D116-B16C-4336-A3EE-0C1DB28D93C7}" type="datetime6">
              <a:rPr lang="ko-KR" altLang="en-US" smtClean="0"/>
              <a:t>2025년 8월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772710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6000" dirty="0">
                <a:solidFill>
                  <a:srgbClr val="ED7D31"/>
                </a:solidFill>
              </a:rPr>
              <a:t>기본</a:t>
            </a:r>
            <a:r>
              <a:rPr lang="en-US" altLang="ko-KR" sz="6000" dirty="0">
                <a:solidFill>
                  <a:srgbClr val="ED7D31"/>
                </a:solidFill>
              </a:rPr>
              <a:t>(</a:t>
            </a:r>
            <a:r>
              <a:rPr lang="ko-KR" altLang="en-US" sz="6000" dirty="0">
                <a:solidFill>
                  <a:srgbClr val="ED7D31"/>
                </a:solidFill>
              </a:rPr>
              <a:t>단일</a:t>
            </a:r>
            <a:r>
              <a:rPr lang="en-US" altLang="ko-KR" sz="6000" dirty="0">
                <a:solidFill>
                  <a:srgbClr val="ED7D31"/>
                </a:solidFill>
              </a:rPr>
              <a:t>) </a:t>
            </a:r>
            <a:r>
              <a:rPr lang="ko-KR" altLang="en-US" sz="6000" dirty="0" err="1">
                <a:solidFill>
                  <a:srgbClr val="ED7D31"/>
                </a:solidFill>
              </a:rPr>
              <a:t>선택자</a:t>
            </a:r>
            <a:endParaRPr lang="ko-KR" altLang="en-US" sz="6000" dirty="0">
              <a:solidFill>
                <a:srgbClr val="ED7D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50842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C3D922-7259-B4EF-D7C8-B1F5587916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069977"/>
            <a:ext cx="2743200" cy="312261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rgbClr val="00B050"/>
                </a:solidFill>
              </a:rPr>
              <a:t>전체 </a:t>
            </a:r>
            <a:r>
              <a:rPr lang="ko-KR" altLang="en-US" dirty="0" err="1">
                <a:solidFill>
                  <a:srgbClr val="00B050"/>
                </a:solidFill>
              </a:rPr>
              <a:t>선택자</a:t>
            </a:r>
            <a:endParaRPr lang="en-US" altLang="ko-KR" dirty="0">
              <a:solidFill>
                <a:srgbClr val="00B050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dirty="0"/>
              <a:t>태그 </a:t>
            </a:r>
            <a:r>
              <a:rPr lang="ko-KR" altLang="en-US" dirty="0" err="1"/>
              <a:t>선택자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Class </a:t>
            </a:r>
            <a:r>
              <a:rPr lang="ko-KR" altLang="en-US" dirty="0" err="1"/>
              <a:t>선택자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ID </a:t>
            </a:r>
            <a:r>
              <a:rPr lang="ko-KR" altLang="en-US" dirty="0" err="1"/>
              <a:t>선택자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630AAA-9B55-18D3-332D-AFBF264CC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2025-08-27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309EF4C-6CBF-F353-816C-0A042A427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E711374-53F0-4A81-B742-9C03D3E37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CSS </a:t>
            </a:r>
            <a:r>
              <a:rPr lang="ko-KR" altLang="en-US" dirty="0" err="1"/>
              <a:t>선택자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/>
              <a:t>단일 </a:t>
            </a:r>
            <a:r>
              <a:rPr lang="ko-KR" altLang="en-US" dirty="0" err="1"/>
              <a:t>선택자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35828CA-A2B3-593A-FA71-35064F5BCB6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653"/>
          <a:stretch/>
        </p:blipFill>
        <p:spPr>
          <a:xfrm>
            <a:off x="4150321" y="1202557"/>
            <a:ext cx="7736013" cy="4857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8876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630AAA-9B55-18D3-332D-AFBF264CC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2025-08-27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309EF4C-6CBF-F353-816C-0A042A427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E711374-53F0-4A81-B742-9C03D3E37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CSS </a:t>
            </a:r>
            <a:r>
              <a:rPr lang="ko-KR" altLang="en-US" dirty="0" err="1"/>
              <a:t>선택자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/>
              <a:t>단일 </a:t>
            </a:r>
            <a:r>
              <a:rPr lang="ko-KR" altLang="en-US" dirty="0" err="1"/>
              <a:t>선택자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1C85A4E-6D3C-E76C-90AE-E14356A590C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754"/>
          <a:stretch/>
        </p:blipFill>
        <p:spPr>
          <a:xfrm>
            <a:off x="4486275" y="1145407"/>
            <a:ext cx="7279924" cy="4793788"/>
          </a:xfrm>
          <a:prstGeom prst="rect">
            <a:avLst/>
          </a:prstGeom>
        </p:spPr>
      </p:pic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46ABD6D0-F599-16A8-9CD8-B3BCDAE1F8AA}"/>
              </a:ext>
            </a:extLst>
          </p:cNvPr>
          <p:cNvSpPr txBox="1">
            <a:spLocks/>
          </p:cNvSpPr>
          <p:nvPr/>
        </p:nvSpPr>
        <p:spPr>
          <a:xfrm>
            <a:off x="609600" y="2069977"/>
            <a:ext cx="2743200" cy="3122612"/>
          </a:xfrm>
          <a:prstGeom prst="rect">
            <a:avLst/>
          </a:prstGeom>
        </p:spPr>
        <p:txBody>
          <a:bodyPr vert="horz" lIns="90000" tIns="45720" rIns="9000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dirty="0"/>
              <a:t>전체 </a:t>
            </a:r>
            <a:r>
              <a:rPr lang="ko-KR" altLang="en-US" dirty="0" err="1"/>
              <a:t>선택자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rgbClr val="00B050"/>
                </a:solidFill>
              </a:rPr>
              <a:t>태그 </a:t>
            </a:r>
            <a:r>
              <a:rPr lang="ko-KR" altLang="en-US" dirty="0" err="1">
                <a:solidFill>
                  <a:srgbClr val="00B050"/>
                </a:solidFill>
              </a:rPr>
              <a:t>선택자</a:t>
            </a:r>
            <a:endParaRPr lang="en-US" altLang="ko-KR" dirty="0">
              <a:solidFill>
                <a:srgbClr val="00B05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dirty="0"/>
              <a:t>Class </a:t>
            </a:r>
            <a:r>
              <a:rPr lang="ko-KR" altLang="en-US" dirty="0" err="1"/>
              <a:t>선택자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ID </a:t>
            </a:r>
            <a:r>
              <a:rPr lang="ko-KR" altLang="en-US" dirty="0" err="1"/>
              <a:t>선택자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148570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630AAA-9B55-18D3-332D-AFBF264CC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2025-08-27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309EF4C-6CBF-F353-816C-0A042A427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E711374-53F0-4A81-B742-9C03D3E37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CSS </a:t>
            </a:r>
            <a:r>
              <a:rPr lang="ko-KR" altLang="en-US" dirty="0" err="1"/>
              <a:t>선택자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/>
              <a:t>단일 </a:t>
            </a:r>
            <a:r>
              <a:rPr lang="ko-KR" altLang="en-US" dirty="0" err="1"/>
              <a:t>선택자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E150EFF-FB0B-DDB2-F91B-BCFCA9C6FC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8292" y="1145407"/>
            <a:ext cx="7128992" cy="4595873"/>
          </a:xfrm>
          <a:prstGeom prst="rect">
            <a:avLst/>
          </a:prstGeom>
        </p:spPr>
      </p:pic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1321CC41-5BD0-AAB5-13F5-59F62868577A}"/>
              </a:ext>
            </a:extLst>
          </p:cNvPr>
          <p:cNvSpPr txBox="1">
            <a:spLocks/>
          </p:cNvSpPr>
          <p:nvPr/>
        </p:nvSpPr>
        <p:spPr>
          <a:xfrm>
            <a:off x="609600" y="2069977"/>
            <a:ext cx="2743200" cy="3122612"/>
          </a:xfrm>
          <a:prstGeom prst="rect">
            <a:avLst/>
          </a:prstGeom>
        </p:spPr>
        <p:txBody>
          <a:bodyPr vert="horz" lIns="90000" tIns="45720" rIns="9000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dirty="0"/>
              <a:t>전체 </a:t>
            </a:r>
            <a:r>
              <a:rPr lang="ko-KR" altLang="en-US" dirty="0" err="1"/>
              <a:t>선택자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태그 </a:t>
            </a:r>
            <a:r>
              <a:rPr lang="ko-KR" altLang="en-US" dirty="0" err="1"/>
              <a:t>선택자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rgbClr val="00B050"/>
                </a:solidFill>
              </a:rPr>
              <a:t>Class </a:t>
            </a:r>
            <a:r>
              <a:rPr lang="ko-KR" altLang="en-US" dirty="0" err="1">
                <a:solidFill>
                  <a:srgbClr val="00B050"/>
                </a:solidFill>
              </a:rPr>
              <a:t>선택자</a:t>
            </a:r>
            <a:endParaRPr lang="en-US" altLang="ko-KR" dirty="0">
              <a:solidFill>
                <a:srgbClr val="00B05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dirty="0"/>
              <a:t>ID </a:t>
            </a:r>
            <a:r>
              <a:rPr lang="ko-KR" altLang="en-US" dirty="0" err="1"/>
              <a:t>선택자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930242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630AAA-9B55-18D3-332D-AFBF264CC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2025-08-27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309EF4C-6CBF-F353-816C-0A042A427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26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E711374-53F0-4A81-B742-9C03D3E37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CSS </a:t>
            </a:r>
            <a:r>
              <a:rPr lang="ko-KR" altLang="en-US" dirty="0" err="1"/>
              <a:t>선택자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/>
              <a:t>단일 </a:t>
            </a:r>
            <a:r>
              <a:rPr lang="ko-KR" altLang="en-US" dirty="0" err="1"/>
              <a:t>선택자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541712F-C28B-BBD9-F77C-818D853D330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251"/>
          <a:stretch/>
        </p:blipFill>
        <p:spPr>
          <a:xfrm>
            <a:off x="4685070" y="1116832"/>
            <a:ext cx="7007948" cy="4685921"/>
          </a:xfrm>
          <a:prstGeom prst="rect">
            <a:avLst/>
          </a:prstGeom>
        </p:spPr>
      </p:pic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B92D454A-E2F5-D6FF-0DF0-2403C645953E}"/>
              </a:ext>
            </a:extLst>
          </p:cNvPr>
          <p:cNvSpPr txBox="1">
            <a:spLocks/>
          </p:cNvSpPr>
          <p:nvPr/>
        </p:nvSpPr>
        <p:spPr>
          <a:xfrm>
            <a:off x="609600" y="2069977"/>
            <a:ext cx="2743200" cy="3122612"/>
          </a:xfrm>
          <a:prstGeom prst="rect">
            <a:avLst/>
          </a:prstGeom>
        </p:spPr>
        <p:txBody>
          <a:bodyPr vert="horz" lIns="90000" tIns="45720" rIns="9000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dirty="0"/>
              <a:t>전체 </a:t>
            </a:r>
            <a:r>
              <a:rPr lang="ko-KR" altLang="en-US" dirty="0" err="1"/>
              <a:t>선택자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태그 </a:t>
            </a:r>
            <a:r>
              <a:rPr lang="ko-KR" altLang="en-US" dirty="0" err="1"/>
              <a:t>선택자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Class </a:t>
            </a:r>
            <a:r>
              <a:rPr lang="ko-KR" altLang="en-US" dirty="0" err="1"/>
              <a:t>선택자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rgbClr val="00B050"/>
                </a:solidFill>
              </a:rPr>
              <a:t>ID </a:t>
            </a:r>
            <a:r>
              <a:rPr lang="ko-KR" altLang="en-US" dirty="0" err="1">
                <a:solidFill>
                  <a:srgbClr val="00B050"/>
                </a:solidFill>
              </a:rPr>
              <a:t>선택자</a:t>
            </a:r>
            <a:endParaRPr lang="ko-KR" alt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42686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B4E9619-8CE7-55C3-4AAC-F4BCB5290B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326500"/>
            <a:ext cx="11701221" cy="4665797"/>
          </a:xfrm>
        </p:spPr>
        <p:txBody>
          <a:bodyPr>
            <a:normAutofit lnSpcReduction="10000"/>
          </a:bodyPr>
          <a:lstStyle/>
          <a:p>
            <a:pPr algn="l" latinLnBrk="1"/>
            <a:r>
              <a:rPr lang="ko-KR" altLang="en-US" i="0" dirty="0" err="1">
                <a:solidFill>
                  <a:srgbClr val="212529"/>
                </a:solidFill>
                <a:effectLst/>
                <a:latin typeface="+mn-ea"/>
              </a:rPr>
              <a:t>코딩온</a:t>
            </a:r>
            <a:r>
              <a:rPr lang="ko-KR" altLang="en-US" i="0" dirty="0">
                <a:solidFill>
                  <a:srgbClr val="212529"/>
                </a:solidFill>
                <a:effectLst/>
                <a:latin typeface="+mn-ea"/>
              </a:rPr>
              <a:t> </a:t>
            </a:r>
            <a:r>
              <a:rPr lang="en-US" altLang="ko-KR" i="0" dirty="0">
                <a:solidFill>
                  <a:srgbClr val="212529"/>
                </a:solidFill>
                <a:effectLst/>
                <a:latin typeface="+mn-ea"/>
              </a:rPr>
              <a:t>LMS</a:t>
            </a:r>
            <a:r>
              <a:rPr lang="ko-KR" altLang="en-US" i="0" dirty="0">
                <a:solidFill>
                  <a:srgbClr val="212529"/>
                </a:solidFill>
                <a:effectLst/>
                <a:latin typeface="+mn-ea"/>
              </a:rPr>
              <a:t>에 로그인해주세요</a:t>
            </a:r>
            <a:r>
              <a:rPr lang="en-US" altLang="ko-KR" i="0" dirty="0">
                <a:solidFill>
                  <a:srgbClr val="212529"/>
                </a:solidFill>
                <a:effectLst/>
                <a:latin typeface="+mn-ea"/>
              </a:rPr>
              <a:t>. (Slack #</a:t>
            </a:r>
            <a:r>
              <a:rPr lang="ko-KR" altLang="en-US" i="0" dirty="0">
                <a:solidFill>
                  <a:srgbClr val="212529"/>
                </a:solidFill>
                <a:effectLst/>
                <a:latin typeface="+mn-ea"/>
              </a:rPr>
              <a:t>강의 채널의 책갈피 확인</a:t>
            </a:r>
            <a:r>
              <a:rPr lang="en-US" altLang="ko-KR" i="0" dirty="0">
                <a:solidFill>
                  <a:srgbClr val="212529"/>
                </a:solidFill>
                <a:effectLst/>
                <a:latin typeface="+mn-ea"/>
              </a:rPr>
              <a:t>)</a:t>
            </a:r>
          </a:p>
          <a:p>
            <a:pPr marL="457200" lvl="1" indent="0">
              <a:buNone/>
            </a:pPr>
            <a:endParaRPr lang="en-US" altLang="ko-KR" i="0" dirty="0">
              <a:solidFill>
                <a:srgbClr val="212529"/>
              </a:solidFill>
              <a:effectLst/>
              <a:latin typeface="+mn-ea"/>
            </a:endParaRPr>
          </a:p>
          <a:p>
            <a:pPr marL="457200" lvl="1" indent="0"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marL="457200" lvl="1" indent="0">
              <a:buNone/>
            </a:pPr>
            <a:endParaRPr lang="en-US" altLang="ko-KR" i="0" dirty="0">
              <a:solidFill>
                <a:srgbClr val="212529"/>
              </a:solidFill>
              <a:effectLst/>
              <a:latin typeface="+mn-ea"/>
            </a:endParaRPr>
          </a:p>
          <a:p>
            <a:pPr marL="457200" lvl="1" indent="0">
              <a:buNone/>
            </a:pPr>
            <a:endParaRPr lang="en-US" altLang="ko-KR" i="0" dirty="0">
              <a:solidFill>
                <a:srgbClr val="212529"/>
              </a:solidFill>
              <a:effectLst/>
              <a:latin typeface="+mn-ea"/>
            </a:endParaRPr>
          </a:p>
          <a:p>
            <a:pPr marL="457200" lvl="1" indent="0">
              <a:buNone/>
            </a:pPr>
            <a:endParaRPr lang="en-US" altLang="ko-KR" i="0" dirty="0">
              <a:solidFill>
                <a:srgbClr val="212529"/>
              </a:solidFill>
              <a:effectLst/>
              <a:latin typeface="+mn-ea"/>
            </a:endParaRPr>
          </a:p>
          <a:p>
            <a:pPr algn="l" latinLnBrk="1"/>
            <a:r>
              <a:rPr lang="en-US" altLang="ko-KR" b="1" i="0" dirty="0">
                <a:solidFill>
                  <a:srgbClr val="212529"/>
                </a:solidFill>
                <a:effectLst/>
                <a:latin typeface="+mn-ea"/>
              </a:rPr>
              <a:t>[</a:t>
            </a:r>
            <a:r>
              <a:rPr lang="ko-KR" altLang="en-US" b="1" i="0" dirty="0" err="1">
                <a:solidFill>
                  <a:srgbClr val="212529"/>
                </a:solidFill>
                <a:effectLst/>
                <a:latin typeface="+mn-ea"/>
              </a:rPr>
              <a:t>코딩온</a:t>
            </a:r>
            <a:r>
              <a:rPr lang="en-US" altLang="ko-KR" b="1" i="0" dirty="0">
                <a:solidFill>
                  <a:srgbClr val="212529"/>
                </a:solidFill>
                <a:effectLst/>
                <a:latin typeface="+mn-ea"/>
              </a:rPr>
              <a:t>] HTML, CSS, JS </a:t>
            </a:r>
            <a:r>
              <a:rPr lang="ko-KR" altLang="en-US" b="1" i="0" dirty="0">
                <a:solidFill>
                  <a:srgbClr val="212529"/>
                </a:solidFill>
                <a:effectLst/>
                <a:latin typeface="+mn-ea"/>
              </a:rPr>
              <a:t>실습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rgbClr val="212529"/>
                </a:solidFill>
                <a:latin typeface="+mn-ea"/>
              </a:rPr>
              <a:t>강의 클릭</a:t>
            </a: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[CSS</a:t>
            </a:r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sz="2800" b="1" dirty="0" err="1">
                <a:solidFill>
                  <a:srgbClr val="212529"/>
                </a:solidFill>
                <a:latin typeface="+mn-ea"/>
              </a:rPr>
              <a:t>선택자</a:t>
            </a:r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sz="2800" b="1" i="0" dirty="0">
                <a:solidFill>
                  <a:srgbClr val="212529"/>
                </a:solidFill>
                <a:effectLst/>
                <a:latin typeface="+mn-ea"/>
              </a:rPr>
              <a:t>실습</a:t>
            </a:r>
            <a:r>
              <a:rPr lang="en-US" altLang="ko-KR" sz="2800" b="1" i="0" dirty="0">
                <a:solidFill>
                  <a:srgbClr val="212529"/>
                </a:solidFill>
                <a:effectLst/>
                <a:latin typeface="+mn-ea"/>
              </a:rPr>
              <a:t>]</a:t>
            </a:r>
            <a:r>
              <a:rPr lang="en-US" altLang="ko-KR" sz="2800" b="0" i="0" dirty="0">
                <a:solidFill>
                  <a:srgbClr val="212529"/>
                </a:solidFill>
                <a:effectLst/>
                <a:latin typeface="+mn-ea"/>
              </a:rPr>
              <a:t> </a:t>
            </a:r>
            <a:r>
              <a:rPr lang="ko-KR" altLang="en-US" sz="2800" b="0" i="0" dirty="0">
                <a:solidFill>
                  <a:srgbClr val="212529"/>
                </a:solidFill>
                <a:effectLst/>
                <a:latin typeface="+mn-ea"/>
              </a:rPr>
              <a:t>커리큘럼 클릭</a:t>
            </a:r>
            <a:endParaRPr lang="en-US" altLang="ko-KR" sz="2800" b="0" i="0" dirty="0">
              <a:solidFill>
                <a:srgbClr val="212529"/>
              </a:solidFill>
              <a:effectLst/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ko-KR" altLang="en-US" sz="2800" b="1" dirty="0" err="1">
                <a:solidFill>
                  <a:srgbClr val="212529"/>
                </a:solidFill>
                <a:latin typeface="+mn-ea"/>
              </a:rPr>
              <a:t>선택자</a:t>
            </a:r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 연습하기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] &gt; 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[</a:t>
            </a:r>
            <a:r>
              <a:rPr lang="ko-KR" altLang="en-US" sz="2800" b="1" dirty="0">
                <a:solidFill>
                  <a:schemeClr val="accent1"/>
                </a:solidFill>
                <a:latin typeface="+mn-ea"/>
              </a:rPr>
              <a:t>기본클래스 </a:t>
            </a:r>
            <a:r>
              <a:rPr lang="ko-KR" altLang="en-US" sz="2800" b="1" dirty="0" err="1">
                <a:solidFill>
                  <a:schemeClr val="accent1"/>
                </a:solidFill>
                <a:latin typeface="+mn-ea"/>
              </a:rPr>
              <a:t>선택자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] </a:t>
            </a:r>
            <a:r>
              <a:rPr lang="en-US" altLang="ko-KR" sz="28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실습 진행</a:t>
            </a:r>
            <a:endParaRPr lang="ko-KR" altLang="en-US" sz="2800" b="0" i="0" dirty="0">
              <a:solidFill>
                <a:srgbClr val="212529"/>
              </a:solidFill>
              <a:effectLst/>
              <a:latin typeface="+mn-ea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6EF5811-D0D8-2150-AB87-7041EA1C1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BF0963-57DE-1888-FEA3-214E79D93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27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819BF2E8-E9AD-C4F2-130A-85CEAF4F3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. </a:t>
            </a:r>
            <a:r>
              <a:rPr lang="ko-KR" altLang="en-US" dirty="0">
                <a:solidFill>
                  <a:srgbClr val="ED7D31"/>
                </a:solidFill>
              </a:rPr>
              <a:t>기본클래스 </a:t>
            </a:r>
            <a:r>
              <a:rPr lang="ko-KR" altLang="en-US" dirty="0" err="1">
                <a:solidFill>
                  <a:srgbClr val="ED7D31"/>
                </a:solidFill>
              </a:rPr>
              <a:t>선택자</a:t>
            </a:r>
            <a:r>
              <a:rPr lang="ko-KR" altLang="en-US" dirty="0">
                <a:solidFill>
                  <a:srgbClr val="ED7D31"/>
                </a:solidFill>
              </a:rPr>
              <a:t> 실습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8BDF07E7-8604-543A-87D2-D0EA28BB3CB9}"/>
              </a:ext>
            </a:extLst>
          </p:cNvPr>
          <p:cNvGrpSpPr/>
          <p:nvPr/>
        </p:nvGrpSpPr>
        <p:grpSpPr>
          <a:xfrm>
            <a:off x="1477108" y="2407179"/>
            <a:ext cx="5783891" cy="1177124"/>
            <a:chOff x="1266093" y="2392552"/>
            <a:chExt cx="5783891" cy="1177124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2B93C4C9-FCAF-EECF-49AA-2F18211606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66093" y="2392552"/>
              <a:ext cx="5783891" cy="1177124"/>
            </a:xfrm>
            <a:prstGeom prst="rect">
              <a:avLst/>
            </a:prstGeom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667C001B-BB1F-61F7-0D34-D697577C9DE9}"/>
                </a:ext>
              </a:extLst>
            </p:cNvPr>
            <p:cNvSpPr/>
            <p:nvPr/>
          </p:nvSpPr>
          <p:spPr>
            <a:xfrm>
              <a:off x="4478216" y="3114382"/>
              <a:ext cx="2571768" cy="455294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5A6B1FBD-24E8-DA58-4AEE-ABC7CF06D298}"/>
              </a:ext>
            </a:extLst>
          </p:cNvPr>
          <p:cNvSpPr txBox="1"/>
          <p:nvPr/>
        </p:nvSpPr>
        <p:spPr>
          <a:xfrm>
            <a:off x="4925569" y="5992297"/>
            <a:ext cx="7247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accent6"/>
                </a:solidFill>
                <a:latin typeface="+mn-ea"/>
              </a:rPr>
              <a:t>*Slack</a:t>
            </a:r>
            <a:r>
              <a:rPr lang="ko-KR" altLang="en-US" dirty="0">
                <a:solidFill>
                  <a:schemeClr val="accent6"/>
                </a:solidFill>
                <a:latin typeface="+mn-ea"/>
              </a:rPr>
              <a:t> </a:t>
            </a:r>
            <a:r>
              <a:rPr lang="en-US" altLang="ko-KR" dirty="0">
                <a:solidFill>
                  <a:schemeClr val="accent6"/>
                </a:solidFill>
                <a:latin typeface="+mn-ea"/>
              </a:rPr>
              <a:t>#</a:t>
            </a:r>
            <a:r>
              <a:rPr lang="ko-KR" altLang="en-US" dirty="0">
                <a:solidFill>
                  <a:schemeClr val="accent6"/>
                </a:solidFill>
                <a:latin typeface="+mn-ea"/>
              </a:rPr>
              <a:t>과제 채널의 스레드 댓글로 코드</a:t>
            </a:r>
            <a:r>
              <a:rPr lang="en-US" altLang="ko-KR" dirty="0">
                <a:solidFill>
                  <a:schemeClr val="accent6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chemeClr val="accent6"/>
                </a:solidFill>
                <a:latin typeface="+mn-ea"/>
              </a:rPr>
              <a:t>및 결과 캡쳐를 제출해주세요</a:t>
            </a:r>
            <a:r>
              <a:rPr lang="en-US" altLang="ko-KR" dirty="0">
                <a:solidFill>
                  <a:schemeClr val="accent6"/>
                </a:solidFill>
                <a:latin typeface="+mn-ea"/>
              </a:rPr>
              <a:t>!</a:t>
            </a:r>
            <a:endParaRPr lang="ko-KR" altLang="en-US" dirty="0">
              <a:solidFill>
                <a:schemeClr val="accent6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547312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28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6000" dirty="0">
                <a:solidFill>
                  <a:srgbClr val="ED7D31"/>
                </a:solidFill>
              </a:rPr>
              <a:t>복합 </a:t>
            </a:r>
            <a:r>
              <a:rPr lang="ko-KR" altLang="en-US" sz="6000" dirty="0" err="1">
                <a:solidFill>
                  <a:srgbClr val="ED7D31"/>
                </a:solidFill>
              </a:rPr>
              <a:t>선택자</a:t>
            </a:r>
            <a:endParaRPr lang="ko-KR" altLang="en-US" sz="6000" dirty="0">
              <a:solidFill>
                <a:srgbClr val="ED7D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53878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AA0B2603-41E1-2960-094C-0F1A4EED6E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701221" cy="4665797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특수한 요소를 호출하고 싶을 때</a:t>
            </a:r>
            <a:r>
              <a:rPr lang="en-US" altLang="ko-KR" sz="2400" dirty="0"/>
              <a:t>, </a:t>
            </a:r>
            <a:r>
              <a:rPr lang="ko-KR" altLang="en-US" sz="2400" dirty="0">
                <a:solidFill>
                  <a:schemeClr val="accent1"/>
                </a:solidFill>
              </a:rPr>
              <a:t>기본 선택자</a:t>
            </a:r>
            <a:r>
              <a:rPr lang="ko-KR" altLang="en-US" sz="2400" dirty="0"/>
              <a:t>만으로는</a:t>
            </a:r>
            <a:r>
              <a:rPr lang="ko-KR" altLang="en-US" sz="2400" dirty="0">
                <a:solidFill>
                  <a:schemeClr val="accent1"/>
                </a:solidFill>
              </a:rPr>
              <a:t> 선택이 불가능한 경우에 사용</a:t>
            </a:r>
            <a:endParaRPr lang="en-US" altLang="ko-KR" sz="2400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630AAA-9B55-18D3-332D-AFBF264CC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2025-08-27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309EF4C-6CBF-F353-816C-0A042A427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29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E711374-53F0-4A81-B742-9C03D3E37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CSS </a:t>
            </a:r>
            <a:r>
              <a:rPr lang="ko-KR" altLang="en-US" dirty="0" err="1"/>
              <a:t>선택자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/>
              <a:t>복합 </a:t>
            </a:r>
            <a:r>
              <a:rPr lang="ko-KR" altLang="en-US" dirty="0" err="1"/>
              <a:t>선택자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986827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C3D922-7259-B4EF-D7C8-B1F5587916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3"/>
            <a:ext cx="2524125" cy="760044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✅ 하위</a:t>
            </a:r>
            <a:r>
              <a:rPr lang="en-US" altLang="ko-KR" dirty="0"/>
              <a:t> </a:t>
            </a:r>
            <a:r>
              <a:rPr lang="ko-KR" altLang="en-US" dirty="0" err="1"/>
              <a:t>선택자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630AAA-9B55-18D3-332D-AFBF264CC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2025-08-27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309EF4C-6CBF-F353-816C-0A042A427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30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E711374-53F0-4A81-B742-9C03D3E37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CSS </a:t>
            </a:r>
            <a:r>
              <a:rPr lang="ko-KR" altLang="en-US" dirty="0" err="1"/>
              <a:t>선택자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/>
              <a:t>복합 </a:t>
            </a:r>
            <a:r>
              <a:rPr lang="ko-KR" altLang="en-US" dirty="0" err="1"/>
              <a:t>선택자</a:t>
            </a:r>
            <a:endParaRPr lang="ko-KR" altLang="en-US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CCEBC474-3777-1899-459C-336F399FB3CD}"/>
              </a:ext>
            </a:extLst>
          </p:cNvPr>
          <p:cNvGrpSpPr/>
          <p:nvPr/>
        </p:nvGrpSpPr>
        <p:grpSpPr>
          <a:xfrm>
            <a:off x="4102315" y="1517545"/>
            <a:ext cx="7850694" cy="4479237"/>
            <a:chOff x="235971" y="330821"/>
            <a:chExt cx="10755490" cy="6196358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248C150B-BA78-0040-8204-35A6AC95B7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5971" y="330821"/>
              <a:ext cx="10606200" cy="6196358"/>
            </a:xfrm>
            <a:prstGeom prst="rect">
              <a:avLst/>
            </a:prstGeom>
          </p:spPr>
        </p:pic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2D701CE0-96B5-6A3C-AD48-5EBFE70A5BF1}"/>
                </a:ext>
              </a:extLst>
            </p:cNvPr>
            <p:cNvSpPr/>
            <p:nvPr/>
          </p:nvSpPr>
          <p:spPr>
            <a:xfrm>
              <a:off x="9937102" y="4521098"/>
              <a:ext cx="1054359" cy="200608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pic>
        <p:nvPicPr>
          <p:cNvPr id="12" name="그림 11">
            <a:extLst>
              <a:ext uri="{FF2B5EF4-FFF2-40B4-BE49-F238E27FC236}">
                <a16:creationId xmlns:a16="http://schemas.microsoft.com/office/drawing/2014/main" id="{727A7723-54F7-0E71-B48A-DE047FEBFA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861" y="2459216"/>
            <a:ext cx="3448454" cy="3163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0120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C3D922-7259-B4EF-D7C8-B1F5587916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3"/>
            <a:ext cx="3222422" cy="76166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✅ 자식</a:t>
            </a:r>
            <a:r>
              <a:rPr lang="en-US" altLang="ko-KR" dirty="0"/>
              <a:t> </a:t>
            </a:r>
            <a:r>
              <a:rPr lang="ko-KR" altLang="en-US" dirty="0" err="1"/>
              <a:t>선택자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en-US" altLang="ko-KR" b="1" dirty="0"/>
              <a:t>&gt;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630AAA-9B55-18D3-332D-AFBF264CC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2025-08-27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309EF4C-6CBF-F353-816C-0A042A427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31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E711374-53F0-4A81-B742-9C03D3E37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CSS </a:t>
            </a:r>
            <a:r>
              <a:rPr lang="ko-KR" altLang="en-US" dirty="0" err="1"/>
              <a:t>선택자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/>
              <a:t>복합 </a:t>
            </a:r>
            <a:r>
              <a:rPr lang="ko-KR" altLang="en-US" dirty="0" err="1"/>
              <a:t>선택자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10654F5D-285F-5C17-4E28-C571E7DEE9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6547" y="1414419"/>
            <a:ext cx="6888719" cy="452102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92939B6-0FA5-75AD-DA51-9675D14389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839" y="2637483"/>
            <a:ext cx="3222422" cy="2890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165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C3D922-7259-B4EF-D7C8-B1F5587916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3891587" cy="844587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✅ 인접 형제</a:t>
            </a:r>
            <a:r>
              <a:rPr lang="en-US" altLang="ko-KR" dirty="0"/>
              <a:t> </a:t>
            </a:r>
            <a:r>
              <a:rPr lang="ko-KR" altLang="en-US" dirty="0" err="1"/>
              <a:t>선택자</a:t>
            </a:r>
            <a:r>
              <a:rPr lang="en-US" altLang="ko-KR" dirty="0"/>
              <a:t> (</a:t>
            </a:r>
            <a:r>
              <a:rPr lang="en-US" altLang="ko-KR" b="1" dirty="0"/>
              <a:t>+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630AAA-9B55-18D3-332D-AFBF264CC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2025-08-27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309EF4C-6CBF-F353-816C-0A042A427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32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E711374-53F0-4A81-B742-9C03D3E37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CSS </a:t>
            </a:r>
            <a:r>
              <a:rPr lang="ko-KR" altLang="en-US" dirty="0" err="1"/>
              <a:t>선택자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/>
              <a:t>복합 </a:t>
            </a:r>
            <a:r>
              <a:rPr lang="ko-KR" altLang="en-US" dirty="0" err="1"/>
              <a:t>선택자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7F3ED1-8759-F60C-354C-79DCE7DA1086}"/>
              </a:ext>
            </a:extLst>
          </p:cNvPr>
          <p:cNvSpPr txBox="1"/>
          <p:nvPr/>
        </p:nvSpPr>
        <p:spPr>
          <a:xfrm>
            <a:off x="3485458" y="4299311"/>
            <a:ext cx="5208599" cy="14845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200" dirty="0"/>
              <a:t># h1 </a:t>
            </a:r>
            <a:r>
              <a:rPr lang="ko-KR" altLang="en-US" sz="3200" dirty="0"/>
              <a:t>다음 형제 중 </a:t>
            </a:r>
            <a:r>
              <a:rPr lang="en-US" altLang="ko-KR" sz="3200" dirty="0" err="1"/>
              <a:t>ul</a:t>
            </a:r>
            <a:r>
              <a:rPr lang="en-US" altLang="ko-KR" sz="3200" dirty="0"/>
              <a:t> </a:t>
            </a:r>
            <a:r>
              <a:rPr lang="ko-KR" altLang="en-US" sz="3200" dirty="0"/>
              <a:t>하나 선택</a:t>
            </a:r>
            <a:endParaRPr lang="en-US" altLang="ko-KR" sz="3200" dirty="0"/>
          </a:p>
          <a:p>
            <a:pPr>
              <a:lnSpc>
                <a:spcPct val="150000"/>
              </a:lnSpc>
            </a:pPr>
            <a:r>
              <a:rPr lang="en-US" altLang="ko-KR" sz="3200" dirty="0"/>
              <a:t>h1 + </a:t>
            </a:r>
            <a:r>
              <a:rPr lang="en-US" altLang="ko-KR" sz="3200" dirty="0" err="1"/>
              <a:t>ul</a:t>
            </a:r>
            <a:r>
              <a:rPr lang="en-US" altLang="ko-KR" sz="3200" dirty="0"/>
              <a:t> { }</a:t>
            </a:r>
            <a:endParaRPr lang="ko-KR" altLang="en-US" sz="3200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F8F7EFE9-E1C4-32E7-E22D-29065D68CD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8350" y="1989994"/>
            <a:ext cx="8115300" cy="1998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06516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C3D922-7259-B4EF-D7C8-B1F5587916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3736552" cy="75472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✅ 일반 형제</a:t>
            </a:r>
            <a:r>
              <a:rPr lang="en-US" altLang="ko-KR" dirty="0"/>
              <a:t> </a:t>
            </a:r>
            <a:r>
              <a:rPr lang="ko-KR" altLang="en-US" dirty="0" err="1"/>
              <a:t>선택자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en-US" altLang="ko-KR" b="1" dirty="0"/>
              <a:t>~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630AAA-9B55-18D3-332D-AFBF264CC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2025-08-27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309EF4C-6CBF-F353-816C-0A042A427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33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E711374-53F0-4A81-B742-9C03D3E37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CSS </a:t>
            </a:r>
            <a:r>
              <a:rPr lang="ko-KR" altLang="en-US" dirty="0" err="1"/>
              <a:t>선택자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/>
              <a:t>복합 </a:t>
            </a:r>
            <a:r>
              <a:rPr lang="ko-KR" altLang="en-US" dirty="0" err="1"/>
              <a:t>선택자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7F3ED1-8759-F60C-354C-79DCE7DA1086}"/>
              </a:ext>
            </a:extLst>
          </p:cNvPr>
          <p:cNvSpPr txBox="1"/>
          <p:nvPr/>
        </p:nvSpPr>
        <p:spPr>
          <a:xfrm>
            <a:off x="3537147" y="4264753"/>
            <a:ext cx="5113368" cy="14845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200" dirty="0"/>
              <a:t># h1 </a:t>
            </a:r>
            <a:r>
              <a:rPr lang="ko-KR" altLang="en-US" sz="3200" dirty="0"/>
              <a:t>다음 형제 중 </a:t>
            </a:r>
            <a:r>
              <a:rPr lang="en-US" altLang="ko-KR" sz="3200" dirty="0" err="1"/>
              <a:t>ul</a:t>
            </a:r>
            <a:r>
              <a:rPr lang="en-US" altLang="ko-KR" sz="3200" dirty="0"/>
              <a:t> </a:t>
            </a:r>
            <a:r>
              <a:rPr lang="ko-KR" altLang="en-US" sz="3200" dirty="0"/>
              <a:t>모두 선택</a:t>
            </a:r>
            <a:endParaRPr lang="en-US" altLang="ko-KR" sz="3200" dirty="0"/>
          </a:p>
          <a:p>
            <a:pPr>
              <a:lnSpc>
                <a:spcPct val="150000"/>
              </a:lnSpc>
            </a:pPr>
            <a:r>
              <a:rPr lang="en-US" altLang="ko-KR" sz="3200" dirty="0"/>
              <a:t>h1 ~ </a:t>
            </a:r>
            <a:r>
              <a:rPr lang="en-US" altLang="ko-KR" sz="3200" dirty="0" err="1"/>
              <a:t>ul</a:t>
            </a:r>
            <a:r>
              <a:rPr lang="en-US" altLang="ko-KR" sz="3200" dirty="0"/>
              <a:t> { }</a:t>
            </a:r>
            <a:endParaRPr lang="ko-KR" altLang="en-US" sz="32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2C3A8E0-F84A-B0CD-80A4-A300B6695E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6513" y="1982345"/>
            <a:ext cx="8098974" cy="1994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18017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B4E9619-8CE7-55C3-4AAC-F4BCB5290B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244841"/>
            <a:ext cx="11701221" cy="4665797"/>
          </a:xfrm>
        </p:spPr>
        <p:txBody>
          <a:bodyPr>
            <a:normAutofit lnSpcReduction="10000"/>
          </a:bodyPr>
          <a:lstStyle/>
          <a:p>
            <a:pPr algn="l" latinLnBrk="1"/>
            <a:r>
              <a:rPr lang="ko-KR" altLang="en-US" i="0" dirty="0" err="1">
                <a:solidFill>
                  <a:srgbClr val="212529"/>
                </a:solidFill>
                <a:effectLst/>
                <a:latin typeface="+mn-ea"/>
              </a:rPr>
              <a:t>코딩온</a:t>
            </a:r>
            <a:r>
              <a:rPr lang="ko-KR" altLang="en-US" i="0" dirty="0">
                <a:solidFill>
                  <a:srgbClr val="212529"/>
                </a:solidFill>
                <a:effectLst/>
                <a:latin typeface="+mn-ea"/>
              </a:rPr>
              <a:t> </a:t>
            </a:r>
            <a:r>
              <a:rPr lang="en-US" altLang="ko-KR" i="0" dirty="0">
                <a:solidFill>
                  <a:srgbClr val="212529"/>
                </a:solidFill>
                <a:effectLst/>
                <a:latin typeface="+mn-ea"/>
              </a:rPr>
              <a:t>LMS</a:t>
            </a:r>
            <a:r>
              <a:rPr lang="ko-KR" altLang="en-US" i="0" dirty="0">
                <a:solidFill>
                  <a:srgbClr val="212529"/>
                </a:solidFill>
                <a:effectLst/>
                <a:latin typeface="+mn-ea"/>
              </a:rPr>
              <a:t>에 로그인해주세요</a:t>
            </a:r>
            <a:r>
              <a:rPr lang="en-US" altLang="ko-KR" i="0" dirty="0">
                <a:solidFill>
                  <a:srgbClr val="212529"/>
                </a:solidFill>
                <a:effectLst/>
                <a:latin typeface="+mn-ea"/>
              </a:rPr>
              <a:t>. (Slack #</a:t>
            </a:r>
            <a:r>
              <a:rPr lang="ko-KR" altLang="en-US" i="0" dirty="0">
                <a:solidFill>
                  <a:srgbClr val="212529"/>
                </a:solidFill>
                <a:effectLst/>
                <a:latin typeface="+mn-ea"/>
              </a:rPr>
              <a:t>강의 채널의 책갈피 확인</a:t>
            </a:r>
            <a:r>
              <a:rPr lang="en-US" altLang="ko-KR" i="0" dirty="0">
                <a:solidFill>
                  <a:srgbClr val="212529"/>
                </a:solidFill>
                <a:effectLst/>
                <a:latin typeface="+mn-ea"/>
              </a:rPr>
              <a:t>)</a:t>
            </a:r>
          </a:p>
          <a:p>
            <a:pPr marL="457200" lvl="1" indent="0">
              <a:buNone/>
            </a:pPr>
            <a:endParaRPr lang="en-US" altLang="ko-KR" i="0" dirty="0">
              <a:solidFill>
                <a:srgbClr val="212529"/>
              </a:solidFill>
              <a:effectLst/>
              <a:latin typeface="+mn-ea"/>
            </a:endParaRPr>
          </a:p>
          <a:p>
            <a:pPr marL="457200" lvl="1" indent="0"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marL="457200" lvl="1" indent="0">
              <a:buNone/>
            </a:pPr>
            <a:endParaRPr lang="en-US" altLang="ko-KR" i="0" dirty="0">
              <a:solidFill>
                <a:srgbClr val="212529"/>
              </a:solidFill>
              <a:effectLst/>
              <a:latin typeface="+mn-ea"/>
            </a:endParaRPr>
          </a:p>
          <a:p>
            <a:pPr marL="457200" lvl="1" indent="0">
              <a:buNone/>
            </a:pPr>
            <a:endParaRPr lang="en-US" altLang="ko-KR" i="0" dirty="0">
              <a:solidFill>
                <a:srgbClr val="212529"/>
              </a:solidFill>
              <a:effectLst/>
              <a:latin typeface="+mn-ea"/>
            </a:endParaRPr>
          </a:p>
          <a:p>
            <a:pPr marL="457200" lvl="1" indent="0">
              <a:buNone/>
            </a:pPr>
            <a:endParaRPr lang="en-US" altLang="ko-KR" i="0" dirty="0">
              <a:solidFill>
                <a:srgbClr val="212529"/>
              </a:solidFill>
              <a:effectLst/>
              <a:latin typeface="+mn-ea"/>
            </a:endParaRPr>
          </a:p>
          <a:p>
            <a:pPr algn="l" latinLnBrk="1"/>
            <a:r>
              <a:rPr lang="en-US" altLang="ko-KR" b="1" i="0" dirty="0">
                <a:solidFill>
                  <a:srgbClr val="212529"/>
                </a:solidFill>
                <a:effectLst/>
                <a:latin typeface="+mn-ea"/>
              </a:rPr>
              <a:t>[</a:t>
            </a:r>
            <a:r>
              <a:rPr lang="ko-KR" altLang="en-US" b="1" i="0" dirty="0" err="1">
                <a:solidFill>
                  <a:srgbClr val="212529"/>
                </a:solidFill>
                <a:effectLst/>
                <a:latin typeface="+mn-ea"/>
              </a:rPr>
              <a:t>코딩온</a:t>
            </a:r>
            <a:r>
              <a:rPr lang="en-US" altLang="ko-KR" b="1" i="0" dirty="0">
                <a:solidFill>
                  <a:srgbClr val="212529"/>
                </a:solidFill>
                <a:effectLst/>
                <a:latin typeface="+mn-ea"/>
              </a:rPr>
              <a:t>] HTML, CSS, JS </a:t>
            </a:r>
            <a:r>
              <a:rPr lang="ko-KR" altLang="en-US" b="1" i="0" dirty="0">
                <a:solidFill>
                  <a:srgbClr val="212529"/>
                </a:solidFill>
                <a:effectLst/>
                <a:latin typeface="+mn-ea"/>
              </a:rPr>
              <a:t>실습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rgbClr val="212529"/>
                </a:solidFill>
                <a:latin typeface="+mn-ea"/>
              </a:rPr>
              <a:t>강의 클릭</a:t>
            </a: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[CSS</a:t>
            </a:r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sz="2800" b="1" dirty="0" err="1">
                <a:solidFill>
                  <a:srgbClr val="212529"/>
                </a:solidFill>
                <a:latin typeface="+mn-ea"/>
              </a:rPr>
              <a:t>선택자</a:t>
            </a:r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sz="2800" b="1" i="0" dirty="0">
                <a:solidFill>
                  <a:srgbClr val="212529"/>
                </a:solidFill>
                <a:effectLst/>
                <a:latin typeface="+mn-ea"/>
              </a:rPr>
              <a:t>실습</a:t>
            </a:r>
            <a:r>
              <a:rPr lang="en-US" altLang="ko-KR" sz="2800" b="1" i="0" dirty="0">
                <a:solidFill>
                  <a:srgbClr val="212529"/>
                </a:solidFill>
                <a:effectLst/>
                <a:latin typeface="+mn-ea"/>
              </a:rPr>
              <a:t>]</a:t>
            </a:r>
            <a:r>
              <a:rPr lang="en-US" altLang="ko-KR" sz="2800" b="0" i="0" dirty="0">
                <a:solidFill>
                  <a:srgbClr val="212529"/>
                </a:solidFill>
                <a:effectLst/>
                <a:latin typeface="+mn-ea"/>
              </a:rPr>
              <a:t> </a:t>
            </a:r>
            <a:r>
              <a:rPr lang="ko-KR" altLang="en-US" sz="2800" b="0" i="0" dirty="0">
                <a:solidFill>
                  <a:srgbClr val="212529"/>
                </a:solidFill>
                <a:effectLst/>
                <a:latin typeface="+mn-ea"/>
              </a:rPr>
              <a:t>커리큘럼 클릭</a:t>
            </a:r>
            <a:endParaRPr lang="en-US" altLang="ko-KR" sz="2800" b="0" i="0" dirty="0">
              <a:solidFill>
                <a:srgbClr val="212529"/>
              </a:solidFill>
              <a:effectLst/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ko-KR" altLang="en-US" sz="2800" b="1" dirty="0" err="1">
                <a:solidFill>
                  <a:srgbClr val="212529"/>
                </a:solidFill>
                <a:latin typeface="+mn-ea"/>
              </a:rPr>
              <a:t>선택자</a:t>
            </a:r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 연습하기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] &gt; 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[</a:t>
            </a:r>
            <a:r>
              <a:rPr lang="ko-KR" altLang="en-US" sz="2800" b="1" dirty="0">
                <a:solidFill>
                  <a:schemeClr val="accent1"/>
                </a:solidFill>
                <a:latin typeface="+mn-ea"/>
              </a:rPr>
              <a:t>복합클래스 </a:t>
            </a:r>
            <a:r>
              <a:rPr lang="ko-KR" altLang="en-US" sz="2800" b="1" dirty="0" err="1">
                <a:solidFill>
                  <a:schemeClr val="accent1"/>
                </a:solidFill>
                <a:latin typeface="+mn-ea"/>
              </a:rPr>
              <a:t>선택자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실습 진행</a:t>
            </a:r>
            <a:endParaRPr lang="ko-KR" altLang="en-US" sz="2800" b="0" i="0" dirty="0">
              <a:solidFill>
                <a:srgbClr val="212529"/>
              </a:solidFill>
              <a:effectLst/>
              <a:latin typeface="+mn-ea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6EF5811-D0D8-2150-AB87-7041EA1C1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BF0963-57DE-1888-FEA3-214E79D93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34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819BF2E8-E9AD-C4F2-130A-85CEAF4F3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. </a:t>
            </a:r>
            <a:r>
              <a:rPr lang="ko-KR" altLang="en-US" dirty="0">
                <a:solidFill>
                  <a:srgbClr val="ED7D31"/>
                </a:solidFill>
              </a:rPr>
              <a:t>복합클래스 </a:t>
            </a:r>
            <a:r>
              <a:rPr lang="ko-KR" altLang="en-US" dirty="0" err="1">
                <a:solidFill>
                  <a:srgbClr val="ED7D31"/>
                </a:solidFill>
              </a:rPr>
              <a:t>선택자</a:t>
            </a:r>
            <a:r>
              <a:rPr lang="ko-KR" altLang="en-US" dirty="0">
                <a:solidFill>
                  <a:srgbClr val="ED7D31"/>
                </a:solidFill>
              </a:rPr>
              <a:t> 실습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8BDF07E7-8604-543A-87D2-D0EA28BB3CB9}"/>
              </a:ext>
            </a:extLst>
          </p:cNvPr>
          <p:cNvGrpSpPr/>
          <p:nvPr/>
        </p:nvGrpSpPr>
        <p:grpSpPr>
          <a:xfrm>
            <a:off x="1477108" y="2325520"/>
            <a:ext cx="5783891" cy="1177124"/>
            <a:chOff x="1266093" y="2392552"/>
            <a:chExt cx="5783891" cy="1177124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2B93C4C9-FCAF-EECF-49AA-2F18211606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66093" y="2392552"/>
              <a:ext cx="5783891" cy="1177124"/>
            </a:xfrm>
            <a:prstGeom prst="rect">
              <a:avLst/>
            </a:prstGeom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667C001B-BB1F-61F7-0D34-D697577C9DE9}"/>
                </a:ext>
              </a:extLst>
            </p:cNvPr>
            <p:cNvSpPr/>
            <p:nvPr/>
          </p:nvSpPr>
          <p:spPr>
            <a:xfrm>
              <a:off x="4478216" y="3114382"/>
              <a:ext cx="2571768" cy="455294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5A6B1FBD-24E8-DA58-4AEE-ABC7CF06D298}"/>
              </a:ext>
            </a:extLst>
          </p:cNvPr>
          <p:cNvSpPr txBox="1"/>
          <p:nvPr/>
        </p:nvSpPr>
        <p:spPr>
          <a:xfrm>
            <a:off x="4925569" y="5992297"/>
            <a:ext cx="7247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accent6"/>
                </a:solidFill>
                <a:latin typeface="+mn-ea"/>
              </a:rPr>
              <a:t>*Slack</a:t>
            </a:r>
            <a:r>
              <a:rPr lang="ko-KR" altLang="en-US" dirty="0">
                <a:solidFill>
                  <a:schemeClr val="accent6"/>
                </a:solidFill>
                <a:latin typeface="+mn-ea"/>
              </a:rPr>
              <a:t> </a:t>
            </a:r>
            <a:r>
              <a:rPr lang="en-US" altLang="ko-KR" dirty="0">
                <a:solidFill>
                  <a:schemeClr val="accent6"/>
                </a:solidFill>
                <a:latin typeface="+mn-ea"/>
              </a:rPr>
              <a:t>#</a:t>
            </a:r>
            <a:r>
              <a:rPr lang="ko-KR" altLang="en-US" dirty="0">
                <a:solidFill>
                  <a:schemeClr val="accent6"/>
                </a:solidFill>
                <a:latin typeface="+mn-ea"/>
              </a:rPr>
              <a:t>과제 채널의 스레드 댓글로 코드</a:t>
            </a:r>
            <a:r>
              <a:rPr lang="en-US" altLang="ko-KR" dirty="0">
                <a:solidFill>
                  <a:schemeClr val="accent6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chemeClr val="accent6"/>
                </a:solidFill>
                <a:latin typeface="+mn-ea"/>
              </a:rPr>
              <a:t>및 결과 캡쳐를 제출해주세요</a:t>
            </a:r>
            <a:r>
              <a:rPr lang="en-US" altLang="ko-KR" dirty="0">
                <a:solidFill>
                  <a:schemeClr val="accent6"/>
                </a:solidFill>
                <a:latin typeface="+mn-ea"/>
              </a:rPr>
              <a:t>!</a:t>
            </a:r>
            <a:endParaRPr lang="ko-KR" altLang="en-US" dirty="0">
              <a:solidFill>
                <a:schemeClr val="accent6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1922684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35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6000" dirty="0">
                <a:solidFill>
                  <a:srgbClr val="ED7D31"/>
                </a:solidFill>
              </a:rPr>
              <a:t>가상 클래스 </a:t>
            </a:r>
            <a:r>
              <a:rPr lang="ko-KR" altLang="en-US" sz="6000" dirty="0" err="1">
                <a:solidFill>
                  <a:srgbClr val="ED7D31"/>
                </a:solidFill>
              </a:rPr>
              <a:t>선택자</a:t>
            </a:r>
            <a:endParaRPr lang="ko-KR" altLang="en-US" sz="6000" dirty="0">
              <a:solidFill>
                <a:srgbClr val="ED7D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754610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C3B807C3-7CED-56DB-6F88-319863F62C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3494"/>
            <a:ext cx="11260802" cy="5310535"/>
          </a:xfrm>
        </p:spPr>
        <p:txBody>
          <a:bodyPr>
            <a:normAutofit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ko-KR" altLang="en-US" dirty="0"/>
              <a:t>💡 사용자의 행동에 따라 변화하는 </a:t>
            </a:r>
            <a:r>
              <a:rPr lang="ko-KR" altLang="en-US" dirty="0">
                <a:solidFill>
                  <a:schemeClr val="accent1"/>
                </a:solidFill>
              </a:rPr>
              <a:t>가상</a:t>
            </a:r>
            <a:r>
              <a:rPr lang="en-US" altLang="ko-KR" dirty="0">
                <a:solidFill>
                  <a:schemeClr val="accent1"/>
                </a:solidFill>
              </a:rPr>
              <a:t> </a:t>
            </a:r>
            <a:r>
              <a:rPr lang="ko-KR" altLang="en-US" dirty="0">
                <a:solidFill>
                  <a:schemeClr val="accent1"/>
                </a:solidFill>
              </a:rPr>
              <a:t>상황에 따라서 요소 선택</a:t>
            </a:r>
            <a:r>
              <a:rPr lang="en-US" altLang="ko-KR" dirty="0">
                <a:solidFill>
                  <a:schemeClr val="accent1"/>
                </a:solidFill>
              </a:rPr>
              <a:t> </a:t>
            </a:r>
            <a:r>
              <a:rPr lang="ko-KR" altLang="en-US" dirty="0"/>
              <a:t>시</a:t>
            </a:r>
            <a:r>
              <a:rPr lang="en-US" altLang="ko-KR" dirty="0"/>
              <a:t> </a:t>
            </a:r>
            <a:r>
              <a:rPr lang="ko-KR" altLang="en-US" dirty="0"/>
              <a:t>각 요소의 </a:t>
            </a:r>
            <a:endParaRPr lang="en-US" altLang="ko-KR" dirty="0"/>
          </a:p>
          <a:p>
            <a:pPr marL="0" indent="0">
              <a:lnSpc>
                <a:spcPct val="160000"/>
              </a:lnSpc>
              <a:buNone/>
            </a:pPr>
            <a:r>
              <a:rPr lang="en-US" altLang="ko-KR" dirty="0"/>
              <a:t>      </a:t>
            </a:r>
            <a:r>
              <a:rPr lang="ko-KR" altLang="en-US" dirty="0"/>
              <a:t>상황에 따라 사용자가 원하는 요소를 선택 할 때 사용</a:t>
            </a:r>
            <a:endParaRPr lang="en-US" altLang="ko-KR" dirty="0"/>
          </a:p>
          <a:p>
            <a:pPr marL="457200" lvl="1" indent="0">
              <a:lnSpc>
                <a:spcPct val="160000"/>
              </a:lnSpc>
              <a:buNone/>
            </a:pPr>
            <a:r>
              <a:rPr lang="ko-KR" altLang="en-US" dirty="0"/>
              <a:t>✅ 종류</a:t>
            </a:r>
            <a:endParaRPr lang="en-US" altLang="ko-KR" dirty="0"/>
          </a:p>
          <a:p>
            <a:pPr lvl="2">
              <a:lnSpc>
                <a:spcPct val="160000"/>
              </a:lnSpc>
            </a:pPr>
            <a:r>
              <a:rPr lang="ko-KR" altLang="en-US" dirty="0"/>
              <a:t>가상 클래스 </a:t>
            </a:r>
            <a:r>
              <a:rPr lang="ko-KR" altLang="en-US" dirty="0" err="1"/>
              <a:t>선택자</a:t>
            </a:r>
            <a:endParaRPr lang="en-US" altLang="ko-KR" dirty="0"/>
          </a:p>
          <a:p>
            <a:pPr lvl="2">
              <a:lnSpc>
                <a:spcPct val="160000"/>
              </a:lnSpc>
            </a:pPr>
            <a:r>
              <a:rPr lang="ko-KR" altLang="en-US" dirty="0"/>
              <a:t>사용자의 행동에 따라 변화 </a:t>
            </a:r>
            <a:r>
              <a:rPr lang="en-US" altLang="ko-KR" dirty="0"/>
              <a:t>: </a:t>
            </a:r>
            <a:r>
              <a:rPr lang="en-US" altLang="ko-KR" dirty="0">
                <a:solidFill>
                  <a:schemeClr val="tx2"/>
                </a:solidFill>
              </a:rPr>
              <a:t>hover, active, focus, visited</a:t>
            </a:r>
          </a:p>
          <a:p>
            <a:pPr lvl="2">
              <a:lnSpc>
                <a:spcPct val="160000"/>
              </a:lnSpc>
            </a:pPr>
            <a:r>
              <a:rPr lang="ko-KR" altLang="en-US" dirty="0"/>
              <a:t>요소의 상황 </a:t>
            </a:r>
            <a:r>
              <a:rPr lang="en-US" altLang="ko-KR" dirty="0"/>
              <a:t>:</a:t>
            </a:r>
            <a:r>
              <a:rPr lang="en-US" altLang="ko-KR" dirty="0">
                <a:solidFill>
                  <a:schemeClr val="tx2"/>
                </a:solidFill>
              </a:rPr>
              <a:t> first-child, last-child, nth-child, …</a:t>
            </a:r>
          </a:p>
          <a:p>
            <a:pPr lvl="2">
              <a:lnSpc>
                <a:spcPct val="160000"/>
              </a:lnSpc>
            </a:pPr>
            <a:r>
              <a:rPr lang="ko-KR" altLang="en-US" dirty="0"/>
              <a:t>부정 선택 </a:t>
            </a:r>
            <a:r>
              <a:rPr lang="en-US" altLang="ko-KR" dirty="0"/>
              <a:t>:</a:t>
            </a:r>
            <a:r>
              <a:rPr lang="en-US" altLang="ko-KR" dirty="0">
                <a:solidFill>
                  <a:schemeClr val="tx2"/>
                </a:solidFill>
              </a:rPr>
              <a:t> not</a:t>
            </a:r>
            <a:endParaRPr lang="en-US" altLang="ko-KR" dirty="0"/>
          </a:p>
          <a:p>
            <a:pPr lvl="1">
              <a:lnSpc>
                <a:spcPct val="160000"/>
              </a:lnSpc>
            </a:pPr>
            <a:endParaRPr lang="en-US" altLang="ko-KR" dirty="0"/>
          </a:p>
          <a:p>
            <a:pPr lvl="1">
              <a:lnSpc>
                <a:spcPct val="160000"/>
              </a:lnSpc>
            </a:pPr>
            <a:endParaRPr lang="en-US" altLang="ko-KR" dirty="0"/>
          </a:p>
          <a:p>
            <a:pPr lvl="1">
              <a:lnSpc>
                <a:spcPct val="160000"/>
              </a:lnSpc>
            </a:pPr>
            <a:endParaRPr lang="en-US" altLang="ko-KR" dirty="0"/>
          </a:p>
          <a:p>
            <a:pPr lvl="1">
              <a:lnSpc>
                <a:spcPct val="160000"/>
              </a:lnSpc>
            </a:pPr>
            <a:endParaRPr lang="en-US" altLang="ko-KR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2B722-57EB-4C7D-BC60-B27FF3003CA8}" type="datetime1">
              <a:rPr lang="ko-KR" altLang="en-US" smtClean="0"/>
              <a:t>2025-08-27</a:t>
            </a:fld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0ADEE-E64B-4211-A976-A6B58240426F}" type="slidenum">
              <a:rPr lang="ko-KR" altLang="en-US" smtClean="0"/>
              <a:t>36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6A67ABD-DF30-CDE6-A2D4-633274537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CSS </a:t>
            </a:r>
            <a:r>
              <a:rPr lang="ko-KR" altLang="en-US" dirty="0" err="1"/>
              <a:t>선택자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/>
              <a:t>가상 클래스 </a:t>
            </a:r>
            <a:r>
              <a:rPr lang="ko-KR" altLang="en-US" dirty="0" err="1"/>
              <a:t>선택자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3182630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8A18302B-E4E9-812D-77BE-14C67E10B093}"/>
              </a:ext>
            </a:extLst>
          </p:cNvPr>
          <p:cNvGrpSpPr/>
          <p:nvPr/>
        </p:nvGrpSpPr>
        <p:grpSpPr>
          <a:xfrm>
            <a:off x="777058" y="488593"/>
            <a:ext cx="10929209" cy="5880813"/>
            <a:chOff x="304800" y="665416"/>
            <a:chExt cx="10929209" cy="5880813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027DCEAC-24BB-5622-F4A5-EFB1F73CBF1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4800" y="665416"/>
              <a:ext cx="10810875" cy="5813211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001D456C-0693-B133-2839-D1D3445838F2}"/>
                </a:ext>
              </a:extLst>
            </p:cNvPr>
            <p:cNvSpPr/>
            <p:nvPr/>
          </p:nvSpPr>
          <p:spPr>
            <a:xfrm>
              <a:off x="9983707" y="4657725"/>
              <a:ext cx="1250302" cy="188850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0BFA4-2311-4DC3-B2C1-0D497B3BCA74}" type="datetime1">
              <a:rPr lang="ko-KR" altLang="en-US" smtClean="0"/>
              <a:t>2025-08-27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0ADEE-E64B-4211-A976-A6B58240426F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153114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3976644E-96C7-0800-4019-7CF6F5DACE27}"/>
              </a:ext>
            </a:extLst>
          </p:cNvPr>
          <p:cNvGrpSpPr/>
          <p:nvPr/>
        </p:nvGrpSpPr>
        <p:grpSpPr>
          <a:xfrm>
            <a:off x="638629" y="520531"/>
            <a:ext cx="10914742" cy="5604498"/>
            <a:chOff x="200025" y="524210"/>
            <a:chExt cx="11033984" cy="5809580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5E245B92-DFD3-8D00-6133-0223A3A523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0025" y="524210"/>
              <a:ext cx="10848975" cy="5809580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B30ED125-FB5A-0E2C-B851-92ED873207DD}"/>
                </a:ext>
              </a:extLst>
            </p:cNvPr>
            <p:cNvSpPr/>
            <p:nvPr/>
          </p:nvSpPr>
          <p:spPr>
            <a:xfrm>
              <a:off x="9983707" y="4445286"/>
              <a:ext cx="1250302" cy="188850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DD5D9-DBB0-49B3-AB99-1510880DCA1B}" type="datetime1">
              <a:rPr lang="ko-KR" altLang="en-US" smtClean="0"/>
              <a:t>2025-08-27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0ADEE-E64B-4211-A976-A6B58240426F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976213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229D0F7D-D56F-1A40-F908-494B66D6A670}"/>
              </a:ext>
            </a:extLst>
          </p:cNvPr>
          <p:cNvGrpSpPr/>
          <p:nvPr/>
        </p:nvGrpSpPr>
        <p:grpSpPr>
          <a:xfrm>
            <a:off x="655208" y="478338"/>
            <a:ext cx="10881584" cy="5901324"/>
            <a:chOff x="152400" y="549655"/>
            <a:chExt cx="10881584" cy="5901324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EF611224-E71D-23D0-E30B-431337B2377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2400" y="549655"/>
              <a:ext cx="10791825" cy="5758690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721FD7CF-0A21-8279-AF09-89EBCC419A4D}"/>
                </a:ext>
              </a:extLst>
            </p:cNvPr>
            <p:cNvSpPr/>
            <p:nvPr/>
          </p:nvSpPr>
          <p:spPr>
            <a:xfrm>
              <a:off x="9783682" y="4562475"/>
              <a:ext cx="1250302" cy="188850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BFEB8-C760-4D31-9EF4-0616A68A79B2}" type="datetime1">
              <a:rPr lang="ko-KR" altLang="en-US" smtClean="0"/>
              <a:t>2025-08-27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0ADEE-E64B-4211-A976-A6B58240426F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218989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B4E9619-8CE7-55C3-4AAC-F4BCB5290B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701221" cy="4665797"/>
          </a:xfrm>
        </p:spPr>
        <p:txBody>
          <a:bodyPr>
            <a:normAutofit lnSpcReduction="10000"/>
          </a:bodyPr>
          <a:lstStyle/>
          <a:p>
            <a:pPr algn="l" latinLnBrk="1"/>
            <a:r>
              <a:rPr lang="ko-KR" altLang="en-US" i="0" dirty="0" err="1">
                <a:solidFill>
                  <a:srgbClr val="212529"/>
                </a:solidFill>
                <a:effectLst/>
                <a:latin typeface="+mn-ea"/>
              </a:rPr>
              <a:t>코딩온</a:t>
            </a:r>
            <a:r>
              <a:rPr lang="ko-KR" altLang="en-US" i="0" dirty="0">
                <a:solidFill>
                  <a:srgbClr val="212529"/>
                </a:solidFill>
                <a:effectLst/>
                <a:latin typeface="+mn-ea"/>
              </a:rPr>
              <a:t> </a:t>
            </a:r>
            <a:r>
              <a:rPr lang="en-US" altLang="ko-KR" i="0" dirty="0">
                <a:solidFill>
                  <a:srgbClr val="212529"/>
                </a:solidFill>
                <a:effectLst/>
                <a:latin typeface="+mn-ea"/>
              </a:rPr>
              <a:t>LMS</a:t>
            </a:r>
            <a:r>
              <a:rPr lang="ko-KR" altLang="en-US" i="0" dirty="0">
                <a:solidFill>
                  <a:srgbClr val="212529"/>
                </a:solidFill>
                <a:effectLst/>
                <a:latin typeface="+mn-ea"/>
              </a:rPr>
              <a:t>에 로그인해주세요</a:t>
            </a:r>
            <a:r>
              <a:rPr lang="en-US" altLang="ko-KR" i="0" dirty="0">
                <a:solidFill>
                  <a:srgbClr val="212529"/>
                </a:solidFill>
                <a:effectLst/>
                <a:latin typeface="+mn-ea"/>
              </a:rPr>
              <a:t>. (Slack #</a:t>
            </a:r>
            <a:r>
              <a:rPr lang="ko-KR" altLang="en-US" i="0" dirty="0">
                <a:solidFill>
                  <a:srgbClr val="212529"/>
                </a:solidFill>
                <a:effectLst/>
                <a:latin typeface="+mn-ea"/>
              </a:rPr>
              <a:t>강의 채널의 책갈피 확인</a:t>
            </a:r>
            <a:r>
              <a:rPr lang="en-US" altLang="ko-KR" i="0" dirty="0">
                <a:solidFill>
                  <a:srgbClr val="212529"/>
                </a:solidFill>
                <a:effectLst/>
                <a:latin typeface="+mn-ea"/>
              </a:rPr>
              <a:t>)</a:t>
            </a:r>
          </a:p>
          <a:p>
            <a:pPr marL="457200" lvl="1" indent="0">
              <a:buNone/>
            </a:pPr>
            <a:endParaRPr lang="en-US" altLang="ko-KR" i="0" dirty="0">
              <a:solidFill>
                <a:srgbClr val="212529"/>
              </a:solidFill>
              <a:effectLst/>
              <a:latin typeface="+mn-ea"/>
            </a:endParaRPr>
          </a:p>
          <a:p>
            <a:pPr marL="457200" lvl="1" indent="0"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marL="457200" lvl="1" indent="0">
              <a:buNone/>
            </a:pPr>
            <a:endParaRPr lang="en-US" altLang="ko-KR" i="0" dirty="0">
              <a:solidFill>
                <a:srgbClr val="212529"/>
              </a:solidFill>
              <a:effectLst/>
              <a:latin typeface="+mn-ea"/>
            </a:endParaRPr>
          </a:p>
          <a:p>
            <a:pPr marL="457200" lvl="1" indent="0">
              <a:buNone/>
            </a:pPr>
            <a:endParaRPr lang="en-US" altLang="ko-KR" i="0" dirty="0">
              <a:solidFill>
                <a:srgbClr val="212529"/>
              </a:solidFill>
              <a:effectLst/>
              <a:latin typeface="+mn-ea"/>
            </a:endParaRPr>
          </a:p>
          <a:p>
            <a:pPr marL="457200" lvl="1" indent="0">
              <a:buNone/>
            </a:pPr>
            <a:endParaRPr lang="en-US" altLang="ko-KR" i="0" dirty="0">
              <a:solidFill>
                <a:srgbClr val="212529"/>
              </a:solidFill>
              <a:effectLst/>
              <a:latin typeface="+mn-ea"/>
            </a:endParaRPr>
          </a:p>
          <a:p>
            <a:pPr algn="l" latinLnBrk="1"/>
            <a:r>
              <a:rPr lang="en-US" altLang="ko-KR" b="1" i="0" dirty="0">
                <a:solidFill>
                  <a:srgbClr val="212529"/>
                </a:solidFill>
                <a:effectLst/>
                <a:latin typeface="+mn-ea"/>
              </a:rPr>
              <a:t>[</a:t>
            </a:r>
            <a:r>
              <a:rPr lang="ko-KR" altLang="en-US" b="1" i="0" dirty="0" err="1">
                <a:solidFill>
                  <a:srgbClr val="212529"/>
                </a:solidFill>
                <a:effectLst/>
                <a:latin typeface="+mn-ea"/>
              </a:rPr>
              <a:t>코딩온</a:t>
            </a:r>
            <a:r>
              <a:rPr lang="en-US" altLang="ko-KR" b="1" i="0" dirty="0">
                <a:solidFill>
                  <a:srgbClr val="212529"/>
                </a:solidFill>
                <a:effectLst/>
                <a:latin typeface="+mn-ea"/>
              </a:rPr>
              <a:t>] HTML, CSS, JS </a:t>
            </a:r>
            <a:r>
              <a:rPr lang="ko-KR" altLang="en-US" b="1" i="0" dirty="0">
                <a:solidFill>
                  <a:srgbClr val="212529"/>
                </a:solidFill>
                <a:effectLst/>
                <a:latin typeface="+mn-ea"/>
              </a:rPr>
              <a:t>실습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rgbClr val="212529"/>
                </a:solidFill>
                <a:latin typeface="+mn-ea"/>
              </a:rPr>
              <a:t>강의 클릭</a:t>
            </a: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[CSS</a:t>
            </a:r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sz="2800" b="1" dirty="0" err="1">
                <a:solidFill>
                  <a:srgbClr val="212529"/>
                </a:solidFill>
                <a:latin typeface="+mn-ea"/>
              </a:rPr>
              <a:t>선택자</a:t>
            </a:r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sz="2800" b="1" i="0" dirty="0">
                <a:solidFill>
                  <a:srgbClr val="212529"/>
                </a:solidFill>
                <a:effectLst/>
                <a:latin typeface="+mn-ea"/>
              </a:rPr>
              <a:t>실습</a:t>
            </a:r>
            <a:r>
              <a:rPr lang="en-US" altLang="ko-KR" sz="2800" b="1" i="0" dirty="0">
                <a:solidFill>
                  <a:srgbClr val="212529"/>
                </a:solidFill>
                <a:effectLst/>
                <a:latin typeface="+mn-ea"/>
              </a:rPr>
              <a:t>]</a:t>
            </a:r>
            <a:r>
              <a:rPr lang="en-US" altLang="ko-KR" sz="2800" b="0" i="0" dirty="0">
                <a:solidFill>
                  <a:srgbClr val="212529"/>
                </a:solidFill>
                <a:effectLst/>
                <a:latin typeface="+mn-ea"/>
              </a:rPr>
              <a:t> </a:t>
            </a:r>
            <a:r>
              <a:rPr lang="ko-KR" altLang="en-US" sz="2800" b="0" i="0" dirty="0">
                <a:solidFill>
                  <a:srgbClr val="212529"/>
                </a:solidFill>
                <a:effectLst/>
                <a:latin typeface="+mn-ea"/>
              </a:rPr>
              <a:t>커리큘럼 클릭</a:t>
            </a:r>
            <a:endParaRPr lang="en-US" altLang="ko-KR" sz="2800" b="0" i="0" dirty="0">
              <a:solidFill>
                <a:srgbClr val="212529"/>
              </a:solidFill>
              <a:effectLst/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ko-KR" altLang="en-US" sz="2800" b="1" dirty="0" err="1">
                <a:solidFill>
                  <a:srgbClr val="212529"/>
                </a:solidFill>
                <a:latin typeface="+mn-ea"/>
              </a:rPr>
              <a:t>선택자</a:t>
            </a:r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 연습하기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] &gt; 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[</a:t>
            </a:r>
            <a:r>
              <a:rPr lang="ko-KR" altLang="en-US" sz="2800" b="1" dirty="0">
                <a:solidFill>
                  <a:schemeClr val="accent1"/>
                </a:solidFill>
                <a:latin typeface="+mn-ea"/>
              </a:rPr>
              <a:t>가상클래스 </a:t>
            </a:r>
            <a:r>
              <a:rPr lang="ko-KR" altLang="en-US" sz="2800" b="1" dirty="0" err="1">
                <a:solidFill>
                  <a:schemeClr val="accent1"/>
                </a:solidFill>
                <a:latin typeface="+mn-ea"/>
              </a:rPr>
              <a:t>선택자</a:t>
            </a:r>
            <a:r>
              <a:rPr lang="ko-KR" altLang="en-US" sz="2800" b="1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- 1]</a:t>
            </a:r>
            <a:r>
              <a:rPr lang="en-US" altLang="ko-KR" sz="28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실습 진행</a:t>
            </a:r>
            <a:endParaRPr lang="ko-KR" altLang="en-US" sz="2800" b="0" i="0" dirty="0">
              <a:solidFill>
                <a:srgbClr val="212529"/>
              </a:solidFill>
              <a:effectLst/>
              <a:latin typeface="+mn-ea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6EF5811-D0D8-2150-AB87-7041EA1C1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BF0963-57DE-1888-FEA3-214E79D93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40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819BF2E8-E9AD-C4F2-130A-85CEAF4F3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. </a:t>
            </a:r>
            <a:r>
              <a:rPr lang="ko-KR" altLang="en-US" dirty="0">
                <a:solidFill>
                  <a:srgbClr val="ED7D31"/>
                </a:solidFill>
              </a:rPr>
              <a:t>가상클래스 </a:t>
            </a:r>
            <a:r>
              <a:rPr lang="ko-KR" altLang="en-US" dirty="0" err="1">
                <a:solidFill>
                  <a:srgbClr val="ED7D31"/>
                </a:solidFill>
              </a:rPr>
              <a:t>선택자</a:t>
            </a:r>
            <a:r>
              <a:rPr lang="ko-KR" altLang="en-US" dirty="0">
                <a:solidFill>
                  <a:srgbClr val="ED7D31"/>
                </a:solidFill>
              </a:rPr>
              <a:t> 실습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8BDF07E7-8604-543A-87D2-D0EA28BB3CB9}"/>
              </a:ext>
            </a:extLst>
          </p:cNvPr>
          <p:cNvGrpSpPr/>
          <p:nvPr/>
        </p:nvGrpSpPr>
        <p:grpSpPr>
          <a:xfrm>
            <a:off x="1477108" y="2226086"/>
            <a:ext cx="5783891" cy="1177124"/>
            <a:chOff x="1266093" y="2392552"/>
            <a:chExt cx="5783891" cy="1177124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2B93C4C9-FCAF-EECF-49AA-2F18211606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66093" y="2392552"/>
              <a:ext cx="5783891" cy="1177124"/>
            </a:xfrm>
            <a:prstGeom prst="rect">
              <a:avLst/>
            </a:prstGeom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667C001B-BB1F-61F7-0D34-D697577C9DE9}"/>
                </a:ext>
              </a:extLst>
            </p:cNvPr>
            <p:cNvSpPr/>
            <p:nvPr/>
          </p:nvSpPr>
          <p:spPr>
            <a:xfrm>
              <a:off x="4478216" y="3114382"/>
              <a:ext cx="2571768" cy="455294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5A6B1FBD-24E8-DA58-4AEE-ABC7CF06D298}"/>
              </a:ext>
            </a:extLst>
          </p:cNvPr>
          <p:cNvSpPr txBox="1"/>
          <p:nvPr/>
        </p:nvSpPr>
        <p:spPr>
          <a:xfrm>
            <a:off x="4925569" y="5992297"/>
            <a:ext cx="7247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accent6"/>
                </a:solidFill>
                <a:latin typeface="+mn-ea"/>
              </a:rPr>
              <a:t>*Slack</a:t>
            </a:r>
            <a:r>
              <a:rPr lang="ko-KR" altLang="en-US" dirty="0">
                <a:solidFill>
                  <a:schemeClr val="accent6"/>
                </a:solidFill>
                <a:latin typeface="+mn-ea"/>
              </a:rPr>
              <a:t> </a:t>
            </a:r>
            <a:r>
              <a:rPr lang="en-US" altLang="ko-KR" dirty="0">
                <a:solidFill>
                  <a:schemeClr val="accent6"/>
                </a:solidFill>
                <a:latin typeface="+mn-ea"/>
              </a:rPr>
              <a:t>#</a:t>
            </a:r>
            <a:r>
              <a:rPr lang="ko-KR" altLang="en-US" dirty="0">
                <a:solidFill>
                  <a:schemeClr val="accent6"/>
                </a:solidFill>
                <a:latin typeface="+mn-ea"/>
              </a:rPr>
              <a:t>과제 채널의 스레드 댓글로 코드</a:t>
            </a:r>
            <a:r>
              <a:rPr lang="en-US" altLang="ko-KR" dirty="0">
                <a:solidFill>
                  <a:schemeClr val="accent6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chemeClr val="accent6"/>
                </a:solidFill>
                <a:latin typeface="+mn-ea"/>
              </a:rPr>
              <a:t>및 결과 캡쳐를 제출해주세요</a:t>
            </a:r>
            <a:r>
              <a:rPr lang="en-US" altLang="ko-KR" dirty="0">
                <a:solidFill>
                  <a:schemeClr val="accent6"/>
                </a:solidFill>
                <a:latin typeface="+mn-ea"/>
              </a:rPr>
              <a:t>!</a:t>
            </a:r>
            <a:endParaRPr lang="ko-KR" altLang="en-US" dirty="0">
              <a:solidFill>
                <a:schemeClr val="accent6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78559219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C3D922-7259-B4EF-D7C8-B1F5587916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5563"/>
            <a:ext cx="2838451" cy="779462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✅ 가상 </a:t>
            </a:r>
            <a:r>
              <a:rPr lang="ko-KR" altLang="en-US" dirty="0" err="1"/>
              <a:t>선택자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630AAA-9B55-18D3-332D-AFBF264CC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2025-08-27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309EF4C-6CBF-F353-816C-0A042A427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41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E711374-53F0-4A81-B742-9C03D3E37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CSS </a:t>
            </a:r>
            <a:r>
              <a:rPr lang="ko-KR" altLang="en-US" dirty="0" err="1"/>
              <a:t>선택자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/>
              <a:t>가상클래스 </a:t>
            </a:r>
            <a:r>
              <a:rPr lang="ko-KR" altLang="en-US" dirty="0" err="1"/>
              <a:t>선택자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A33D033-15CB-79B8-292A-09EBE001343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3493" y="1384418"/>
            <a:ext cx="7226223" cy="4089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69574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630AAA-9B55-18D3-332D-AFBF264CC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2025-08-27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309EF4C-6CBF-F353-816C-0A042A427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42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E711374-53F0-4A81-B742-9C03D3E37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CSS </a:t>
            </a:r>
            <a:r>
              <a:rPr lang="ko-KR" altLang="en-US" dirty="0" err="1"/>
              <a:t>선택자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/>
              <a:t>가상클래스 </a:t>
            </a:r>
            <a:r>
              <a:rPr lang="ko-KR" altLang="en-US" dirty="0" err="1"/>
              <a:t>선택자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EB88CF8-448B-E590-8EB4-02FAC2586D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2712" y="1213046"/>
            <a:ext cx="7686106" cy="4431908"/>
          </a:xfrm>
          <a:prstGeom prst="rect">
            <a:avLst/>
          </a:prstGeom>
        </p:spPr>
      </p:pic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3362C52A-E64A-CFD4-1CFB-A7D69EFF133F}"/>
              </a:ext>
            </a:extLst>
          </p:cNvPr>
          <p:cNvSpPr txBox="1">
            <a:spLocks/>
          </p:cNvSpPr>
          <p:nvPr/>
        </p:nvSpPr>
        <p:spPr>
          <a:xfrm>
            <a:off x="838199" y="1325563"/>
            <a:ext cx="2838451" cy="779462"/>
          </a:xfrm>
          <a:prstGeom prst="rect">
            <a:avLst/>
          </a:prstGeom>
        </p:spPr>
        <p:txBody>
          <a:bodyPr vert="horz" lIns="90000" tIns="45720" rIns="9000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/>
              <a:t>✅ 가상 선택자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7715488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C3D922-7259-B4EF-D7C8-B1F5587916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5563"/>
            <a:ext cx="3445295" cy="486320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rgbClr val="6EC173"/>
                </a:solidFill>
              </a:rPr>
              <a:t>가상 </a:t>
            </a:r>
            <a:r>
              <a:rPr lang="ko-KR" altLang="en-US" dirty="0" err="1">
                <a:solidFill>
                  <a:srgbClr val="6EC173"/>
                </a:solidFill>
              </a:rPr>
              <a:t>선택자</a:t>
            </a:r>
            <a:endParaRPr lang="ko-KR" altLang="en-US" dirty="0">
              <a:solidFill>
                <a:srgbClr val="6EC173"/>
              </a:solidFill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630AAA-9B55-18D3-332D-AFBF264CC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2025-08-27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309EF4C-6CBF-F353-816C-0A042A427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43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E711374-53F0-4A81-B742-9C03D3E37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CSS </a:t>
            </a:r>
            <a:r>
              <a:rPr lang="ko-KR" altLang="en-US" dirty="0" err="1"/>
              <a:t>선택자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/>
              <a:t>가상클래스 </a:t>
            </a:r>
            <a:r>
              <a:rPr lang="ko-KR" altLang="en-US" dirty="0" err="1"/>
              <a:t>선택자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8DD19A0-3F01-2ED8-8EB7-2C9D566687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1362" y="1193490"/>
            <a:ext cx="7752135" cy="4471019"/>
          </a:xfrm>
          <a:prstGeom prst="rect">
            <a:avLst/>
          </a:prstGeom>
        </p:spPr>
      </p:pic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F44BF548-5391-BD5E-205D-9BE815CB5118}"/>
              </a:ext>
            </a:extLst>
          </p:cNvPr>
          <p:cNvSpPr txBox="1">
            <a:spLocks/>
          </p:cNvSpPr>
          <p:nvPr/>
        </p:nvSpPr>
        <p:spPr>
          <a:xfrm>
            <a:off x="838199" y="1325563"/>
            <a:ext cx="2838451" cy="779462"/>
          </a:xfrm>
          <a:prstGeom prst="rect">
            <a:avLst/>
          </a:prstGeom>
        </p:spPr>
        <p:txBody>
          <a:bodyPr vert="horz" lIns="90000" tIns="45720" rIns="9000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✅ 가상 </a:t>
            </a:r>
            <a:r>
              <a:rPr lang="ko-KR" altLang="en-US" dirty="0" err="1"/>
              <a:t>선택자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7264236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630AAA-9B55-18D3-332D-AFBF264CC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2025-08-27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309EF4C-6CBF-F353-816C-0A042A427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44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E711374-53F0-4A81-B742-9C03D3E37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CSS </a:t>
            </a:r>
            <a:r>
              <a:rPr lang="ko-KR" altLang="en-US" dirty="0" err="1"/>
              <a:t>선택자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/>
              <a:t>가상클래스 </a:t>
            </a:r>
            <a:r>
              <a:rPr lang="ko-KR" altLang="en-US" dirty="0" err="1"/>
              <a:t>선택자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7E72F8B-27AB-75E0-3B68-023DE5FBB0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5985" y="1325563"/>
            <a:ext cx="7327816" cy="4509074"/>
          </a:xfrm>
          <a:prstGeom prst="rect">
            <a:avLst/>
          </a:prstGeom>
        </p:spPr>
      </p:pic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35F824B4-157F-5DC3-82B1-ADBC2AC4F24C}"/>
              </a:ext>
            </a:extLst>
          </p:cNvPr>
          <p:cNvSpPr txBox="1">
            <a:spLocks/>
          </p:cNvSpPr>
          <p:nvPr/>
        </p:nvSpPr>
        <p:spPr>
          <a:xfrm>
            <a:off x="838199" y="1325563"/>
            <a:ext cx="2838451" cy="779462"/>
          </a:xfrm>
          <a:prstGeom prst="rect">
            <a:avLst/>
          </a:prstGeom>
        </p:spPr>
        <p:txBody>
          <a:bodyPr vert="horz" lIns="90000" tIns="45720" rIns="9000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/>
              <a:t>✅ 가상 선택자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926383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B4E9619-8CE7-55C3-4AAC-F4BCB5290B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701221" cy="4665797"/>
          </a:xfrm>
        </p:spPr>
        <p:txBody>
          <a:bodyPr>
            <a:normAutofit lnSpcReduction="10000"/>
          </a:bodyPr>
          <a:lstStyle/>
          <a:p>
            <a:pPr algn="l" latinLnBrk="1"/>
            <a:r>
              <a:rPr lang="ko-KR" altLang="en-US" i="0" dirty="0" err="1">
                <a:solidFill>
                  <a:srgbClr val="212529"/>
                </a:solidFill>
                <a:effectLst/>
                <a:latin typeface="+mn-ea"/>
              </a:rPr>
              <a:t>코딩온</a:t>
            </a:r>
            <a:r>
              <a:rPr lang="ko-KR" altLang="en-US" i="0" dirty="0">
                <a:solidFill>
                  <a:srgbClr val="212529"/>
                </a:solidFill>
                <a:effectLst/>
                <a:latin typeface="+mn-ea"/>
              </a:rPr>
              <a:t> </a:t>
            </a:r>
            <a:r>
              <a:rPr lang="en-US" altLang="ko-KR" i="0" dirty="0">
                <a:solidFill>
                  <a:srgbClr val="212529"/>
                </a:solidFill>
                <a:effectLst/>
                <a:latin typeface="+mn-ea"/>
              </a:rPr>
              <a:t>LMS</a:t>
            </a:r>
            <a:r>
              <a:rPr lang="ko-KR" altLang="en-US" i="0" dirty="0">
                <a:solidFill>
                  <a:srgbClr val="212529"/>
                </a:solidFill>
                <a:effectLst/>
                <a:latin typeface="+mn-ea"/>
              </a:rPr>
              <a:t>에 로그인해주세요</a:t>
            </a:r>
            <a:r>
              <a:rPr lang="en-US" altLang="ko-KR" i="0" dirty="0">
                <a:solidFill>
                  <a:srgbClr val="212529"/>
                </a:solidFill>
                <a:effectLst/>
                <a:latin typeface="+mn-ea"/>
              </a:rPr>
              <a:t>. (Slack #</a:t>
            </a:r>
            <a:r>
              <a:rPr lang="ko-KR" altLang="en-US" i="0" dirty="0">
                <a:solidFill>
                  <a:srgbClr val="212529"/>
                </a:solidFill>
                <a:effectLst/>
                <a:latin typeface="+mn-ea"/>
              </a:rPr>
              <a:t>강의 채널의 책갈피 확인</a:t>
            </a:r>
            <a:r>
              <a:rPr lang="en-US" altLang="ko-KR" i="0" dirty="0">
                <a:solidFill>
                  <a:srgbClr val="212529"/>
                </a:solidFill>
                <a:effectLst/>
                <a:latin typeface="+mn-ea"/>
              </a:rPr>
              <a:t>)</a:t>
            </a:r>
          </a:p>
          <a:p>
            <a:pPr marL="457200" lvl="1" indent="0">
              <a:buNone/>
            </a:pPr>
            <a:endParaRPr lang="en-US" altLang="ko-KR" i="0" dirty="0">
              <a:solidFill>
                <a:srgbClr val="212529"/>
              </a:solidFill>
              <a:effectLst/>
              <a:latin typeface="+mn-ea"/>
            </a:endParaRPr>
          </a:p>
          <a:p>
            <a:pPr marL="457200" lvl="1" indent="0"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marL="457200" lvl="1" indent="0">
              <a:buNone/>
            </a:pPr>
            <a:endParaRPr lang="en-US" altLang="ko-KR" i="0" dirty="0">
              <a:solidFill>
                <a:srgbClr val="212529"/>
              </a:solidFill>
              <a:effectLst/>
              <a:latin typeface="+mn-ea"/>
            </a:endParaRPr>
          </a:p>
          <a:p>
            <a:pPr marL="457200" lvl="1" indent="0">
              <a:buNone/>
            </a:pPr>
            <a:endParaRPr lang="en-US" altLang="ko-KR" i="0" dirty="0">
              <a:solidFill>
                <a:srgbClr val="212529"/>
              </a:solidFill>
              <a:effectLst/>
              <a:latin typeface="+mn-ea"/>
            </a:endParaRPr>
          </a:p>
          <a:p>
            <a:pPr marL="457200" lvl="1" indent="0">
              <a:buNone/>
            </a:pPr>
            <a:endParaRPr lang="en-US" altLang="ko-KR" i="0" dirty="0">
              <a:solidFill>
                <a:srgbClr val="212529"/>
              </a:solidFill>
              <a:effectLst/>
              <a:latin typeface="+mn-ea"/>
            </a:endParaRPr>
          </a:p>
          <a:p>
            <a:pPr algn="l" latinLnBrk="1"/>
            <a:r>
              <a:rPr lang="en-US" altLang="ko-KR" b="1" i="0" dirty="0">
                <a:solidFill>
                  <a:srgbClr val="212529"/>
                </a:solidFill>
                <a:effectLst/>
                <a:latin typeface="+mn-ea"/>
              </a:rPr>
              <a:t>[</a:t>
            </a:r>
            <a:r>
              <a:rPr lang="ko-KR" altLang="en-US" b="1" i="0" dirty="0" err="1">
                <a:solidFill>
                  <a:srgbClr val="212529"/>
                </a:solidFill>
                <a:effectLst/>
                <a:latin typeface="+mn-ea"/>
              </a:rPr>
              <a:t>코딩온</a:t>
            </a:r>
            <a:r>
              <a:rPr lang="en-US" altLang="ko-KR" b="1" i="0" dirty="0">
                <a:solidFill>
                  <a:srgbClr val="212529"/>
                </a:solidFill>
                <a:effectLst/>
                <a:latin typeface="+mn-ea"/>
              </a:rPr>
              <a:t>] HTML, CSS, JS </a:t>
            </a:r>
            <a:r>
              <a:rPr lang="ko-KR" altLang="en-US" b="1" i="0" dirty="0">
                <a:solidFill>
                  <a:srgbClr val="212529"/>
                </a:solidFill>
                <a:effectLst/>
                <a:latin typeface="+mn-ea"/>
              </a:rPr>
              <a:t>실습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rgbClr val="212529"/>
                </a:solidFill>
                <a:latin typeface="+mn-ea"/>
              </a:rPr>
              <a:t>강의 클릭</a:t>
            </a: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[CSS</a:t>
            </a:r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sz="2800" b="1" dirty="0" err="1">
                <a:solidFill>
                  <a:srgbClr val="212529"/>
                </a:solidFill>
                <a:latin typeface="+mn-ea"/>
              </a:rPr>
              <a:t>선택자</a:t>
            </a:r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sz="2800" b="1" i="0" dirty="0">
                <a:solidFill>
                  <a:srgbClr val="212529"/>
                </a:solidFill>
                <a:effectLst/>
                <a:latin typeface="+mn-ea"/>
              </a:rPr>
              <a:t>실습</a:t>
            </a:r>
            <a:r>
              <a:rPr lang="en-US" altLang="ko-KR" sz="2800" b="1" i="0" dirty="0">
                <a:solidFill>
                  <a:srgbClr val="212529"/>
                </a:solidFill>
                <a:effectLst/>
                <a:latin typeface="+mn-ea"/>
              </a:rPr>
              <a:t>]</a:t>
            </a:r>
            <a:r>
              <a:rPr lang="en-US" altLang="ko-KR" sz="2800" b="0" i="0" dirty="0">
                <a:solidFill>
                  <a:srgbClr val="212529"/>
                </a:solidFill>
                <a:effectLst/>
                <a:latin typeface="+mn-ea"/>
              </a:rPr>
              <a:t> </a:t>
            </a:r>
            <a:r>
              <a:rPr lang="ko-KR" altLang="en-US" sz="2800" b="0" i="0" dirty="0">
                <a:solidFill>
                  <a:srgbClr val="212529"/>
                </a:solidFill>
                <a:effectLst/>
                <a:latin typeface="+mn-ea"/>
              </a:rPr>
              <a:t>커리큘럼 클릭</a:t>
            </a:r>
            <a:endParaRPr lang="en-US" altLang="ko-KR" sz="2800" b="0" i="0" dirty="0">
              <a:solidFill>
                <a:srgbClr val="212529"/>
              </a:solidFill>
              <a:effectLst/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ko-KR" altLang="en-US" sz="2800" b="1" dirty="0" err="1">
                <a:solidFill>
                  <a:srgbClr val="212529"/>
                </a:solidFill>
                <a:latin typeface="+mn-ea"/>
              </a:rPr>
              <a:t>선택자</a:t>
            </a:r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 연습하기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] &gt; 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[</a:t>
            </a:r>
            <a:r>
              <a:rPr lang="ko-KR" altLang="en-US" sz="2800" b="1" dirty="0">
                <a:solidFill>
                  <a:schemeClr val="accent1"/>
                </a:solidFill>
                <a:latin typeface="+mn-ea"/>
              </a:rPr>
              <a:t>가상클래스 </a:t>
            </a:r>
            <a:r>
              <a:rPr lang="ko-KR" altLang="en-US" sz="2800" b="1" dirty="0" err="1">
                <a:solidFill>
                  <a:schemeClr val="accent1"/>
                </a:solidFill>
                <a:latin typeface="+mn-ea"/>
              </a:rPr>
              <a:t>선택자</a:t>
            </a:r>
            <a:r>
              <a:rPr lang="ko-KR" altLang="en-US" sz="2800" b="1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- 2]</a:t>
            </a:r>
            <a:r>
              <a:rPr lang="en-US" altLang="ko-KR" sz="28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실습 진행</a:t>
            </a:r>
            <a:endParaRPr lang="ko-KR" altLang="en-US" sz="2800" b="0" i="0" dirty="0">
              <a:solidFill>
                <a:srgbClr val="212529"/>
              </a:solidFill>
              <a:effectLst/>
              <a:latin typeface="+mn-ea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6EF5811-D0D8-2150-AB87-7041EA1C1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BF0963-57DE-1888-FEA3-214E79D93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45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819BF2E8-E9AD-C4F2-130A-85CEAF4F3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. </a:t>
            </a:r>
            <a:r>
              <a:rPr lang="ko-KR" altLang="en-US" dirty="0">
                <a:solidFill>
                  <a:srgbClr val="ED7D31"/>
                </a:solidFill>
              </a:rPr>
              <a:t>줄무늬 만들기 실습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8BDF07E7-8604-543A-87D2-D0EA28BB3CB9}"/>
              </a:ext>
            </a:extLst>
          </p:cNvPr>
          <p:cNvGrpSpPr/>
          <p:nvPr/>
        </p:nvGrpSpPr>
        <p:grpSpPr>
          <a:xfrm>
            <a:off x="1464311" y="2226086"/>
            <a:ext cx="5783891" cy="1177124"/>
            <a:chOff x="1266093" y="2392552"/>
            <a:chExt cx="5783891" cy="1177124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2B93C4C9-FCAF-EECF-49AA-2F18211606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66093" y="2392552"/>
              <a:ext cx="5783891" cy="1177124"/>
            </a:xfrm>
            <a:prstGeom prst="rect">
              <a:avLst/>
            </a:prstGeom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667C001B-BB1F-61F7-0D34-D697577C9DE9}"/>
                </a:ext>
              </a:extLst>
            </p:cNvPr>
            <p:cNvSpPr/>
            <p:nvPr/>
          </p:nvSpPr>
          <p:spPr>
            <a:xfrm>
              <a:off x="4478216" y="3114382"/>
              <a:ext cx="2571768" cy="455294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5A6B1FBD-24E8-DA58-4AEE-ABC7CF06D298}"/>
              </a:ext>
            </a:extLst>
          </p:cNvPr>
          <p:cNvSpPr txBox="1"/>
          <p:nvPr/>
        </p:nvSpPr>
        <p:spPr>
          <a:xfrm>
            <a:off x="4925569" y="5992297"/>
            <a:ext cx="7247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accent6"/>
                </a:solidFill>
                <a:latin typeface="+mn-ea"/>
              </a:rPr>
              <a:t>*Slack</a:t>
            </a:r>
            <a:r>
              <a:rPr lang="ko-KR" altLang="en-US" dirty="0">
                <a:solidFill>
                  <a:schemeClr val="accent6"/>
                </a:solidFill>
                <a:latin typeface="+mn-ea"/>
              </a:rPr>
              <a:t> </a:t>
            </a:r>
            <a:r>
              <a:rPr lang="en-US" altLang="ko-KR" dirty="0">
                <a:solidFill>
                  <a:schemeClr val="accent6"/>
                </a:solidFill>
                <a:latin typeface="+mn-ea"/>
              </a:rPr>
              <a:t>#</a:t>
            </a:r>
            <a:r>
              <a:rPr lang="ko-KR" altLang="en-US" dirty="0">
                <a:solidFill>
                  <a:schemeClr val="accent6"/>
                </a:solidFill>
                <a:latin typeface="+mn-ea"/>
              </a:rPr>
              <a:t>과제 채널의 스레드 댓글로 코드</a:t>
            </a:r>
            <a:r>
              <a:rPr lang="en-US" altLang="ko-KR" dirty="0">
                <a:solidFill>
                  <a:schemeClr val="accent6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chemeClr val="accent6"/>
                </a:solidFill>
                <a:latin typeface="+mn-ea"/>
              </a:rPr>
              <a:t>및 결과 캡쳐를 제출해주세요</a:t>
            </a:r>
            <a:r>
              <a:rPr lang="en-US" altLang="ko-KR" dirty="0">
                <a:solidFill>
                  <a:schemeClr val="accent6"/>
                </a:solidFill>
                <a:latin typeface="+mn-ea"/>
              </a:rPr>
              <a:t>!</a:t>
            </a:r>
            <a:endParaRPr lang="ko-KR" altLang="en-US" dirty="0">
              <a:solidFill>
                <a:schemeClr val="accent6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384063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46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6000" dirty="0">
                <a:solidFill>
                  <a:srgbClr val="ED7D31"/>
                </a:solidFill>
              </a:rPr>
              <a:t>가상 요소 </a:t>
            </a:r>
            <a:r>
              <a:rPr lang="ko-KR" altLang="en-US" sz="6000" dirty="0" err="1">
                <a:solidFill>
                  <a:srgbClr val="ED7D31"/>
                </a:solidFill>
              </a:rPr>
              <a:t>선택자</a:t>
            </a:r>
            <a:endParaRPr lang="ko-KR" altLang="en-US" sz="6000" dirty="0">
              <a:solidFill>
                <a:srgbClr val="ED7D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439367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3216C78D-A7FD-07F0-A3F6-C3C40B2851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260802" cy="4041896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선택 된 요소의</a:t>
            </a:r>
            <a:r>
              <a:rPr lang="ko-KR" altLang="en-US" dirty="0">
                <a:solidFill>
                  <a:schemeClr val="accent1"/>
                </a:solidFill>
              </a:rPr>
              <a:t> 앞</a:t>
            </a:r>
            <a:r>
              <a:rPr lang="en-US" altLang="ko-KR" dirty="0">
                <a:solidFill>
                  <a:schemeClr val="accent1"/>
                </a:solidFill>
              </a:rPr>
              <a:t>, </a:t>
            </a:r>
            <a:r>
              <a:rPr lang="ko-KR" altLang="en-US" dirty="0">
                <a:solidFill>
                  <a:schemeClr val="accent1"/>
                </a:solidFill>
              </a:rPr>
              <a:t>뒤에 별도의 </a:t>
            </a:r>
            <a:r>
              <a:rPr lang="en-US" altLang="ko-KR" dirty="0">
                <a:solidFill>
                  <a:schemeClr val="accent1"/>
                </a:solidFill>
              </a:rPr>
              <a:t>Content </a:t>
            </a:r>
            <a:r>
              <a:rPr lang="ko-KR" altLang="en-US" dirty="0">
                <a:solidFill>
                  <a:schemeClr val="accent1"/>
                </a:solidFill>
              </a:rPr>
              <a:t>를 삽입</a:t>
            </a:r>
            <a:r>
              <a:rPr lang="ko-KR" altLang="en-US" dirty="0"/>
              <a:t>하는 </a:t>
            </a:r>
            <a:r>
              <a:rPr lang="ko-KR" altLang="en-US" dirty="0" err="1"/>
              <a:t>선택자</a:t>
            </a:r>
            <a:endParaRPr lang="en-US" altLang="ko-KR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/>
              <a:t>반드시 </a:t>
            </a:r>
            <a:r>
              <a:rPr lang="en-US" altLang="ko-KR" dirty="0"/>
              <a:t>content </a:t>
            </a:r>
            <a:r>
              <a:rPr lang="ko-KR" altLang="en-US" dirty="0"/>
              <a:t>라는 속성을 사용</a:t>
            </a:r>
            <a:endParaRPr lang="en-US" altLang="ko-KR" dirty="0"/>
          </a:p>
          <a:p>
            <a:pPr lvl="2">
              <a:lnSpc>
                <a:spcPct val="150000"/>
              </a:lnSpc>
            </a:pPr>
            <a:r>
              <a:rPr lang="ko-KR" altLang="en-US" dirty="0"/>
              <a:t>빈 값</a:t>
            </a:r>
            <a:r>
              <a:rPr lang="en-US" altLang="ko-KR" dirty="0"/>
              <a:t>(“”) </a:t>
            </a:r>
            <a:r>
              <a:rPr lang="ko-KR" altLang="en-US" dirty="0"/>
              <a:t>이라도 넣어 주어야 적용이 됨</a:t>
            </a:r>
            <a:endParaRPr lang="en-US" altLang="ko-KR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/>
              <a:t>종류</a:t>
            </a:r>
            <a:endParaRPr lang="en-US" altLang="ko-KR" dirty="0"/>
          </a:p>
          <a:p>
            <a:pPr lvl="2">
              <a:lnSpc>
                <a:spcPct val="150000"/>
              </a:lnSpc>
            </a:pPr>
            <a:r>
              <a:rPr lang="en-US" altLang="ko-KR" dirty="0">
                <a:solidFill>
                  <a:srgbClr val="0070C0"/>
                </a:solidFill>
              </a:rPr>
              <a:t>after : </a:t>
            </a:r>
            <a:r>
              <a:rPr lang="ko-KR" altLang="en-US" dirty="0"/>
              <a:t>요소의 뒤에 내용 삽입</a:t>
            </a:r>
            <a:endParaRPr lang="en-US" altLang="ko-KR" dirty="0"/>
          </a:p>
          <a:p>
            <a:pPr lvl="2">
              <a:lnSpc>
                <a:spcPct val="150000"/>
              </a:lnSpc>
            </a:pPr>
            <a:r>
              <a:rPr lang="en-US" altLang="ko-KR" dirty="0">
                <a:solidFill>
                  <a:srgbClr val="0070C0"/>
                </a:solidFill>
              </a:rPr>
              <a:t>before : </a:t>
            </a:r>
            <a:r>
              <a:rPr lang="ko-KR" altLang="en-US" dirty="0"/>
              <a:t>요소의 앞에 내용 삽입</a:t>
            </a:r>
            <a:endParaRPr lang="en-US" altLang="ko-KR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2F2F0-264A-4EA2-93EE-294AC811292F}" type="datetime1">
              <a:rPr lang="ko-KR" altLang="en-US" smtClean="0"/>
              <a:t>2025-08-27</a:t>
            </a:fld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0ADEE-E64B-4211-A976-A6B58240426F}" type="slidenum">
              <a:rPr lang="ko-KR" altLang="en-US" smtClean="0"/>
              <a:t>47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6A67ABD-DF30-CDE6-A2D4-633274537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CSS </a:t>
            </a:r>
            <a:r>
              <a:rPr lang="ko-KR" altLang="en-US" dirty="0" err="1"/>
              <a:t>선택자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>
                <a:solidFill>
                  <a:schemeClr val="accent1"/>
                </a:solidFill>
              </a:rPr>
              <a:t>가상 요소 </a:t>
            </a:r>
            <a:r>
              <a:rPr lang="ko-KR" altLang="en-US" dirty="0" err="1"/>
              <a:t>선택자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7277288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3216C78D-A7FD-07F0-A3F6-C3C40B2851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701221" cy="238168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실제로 의미 없는 </a:t>
            </a:r>
            <a:r>
              <a:rPr lang="en-US" altLang="ko-KR" sz="2400" dirty="0"/>
              <a:t>HTML </a:t>
            </a:r>
            <a:r>
              <a:rPr lang="ko-KR" altLang="en-US" sz="2400" dirty="0"/>
              <a:t>태그를 만들지 않고 요소 삽입이 가능하여 자주 사용</a:t>
            </a:r>
            <a:r>
              <a:rPr lang="en-US" altLang="ko-KR" sz="2400" dirty="0"/>
              <a:t>!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예를 들어 쇼핑몰 페이지에 메뉴에 </a:t>
            </a:r>
            <a:r>
              <a:rPr lang="en-US" altLang="ko-KR" sz="2000" dirty="0"/>
              <a:t>Hot, </a:t>
            </a:r>
            <a:r>
              <a:rPr lang="ko-KR" altLang="en-US" sz="2000" dirty="0"/>
              <a:t>추천 등을 넣기 위해 별도의 태그를 삽입 하는 것이 아니라 가상 요소 선택자를 활용하여 처리하면 편리함</a:t>
            </a:r>
            <a:r>
              <a:rPr lang="en-US" altLang="ko-KR" sz="2000" dirty="0"/>
              <a:t>!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14887-5B85-4208-BDD2-4B17A24C1DB5}" type="datetime1">
              <a:rPr lang="ko-KR" altLang="en-US" smtClean="0"/>
              <a:t>2025-08-27</a:t>
            </a:fld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0ADEE-E64B-4211-A976-A6B58240426F}" type="slidenum">
              <a:rPr lang="ko-KR" altLang="en-US" smtClean="0"/>
              <a:t>48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0CDB75F-4496-D5DB-05E0-51C6D3B86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CSS </a:t>
            </a:r>
            <a:r>
              <a:rPr lang="ko-KR" altLang="en-US" dirty="0" err="1"/>
              <a:t>선택자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>
                <a:solidFill>
                  <a:schemeClr val="accent1"/>
                </a:solidFill>
              </a:rPr>
              <a:t>가상 요소 </a:t>
            </a:r>
            <a:r>
              <a:rPr lang="ko-KR" altLang="en-US" dirty="0" err="1"/>
              <a:t>선택자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8677779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6695F5B3-4968-AEF6-2006-03C2FE34ED15}"/>
              </a:ext>
            </a:extLst>
          </p:cNvPr>
          <p:cNvGrpSpPr/>
          <p:nvPr/>
        </p:nvGrpSpPr>
        <p:grpSpPr>
          <a:xfrm>
            <a:off x="829382" y="484410"/>
            <a:ext cx="10533235" cy="5889180"/>
            <a:chOff x="330508" y="394175"/>
            <a:chExt cx="10703476" cy="6139975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9136FCDE-073D-BFA2-27A1-CCCA3A340E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0508" y="394175"/>
              <a:ext cx="10508942" cy="6069650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D66FF971-89E3-3C0F-FB9B-05738BBE1308}"/>
                </a:ext>
              </a:extLst>
            </p:cNvPr>
            <p:cNvSpPr/>
            <p:nvPr/>
          </p:nvSpPr>
          <p:spPr>
            <a:xfrm>
              <a:off x="8917724" y="3558240"/>
              <a:ext cx="2116260" cy="29759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E9F80-0264-4434-88D8-C9536FF3E001}" type="datetime1">
              <a:rPr lang="ko-KR" altLang="en-US" smtClean="0"/>
              <a:t>2025-08-27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0ADEE-E64B-4211-A976-A6B58240426F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370020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804CEDA0-CBFE-4AA2-FB21-43ACB3779DD7}"/>
              </a:ext>
            </a:extLst>
          </p:cNvPr>
          <p:cNvGrpSpPr/>
          <p:nvPr/>
        </p:nvGrpSpPr>
        <p:grpSpPr>
          <a:xfrm>
            <a:off x="837795" y="393639"/>
            <a:ext cx="10516410" cy="5924550"/>
            <a:chOff x="517573" y="466725"/>
            <a:chExt cx="10516410" cy="5924550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D1107F1B-416A-4922-65DE-818D23EF9E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7573" y="466725"/>
              <a:ext cx="10461135" cy="5924550"/>
            </a:xfrm>
            <a:prstGeom prst="rect">
              <a:avLst/>
            </a:prstGeom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7FA4DB29-1D8F-A0BA-5197-26F73231EE1E}"/>
                </a:ext>
              </a:extLst>
            </p:cNvPr>
            <p:cNvSpPr/>
            <p:nvPr/>
          </p:nvSpPr>
          <p:spPr>
            <a:xfrm>
              <a:off x="9783681" y="4419600"/>
              <a:ext cx="1250302" cy="19716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48235-6FEC-4BF8-965D-29B53E220D3E}" type="datetime1">
              <a:rPr lang="ko-KR" altLang="en-US" smtClean="0"/>
              <a:t>2025-08-27</a:t>
            </a:fld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0ADEE-E64B-4211-A976-A6B58240426F}" type="slidenum">
              <a:rPr lang="ko-KR" altLang="en-US" smtClean="0"/>
              <a:t>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903223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AE3D48-DC77-7165-8A3B-28E746645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. </a:t>
            </a:r>
            <a:r>
              <a:rPr lang="ko-KR" altLang="en-US" dirty="0">
                <a:solidFill>
                  <a:srgbClr val="ED7D31"/>
                </a:solidFill>
              </a:rPr>
              <a:t>가상요소 </a:t>
            </a:r>
            <a:r>
              <a:rPr lang="ko-KR" altLang="en-US" dirty="0" err="1">
                <a:solidFill>
                  <a:srgbClr val="ED7D31"/>
                </a:solidFill>
              </a:rPr>
              <a:t>선택자</a:t>
            </a:r>
            <a:endParaRPr lang="ko-KR" altLang="en-US" dirty="0">
              <a:solidFill>
                <a:srgbClr val="ED7D31"/>
              </a:solidFill>
            </a:endParaRP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B9128036-F2D6-AE81-C434-5C4A08FE1F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6847755" cy="247435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&lt;div class=“box”&gt;</a:t>
            </a:r>
            <a:r>
              <a:rPr lang="ko-KR" altLang="en-US" dirty="0"/>
              <a:t>여기요</a:t>
            </a:r>
            <a:r>
              <a:rPr lang="en-US" altLang="ko-KR" dirty="0"/>
              <a:t>!&lt;/div&gt; </a:t>
            </a:r>
            <a:r>
              <a:rPr lang="ko-KR" altLang="en-US" dirty="0"/>
              <a:t>만들기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여기요 앞에</a:t>
            </a:r>
            <a:r>
              <a:rPr lang="en-US" altLang="ko-KR" dirty="0"/>
              <a:t>, “</a:t>
            </a:r>
            <a:r>
              <a:rPr lang="ko-KR" altLang="en-US" dirty="0"/>
              <a:t>택시</a:t>
            </a:r>
            <a:r>
              <a:rPr lang="en-US" altLang="ko-KR" dirty="0"/>
              <a:t>“ </a:t>
            </a:r>
            <a:r>
              <a:rPr lang="ko-KR" altLang="en-US" dirty="0"/>
              <a:t>넣기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여기요 뒤에</a:t>
            </a:r>
            <a:r>
              <a:rPr lang="en-US" altLang="ko-KR" dirty="0"/>
              <a:t>, “</a:t>
            </a:r>
            <a:r>
              <a:rPr lang="ko-KR" altLang="en-US" dirty="0"/>
              <a:t>빨리</a:t>
            </a:r>
            <a:r>
              <a:rPr lang="en-US" altLang="ko-KR" dirty="0"/>
              <a:t>” </a:t>
            </a:r>
            <a:r>
              <a:rPr lang="ko-KR" altLang="en-US" dirty="0"/>
              <a:t>넣기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1B57C-BCBE-412B-AA4F-0DC2556C58A0}" type="datetime1">
              <a:rPr lang="ko-KR" altLang="en-US" smtClean="0"/>
              <a:t>2025-08-27</a:t>
            </a:fld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0ADEE-E64B-4211-A976-A6B58240426F}" type="slidenum">
              <a:rPr lang="ko-KR" altLang="en-US" smtClean="0"/>
              <a:t>51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430155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52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6000" dirty="0">
                <a:solidFill>
                  <a:srgbClr val="ED7D31"/>
                </a:solidFill>
              </a:rPr>
              <a:t>속성 </a:t>
            </a:r>
            <a:r>
              <a:rPr lang="ko-KR" altLang="en-US" sz="6000" dirty="0" err="1">
                <a:solidFill>
                  <a:srgbClr val="ED7D31"/>
                </a:solidFill>
              </a:rPr>
              <a:t>선택자</a:t>
            </a:r>
            <a:endParaRPr lang="ko-KR" altLang="en-US" sz="6000" dirty="0">
              <a:solidFill>
                <a:srgbClr val="ED7D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547859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C3D922-7259-B4EF-D7C8-B1F5587916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0515600" cy="2731268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지정한 </a:t>
            </a:r>
            <a:r>
              <a:rPr lang="ko-KR" altLang="en-US" dirty="0">
                <a:solidFill>
                  <a:schemeClr val="accent1"/>
                </a:solidFill>
              </a:rPr>
              <a:t>특정 속성</a:t>
            </a:r>
            <a:r>
              <a:rPr lang="ko-KR" altLang="en-US" dirty="0"/>
              <a:t>을 가지고 있는 태그를 선택하는 </a:t>
            </a:r>
            <a:r>
              <a:rPr lang="ko-KR" altLang="en-US" dirty="0" err="1"/>
              <a:t>선택자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📌 종류</a:t>
            </a:r>
            <a:endParaRPr lang="en-US" altLang="ko-KR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/>
              <a:t>특정 속성만 지정</a:t>
            </a:r>
            <a:endParaRPr lang="en-US" altLang="ko-KR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/>
              <a:t>속성과 속성의 값을 지정</a:t>
            </a:r>
            <a:endParaRPr lang="en-US" altLang="ko-KR" dirty="0"/>
          </a:p>
        </p:txBody>
      </p:sp>
      <p:sp>
        <p:nvSpPr>
          <p:cNvPr id="8" name="날짜 개체 틀 3">
            <a:extLst>
              <a:ext uri="{FF2B5EF4-FFF2-40B4-BE49-F238E27FC236}">
                <a16:creationId xmlns:a16="http://schemas.microsoft.com/office/drawing/2014/main" id="{A1630AAA-9B55-18D3-332D-AFBF264CC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2025-08-27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309EF4C-6CBF-F353-816C-0A042A427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53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E711374-53F0-4A81-B742-9C03D3E37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속성 </a:t>
            </a:r>
            <a:r>
              <a:rPr lang="ko-KR" altLang="en-US" dirty="0" err="1"/>
              <a:t>선택자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5901735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1859084-008C-3034-A8E3-F2FB3E1C72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9718" y="663330"/>
            <a:ext cx="8132564" cy="5531340"/>
          </a:xfrm>
          <a:prstGeom prst="rect">
            <a:avLst/>
          </a:prstGeom>
        </p:spPr>
      </p:pic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AC5EB-03AD-4166-9269-5F883D4A789A}" type="datetime1">
              <a:rPr lang="ko-KR" altLang="en-US" smtClean="0"/>
              <a:t>2025-08-27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0ADEE-E64B-4211-A976-A6B58240426F}" type="slidenum">
              <a:rPr lang="ko-KR" altLang="en-US" smtClean="0"/>
              <a:t>54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896252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1AAB28CE-6AF4-FFB0-F996-DCED6BC530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8124" y="654838"/>
            <a:ext cx="9355752" cy="5548324"/>
          </a:xfrm>
          <a:prstGeom prst="rect">
            <a:avLst/>
          </a:prstGeom>
        </p:spPr>
      </p:pic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33D48-1A73-419D-B320-DFD528E13373}" type="datetime1">
              <a:rPr lang="ko-KR" altLang="en-US" smtClean="0"/>
              <a:t>2025-08-27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0ADEE-E64B-4211-A976-A6B58240426F}" type="slidenum">
              <a:rPr lang="ko-KR" altLang="en-US" smtClean="0"/>
              <a:t>55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300275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B4E9619-8CE7-55C3-4AAC-F4BCB5290B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244841"/>
            <a:ext cx="11701221" cy="4665797"/>
          </a:xfrm>
        </p:spPr>
        <p:txBody>
          <a:bodyPr>
            <a:normAutofit lnSpcReduction="10000"/>
          </a:bodyPr>
          <a:lstStyle/>
          <a:p>
            <a:pPr algn="l" latinLnBrk="1"/>
            <a:r>
              <a:rPr lang="ko-KR" altLang="en-US" i="0" dirty="0" err="1">
                <a:solidFill>
                  <a:srgbClr val="212529"/>
                </a:solidFill>
                <a:effectLst/>
                <a:latin typeface="+mn-ea"/>
              </a:rPr>
              <a:t>코딩온</a:t>
            </a:r>
            <a:r>
              <a:rPr lang="ko-KR" altLang="en-US" i="0" dirty="0">
                <a:solidFill>
                  <a:srgbClr val="212529"/>
                </a:solidFill>
                <a:effectLst/>
                <a:latin typeface="+mn-ea"/>
              </a:rPr>
              <a:t> </a:t>
            </a:r>
            <a:r>
              <a:rPr lang="en-US" altLang="ko-KR" i="0" dirty="0">
                <a:solidFill>
                  <a:srgbClr val="212529"/>
                </a:solidFill>
                <a:effectLst/>
                <a:latin typeface="+mn-ea"/>
              </a:rPr>
              <a:t>LMS</a:t>
            </a:r>
            <a:r>
              <a:rPr lang="ko-KR" altLang="en-US" i="0" dirty="0">
                <a:solidFill>
                  <a:srgbClr val="212529"/>
                </a:solidFill>
                <a:effectLst/>
                <a:latin typeface="+mn-ea"/>
              </a:rPr>
              <a:t>에 로그인해주세요</a:t>
            </a:r>
            <a:r>
              <a:rPr lang="en-US" altLang="ko-KR" i="0" dirty="0">
                <a:solidFill>
                  <a:srgbClr val="212529"/>
                </a:solidFill>
                <a:effectLst/>
                <a:latin typeface="+mn-ea"/>
              </a:rPr>
              <a:t>. (Slack #</a:t>
            </a:r>
            <a:r>
              <a:rPr lang="ko-KR" altLang="en-US" i="0" dirty="0">
                <a:solidFill>
                  <a:srgbClr val="212529"/>
                </a:solidFill>
                <a:effectLst/>
                <a:latin typeface="+mn-ea"/>
              </a:rPr>
              <a:t>강의 채널의 책갈피 확인</a:t>
            </a:r>
            <a:r>
              <a:rPr lang="en-US" altLang="ko-KR" i="0" dirty="0">
                <a:solidFill>
                  <a:srgbClr val="212529"/>
                </a:solidFill>
                <a:effectLst/>
                <a:latin typeface="+mn-ea"/>
              </a:rPr>
              <a:t>)</a:t>
            </a:r>
          </a:p>
          <a:p>
            <a:pPr marL="457200" lvl="1" indent="0">
              <a:buNone/>
            </a:pPr>
            <a:endParaRPr lang="en-US" altLang="ko-KR" i="0" dirty="0">
              <a:solidFill>
                <a:srgbClr val="212529"/>
              </a:solidFill>
              <a:effectLst/>
              <a:latin typeface="+mn-ea"/>
            </a:endParaRPr>
          </a:p>
          <a:p>
            <a:pPr marL="457200" lvl="1" indent="0"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marL="457200" lvl="1" indent="0">
              <a:buNone/>
            </a:pPr>
            <a:endParaRPr lang="en-US" altLang="ko-KR" i="0" dirty="0">
              <a:solidFill>
                <a:srgbClr val="212529"/>
              </a:solidFill>
              <a:effectLst/>
              <a:latin typeface="+mn-ea"/>
            </a:endParaRPr>
          </a:p>
          <a:p>
            <a:pPr marL="457200" lvl="1" indent="0">
              <a:buNone/>
            </a:pPr>
            <a:endParaRPr lang="en-US" altLang="ko-KR" i="0" dirty="0">
              <a:solidFill>
                <a:srgbClr val="212529"/>
              </a:solidFill>
              <a:effectLst/>
              <a:latin typeface="+mn-ea"/>
            </a:endParaRPr>
          </a:p>
          <a:p>
            <a:pPr marL="457200" lvl="1" indent="0">
              <a:buNone/>
            </a:pPr>
            <a:endParaRPr lang="en-US" altLang="ko-KR" i="0" dirty="0">
              <a:solidFill>
                <a:srgbClr val="212529"/>
              </a:solidFill>
              <a:effectLst/>
              <a:latin typeface="+mn-ea"/>
            </a:endParaRPr>
          </a:p>
          <a:p>
            <a:pPr algn="l" latinLnBrk="1"/>
            <a:r>
              <a:rPr lang="en-US" altLang="ko-KR" b="1" i="0" dirty="0">
                <a:solidFill>
                  <a:srgbClr val="212529"/>
                </a:solidFill>
                <a:effectLst/>
                <a:latin typeface="+mn-ea"/>
              </a:rPr>
              <a:t>[</a:t>
            </a:r>
            <a:r>
              <a:rPr lang="ko-KR" altLang="en-US" b="1" i="0" dirty="0" err="1">
                <a:solidFill>
                  <a:srgbClr val="212529"/>
                </a:solidFill>
                <a:effectLst/>
                <a:latin typeface="+mn-ea"/>
              </a:rPr>
              <a:t>코딩온</a:t>
            </a:r>
            <a:r>
              <a:rPr lang="en-US" altLang="ko-KR" b="1" i="0" dirty="0">
                <a:solidFill>
                  <a:srgbClr val="212529"/>
                </a:solidFill>
                <a:effectLst/>
                <a:latin typeface="+mn-ea"/>
              </a:rPr>
              <a:t>] HTML, CSS, JS </a:t>
            </a:r>
            <a:r>
              <a:rPr lang="ko-KR" altLang="en-US" b="1" i="0" dirty="0">
                <a:solidFill>
                  <a:srgbClr val="212529"/>
                </a:solidFill>
                <a:effectLst/>
                <a:latin typeface="+mn-ea"/>
              </a:rPr>
              <a:t>실습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rgbClr val="212529"/>
                </a:solidFill>
                <a:latin typeface="+mn-ea"/>
              </a:rPr>
              <a:t>강의 클릭</a:t>
            </a: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[CSS</a:t>
            </a:r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sz="2800" b="1" dirty="0" err="1">
                <a:solidFill>
                  <a:srgbClr val="212529"/>
                </a:solidFill>
                <a:latin typeface="+mn-ea"/>
              </a:rPr>
              <a:t>선택자</a:t>
            </a:r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sz="2800" b="1" i="0" dirty="0">
                <a:solidFill>
                  <a:srgbClr val="212529"/>
                </a:solidFill>
                <a:effectLst/>
                <a:latin typeface="+mn-ea"/>
              </a:rPr>
              <a:t>실습</a:t>
            </a:r>
            <a:r>
              <a:rPr lang="en-US" altLang="ko-KR" sz="2800" b="1" i="0" dirty="0">
                <a:solidFill>
                  <a:srgbClr val="212529"/>
                </a:solidFill>
                <a:effectLst/>
                <a:latin typeface="+mn-ea"/>
              </a:rPr>
              <a:t>]</a:t>
            </a:r>
            <a:r>
              <a:rPr lang="en-US" altLang="ko-KR" sz="2800" b="0" i="0" dirty="0">
                <a:solidFill>
                  <a:srgbClr val="212529"/>
                </a:solidFill>
                <a:effectLst/>
                <a:latin typeface="+mn-ea"/>
              </a:rPr>
              <a:t> </a:t>
            </a:r>
            <a:r>
              <a:rPr lang="ko-KR" altLang="en-US" sz="2800" b="0" i="0" dirty="0">
                <a:solidFill>
                  <a:srgbClr val="212529"/>
                </a:solidFill>
                <a:effectLst/>
                <a:latin typeface="+mn-ea"/>
              </a:rPr>
              <a:t>커리큘럼 클릭</a:t>
            </a:r>
            <a:endParaRPr lang="en-US" altLang="ko-KR" sz="2800" b="0" i="0" dirty="0">
              <a:solidFill>
                <a:srgbClr val="212529"/>
              </a:solidFill>
              <a:effectLst/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ko-KR" altLang="en-US" sz="2800" b="1" dirty="0" err="1">
                <a:solidFill>
                  <a:srgbClr val="212529"/>
                </a:solidFill>
                <a:latin typeface="+mn-ea"/>
              </a:rPr>
              <a:t>선택자</a:t>
            </a:r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 연습하기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] &gt; 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[</a:t>
            </a:r>
            <a:r>
              <a:rPr lang="ko-KR" altLang="en-US" sz="2800" b="1" dirty="0">
                <a:solidFill>
                  <a:schemeClr val="accent1"/>
                </a:solidFill>
                <a:latin typeface="+mn-ea"/>
              </a:rPr>
              <a:t>가상클래스 </a:t>
            </a:r>
            <a:r>
              <a:rPr lang="ko-KR" altLang="en-US" sz="2800" b="1" dirty="0" err="1">
                <a:solidFill>
                  <a:schemeClr val="accent1"/>
                </a:solidFill>
                <a:latin typeface="+mn-ea"/>
              </a:rPr>
              <a:t>선택자</a:t>
            </a:r>
            <a:r>
              <a:rPr lang="ko-KR" altLang="en-US" sz="2800" b="1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- 3]</a:t>
            </a:r>
            <a:r>
              <a:rPr lang="en-US" altLang="ko-KR" sz="28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실습 진행</a:t>
            </a:r>
            <a:endParaRPr lang="ko-KR" altLang="en-US" sz="2800" b="0" i="0" dirty="0">
              <a:solidFill>
                <a:srgbClr val="212529"/>
              </a:solidFill>
              <a:effectLst/>
              <a:latin typeface="+mn-ea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6EF5811-D0D8-2150-AB87-7041EA1C1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BF0963-57DE-1888-FEA3-214E79D93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56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819BF2E8-E9AD-C4F2-130A-85CEAF4F3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. </a:t>
            </a:r>
            <a:r>
              <a:rPr lang="ko-KR" altLang="en-US" dirty="0">
                <a:solidFill>
                  <a:srgbClr val="ED7D31"/>
                </a:solidFill>
              </a:rPr>
              <a:t>속성 </a:t>
            </a:r>
            <a:r>
              <a:rPr lang="ko-KR" altLang="en-US" dirty="0" err="1">
                <a:solidFill>
                  <a:srgbClr val="ED7D31"/>
                </a:solidFill>
              </a:rPr>
              <a:t>선택자</a:t>
            </a:r>
            <a:r>
              <a:rPr lang="ko-KR" altLang="en-US" dirty="0">
                <a:solidFill>
                  <a:srgbClr val="ED7D31"/>
                </a:solidFill>
              </a:rPr>
              <a:t> 실습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8BDF07E7-8604-543A-87D2-D0EA28BB3CB9}"/>
              </a:ext>
            </a:extLst>
          </p:cNvPr>
          <p:cNvGrpSpPr/>
          <p:nvPr/>
        </p:nvGrpSpPr>
        <p:grpSpPr>
          <a:xfrm>
            <a:off x="1477108" y="2325520"/>
            <a:ext cx="5783891" cy="1177124"/>
            <a:chOff x="1266093" y="2392552"/>
            <a:chExt cx="5783891" cy="1177124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2B93C4C9-FCAF-EECF-49AA-2F18211606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66093" y="2392552"/>
              <a:ext cx="5783891" cy="1177124"/>
            </a:xfrm>
            <a:prstGeom prst="rect">
              <a:avLst/>
            </a:prstGeom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667C001B-BB1F-61F7-0D34-D697577C9DE9}"/>
                </a:ext>
              </a:extLst>
            </p:cNvPr>
            <p:cNvSpPr/>
            <p:nvPr/>
          </p:nvSpPr>
          <p:spPr>
            <a:xfrm>
              <a:off x="4478216" y="3114382"/>
              <a:ext cx="2571768" cy="455294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5A6B1FBD-24E8-DA58-4AEE-ABC7CF06D298}"/>
              </a:ext>
            </a:extLst>
          </p:cNvPr>
          <p:cNvSpPr txBox="1"/>
          <p:nvPr/>
        </p:nvSpPr>
        <p:spPr>
          <a:xfrm>
            <a:off x="4925569" y="5992297"/>
            <a:ext cx="7247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accent6"/>
                </a:solidFill>
                <a:latin typeface="+mn-ea"/>
              </a:rPr>
              <a:t>*Slack</a:t>
            </a:r>
            <a:r>
              <a:rPr lang="ko-KR" altLang="en-US" dirty="0">
                <a:solidFill>
                  <a:schemeClr val="accent6"/>
                </a:solidFill>
                <a:latin typeface="+mn-ea"/>
              </a:rPr>
              <a:t> </a:t>
            </a:r>
            <a:r>
              <a:rPr lang="en-US" altLang="ko-KR" dirty="0">
                <a:solidFill>
                  <a:schemeClr val="accent6"/>
                </a:solidFill>
                <a:latin typeface="+mn-ea"/>
              </a:rPr>
              <a:t>#</a:t>
            </a:r>
            <a:r>
              <a:rPr lang="ko-KR" altLang="en-US" dirty="0">
                <a:solidFill>
                  <a:schemeClr val="accent6"/>
                </a:solidFill>
                <a:latin typeface="+mn-ea"/>
              </a:rPr>
              <a:t>과제 채널의 스레드 댓글로 코드</a:t>
            </a:r>
            <a:r>
              <a:rPr lang="en-US" altLang="ko-KR" dirty="0">
                <a:solidFill>
                  <a:schemeClr val="accent6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chemeClr val="accent6"/>
                </a:solidFill>
                <a:latin typeface="+mn-ea"/>
              </a:rPr>
              <a:t>및 결과 캡쳐를 제출해주세요</a:t>
            </a:r>
            <a:r>
              <a:rPr lang="en-US" altLang="ko-KR" dirty="0">
                <a:solidFill>
                  <a:schemeClr val="accent6"/>
                </a:solidFill>
                <a:latin typeface="+mn-ea"/>
              </a:rPr>
              <a:t>!</a:t>
            </a:r>
            <a:endParaRPr lang="ko-KR" altLang="en-US" dirty="0">
              <a:solidFill>
                <a:schemeClr val="accent6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6885550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C3D922-7259-B4EF-D7C8-B1F5587916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4412" y="1801596"/>
            <a:ext cx="10163176" cy="1502013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✅ 동일한 요소를 다른 선택자로 적용해 여러 스타일이 적용되는 난감한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      상황이 발생하기도 함</a:t>
            </a:r>
            <a:r>
              <a:rPr lang="en-US" altLang="ko-KR" dirty="0"/>
              <a:t>.</a:t>
            </a:r>
          </a:p>
        </p:txBody>
      </p:sp>
      <p:sp>
        <p:nvSpPr>
          <p:cNvPr id="8" name="날짜 개체 틀 3">
            <a:extLst>
              <a:ext uri="{FF2B5EF4-FFF2-40B4-BE49-F238E27FC236}">
                <a16:creationId xmlns:a16="http://schemas.microsoft.com/office/drawing/2014/main" id="{A1630AAA-9B55-18D3-332D-AFBF264CC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2025-08-27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309EF4C-6CBF-F353-816C-0A042A427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57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E711374-53F0-4A81-B742-9C03D3E37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CSS </a:t>
            </a:r>
            <a:r>
              <a:rPr lang="ko-KR" altLang="en-US" dirty="0"/>
              <a:t>우선순위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CDE904-87CD-9C09-F461-2DD6FF000CE0}"/>
              </a:ext>
            </a:extLst>
          </p:cNvPr>
          <p:cNvSpPr txBox="1"/>
          <p:nvPr/>
        </p:nvSpPr>
        <p:spPr>
          <a:xfrm>
            <a:off x="896178" y="3551853"/>
            <a:ext cx="10399643" cy="15020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3200" dirty="0">
                <a:highlight>
                  <a:srgbClr val="FFFF00"/>
                </a:highlight>
              </a:rPr>
              <a:t>!important</a:t>
            </a:r>
            <a:r>
              <a:rPr lang="en-US" altLang="ko-KR" sz="3200" dirty="0"/>
              <a:t> &gt; </a:t>
            </a:r>
            <a:r>
              <a:rPr lang="ko-KR" altLang="en-US" sz="3200" dirty="0">
                <a:highlight>
                  <a:srgbClr val="FFFF00"/>
                </a:highlight>
              </a:rPr>
              <a:t>인라인 스타일</a:t>
            </a:r>
            <a:r>
              <a:rPr lang="ko-KR" altLang="en-US" sz="3200" dirty="0"/>
              <a:t> </a:t>
            </a:r>
            <a:r>
              <a:rPr lang="en-US" altLang="ko-KR" sz="3200" dirty="0"/>
              <a:t>&gt; </a:t>
            </a:r>
            <a:r>
              <a:rPr lang="ko-KR" altLang="en-US" sz="3200" dirty="0">
                <a:highlight>
                  <a:srgbClr val="FFFF00"/>
                </a:highlight>
              </a:rPr>
              <a:t>아이디 </a:t>
            </a:r>
            <a:r>
              <a:rPr lang="ko-KR" altLang="en-US" sz="3200" dirty="0" err="1">
                <a:highlight>
                  <a:srgbClr val="FFFF00"/>
                </a:highlight>
              </a:rPr>
              <a:t>선택자</a:t>
            </a:r>
            <a:endParaRPr lang="en-US" altLang="ko-KR" sz="3200" dirty="0">
              <a:highlight>
                <a:srgbClr val="FFFF00"/>
              </a:highlight>
            </a:endParaRPr>
          </a:p>
          <a:p>
            <a:pPr algn="ctr">
              <a:lnSpc>
                <a:spcPct val="150000"/>
              </a:lnSpc>
            </a:pPr>
            <a:r>
              <a:rPr lang="en-US" altLang="ko-KR" sz="3200" dirty="0"/>
              <a:t>&gt; </a:t>
            </a:r>
            <a:r>
              <a:rPr lang="ko-KR" altLang="en-US" sz="3200" dirty="0">
                <a:highlight>
                  <a:srgbClr val="FFFF00"/>
                </a:highlight>
              </a:rPr>
              <a:t>클래스</a:t>
            </a:r>
            <a:r>
              <a:rPr lang="en-US" altLang="ko-KR" sz="3200" dirty="0">
                <a:highlight>
                  <a:srgbClr val="FFFF00"/>
                </a:highlight>
              </a:rPr>
              <a:t>/</a:t>
            </a:r>
            <a:r>
              <a:rPr lang="ko-KR" altLang="en-US" sz="3200" dirty="0">
                <a:highlight>
                  <a:srgbClr val="FFFF00"/>
                </a:highlight>
              </a:rPr>
              <a:t>속성</a:t>
            </a:r>
            <a:r>
              <a:rPr lang="en-US" altLang="ko-KR" sz="3200" dirty="0">
                <a:highlight>
                  <a:srgbClr val="FFFF00"/>
                </a:highlight>
              </a:rPr>
              <a:t>/</a:t>
            </a:r>
            <a:r>
              <a:rPr lang="ko-KR" altLang="en-US" sz="3200" dirty="0">
                <a:highlight>
                  <a:srgbClr val="FFFF00"/>
                </a:highlight>
              </a:rPr>
              <a:t>가상 </a:t>
            </a:r>
            <a:r>
              <a:rPr lang="ko-KR" altLang="en-US" sz="3200" dirty="0" err="1">
                <a:highlight>
                  <a:srgbClr val="FFFF00"/>
                </a:highlight>
              </a:rPr>
              <a:t>선택자</a:t>
            </a:r>
            <a:r>
              <a:rPr lang="ko-KR" altLang="en-US" sz="3200" dirty="0"/>
              <a:t> </a:t>
            </a:r>
            <a:r>
              <a:rPr lang="en-US" altLang="ko-KR" sz="3200" dirty="0"/>
              <a:t>&gt; </a:t>
            </a:r>
            <a:r>
              <a:rPr lang="ko-KR" altLang="en-US" sz="3200" dirty="0">
                <a:highlight>
                  <a:srgbClr val="FFFF00"/>
                </a:highlight>
              </a:rPr>
              <a:t>태그 </a:t>
            </a:r>
            <a:r>
              <a:rPr lang="ko-KR" altLang="en-US" sz="3200" dirty="0" err="1">
                <a:highlight>
                  <a:srgbClr val="FFFF00"/>
                </a:highlight>
              </a:rPr>
              <a:t>선택자</a:t>
            </a:r>
            <a:r>
              <a:rPr lang="ko-KR" altLang="en-US" sz="3200" dirty="0"/>
              <a:t> </a:t>
            </a:r>
            <a:r>
              <a:rPr lang="en-US" altLang="ko-KR" sz="3200" dirty="0"/>
              <a:t>&gt; </a:t>
            </a:r>
            <a:r>
              <a:rPr lang="ko-KR" altLang="en-US" sz="3200" dirty="0">
                <a:highlight>
                  <a:srgbClr val="FFFF00"/>
                </a:highlight>
              </a:rPr>
              <a:t>전체 </a:t>
            </a:r>
            <a:r>
              <a:rPr lang="ko-KR" altLang="en-US" sz="3200" dirty="0" err="1">
                <a:highlight>
                  <a:srgbClr val="FFFF00"/>
                </a:highlight>
              </a:rPr>
              <a:t>선택자</a:t>
            </a:r>
            <a:endParaRPr lang="ko-KR" altLang="en-US" sz="32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03371196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48508-AAA0-ABBB-4AA1-756029F1E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A3E9F74D-109B-6AF9-777B-3CFA92906B71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95937143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8948</TotalTime>
  <Words>1444</Words>
  <Application>Microsoft Office PowerPoint</Application>
  <PresentationFormat>와이드스크린</PresentationFormat>
  <Paragraphs>382</Paragraphs>
  <Slides>58</Slides>
  <Notes>49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58</vt:i4>
      </vt:variant>
    </vt:vector>
  </HeadingPairs>
  <TitlesOfParts>
    <vt:vector size="68" baseType="lpstr">
      <vt:lpstr>G마켓 산스 TTF Bold</vt:lpstr>
      <vt:lpstr>Kim jung chul Gothic Regular</vt:lpstr>
      <vt:lpstr>Pretendard Black</vt:lpstr>
      <vt:lpstr>Pretendard Light</vt:lpstr>
      <vt:lpstr>Pretendard Medium</vt:lpstr>
      <vt:lpstr>메이플스토리</vt:lpstr>
      <vt:lpstr>Arial</vt:lpstr>
      <vt:lpstr>Lora</vt:lpstr>
      <vt:lpstr>Wingdings</vt:lpstr>
      <vt:lpstr>1_Office 테마</vt:lpstr>
      <vt:lpstr>x</vt:lpstr>
      <vt:lpstr>CSS(1)</vt:lpstr>
      <vt:lpstr>PowerPoint 프레젠테이션</vt:lpstr>
      <vt:lpstr>PowerPoint 프레젠테이션</vt:lpstr>
      <vt:lpstr>CSS</vt:lpstr>
      <vt:lpstr>CSS 사용 이유?</vt:lpstr>
      <vt:lpstr>우리의 친구! 개발자 도구</vt:lpstr>
      <vt:lpstr>CSS를 지워보자?!</vt:lpstr>
      <vt:lpstr>CSS 참조 방식</vt:lpstr>
      <vt:lpstr>인라인 방식</vt:lpstr>
      <vt:lpstr>내장 방식</vt:lpstr>
      <vt:lpstr>링크 방식</vt:lpstr>
      <vt:lpstr>링크 방식</vt:lpstr>
      <vt:lpstr>CSS 참조 방식</vt:lpstr>
      <vt:lpstr>Quiz. 내장 방식을 이용할 때  &lt;style&gt; 태그는 어느 곳에 사용될까요?  1. &lt;html&gt; 2. &lt;head&gt; 3. &lt;body&gt; 4. 기타</vt:lpstr>
      <vt:lpstr>Quiz. 내장 방식을 이용할 때  &lt;style&gt; 태그는 어느 곳에 사용될까요?  1. &lt;html&gt; 2. &lt;head&gt; 3. &lt;body&gt; 4. 기타</vt:lpstr>
      <vt:lpstr>실습. CSS 맛보기</vt:lpstr>
      <vt:lpstr>CSS, 선택자(Selector)</vt:lpstr>
      <vt:lpstr>CSS, 속성(Property)</vt:lpstr>
      <vt:lpstr>CSS, 값(Value)</vt:lpstr>
      <vt:lpstr>PowerPoint 프레젠테이션</vt:lpstr>
      <vt:lpstr>기본(단일) 선택자</vt:lpstr>
      <vt:lpstr>CSS 선택자 – 단일 선택자</vt:lpstr>
      <vt:lpstr>CSS 선택자 – 단일 선택자</vt:lpstr>
      <vt:lpstr>CSS 선택자 – 단일 선택자</vt:lpstr>
      <vt:lpstr>CSS 선택자 – 단일 선택자</vt:lpstr>
      <vt:lpstr>실습. 기본클래스 선택자 실습</vt:lpstr>
      <vt:lpstr>복합 선택자</vt:lpstr>
      <vt:lpstr>CSS 선택자 – 복합 선택자</vt:lpstr>
      <vt:lpstr>CSS 선택자 – 복합 선택자</vt:lpstr>
      <vt:lpstr>CSS 선택자 – 복합 선택자</vt:lpstr>
      <vt:lpstr>CSS 선택자 – 복합 선택자</vt:lpstr>
      <vt:lpstr>CSS 선택자 – 복합 선택자</vt:lpstr>
      <vt:lpstr>실습. 복합클래스 선택자 실습</vt:lpstr>
      <vt:lpstr>가상 클래스 선택자</vt:lpstr>
      <vt:lpstr>CSS 선택자 – 가상 클래스 선택자</vt:lpstr>
      <vt:lpstr>PowerPoint 프레젠테이션</vt:lpstr>
      <vt:lpstr>PowerPoint 프레젠테이션</vt:lpstr>
      <vt:lpstr>PowerPoint 프레젠테이션</vt:lpstr>
      <vt:lpstr>실습. 가상클래스 선택자 실습</vt:lpstr>
      <vt:lpstr>CSS 선택자 – 가상클래스 선택자</vt:lpstr>
      <vt:lpstr>CSS 선택자 – 가상클래스 선택자</vt:lpstr>
      <vt:lpstr>CSS 선택자 – 가상클래스 선택자</vt:lpstr>
      <vt:lpstr>CSS 선택자 – 가상클래스 선택자</vt:lpstr>
      <vt:lpstr>실습. 줄무늬 만들기 실습</vt:lpstr>
      <vt:lpstr>가상 요소 선택자</vt:lpstr>
      <vt:lpstr>CSS 선택자 – 가상 요소 선택자</vt:lpstr>
      <vt:lpstr>CSS 선택자 – 가상 요소 선택자</vt:lpstr>
      <vt:lpstr>PowerPoint 프레젠테이션</vt:lpstr>
      <vt:lpstr>PowerPoint 프레젠테이션</vt:lpstr>
      <vt:lpstr>실습. 가상요소 선택자</vt:lpstr>
      <vt:lpstr>속성 선택자</vt:lpstr>
      <vt:lpstr>속성 선택자</vt:lpstr>
      <vt:lpstr>PowerPoint 프레젠테이션</vt:lpstr>
      <vt:lpstr>PowerPoint 프레젠테이션</vt:lpstr>
      <vt:lpstr>실습. 속성 선택자 실습</vt:lpstr>
      <vt:lpstr>CSS 우선순위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</dc:title>
  <dc:creator>spreatics</dc:creator>
  <cp:lastModifiedBy>On Coding</cp:lastModifiedBy>
  <cp:revision>623</cp:revision>
  <dcterms:created xsi:type="dcterms:W3CDTF">2023-01-31T04:26:23Z</dcterms:created>
  <dcterms:modified xsi:type="dcterms:W3CDTF">2025-08-27T02:28:24Z</dcterms:modified>
</cp:coreProperties>
</file>