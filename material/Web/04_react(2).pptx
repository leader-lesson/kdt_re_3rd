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0"/>
  </p:notesMasterIdLst>
  <p:sldIdLst>
    <p:sldId id="1004" r:id="rId2"/>
    <p:sldId id="682" r:id="rId3"/>
    <p:sldId id="1005" r:id="rId4"/>
    <p:sldId id="272" r:id="rId5"/>
    <p:sldId id="1029" r:id="rId6"/>
    <p:sldId id="1030" r:id="rId7"/>
    <p:sldId id="1031" r:id="rId8"/>
    <p:sldId id="291" r:id="rId9"/>
    <p:sldId id="292" r:id="rId10"/>
    <p:sldId id="275" r:id="rId11"/>
    <p:sldId id="276" r:id="rId12"/>
    <p:sldId id="277" r:id="rId13"/>
    <p:sldId id="278" r:id="rId14"/>
    <p:sldId id="279" r:id="rId15"/>
    <p:sldId id="290" r:id="rId16"/>
    <p:sldId id="282" r:id="rId17"/>
    <p:sldId id="283" r:id="rId18"/>
    <p:sldId id="284" r:id="rId19"/>
    <p:sldId id="285" r:id="rId20"/>
    <p:sldId id="293" r:id="rId21"/>
    <p:sldId id="301" r:id="rId22"/>
    <p:sldId id="1032" r:id="rId23"/>
    <p:sldId id="286" r:id="rId24"/>
    <p:sldId id="287" r:id="rId25"/>
    <p:sldId id="288" r:id="rId26"/>
    <p:sldId id="1033" r:id="rId27"/>
    <p:sldId id="1036" r:id="rId28"/>
    <p:sldId id="1034" r:id="rId29"/>
    <p:sldId id="1037" r:id="rId30"/>
    <p:sldId id="1038" r:id="rId31"/>
    <p:sldId id="1039" r:id="rId32"/>
    <p:sldId id="1035" r:id="rId33"/>
    <p:sldId id="264" r:id="rId34"/>
    <p:sldId id="257" r:id="rId35"/>
    <p:sldId id="258" r:id="rId36"/>
    <p:sldId id="263" r:id="rId37"/>
    <p:sldId id="1040" r:id="rId38"/>
    <p:sldId id="1041" r:id="rId39"/>
    <p:sldId id="269" r:id="rId40"/>
    <p:sldId id="268" r:id="rId41"/>
    <p:sldId id="650" r:id="rId42"/>
    <p:sldId id="651" r:id="rId43"/>
    <p:sldId id="653" r:id="rId44"/>
    <p:sldId id="656" r:id="rId45"/>
    <p:sldId id="657" r:id="rId46"/>
    <p:sldId id="658" r:id="rId47"/>
    <p:sldId id="659" r:id="rId48"/>
    <p:sldId id="660" r:id="rId49"/>
    <p:sldId id="654" r:id="rId50"/>
    <p:sldId id="1006" r:id="rId51"/>
    <p:sldId id="636" r:id="rId52"/>
    <p:sldId id="638" r:id="rId53"/>
    <p:sldId id="1009" r:id="rId54"/>
    <p:sldId id="1010" r:id="rId55"/>
    <p:sldId id="1042" r:id="rId56"/>
    <p:sldId id="632" r:id="rId57"/>
    <p:sldId id="1011" r:id="rId58"/>
    <p:sldId id="1012" r:id="rId59"/>
    <p:sldId id="605" r:id="rId60"/>
    <p:sldId id="606" r:id="rId61"/>
    <p:sldId id="607" r:id="rId62"/>
    <p:sldId id="608" r:id="rId63"/>
    <p:sldId id="609" r:id="rId64"/>
    <p:sldId id="610" r:id="rId65"/>
    <p:sldId id="611" r:id="rId66"/>
    <p:sldId id="614" r:id="rId67"/>
    <p:sldId id="615" r:id="rId68"/>
    <p:sldId id="813" r:id="rId6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5050"/>
    <a:srgbClr val="00FF99"/>
    <a:srgbClr val="00B050"/>
    <a:srgbClr val="2B2B2B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17" autoAdjust="0"/>
    <p:restoredTop sz="91676" autoAdjust="0"/>
  </p:normalViewPr>
  <p:slideViewPr>
    <p:cSldViewPr snapToGrid="0">
      <p:cViewPr varScale="1">
        <p:scale>
          <a:sx n="61" d="100"/>
          <a:sy n="61" d="100"/>
        </p:scale>
        <p:origin x="840" y="3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901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8BFB2-FEBD-116D-2128-1B6E33822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D951D7-7730-7B6F-BEB4-A1A20DF23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24080B-FA3F-5E77-EC20-2489DFFD5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DC7818-79EC-7708-52D7-8607B4B43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514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97AF7-C59D-AD3E-4D9E-87D03160F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B7C548-5F57-8DCC-446F-E8C64EE16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39FA4C-BF92-3444-362E-CD05162C0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B9EDAF-37C9-709D-4600-934FE1146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341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8693A-F33F-63A9-4B5F-BADB0F399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1CC464-36A7-FDBB-99A0-12F3F2189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66DB71-BB53-F4A1-D900-F0339595D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98C6E4-B973-2089-2C59-4053448CE7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37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map</a:t>
            </a:r>
            <a:r>
              <a:rPr lang="ko-KR" altLang="en-US" dirty="0"/>
              <a:t>을 사용하면 됩니다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9561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2245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064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268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629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252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1922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778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9021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5257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3882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6743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328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067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1866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3912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EF906-9A60-053B-5424-E7C042360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CC4E67-2519-4297-5DDD-DBFB9B3A2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2943E6-C88A-364D-A011-CFBE604B6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2D8851-F1F0-E5CD-C845-19571C7E3D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5061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3942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2FFC8-6C27-0B8C-2387-8DBCDB84E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53485E-B388-D572-D53D-D3BE486BF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0751E9-F3CD-6421-B942-68CDE4EC1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D45086-4B47-1CE8-8B73-E53A2D81E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2561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BEB48-3F9E-4F5E-7C9C-C78C7F8EE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D7870D-DC56-0311-75EF-5DA3E0AD3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47B224-D73F-5BA7-E737-4A8E336CB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D23AEF-536E-6500-D271-E5ED28B13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4977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6FFEF-D190-D23B-74F0-B646B4E67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DD5045-4DA6-BE6A-AAA5-BDFEB289A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68E499-3D56-B8CE-B849-5C36530BD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5ACD81-067E-B843-6A48-BED0662CB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6316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1015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3703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9758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78A0C-763F-907B-90C5-7D8D39B47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6F3E23-B229-D6FE-9CB1-528B95DEE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396F31-CD90-FA2B-4BEA-25D2115EC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A44841-8F46-6159-113F-91C476F1C4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136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BB9FA-7A5A-A80C-B1C0-CB5726EAA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DFBCAF-9D1B-BE99-98EF-8D2D96F15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A2B869-CC83-2ABC-045B-6FB52AA75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C7F351-D2DE-F64A-D47D-DFF462CC2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3799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6123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5700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갈고리라는 뜻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7960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4856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6480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541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9635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5027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291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6689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9014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FF1BB-BD31-877E-1A21-385437442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4773FD-41D8-17AF-C933-6DB4E0F9B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406E0C-B332-10A5-47F4-B5B859072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DA7CDF-06AE-ED5B-0BE8-32A08CD10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6505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89100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3882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7981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6181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86420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04207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26907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44445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36552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95322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18744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92974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3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reference/react/hooks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React(2)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79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조건부 렌더링과</a:t>
            </a:r>
            <a:br>
              <a:rPr lang="en-US" altLang="ko-KR" sz="6000" dirty="0">
                <a:solidFill>
                  <a:srgbClr val="ED7D31"/>
                </a:solidFill>
              </a:rPr>
            </a:br>
            <a:r>
              <a:rPr lang="ko-KR" altLang="en-US" sz="6000" dirty="0">
                <a:solidFill>
                  <a:srgbClr val="ED7D31"/>
                </a:solidFill>
              </a:rPr>
              <a:t>리스트 렌더링</a:t>
            </a:r>
          </a:p>
        </p:txBody>
      </p:sp>
    </p:spTree>
    <p:extLst>
      <p:ext uri="{BB962C8B-B14F-4D97-AF65-F5344CB8AC3E}">
        <p14:creationId xmlns:p14="http://schemas.microsoft.com/office/powerpoint/2010/main" val="3576966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B0A8FF-58B4-AADA-C277-115F024B2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34612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특정 조건에 따라 컴포넌트 혹은 </a:t>
            </a:r>
            <a:r>
              <a:rPr lang="en-US" altLang="ko-KR" sz="2400" dirty="0"/>
              <a:t>JSX </a:t>
            </a:r>
            <a:r>
              <a:rPr lang="ko-KR" altLang="en-US" sz="2400" dirty="0"/>
              <a:t>요소를 선택적으로 렌더링하는 방식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삼항</a:t>
            </a:r>
            <a:r>
              <a:rPr lang="ko-KR" altLang="en-US" sz="2000" dirty="0"/>
              <a:t> 연산자 </a:t>
            </a:r>
            <a:r>
              <a:rPr lang="en-US" altLang="ko-KR" sz="2000" dirty="0"/>
              <a:t>(?:), </a:t>
            </a:r>
            <a:r>
              <a:rPr lang="ko-KR" altLang="en-US" sz="2000" dirty="0"/>
              <a:t>논리 </a:t>
            </a:r>
            <a:r>
              <a:rPr lang="en-US" altLang="ko-KR" sz="2000" dirty="0"/>
              <a:t>AND </a:t>
            </a:r>
            <a:r>
              <a:rPr lang="ko-KR" altLang="en-US" sz="2000" dirty="0"/>
              <a:t>연산자 </a:t>
            </a:r>
            <a:r>
              <a:rPr lang="en-US" altLang="ko-KR" sz="2000" dirty="0"/>
              <a:t>(&amp;&amp;) </a:t>
            </a:r>
            <a:r>
              <a:rPr lang="ko-KR" altLang="en-US" sz="2000" dirty="0"/>
              <a:t>등을 활용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912659-0178-7724-84E7-F9804EEB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2025년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38AD2A-D098-5002-7259-7C0CF8DA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FB17D5-C686-6D90-A10C-DFBDB6D2F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조건부 렌더링</a:t>
            </a:r>
          </a:p>
        </p:txBody>
      </p:sp>
    </p:spTree>
    <p:extLst>
      <p:ext uri="{BB962C8B-B14F-4D97-AF65-F5344CB8AC3E}">
        <p14:creationId xmlns:p14="http://schemas.microsoft.com/office/powerpoint/2010/main" val="1584291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55BA8-DC3B-11C0-D583-D797589FD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9BAF18-30E9-F9BC-8FAC-DFDE553AD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892" y="927868"/>
            <a:ext cx="2847012" cy="57332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문법</a:t>
            </a:r>
            <a:r>
              <a:rPr lang="en-US" altLang="ko-KR" sz="2400" dirty="0"/>
              <a:t>: </a:t>
            </a:r>
            <a:r>
              <a:rPr lang="ko-KR" altLang="en-US" sz="2400" dirty="0" err="1"/>
              <a:t>삼항</a:t>
            </a:r>
            <a:r>
              <a:rPr lang="ko-KR" altLang="en-US" sz="2400" dirty="0"/>
              <a:t> 연산자</a:t>
            </a:r>
            <a:endParaRPr lang="ko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E4AB75-D86E-1625-5C6D-BEFC5F459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2025년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B2E06D-AB53-647D-1E70-911E67998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2A72554-D479-3B21-773F-1DE808787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조건부 렌더링 </a:t>
            </a:r>
            <a:r>
              <a:rPr lang="en-US" altLang="ko-KR" dirty="0"/>
              <a:t>– </a:t>
            </a:r>
            <a:r>
              <a:rPr lang="ko-KR" altLang="en-US" dirty="0" err="1"/>
              <a:t>삼항</a:t>
            </a:r>
            <a:r>
              <a:rPr lang="ko-KR" altLang="en-US" dirty="0"/>
              <a:t> 연산자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459A57-C98B-88A1-9727-75F9994D7376}"/>
              </a:ext>
            </a:extLst>
          </p:cNvPr>
          <p:cNvSpPr/>
          <p:nvPr/>
        </p:nvSpPr>
        <p:spPr>
          <a:xfrm>
            <a:off x="755514" y="1523142"/>
            <a:ext cx="8365067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조건 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? </a:t>
            </a:r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참일 때 실행할 표현식 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: </a:t>
            </a:r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거짓일 때 실행할 표현식</a:t>
            </a:r>
            <a:endParaRPr lang="ko-KR" altLang="en-US" sz="24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F38D14A-8B01-D04B-546B-7F92C8D21C96}"/>
              </a:ext>
            </a:extLst>
          </p:cNvPr>
          <p:cNvSpPr txBox="1">
            <a:spLocks/>
          </p:cNvSpPr>
          <p:nvPr/>
        </p:nvSpPr>
        <p:spPr>
          <a:xfrm>
            <a:off x="675269" y="5776736"/>
            <a:ext cx="6736184" cy="573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isLoggedIn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값에 따라 서로 다른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JSX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렌더링됨</a:t>
            </a:r>
            <a:endParaRPr lang="ko-KR" altLang="en-US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5DD1AA3-C184-7D3E-437C-00F0989BAC54}"/>
              </a:ext>
            </a:extLst>
          </p:cNvPr>
          <p:cNvGrpSpPr/>
          <p:nvPr/>
        </p:nvGrpSpPr>
        <p:grpSpPr>
          <a:xfrm>
            <a:off x="755514" y="2052441"/>
            <a:ext cx="10680972" cy="3742551"/>
            <a:chOff x="755514" y="2052441"/>
            <a:chExt cx="10680972" cy="3742551"/>
          </a:xfrm>
        </p:grpSpPr>
        <p:pic>
          <p:nvPicPr>
            <p:cNvPr id="10" name="그림 9" descr="텍스트, 스크린샷, 디스플레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B581F7D-29FB-7DCD-AAE7-7EA39B515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23" t="15376" r="6170" b="15509"/>
            <a:stretch>
              <a:fillRect/>
            </a:stretch>
          </p:blipFill>
          <p:spPr>
            <a:xfrm>
              <a:off x="755514" y="2052441"/>
              <a:ext cx="10680972" cy="3742551"/>
            </a:xfrm>
            <a:prstGeom prst="rect">
              <a:avLst/>
            </a:prstGeom>
          </p:spPr>
        </p:pic>
        <p:pic>
          <p:nvPicPr>
            <p:cNvPr id="15" name="그림 14" descr="텍스트, 스크린샷, 디스플레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EA5BE87-D775-E8F8-E270-20F0E0250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531" t="44315" r="64036" b="52147"/>
            <a:stretch>
              <a:fillRect/>
            </a:stretch>
          </p:blipFill>
          <p:spPr>
            <a:xfrm>
              <a:off x="5749928" y="3299359"/>
              <a:ext cx="174761" cy="191551"/>
            </a:xfrm>
            <a:prstGeom prst="rect">
              <a:avLst/>
            </a:prstGeom>
          </p:spPr>
        </p:pic>
        <p:pic>
          <p:nvPicPr>
            <p:cNvPr id="16" name="그림 15" descr="텍스트, 스크린샷, 디스플레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68D49C8-0004-9252-6BBF-1A9D13908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43" t="46919" r="65624" b="49543"/>
            <a:stretch>
              <a:fillRect/>
            </a:stretch>
          </p:blipFill>
          <p:spPr>
            <a:xfrm>
              <a:off x="4199258" y="3627262"/>
              <a:ext cx="174761" cy="1915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7972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F6636-A850-1157-8DA8-EF03ED25D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043B80-3341-1EED-EAD5-978093A46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892" y="927868"/>
            <a:ext cx="2847012" cy="57332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문법</a:t>
            </a:r>
            <a:r>
              <a:rPr lang="en-US" altLang="ko-KR" sz="2400" dirty="0"/>
              <a:t>: &amp;&amp; </a:t>
            </a:r>
            <a:r>
              <a:rPr lang="ko-KR" altLang="en-US" sz="2400" dirty="0"/>
              <a:t>연산자</a:t>
            </a:r>
            <a:endParaRPr lang="ko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C90F6A-296D-438E-78C6-4FEC1F5B8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2025년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247417-DF24-F761-1E0D-483FAC4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BE264E-17AA-1D29-4C8C-821B56C00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조건부 렌더링 </a:t>
            </a:r>
            <a:r>
              <a:rPr lang="en-US" altLang="ko-KR" dirty="0"/>
              <a:t>– &amp;&amp; </a:t>
            </a:r>
            <a:r>
              <a:rPr lang="ko-KR" altLang="en-US" dirty="0"/>
              <a:t>연산자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97E744-FA8B-2B5C-FFA3-46D80DEB80E8}"/>
              </a:ext>
            </a:extLst>
          </p:cNvPr>
          <p:cNvSpPr/>
          <p:nvPr/>
        </p:nvSpPr>
        <p:spPr>
          <a:xfrm>
            <a:off x="755514" y="1523142"/>
            <a:ext cx="8365067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조건 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&amp;&amp; </a:t>
            </a:r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실행할 표현식</a:t>
            </a:r>
            <a:endParaRPr lang="ko-KR" altLang="en-US" sz="24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A7360C7F-E1A7-E6E4-DA6C-B793C08ECD6E}"/>
              </a:ext>
            </a:extLst>
          </p:cNvPr>
          <p:cNvSpPr txBox="1">
            <a:spLocks/>
          </p:cNvSpPr>
          <p:nvPr/>
        </p:nvSpPr>
        <p:spPr>
          <a:xfrm>
            <a:off x="675269" y="5285668"/>
            <a:ext cx="6736184" cy="103893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hasMessage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true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때만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&lt;p&gt;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렌더링됨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false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경우 아무 것도 렌더링하지 않음</a:t>
            </a:r>
            <a:endParaRPr lang="ko-KR" altLang="en-US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294261-E5B3-D5E7-6357-63E338838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7" t="29811" r="7234" b="19931"/>
          <a:stretch>
            <a:fillRect/>
          </a:stretch>
        </p:blipFill>
        <p:spPr>
          <a:xfrm>
            <a:off x="755514" y="2104755"/>
            <a:ext cx="10699886" cy="316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92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E4B14-9826-794C-BA57-32C1B134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D2A1EF-9D23-A32F-74A7-B55C7565D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34612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React</a:t>
            </a:r>
            <a:r>
              <a:rPr lang="ko-KR" altLang="en-US" sz="2400" dirty="0"/>
              <a:t>에서는 배열 데이터를 화면에 출력할 때 </a:t>
            </a:r>
            <a:r>
              <a:rPr lang="en-US" altLang="ko-KR" sz="2400" dirty="0"/>
              <a:t>map() </a:t>
            </a:r>
            <a:r>
              <a:rPr lang="ko-KR" altLang="en-US" sz="2400" dirty="0"/>
              <a:t>함수를 사용함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map()</a:t>
            </a:r>
            <a:r>
              <a:rPr lang="ko-KR" altLang="en-US" sz="2000" dirty="0"/>
              <a:t>은 배열의 각 요소를 변환하여 새로운 배열을 반환하는 메소드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239826-4085-E978-FA0F-DCF89A28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2025년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C87826-EFFF-F50C-4E23-3269C0B72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85C62A6-F104-CBC4-1026-3E685C1F0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렌더링 </a:t>
            </a:r>
            <a:r>
              <a:rPr lang="en-US" altLang="ko-KR" dirty="0"/>
              <a:t>– map() </a:t>
            </a:r>
            <a:r>
              <a:rPr lang="ko-KR" altLang="en-US" dirty="0"/>
              <a:t>함수 사용</a:t>
            </a:r>
          </a:p>
        </p:txBody>
      </p:sp>
    </p:spTree>
    <p:extLst>
      <p:ext uri="{BB962C8B-B14F-4D97-AF65-F5344CB8AC3E}">
        <p14:creationId xmlns:p14="http://schemas.microsoft.com/office/powerpoint/2010/main" val="318286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39886" y="3161735"/>
            <a:ext cx="8462448" cy="292474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배열 데이터를 좀 더 효율적으로 화면에 그리기 위해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map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기존 요소와 업데이트 요소를 비교하는데 사용되는 속성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리스트 항목의 변화를 식별하는 데 사용하는 고유한 값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배열의 요소 중 고유한 값이 존재하지 않는다면 </a:t>
            </a:r>
            <a:r>
              <a:rPr lang="en-US" altLang="ko-KR" sz="1800" dirty="0"/>
              <a:t>index </a:t>
            </a:r>
            <a:r>
              <a:rPr lang="ko-KR" altLang="en-US" sz="1800" dirty="0"/>
              <a:t>사용</a:t>
            </a:r>
            <a:endParaRPr lang="en-US" altLang="ko-KR" sz="18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렌더링 </a:t>
            </a:r>
            <a:r>
              <a:rPr lang="en-US" altLang="ko-KR" dirty="0"/>
              <a:t>– map() </a:t>
            </a:r>
            <a:r>
              <a:rPr lang="ko-KR" altLang="en-US" dirty="0"/>
              <a:t>함수 사용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837266" y="1891996"/>
            <a:ext cx="8365067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3399FF"/>
                </a:solidFill>
                <a:latin typeface="Consolas" panose="020B0609020204030204" pitchFamily="49" charset="0"/>
              </a:rPr>
              <a:t>{</a:t>
            </a:r>
            <a:r>
              <a:rPr lang="ko-KR" altLang="en-US" sz="2400" dirty="0">
                <a:solidFill>
                  <a:srgbClr val="F07178"/>
                </a:solidFill>
                <a:latin typeface="Consolas" panose="020B0609020204030204" pitchFamily="49" charset="0"/>
              </a:rPr>
              <a:t>배열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2400" dirty="0">
                <a:solidFill>
                  <a:srgbClr val="82AAFF"/>
                </a:solidFill>
                <a:latin typeface="Consolas" panose="020B0609020204030204" pitchFamily="49" charset="0"/>
              </a:rPr>
              <a:t>map</a:t>
            </a:r>
            <a:r>
              <a:rPr lang="en-US" altLang="ko-KR" sz="2400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2400" dirty="0">
                <a:solidFill>
                  <a:srgbClr val="FF00FF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2400" dirty="0">
                <a:solidFill>
                  <a:srgbClr val="F78C6C"/>
                </a:solidFill>
                <a:latin typeface="Consolas" panose="020B0609020204030204" pitchFamily="49" charset="0"/>
              </a:rPr>
              <a:t>요소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2400" dirty="0">
                <a:solidFill>
                  <a:srgbClr val="F78C6C"/>
                </a:solidFill>
                <a:latin typeface="Consolas" panose="020B0609020204030204" pitchFamily="49" charset="0"/>
              </a:rPr>
              <a:t>인덱스</a:t>
            </a:r>
            <a:r>
              <a:rPr lang="en-US" altLang="ko-KR" sz="2400" dirty="0">
                <a:solidFill>
                  <a:srgbClr val="FF00FF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=&gt;</a:t>
            </a:r>
            <a:r>
              <a:rPr lang="ko-KR" altLang="en-US" sz="24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FF00FF"/>
                </a:solidFill>
                <a:latin typeface="Consolas" panose="020B0609020204030204" pitchFamily="49" charset="0"/>
              </a:rPr>
              <a:t>{</a:t>
            </a:r>
            <a:endParaRPr lang="ko-KR" altLang="en-US" sz="2400" dirty="0">
              <a:solidFill>
                <a:srgbClr val="FF00FF"/>
              </a:solidFill>
              <a:latin typeface="Consolas" panose="020B0609020204030204" pitchFamily="49" charset="0"/>
            </a:endParaRPr>
          </a:p>
          <a:p>
            <a:r>
              <a:rPr lang="ko-KR" altLang="en-US" sz="2400" dirty="0">
                <a:solidFill>
                  <a:srgbClr val="89DDFF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return &lt;</a:t>
            </a:r>
            <a:r>
              <a:rPr lang="en-US" altLang="ko-KR" sz="24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ko-KR" altLang="en-US" sz="24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key=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ko-KR" altLang="en-US" sz="2400" dirty="0">
                <a:solidFill>
                  <a:srgbClr val="F07178"/>
                </a:solidFill>
                <a:latin typeface="Consolas" panose="020B0609020204030204" pitchFamily="49" charset="0"/>
              </a:rPr>
              <a:t>인덱스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}&gt;{</a:t>
            </a:r>
            <a:r>
              <a:rPr lang="ko-KR" altLang="en-US" sz="2400" dirty="0">
                <a:solidFill>
                  <a:srgbClr val="F07178"/>
                </a:solidFill>
                <a:latin typeface="Consolas" panose="020B0609020204030204" pitchFamily="49" charset="0"/>
              </a:rPr>
              <a:t>요소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}&lt;/</a:t>
            </a:r>
            <a:r>
              <a:rPr lang="en-US" altLang="ko-KR" sz="24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&gt;;</a:t>
            </a:r>
            <a:endParaRPr lang="ko-KR" altLang="en-US" sz="24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2400" dirty="0">
                <a:solidFill>
                  <a:srgbClr val="FF00FF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2400" dirty="0">
                <a:solidFill>
                  <a:schemeClr val="accent4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2400" dirty="0">
                <a:solidFill>
                  <a:srgbClr val="3399FF"/>
                </a:solidFill>
                <a:latin typeface="Consolas" panose="020B0609020204030204" pitchFamily="49" charset="0"/>
              </a:rPr>
              <a:t>}</a:t>
            </a:r>
            <a:endParaRPr lang="ko-KR" altLang="en-US" sz="2400" b="0" dirty="0">
              <a:solidFill>
                <a:srgbClr val="3399F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DD468318-BEF5-C63C-7AB2-4D91D731656C}"/>
              </a:ext>
            </a:extLst>
          </p:cNvPr>
          <p:cNvSpPr txBox="1">
            <a:spLocks/>
          </p:cNvSpPr>
          <p:nvPr/>
        </p:nvSpPr>
        <p:spPr>
          <a:xfrm>
            <a:off x="1681496" y="1249260"/>
            <a:ext cx="4497508" cy="573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리스트 렌더링 </a:t>
            </a:r>
            <a:r>
              <a:rPr lang="en-US" altLang="ko-KR" sz="2400" dirty="0"/>
              <a:t>map() </a:t>
            </a:r>
            <a:r>
              <a:rPr lang="ko-KR" altLang="en-US" sz="2400" dirty="0"/>
              <a:t>사용 문법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04857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685058" y="1957283"/>
            <a:ext cx="6382617" cy="5652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div </a:t>
            </a:r>
            <a:r>
              <a:rPr lang="ko-KR" altLang="en-US" sz="2400" dirty="0"/>
              <a:t>같은 태그가 아닌 </a:t>
            </a:r>
            <a:r>
              <a:rPr lang="ko-KR" altLang="en-US" sz="2400" dirty="0">
                <a:solidFill>
                  <a:schemeClr val="accent1"/>
                </a:solidFill>
              </a:rPr>
              <a:t>컴포넌트</a:t>
            </a:r>
            <a:r>
              <a:rPr lang="ko-KR" altLang="en-US" sz="2400" dirty="0"/>
              <a:t>와 함께 사용 가능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렌더링 </a:t>
            </a:r>
            <a:r>
              <a:rPr lang="en-US" altLang="ko-KR" dirty="0"/>
              <a:t>– map() </a:t>
            </a:r>
            <a:r>
              <a:rPr lang="ko-KR" altLang="en-US" dirty="0"/>
              <a:t>함수 사용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839383" y="2517332"/>
            <a:ext cx="8513233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ko-KR" altLang="en-US" dirty="0">
                <a:solidFill>
                  <a:srgbClr val="F07178"/>
                </a:solidFill>
                <a:latin typeface="Consolas" panose="020B0609020204030204" pitchFamily="49" charset="0"/>
              </a:rPr>
              <a:t>배열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82AAFF"/>
                </a:solidFill>
                <a:latin typeface="Consolas" panose="020B0609020204030204" pitchFamily="49" charset="0"/>
              </a:rPr>
              <a:t>map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((</a:t>
            </a:r>
            <a:r>
              <a:rPr lang="en-US" altLang="ko-KR" dirty="0">
                <a:solidFill>
                  <a:srgbClr val="F78C6C"/>
                </a:solidFill>
                <a:latin typeface="Consolas" panose="020B0609020204030204" pitchFamily="49" charset="0"/>
              </a:rPr>
              <a:t>element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F78C6C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)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=&gt;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 {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return &lt;</a:t>
            </a:r>
            <a:r>
              <a:rPr lang="en-US" altLang="ko-KR" dirty="0" err="1">
                <a:solidFill>
                  <a:srgbClr val="FFCB6B"/>
                </a:solidFill>
                <a:latin typeface="Consolas" panose="020B0609020204030204" pitchFamily="49" charset="0"/>
              </a:rPr>
              <a:t>FunctionProps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name=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element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name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key=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 /&gt;;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      })}</a:t>
            </a:r>
            <a:endParaRPr lang="en-US" altLang="ko-KR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97D4E95-2D1D-14FE-83B5-ED0363FF840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296582" y="2959735"/>
            <a:ext cx="810221" cy="977257"/>
          </a:xfrm>
          <a:prstGeom prst="straightConnector1">
            <a:avLst/>
          </a:prstGeom>
          <a:ln w="76200">
            <a:solidFill>
              <a:schemeClr val="accent5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713633" y="3936992"/>
            <a:ext cx="2786340" cy="170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let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배열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=[{name:”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allie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”},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	 {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name:”Lucy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”},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	 {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name:”Linda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”},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	];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4363" y="3914775"/>
            <a:ext cx="3764172" cy="875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오브젝트의 </a:t>
            </a:r>
            <a:r>
              <a:rPr lang="ko-KR" altLang="en-US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 접근법으로 </a:t>
            </a:r>
            <a:r>
              <a:rPr lang="en-US" altLang="ko-KR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props </a:t>
            </a:r>
            <a:r>
              <a:rPr lang="ko-KR" altLang="en-US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전달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&amp;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배열의 개수만큼 컴포넌트 생성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97D4E95-2D1D-14FE-83B5-ED0363FF8405}"/>
              </a:ext>
            </a:extLst>
          </p:cNvPr>
          <p:cNvCxnSpPr>
            <a:cxnSpLocks/>
          </p:cNvCxnSpPr>
          <p:nvPr/>
        </p:nvCxnSpPr>
        <p:spPr>
          <a:xfrm>
            <a:off x="7156449" y="3244429"/>
            <a:ext cx="0" cy="584621"/>
          </a:xfrm>
          <a:prstGeom prst="straightConnector1">
            <a:avLst/>
          </a:prstGeom>
          <a:ln w="76200">
            <a:solidFill>
              <a:schemeClr val="accent5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165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1A6BA4-B9B9-9FA3-03AE-2CA8C3F4E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60D5C-6858-45BD-B9C9-03C5FB5E96FA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635A7F-0D89-A433-921F-6ED71420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DB0C6E-D947-B48D-9981-6D400FEE7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렌더링 </a:t>
            </a:r>
            <a:r>
              <a:rPr lang="en-US" altLang="ko-KR" dirty="0"/>
              <a:t>– map() </a:t>
            </a:r>
            <a:r>
              <a:rPr lang="ko-KR" altLang="en-US" dirty="0"/>
              <a:t>함수 사용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1FF6FC9-7FE9-72E4-431E-7887F5EFD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629" y="2180255"/>
            <a:ext cx="1880771" cy="349664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52007B6-5F0A-F07E-35DE-D44EC376A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70" y="1325563"/>
            <a:ext cx="7499031" cy="354120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7D789E0-59CB-3676-215C-66F4D34A97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671" y="4950248"/>
            <a:ext cx="7499030" cy="127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37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FC276A-553F-953B-7C0A-C456523CA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2080" y="3896015"/>
            <a:ext cx="9647840" cy="18285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map()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함수를 이용해 컴포넌트를 생성할 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“key”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사용을 권장한다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Why? React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업데이트 전 기존 요소와 업데이트 후 요소를 비교하는데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없으면 어떤 항목이 변경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추가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삭제되었는지 파악하지 못해 불필요한 </a:t>
            </a:r>
            <a:r>
              <a:rPr lang="ko-KR" alt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리렌더링이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발생할 수 있음</a:t>
            </a:r>
            <a:endParaRPr lang="en-US" altLang="ko-KR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35DE98-1FC6-0BE5-FB5C-16A91CE48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0E07E-9745-4A1E-87D3-F87BED6F3F73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3854FD-40E1-1051-5F2A-D5BEBB161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95DC7FC-429E-6D32-128B-12D33F6D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렌더링과 </a:t>
            </a:r>
            <a:r>
              <a:rPr lang="en-US" altLang="ko-KR" dirty="0"/>
              <a:t>key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E96540C-D1A1-4332-E3CD-CB173694DB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208" r="4189" b="7572"/>
          <a:stretch/>
        </p:blipFill>
        <p:spPr>
          <a:xfrm>
            <a:off x="1353536" y="1674815"/>
            <a:ext cx="9484930" cy="206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56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6E6F2-4A1F-0E69-67A4-8E7EA1060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8312" y="3895427"/>
            <a:ext cx="8715375" cy="1004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index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값으로 설정할 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리스트의 순서가 변경되면 모든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변경되므로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index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아닌 고유한 값으로 설정하는 것 권장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58E69-2519-5C7B-E619-FCE4F8E7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F60AA-9663-4C10-96A7-DFE487A1DFF7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2D925E-B075-9DDE-125B-43171B9E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AE432-154C-1C3F-A5EC-16DFF73F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렌더링과 </a:t>
            </a:r>
            <a:r>
              <a:rPr lang="en-US" altLang="ko-KR" dirty="0"/>
              <a:t>key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9B0E144-7859-A3F0-B48F-A37AA81ED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823" y="2808922"/>
            <a:ext cx="5282354" cy="78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4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6E6F2-4A1F-0E69-67A4-8E7EA1060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388" y="1263108"/>
            <a:ext cx="5993130" cy="4990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✅ 각 원소마다 고유 </a:t>
            </a:r>
            <a:r>
              <a:rPr lang="en-US" altLang="ko-KR" sz="2400" dirty="0"/>
              <a:t>id </a:t>
            </a:r>
            <a:r>
              <a:rPr lang="ko-KR" altLang="en-US" sz="2400" dirty="0"/>
              <a:t>값을 갖고 있을 시 예제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58E69-2519-5C7B-E619-FCE4F8E7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F60AA-9663-4C10-96A7-DFE487A1DFF7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2D925E-B075-9DDE-125B-43171B9E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AE432-154C-1C3F-A5EC-16DFF73F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렌더링과 </a:t>
            </a:r>
            <a:r>
              <a:rPr lang="en-US" altLang="ko-KR" dirty="0"/>
              <a:t>key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9EE1673-7212-FFAC-16ED-0C821377F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148" y="1809750"/>
            <a:ext cx="7609704" cy="410830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7DFD596-D43C-9D96-7787-2C8BBE9DE5C6}"/>
              </a:ext>
            </a:extLst>
          </p:cNvPr>
          <p:cNvSpPr/>
          <p:nvPr/>
        </p:nvSpPr>
        <p:spPr>
          <a:xfrm>
            <a:off x="5963138" y="4724400"/>
            <a:ext cx="1617785" cy="332154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307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6E6F2-4A1F-0E69-67A4-8E7EA1060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6836" y="1551263"/>
            <a:ext cx="6137861" cy="6704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map</a:t>
            </a:r>
            <a:r>
              <a:rPr lang="ko-KR" altLang="en-US" sz="2400" dirty="0"/>
              <a:t>과 </a:t>
            </a:r>
            <a:r>
              <a:rPr lang="en-US" altLang="ko-KR" sz="2400" dirty="0"/>
              <a:t>input</a:t>
            </a:r>
            <a:r>
              <a:rPr lang="ko-KR" altLang="en-US" sz="2400" dirty="0"/>
              <a:t>으로 아래와 같이 구현해봅시다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58E69-2519-5C7B-E619-FCE4F8E7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F60AA-9663-4C10-96A7-DFE487A1DFF7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2D925E-B075-9DDE-125B-43171B9E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AE432-154C-1C3F-A5EC-16DFF73F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input</a:t>
            </a:r>
            <a:r>
              <a:rPr lang="ko-KR" altLang="en-US" dirty="0">
                <a:solidFill>
                  <a:srgbClr val="ED7D31"/>
                </a:solidFill>
              </a:rPr>
              <a:t>으로 새로운 알파벳 추가해보기</a:t>
            </a:r>
          </a:p>
        </p:txBody>
      </p:sp>
      <p:pic>
        <p:nvPicPr>
          <p:cNvPr id="6" name="bandicam 2022-10-08 13-57-46-893">
            <a:hlinkClick r:id="" action="ppaction://media"/>
            <a:extLst>
              <a:ext uri="{FF2B5EF4-FFF2-40B4-BE49-F238E27FC236}">
                <a16:creationId xmlns:a16="http://schemas.microsoft.com/office/drawing/2014/main" id="{40814AFD-74E4-1F76-4E48-BF34D103EBA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t="16672"/>
          <a:stretch/>
        </p:blipFill>
        <p:spPr>
          <a:xfrm>
            <a:off x="2982191" y="2221730"/>
            <a:ext cx="6137861" cy="352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1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filter()</a:t>
            </a:r>
            <a:r>
              <a:rPr lang="ko-KR" altLang="en-US" sz="6000" dirty="0">
                <a:solidFill>
                  <a:srgbClr val="ED7D31"/>
                </a:solidFill>
              </a:rPr>
              <a:t>를 이용한 렌더링</a:t>
            </a:r>
          </a:p>
        </p:txBody>
      </p:sp>
    </p:spTree>
    <p:extLst>
      <p:ext uri="{BB962C8B-B14F-4D97-AF65-F5344CB8AC3E}">
        <p14:creationId xmlns:p14="http://schemas.microsoft.com/office/powerpoint/2010/main" val="960713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B0A8FF-58B4-AADA-C277-115F024B2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45407"/>
            <a:ext cx="11701221" cy="45531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filter()</a:t>
            </a:r>
            <a:r>
              <a:rPr lang="ko-KR" altLang="en-US" sz="2400" dirty="0"/>
              <a:t>의 인자로 넘겨지는 </a:t>
            </a:r>
            <a:r>
              <a:rPr lang="en-US" altLang="ko-KR" sz="2400" dirty="0"/>
              <a:t>callback </a:t>
            </a:r>
            <a:r>
              <a:rPr lang="ko-KR" altLang="en-US" sz="2400" dirty="0"/>
              <a:t>함수의 </a:t>
            </a:r>
            <a:r>
              <a:rPr lang="ko-KR" altLang="en-US" sz="2400" dirty="0">
                <a:solidFill>
                  <a:schemeClr val="accent1"/>
                </a:solidFill>
              </a:rPr>
              <a:t>조건을 통과하는 요소</a:t>
            </a:r>
            <a:r>
              <a:rPr lang="ko-KR" altLang="en-US" sz="2400" dirty="0"/>
              <a:t>를 모아 새로운 배열을 생성</a:t>
            </a:r>
            <a:r>
              <a:rPr lang="en-US" altLang="ko-KR" sz="24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filter() </a:t>
            </a:r>
            <a:r>
              <a:rPr lang="ko-KR" altLang="en-US" sz="2000" dirty="0"/>
              <a:t>함수를 사용하여 배열에서 원하는 값을 삭제하는 코드 구현 가능</a:t>
            </a:r>
            <a:r>
              <a:rPr lang="en-US" altLang="ko-KR" sz="2000" dirty="0"/>
              <a:t>.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3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912659-0178-7724-84E7-F9804EEB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2025년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38AD2A-D098-5002-7259-7C0CF8DA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FB17D5-C686-6D90-A10C-DFBDB6D2F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filter()</a:t>
            </a:r>
            <a:r>
              <a:rPr lang="ko-KR" altLang="en-US" dirty="0"/>
              <a:t> 함수</a:t>
            </a:r>
          </a:p>
        </p:txBody>
      </p:sp>
    </p:spTree>
    <p:extLst>
      <p:ext uri="{BB962C8B-B14F-4D97-AF65-F5344CB8AC3E}">
        <p14:creationId xmlns:p14="http://schemas.microsoft.com/office/powerpoint/2010/main" val="1354429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CC3575-1366-5D73-9DE9-B73FF851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C582-12D8-4D41-A2C5-A40388E0E0C0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4B8AFD-EA3C-4E22-2FCF-36057085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522050-7763-6208-1396-B5F36655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filter()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EEADD0B-E0F6-DF81-16CA-3F1243869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704" y="1604886"/>
            <a:ext cx="9885264" cy="15943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54EA57-41CC-BC70-A478-9980B25D5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336" y="3388702"/>
            <a:ext cx="5061184" cy="9620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C297A26-E454-67FE-5A8A-9677FB650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980" y="4726383"/>
            <a:ext cx="9678408" cy="59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824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CC3575-1366-5D73-9DE9-B73FF851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88F0C-5E74-4ECC-96D5-84470E352FFC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4B8AFD-EA3C-4E22-2FCF-36057085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522050-7763-6208-1396-B5F36655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filter()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A2BF954-D47F-45A4-DC9D-285984373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211" y="2016797"/>
            <a:ext cx="7669578" cy="296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530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58E69-2519-5C7B-E619-FCE4F8E7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F60AA-9663-4C10-96A7-DFE487A1DFF7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2D925E-B075-9DDE-125B-43171B9E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AE432-154C-1C3F-A5EC-16DFF73F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알파벳을 더블 클릭 했을 때 삭제하기</a:t>
            </a:r>
            <a:endParaRPr lang="ko-KR" altLang="en-US" dirty="0"/>
          </a:p>
        </p:txBody>
      </p:sp>
      <p:pic>
        <p:nvPicPr>
          <p:cNvPr id="7" name="bandicam 2022-10-08 16-14-20-833">
            <a:hlinkClick r:id="" action="ppaction://media"/>
            <a:extLst>
              <a:ext uri="{FF2B5EF4-FFF2-40B4-BE49-F238E27FC236}">
                <a16:creationId xmlns:a16="http://schemas.microsoft.com/office/drawing/2014/main" id="{227B04B9-B351-59E3-A93A-BCC15B0DE9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t="21597"/>
          <a:stretch/>
        </p:blipFill>
        <p:spPr>
          <a:xfrm>
            <a:off x="3153820" y="2221730"/>
            <a:ext cx="5884360" cy="3178193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5FA9E88-E141-77B5-8FF8-DD715B78C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6836" y="1551263"/>
            <a:ext cx="6137861" cy="6704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filter</a:t>
            </a:r>
            <a:r>
              <a:rPr lang="ko-KR" altLang="en-US" sz="2400" dirty="0"/>
              <a:t>와 </a:t>
            </a:r>
            <a:r>
              <a:rPr lang="en-US" altLang="ko-KR" sz="2400" dirty="0"/>
              <a:t>input</a:t>
            </a:r>
            <a:r>
              <a:rPr lang="ko-KR" altLang="en-US" sz="2400" dirty="0"/>
              <a:t>으로 아래와 같이 구현해봅시다</a:t>
            </a:r>
          </a:p>
        </p:txBody>
      </p:sp>
    </p:spTree>
    <p:extLst>
      <p:ext uri="{BB962C8B-B14F-4D97-AF65-F5344CB8AC3E}">
        <p14:creationId xmlns:p14="http://schemas.microsoft.com/office/powerpoint/2010/main" val="411630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3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Map &amp; Filter </a:t>
            </a:r>
            <a:r>
              <a:rPr lang="ko-KR" altLang="en-US" dirty="0">
                <a:solidFill>
                  <a:srgbClr val="ED7D31"/>
                </a:solidFill>
              </a:rPr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315075" cy="2660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/>
              <a:t>Map &amp; Filter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[1~3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[(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심화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)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4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  <a:p>
            <a:pPr lvl="1"/>
            <a:endParaRPr lang="ko-KR" altLang="en-US" sz="2800" dirty="0">
              <a:solidFill>
                <a:srgbClr val="212529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48865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A44663-28CD-4CF6-F46D-9755405EE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5329684-7B5F-670B-11C2-36017421C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6B018CC-EE07-1A28-615C-F6989F96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6000" dirty="0" err="1">
                <a:solidFill>
                  <a:srgbClr val="ED7D31"/>
                </a:solidFill>
              </a:rPr>
              <a:t>useEffect</a:t>
            </a:r>
            <a:r>
              <a:rPr lang="ko-KR" altLang="en-US" sz="6000" dirty="0">
                <a:solidFill>
                  <a:srgbClr val="ED7D31"/>
                </a:solidFill>
              </a:rPr>
              <a:t>와</a:t>
            </a:r>
            <a:br>
              <a:rPr lang="en-US" altLang="ko-KR" sz="6000" dirty="0">
                <a:solidFill>
                  <a:srgbClr val="ED7D31"/>
                </a:solidFill>
              </a:rPr>
            </a:br>
            <a:r>
              <a:rPr lang="ko-KR" altLang="en-US" sz="6000" dirty="0">
                <a:solidFill>
                  <a:srgbClr val="ED7D31"/>
                </a:solidFill>
              </a:rPr>
              <a:t>라이프사이클</a:t>
            </a:r>
          </a:p>
        </p:txBody>
      </p:sp>
    </p:spTree>
    <p:extLst>
      <p:ext uri="{BB962C8B-B14F-4D97-AF65-F5344CB8AC3E}">
        <p14:creationId xmlns:p14="http://schemas.microsoft.com/office/powerpoint/2010/main" val="2616864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C71672-0965-D37A-1552-926A1DFA7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</a:t>
            </a:r>
            <a:r>
              <a:rPr lang="en-US" altLang="ko-KR" sz="2400" dirty="0"/>
              <a:t>React </a:t>
            </a:r>
            <a:r>
              <a:rPr lang="ko-KR" altLang="en-US" sz="2400" dirty="0"/>
              <a:t>컴포넌트는 화면에 나타나고</a:t>
            </a:r>
            <a:r>
              <a:rPr lang="en-US" altLang="ko-KR" sz="2400" dirty="0"/>
              <a:t>, </a:t>
            </a:r>
            <a:r>
              <a:rPr lang="ko-KR" altLang="en-US" sz="2400" dirty="0"/>
              <a:t>업데이트되며</a:t>
            </a:r>
            <a:r>
              <a:rPr lang="en-US" altLang="ko-KR" sz="2400" dirty="0"/>
              <a:t>, </a:t>
            </a:r>
            <a:r>
              <a:rPr lang="ko-KR" altLang="en-US" sz="2400" dirty="0"/>
              <a:t>사라지는</a:t>
            </a:r>
            <a:r>
              <a:rPr lang="en-US" altLang="ko-KR" sz="2400" dirty="0"/>
              <a:t> </a:t>
            </a:r>
            <a:r>
              <a:rPr lang="ko-KR" altLang="en-US" sz="2400" dirty="0"/>
              <a:t>생명주기를 가짐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모든 </a:t>
            </a:r>
            <a:r>
              <a:rPr lang="en-US" altLang="ko-KR" sz="2000" dirty="0"/>
              <a:t>React Component</a:t>
            </a:r>
            <a:r>
              <a:rPr lang="ko-KR" altLang="en-US" sz="2000" dirty="0"/>
              <a:t>에 존재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b="1" dirty="0" err="1"/>
              <a:t>useEffect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훅</a:t>
            </a:r>
            <a:r>
              <a:rPr lang="ko-KR" altLang="en-US" sz="2000" dirty="0"/>
              <a:t>으로 라이프 사이클을 처리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D6716E-B393-F694-241E-F01581258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4AFCB-C0DB-4F55-97FD-8089BF192B0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85DA0D-1643-1D7E-29DA-F479DD35F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632F6A6-48B3-BD2D-D7E0-97085F680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라이프 사이클 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1147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38A0869E-D98F-B107-8DA1-61F491BFBB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42" y="1721837"/>
            <a:ext cx="10153316" cy="4507626"/>
          </a:xfr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DED38A-C5DD-259E-BBB6-0770CC735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279EA-F481-4974-98AE-8F344014F288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2E02A9-C7AE-5834-2615-49AE418DB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0DECBDA-13D5-B55B-173C-F723E770D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라이프 사이클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D420BAE-2355-D98D-1D53-D459F96FB521}"/>
              </a:ext>
            </a:extLst>
          </p:cNvPr>
          <p:cNvSpPr txBox="1">
            <a:spLocks/>
          </p:cNvSpPr>
          <p:nvPr/>
        </p:nvSpPr>
        <p:spPr>
          <a:xfrm>
            <a:off x="1579223" y="1237906"/>
            <a:ext cx="1685081" cy="449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dirty="0">
                <a:solidFill>
                  <a:schemeClr val="accent1"/>
                </a:solidFill>
              </a:rPr>
              <a:t>생성될 때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03DAF23-0194-B4F9-70EA-C4259CD23BFA}"/>
              </a:ext>
            </a:extLst>
          </p:cNvPr>
          <p:cNvSpPr txBox="1">
            <a:spLocks/>
          </p:cNvSpPr>
          <p:nvPr/>
        </p:nvSpPr>
        <p:spPr>
          <a:xfrm>
            <a:off x="5092252" y="1237907"/>
            <a:ext cx="1685081" cy="449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dirty="0">
                <a:solidFill>
                  <a:schemeClr val="accent1"/>
                </a:solidFill>
              </a:rPr>
              <a:t>업데이트 할 때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71C0537-AE7C-D42A-FBD5-E7DC579A0CD3}"/>
              </a:ext>
            </a:extLst>
          </p:cNvPr>
          <p:cNvSpPr txBox="1">
            <a:spLocks/>
          </p:cNvSpPr>
          <p:nvPr/>
        </p:nvSpPr>
        <p:spPr>
          <a:xfrm>
            <a:off x="8748149" y="1241034"/>
            <a:ext cx="1685081" cy="449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dirty="0">
                <a:solidFill>
                  <a:schemeClr val="accent1"/>
                </a:solidFill>
              </a:rPr>
              <a:t>제거 할 때</a:t>
            </a:r>
          </a:p>
        </p:txBody>
      </p:sp>
    </p:spTree>
    <p:extLst>
      <p:ext uri="{BB962C8B-B14F-4D97-AF65-F5344CB8AC3E}">
        <p14:creationId xmlns:p14="http://schemas.microsoft.com/office/powerpoint/2010/main" val="3588286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880286-B340-01BC-2484-7A56A7B94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82DE-EC34-4C97-AFE6-318EC0DB25AA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9D2F09-2802-8125-67AF-72531D32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10DAAA-B4AD-C7DA-9F92-20568540A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라이프 사이클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12C811F-B8D0-6A34-227F-1960EA0BFCEE}"/>
              </a:ext>
            </a:extLst>
          </p:cNvPr>
          <p:cNvSpPr/>
          <p:nvPr/>
        </p:nvSpPr>
        <p:spPr>
          <a:xfrm>
            <a:off x="1513514" y="1211965"/>
            <a:ext cx="1844566" cy="42698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mount</a:t>
            </a:r>
            <a:endParaRPr lang="ko-KR" altLang="en-US" sz="2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BDF46D6-F2FB-65C4-58D9-FE38FE7CF686}"/>
              </a:ext>
            </a:extLst>
          </p:cNvPr>
          <p:cNvSpPr/>
          <p:nvPr/>
        </p:nvSpPr>
        <p:spPr>
          <a:xfrm>
            <a:off x="5043650" y="1138229"/>
            <a:ext cx="1844567" cy="42698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update</a:t>
            </a:r>
            <a:endParaRPr lang="ko-KR" altLang="en-US" sz="24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83873FF-0676-5C30-3F22-458A67E21668}"/>
              </a:ext>
            </a:extLst>
          </p:cNvPr>
          <p:cNvSpPr/>
          <p:nvPr/>
        </p:nvSpPr>
        <p:spPr>
          <a:xfrm>
            <a:off x="8699912" y="1211965"/>
            <a:ext cx="1844567" cy="42698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unmount</a:t>
            </a:r>
            <a:endParaRPr lang="ko-KR" altLang="en-US" sz="2400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9C49CB0-C882-FD62-6316-F8D6CC1637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41" y="1731782"/>
            <a:ext cx="10153316" cy="450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52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980398-580F-DEF9-9105-43EC48114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ore-KR" sz="2400" dirty="0"/>
              <a:t>Mount</a:t>
            </a:r>
          </a:p>
          <a:p>
            <a:pPr lvl="1">
              <a:lnSpc>
                <a:spcPct val="150000"/>
              </a:lnSpc>
            </a:pPr>
            <a:r>
              <a:rPr lang="en-US" altLang="ko-Kore-KR" sz="2000" dirty="0"/>
              <a:t>DOM</a:t>
            </a:r>
            <a:r>
              <a:rPr lang="ko-KR" altLang="en-US" sz="2000" dirty="0"/>
              <a:t>이 생성되고 웹 브라우저 상에 나타남</a:t>
            </a:r>
            <a:endParaRPr lang="en-US" altLang="ko-Kore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ore-KR" sz="2400" dirty="0"/>
              <a:t>Update</a:t>
            </a:r>
          </a:p>
          <a:p>
            <a:pPr lvl="1">
              <a:lnSpc>
                <a:spcPct val="150000"/>
              </a:lnSpc>
            </a:pPr>
            <a:r>
              <a:rPr lang="en-US" altLang="ko-Kore-KR" sz="2000" dirty="0"/>
              <a:t>props or state </a:t>
            </a:r>
            <a:r>
              <a:rPr lang="ko-Kore-KR" altLang="en-US" sz="2000" dirty="0"/>
              <a:t>바뀌었을</a:t>
            </a:r>
            <a:r>
              <a:rPr lang="ko-KR" altLang="en-US" sz="2000" dirty="0"/>
              <a:t> 때 업데이트함</a:t>
            </a:r>
            <a:endParaRPr lang="en-US" altLang="ko-Kore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ore-KR" sz="2400" dirty="0"/>
              <a:t>Unmount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컴포넌트가 화면에서 사라질</a:t>
            </a:r>
            <a:r>
              <a:rPr lang="en-US" altLang="ko-KR" sz="2000" dirty="0"/>
              <a:t>(</a:t>
            </a:r>
            <a:r>
              <a:rPr lang="ko-KR" altLang="en-US" sz="2000" dirty="0"/>
              <a:t>제거될</a:t>
            </a:r>
            <a:r>
              <a:rPr lang="en-US" altLang="ko-KR" sz="2000" dirty="0"/>
              <a:t>)</a:t>
            </a:r>
            <a:r>
              <a:rPr lang="ko-KR" altLang="en-US" sz="2000" dirty="0"/>
              <a:t> 때</a:t>
            </a:r>
            <a:endParaRPr lang="ko-Kore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DED38A-C5DD-259E-BBB6-0770CC735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279EA-F481-4974-98AE-8F344014F288}" type="datetime6">
              <a:rPr lang="ko-KR" altLang="en-US" smtClean="0"/>
              <a:t>2025년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2E02A9-C7AE-5834-2615-49AE418DB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0DECBDA-13D5-B55B-173C-F723E770D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라이프사이클</a:t>
            </a:r>
            <a:r>
              <a:rPr lang="en-US" altLang="ko-KR" dirty="0"/>
              <a:t> </a:t>
            </a:r>
            <a:r>
              <a:rPr lang="ko-KR" altLang="en-US" dirty="0"/>
              <a:t>용어 정리</a:t>
            </a:r>
          </a:p>
        </p:txBody>
      </p:sp>
    </p:spTree>
    <p:extLst>
      <p:ext uri="{BB962C8B-B14F-4D97-AF65-F5344CB8AC3E}">
        <p14:creationId xmlns:p14="http://schemas.microsoft.com/office/powerpoint/2010/main" val="17810268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8C0409-6EF2-7832-B43B-CB3EB1E18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2560-0684-4044-BA2C-DDD26512416A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24FB87-7B76-950F-E38F-575A244B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ECDA72-4989-5B3D-24CE-D20FABF7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useEffect</a:t>
            </a:r>
            <a:r>
              <a:rPr lang="en-US" altLang="ko-KR" b="1" dirty="0"/>
              <a:t>()</a:t>
            </a:r>
            <a:endParaRPr lang="ko-KR" altLang="en-US" b="1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46967E6-A326-25DB-2391-9FAE0E36062E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4665797"/>
          </a:xfrm>
          <a:prstGeom prst="rect">
            <a:avLst/>
          </a:prstGeom>
        </p:spPr>
        <p:txBody>
          <a:bodyPr vert="horz" lIns="90000" tIns="45720" rIns="9000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💡함수형 컴포넌트에서 </a:t>
            </a:r>
            <a:r>
              <a:rPr lang="en-US" altLang="ko-KR" sz="2400" dirty="0"/>
              <a:t>side effect(</a:t>
            </a:r>
            <a:r>
              <a:rPr lang="ko-KR" altLang="en-US" sz="2400" dirty="0"/>
              <a:t>부수효과</a:t>
            </a:r>
            <a:r>
              <a:rPr lang="en-US" altLang="ko-KR" sz="2400" dirty="0"/>
              <a:t>)</a:t>
            </a:r>
            <a:r>
              <a:rPr lang="ko-KR" altLang="en-US" sz="2400" dirty="0"/>
              <a:t>를 수행하는 </a:t>
            </a:r>
            <a:r>
              <a:rPr lang="en-US" altLang="ko-KR" sz="2400" dirty="0"/>
              <a:t>Hook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🔎  </a:t>
            </a:r>
            <a:r>
              <a:rPr lang="en-US" altLang="ko-KR" sz="2400" dirty="0"/>
              <a:t>Side effect</a:t>
            </a:r>
            <a:r>
              <a:rPr lang="ko-KR" altLang="en-US" sz="2400" dirty="0"/>
              <a:t>란</a:t>
            </a:r>
            <a:r>
              <a:rPr lang="en-US" altLang="ko-KR" sz="2400" dirty="0"/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함수의 입력과 출력 외부에서 프로그램의 상태나 외부 세계에 영향을 주는 것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렌더링 과정 외부에서 발생하는 동작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예</a:t>
            </a:r>
            <a:r>
              <a:rPr lang="en-US" altLang="ko-KR" sz="2000" dirty="0"/>
              <a:t>: </a:t>
            </a:r>
            <a:r>
              <a:rPr lang="ko-KR" altLang="en-US" sz="2000" dirty="0"/>
              <a:t>데이터 </a:t>
            </a:r>
            <a:r>
              <a:rPr lang="en-US" altLang="ko-KR" sz="2000" dirty="0"/>
              <a:t>fetch, DOM </a:t>
            </a:r>
            <a:r>
              <a:rPr lang="ko-KR" altLang="en-US" sz="2000" dirty="0"/>
              <a:t>조작</a:t>
            </a:r>
            <a:r>
              <a:rPr lang="en-US" altLang="ko-KR" sz="2000" dirty="0"/>
              <a:t>, </a:t>
            </a:r>
            <a:r>
              <a:rPr lang="ko-KR" altLang="en-US" sz="2000" dirty="0"/>
              <a:t>콘솔 출력</a:t>
            </a:r>
            <a:r>
              <a:rPr lang="en-US" altLang="ko-KR" sz="2000" dirty="0"/>
              <a:t>, </a:t>
            </a:r>
            <a:r>
              <a:rPr lang="ko-KR" altLang="en-US" sz="2000" dirty="0"/>
              <a:t>구독</a:t>
            </a:r>
            <a:r>
              <a:rPr lang="en-US" altLang="ko-KR" sz="2000" dirty="0"/>
              <a:t>(subscription) </a:t>
            </a:r>
            <a:r>
              <a:rPr lang="ko-KR" altLang="en-US" sz="2000" dirty="0"/>
              <a:t>설정 등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➡️ </a:t>
            </a:r>
            <a:r>
              <a:rPr lang="en-US" altLang="ko-KR" sz="2400" dirty="0" err="1"/>
              <a:t>useEffect</a:t>
            </a:r>
            <a:r>
              <a:rPr lang="en-US" altLang="ko-KR" sz="2400" dirty="0"/>
              <a:t>()</a:t>
            </a:r>
            <a:r>
              <a:rPr lang="ko-KR" altLang="en-US" sz="2400" dirty="0"/>
              <a:t>를 사용해 </a:t>
            </a:r>
            <a:r>
              <a:rPr lang="en-US" altLang="ko-KR" sz="2400" dirty="0"/>
              <a:t>Mount, Update, Unmount </a:t>
            </a:r>
            <a:r>
              <a:rPr lang="ko-KR" altLang="en-US" sz="2400" dirty="0"/>
              <a:t>시 특정 작업을 처리</a:t>
            </a:r>
            <a:endParaRPr lang="en-US" altLang="ko-KR" sz="2400" b="1" dirty="0"/>
          </a:p>
          <a:p>
            <a:pPr>
              <a:lnSpc>
                <a:spcPct val="150000"/>
              </a:lnSpc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71928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04FA7-0719-3D5F-BFE3-7AE89A828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38F40D-FFC7-A739-8A2B-55AFE217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2560-0684-4044-BA2C-DDD26512416A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2DE27D-4452-B88E-791E-5BEA0EF62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A216369-B3D5-A9C2-7DCE-78F13CB0F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useEffect</a:t>
            </a:r>
            <a:r>
              <a:rPr lang="en-US" altLang="ko-KR" b="1" dirty="0"/>
              <a:t>() </a:t>
            </a:r>
            <a:r>
              <a:rPr lang="ko-KR" altLang="en-US" b="1" dirty="0"/>
              <a:t>문법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8D6B4C8-0363-6FF7-E596-6E92BFA89D4F}"/>
              </a:ext>
            </a:extLst>
          </p:cNvPr>
          <p:cNvGrpSpPr/>
          <p:nvPr/>
        </p:nvGrpSpPr>
        <p:grpSpPr>
          <a:xfrm>
            <a:off x="438640" y="1916452"/>
            <a:ext cx="6092788" cy="3025095"/>
            <a:chOff x="1974457" y="1145407"/>
            <a:chExt cx="8237692" cy="3976857"/>
          </a:xfrm>
        </p:grpSpPr>
        <p:pic>
          <p:nvPicPr>
            <p:cNvPr id="8" name="그림 7" descr="텍스트, 스크린샷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A787FD2-5EA0-04FF-BD99-A8B23EF25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32" t="26305" r="8685" b="34262"/>
            <a:stretch>
              <a:fillRect/>
            </a:stretch>
          </p:blipFill>
          <p:spPr>
            <a:xfrm>
              <a:off x="1974457" y="1145407"/>
              <a:ext cx="8237692" cy="1419768"/>
            </a:xfrm>
            <a:prstGeom prst="rect">
              <a:avLst/>
            </a:prstGeom>
          </p:spPr>
        </p:pic>
        <p:pic>
          <p:nvPicPr>
            <p:cNvPr id="10" name="그림 9" descr="텍스트, 스크린샷, 디스플레이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FE8228D-DE1C-15E7-25DA-C70FB9D36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32" t="33581" r="8686" b="17823"/>
            <a:stretch>
              <a:fillRect/>
            </a:stretch>
          </p:blipFill>
          <p:spPr>
            <a:xfrm>
              <a:off x="1974457" y="2493153"/>
              <a:ext cx="8237692" cy="2629111"/>
            </a:xfrm>
            <a:prstGeom prst="rect">
              <a:avLst/>
            </a:prstGeom>
          </p:spPr>
        </p:pic>
      </p:grp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932B23E9-40D7-7E9F-2D38-C2A8187F0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5294" y="1660717"/>
            <a:ext cx="5109029" cy="35365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✔️ 첫 번째 인자</a:t>
            </a:r>
            <a:r>
              <a:rPr lang="en-US" altLang="ko-KR" sz="2000" dirty="0"/>
              <a:t>: </a:t>
            </a:r>
            <a:r>
              <a:rPr lang="ko-KR" altLang="en-US" sz="2000" dirty="0"/>
              <a:t>실행할 함수 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cleanup</a:t>
            </a:r>
            <a:r>
              <a:rPr lang="ko-KR" altLang="en-US" sz="1800" dirty="0"/>
              <a:t>함수 </a:t>
            </a:r>
            <a:r>
              <a:rPr lang="en-US" altLang="ko-KR" sz="1800" dirty="0"/>
              <a:t>: </a:t>
            </a:r>
            <a:r>
              <a:rPr lang="ko-KR" altLang="en-US" sz="1800" dirty="0"/>
              <a:t>함수를 </a:t>
            </a:r>
            <a:r>
              <a:rPr lang="en-US" altLang="ko-KR" sz="1800" dirty="0"/>
              <a:t>return</a:t>
            </a:r>
            <a:r>
              <a:rPr lang="ko-KR" altLang="en-US" sz="1800" dirty="0"/>
              <a:t>시 반환하는 함수가 컴포넌트 </a:t>
            </a:r>
            <a:r>
              <a:rPr lang="en-US" altLang="ko-KR" sz="1800" dirty="0"/>
              <a:t>Unmount </a:t>
            </a:r>
            <a:r>
              <a:rPr lang="ko-KR" altLang="en-US" sz="1800" dirty="0"/>
              <a:t>될 때 실행됨</a:t>
            </a:r>
            <a:endParaRPr lang="en-US" altLang="ko-KR" sz="18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✔️ 두 번째 인자</a:t>
            </a:r>
            <a:r>
              <a:rPr lang="en-US" altLang="ko-KR" sz="2000" dirty="0"/>
              <a:t>: </a:t>
            </a:r>
            <a:r>
              <a:rPr lang="ko-KR" altLang="en-US" sz="2000" dirty="0"/>
              <a:t>의존성 배열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생략</a:t>
            </a:r>
            <a:r>
              <a:rPr lang="en-US" altLang="ko-KR" sz="1800" dirty="0"/>
              <a:t>: Mount &amp; Update </a:t>
            </a:r>
            <a:r>
              <a:rPr lang="ko-KR" altLang="en-US" sz="1800" dirty="0"/>
              <a:t>시 동작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[]: </a:t>
            </a:r>
            <a:r>
              <a:rPr lang="ko-KR" altLang="en-US" sz="1800" dirty="0" err="1"/>
              <a:t>빈배열</a:t>
            </a:r>
            <a:r>
              <a:rPr lang="ko-KR" altLang="en-US" sz="1800" dirty="0"/>
              <a:t> </a:t>
            </a:r>
            <a:r>
              <a:rPr lang="en-US" altLang="ko-KR" sz="1800" dirty="0"/>
              <a:t>-&gt; Mount </a:t>
            </a:r>
            <a:r>
              <a:rPr lang="ko-KR" altLang="en-US" sz="1800" dirty="0"/>
              <a:t>시에만 동작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[data]: </a:t>
            </a:r>
            <a:r>
              <a:rPr lang="ko-KR" altLang="en-US" sz="1800" dirty="0"/>
              <a:t>배열 안의 </a:t>
            </a:r>
            <a:r>
              <a:rPr lang="en-US" altLang="ko-KR" sz="1800" dirty="0"/>
              <a:t>data </a:t>
            </a:r>
            <a:r>
              <a:rPr lang="ko-KR" altLang="en-US" sz="1800" dirty="0"/>
              <a:t>값이 </a:t>
            </a:r>
            <a:r>
              <a:rPr lang="en-US" altLang="ko-KR" sz="1800" dirty="0"/>
              <a:t>Update </a:t>
            </a:r>
            <a:r>
              <a:rPr lang="ko-KR" altLang="en-US" sz="1800" dirty="0"/>
              <a:t>시 동작</a:t>
            </a:r>
          </a:p>
        </p:txBody>
      </p:sp>
    </p:spTree>
    <p:extLst>
      <p:ext uri="{BB962C8B-B14F-4D97-AF65-F5344CB8AC3E}">
        <p14:creationId xmlns:p14="http://schemas.microsoft.com/office/powerpoint/2010/main" val="1330729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8C0409-6EF2-7832-B43B-CB3EB1E18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2560-0684-4044-BA2C-DDD26512416A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24FB87-7B76-950F-E38F-575A244B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ECDA72-4989-5B3D-24CE-D20FABF7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useEffect</a:t>
            </a:r>
            <a:r>
              <a:rPr lang="en-US" altLang="ko-KR" b="1" dirty="0"/>
              <a:t>()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AD947B-4437-0478-4BB4-415D4DB174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445"/>
          <a:stretch/>
        </p:blipFill>
        <p:spPr>
          <a:xfrm>
            <a:off x="2649457" y="1842537"/>
            <a:ext cx="6893086" cy="45028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D2CF65-A5DC-BAE6-BBE3-D5BFCEDEDEE8}"/>
              </a:ext>
            </a:extLst>
          </p:cNvPr>
          <p:cNvSpPr txBox="1"/>
          <p:nvPr/>
        </p:nvSpPr>
        <p:spPr>
          <a:xfrm>
            <a:off x="2316723" y="1145407"/>
            <a:ext cx="75585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/>
              <a:t>💡의존성 배열 </a:t>
            </a:r>
            <a:r>
              <a:rPr lang="en-US" altLang="ko-KR" sz="2400" dirty="0"/>
              <a:t>:</a:t>
            </a:r>
            <a:r>
              <a:rPr lang="ko-KR" altLang="en-US" sz="2400" dirty="0"/>
              <a:t> </a:t>
            </a:r>
            <a:r>
              <a:rPr lang="en-US" altLang="ko-KR" sz="2400" dirty="0" err="1"/>
              <a:t>useEffect</a:t>
            </a:r>
            <a:r>
              <a:rPr lang="ko-KR" altLang="en-US" sz="2400" dirty="0"/>
              <a:t>가 언제 실행될지 결정하는 배열</a:t>
            </a:r>
            <a:endParaRPr lang="en-US" altLang="ko-Kore-KR" sz="2400" dirty="0"/>
          </a:p>
        </p:txBody>
      </p:sp>
    </p:spTree>
    <p:extLst>
      <p:ext uri="{BB962C8B-B14F-4D97-AF65-F5344CB8AC3E}">
        <p14:creationId xmlns:p14="http://schemas.microsoft.com/office/powerpoint/2010/main" val="36990450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11D2B-7D95-8996-ABA0-C2554FAB1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188F91-FCC1-3E9C-3BD0-AD88A0C75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1" t="17454" r="8636" b="17440"/>
          <a:stretch>
            <a:fillRect/>
          </a:stretch>
        </p:blipFill>
        <p:spPr>
          <a:xfrm>
            <a:off x="1977291" y="1885950"/>
            <a:ext cx="8239859" cy="3522295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0C55B4-5710-85BB-2138-8DBB27B3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2560-0684-4044-BA2C-DDD26512416A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BE389A-12B3-A633-2C60-06E12843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933C0DE-41EB-F774-8220-903611D13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useEffect</a:t>
            </a:r>
            <a:r>
              <a:rPr lang="en-US" altLang="ko-KR" b="1" dirty="0"/>
              <a:t>()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0329A8-3B33-92FE-20E6-060184561E5D}"/>
              </a:ext>
            </a:extLst>
          </p:cNvPr>
          <p:cNvSpPr txBox="1"/>
          <p:nvPr/>
        </p:nvSpPr>
        <p:spPr>
          <a:xfrm>
            <a:off x="1841103" y="1249089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useEffect</a:t>
            </a:r>
            <a:r>
              <a:rPr lang="en-US" altLang="ko-KR" sz="2400" dirty="0"/>
              <a:t>() </a:t>
            </a:r>
            <a:r>
              <a:rPr lang="ko-KR" altLang="en-US" sz="2400" dirty="0"/>
              <a:t>예제 </a:t>
            </a:r>
            <a:r>
              <a:rPr lang="en-US" altLang="ko-KR" sz="2400" dirty="0"/>
              <a:t>1: </a:t>
            </a:r>
            <a:r>
              <a:rPr lang="ko-KR" altLang="en-US" sz="2400" dirty="0"/>
              <a:t>마운트 시 실행</a:t>
            </a:r>
            <a:endParaRPr lang="en-US" altLang="ko-Kore-KR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D8D917-167C-11C5-5773-447E7DADAC6B}"/>
              </a:ext>
            </a:extLst>
          </p:cNvPr>
          <p:cNvSpPr txBox="1"/>
          <p:nvPr/>
        </p:nvSpPr>
        <p:spPr>
          <a:xfrm>
            <a:off x="1908907" y="5408245"/>
            <a:ext cx="6115538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의존성 배열이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[]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컴포넌트가 처음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렌더링될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때만 실행됨</a:t>
            </a:r>
            <a:endParaRPr lang="en-US" altLang="ko-KR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8006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C5B3D-8881-3179-F6AF-65754E5C1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DD962B-083D-F801-210F-2415C091A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2560-0684-4044-BA2C-DDD26512416A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855017-A69A-0B03-57F0-56D86386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7AC8FC9-9E1E-2743-191F-782F1F7A8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useEffect</a:t>
            </a:r>
            <a:r>
              <a:rPr lang="en-US" altLang="ko-KR" b="1" dirty="0"/>
              <a:t>()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79743-2575-D887-D244-136FFAAEE98C}"/>
              </a:ext>
            </a:extLst>
          </p:cNvPr>
          <p:cNvSpPr txBox="1"/>
          <p:nvPr/>
        </p:nvSpPr>
        <p:spPr>
          <a:xfrm>
            <a:off x="2407160" y="945563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useEffect</a:t>
            </a:r>
            <a:r>
              <a:rPr lang="en-US" altLang="ko-KR" sz="2400" dirty="0"/>
              <a:t>() </a:t>
            </a:r>
            <a:r>
              <a:rPr lang="ko-KR" altLang="en-US" sz="2400" dirty="0"/>
              <a:t>예제 </a:t>
            </a:r>
            <a:r>
              <a:rPr lang="en-US" altLang="ko-KR" sz="2400" dirty="0"/>
              <a:t>2: </a:t>
            </a:r>
            <a:r>
              <a:rPr lang="ko-KR" altLang="en-US" sz="2400" dirty="0"/>
              <a:t>업데이트 시 실행</a:t>
            </a:r>
            <a:endParaRPr lang="en-US" altLang="ko-Kore-KR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B7FA46-3C96-C44D-3A3D-1F28CADC088C}"/>
              </a:ext>
            </a:extLst>
          </p:cNvPr>
          <p:cNvSpPr txBox="1"/>
          <p:nvPr/>
        </p:nvSpPr>
        <p:spPr>
          <a:xfrm>
            <a:off x="2462704" y="5718646"/>
            <a:ext cx="6115538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count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변경될 때마다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useEffect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내부 코드가 실행됨</a:t>
            </a:r>
            <a:endParaRPr lang="en-US" altLang="ko-KR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D8F8CF-4666-764F-73E9-A0CAD9FB83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0" t="11501" r="7055" b="11501"/>
          <a:stretch>
            <a:fillRect/>
          </a:stretch>
        </p:blipFill>
        <p:spPr>
          <a:xfrm>
            <a:off x="2550885" y="1553908"/>
            <a:ext cx="7090230" cy="423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37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57010-0291-63CD-63B0-B1CD55345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084BD0-464B-969B-BAD7-51B6E0F0B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3" t="11440" r="6294" b="11525"/>
          <a:stretch>
            <a:fillRect/>
          </a:stretch>
        </p:blipFill>
        <p:spPr>
          <a:xfrm>
            <a:off x="2559843" y="1714354"/>
            <a:ext cx="7072313" cy="3787288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74F12E-FA19-EEF9-9D3B-C81D4F297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2560-0684-4044-BA2C-DDD26512416A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FF02A5-408F-0673-11B3-141ABFDFD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7D8D50E-A698-A6D4-00A7-9C48AB4F9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useEffect</a:t>
            </a:r>
            <a:r>
              <a:rPr lang="en-US" altLang="ko-KR" b="1" dirty="0"/>
              <a:t>()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9A45D9-8CA0-5DB0-1201-01C5EA1E01FD}"/>
              </a:ext>
            </a:extLst>
          </p:cNvPr>
          <p:cNvSpPr txBox="1"/>
          <p:nvPr/>
        </p:nvSpPr>
        <p:spPr>
          <a:xfrm>
            <a:off x="2404778" y="1065579"/>
            <a:ext cx="6802649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useEffect</a:t>
            </a:r>
            <a:r>
              <a:rPr lang="en-US" altLang="ko-KR" sz="2400" dirty="0"/>
              <a:t>() </a:t>
            </a:r>
            <a:r>
              <a:rPr lang="ko-KR" altLang="en-US" sz="2400" dirty="0"/>
              <a:t>예제 </a:t>
            </a:r>
            <a:r>
              <a:rPr lang="en-US" altLang="ko-KR" sz="2400" dirty="0"/>
              <a:t>3: </a:t>
            </a:r>
            <a:r>
              <a:rPr lang="ko-KR" altLang="en-US" sz="2400" dirty="0" err="1"/>
              <a:t>언마운트</a:t>
            </a:r>
            <a:r>
              <a:rPr lang="ko-KR" altLang="en-US" sz="2400" dirty="0"/>
              <a:t> 시 실행 </a:t>
            </a:r>
            <a:r>
              <a:rPr lang="en-US" altLang="ko-KR" sz="2400" dirty="0"/>
              <a:t>(cleanup)</a:t>
            </a:r>
            <a:endParaRPr lang="en-US" altLang="ko-Kore-KR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C18E2C-E8E7-3D9A-CF3F-AF1B5BB78020}"/>
              </a:ext>
            </a:extLst>
          </p:cNvPr>
          <p:cNvSpPr txBox="1"/>
          <p:nvPr/>
        </p:nvSpPr>
        <p:spPr>
          <a:xfrm>
            <a:off x="2449436" y="5501642"/>
            <a:ext cx="7708181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setInterval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같은 타이머는 반드시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cleanup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정리해야 메모리 누수 방지</a:t>
            </a:r>
            <a:endParaRPr lang="en-US" altLang="ko-KR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730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8C0409-6EF2-7832-B43B-CB3EB1E18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2560-0684-4044-BA2C-DDD26512416A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24FB87-7B76-950F-E38F-575A244B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ECDA72-4989-5B3D-24CE-D20FABF7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useEffect</a:t>
            </a:r>
            <a:r>
              <a:rPr lang="en-US" altLang="ko-KR" b="1" dirty="0"/>
              <a:t>()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FF47030-91F3-7792-0EEF-42C2FB5A00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886"/>
          <a:stretch/>
        </p:blipFill>
        <p:spPr>
          <a:xfrm>
            <a:off x="2656144" y="1570926"/>
            <a:ext cx="3317185" cy="47621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85BAD2-C193-28EE-2859-C0E71AC158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784"/>
          <a:stretch/>
        </p:blipFill>
        <p:spPr>
          <a:xfrm>
            <a:off x="6096000" y="1570926"/>
            <a:ext cx="3301759" cy="28399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12CDC1-6F57-0655-D721-BEEC3415C80F}"/>
              </a:ext>
            </a:extLst>
          </p:cNvPr>
          <p:cNvSpPr txBox="1"/>
          <p:nvPr/>
        </p:nvSpPr>
        <p:spPr>
          <a:xfrm>
            <a:off x="2508759" y="931295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useEffect</a:t>
            </a:r>
            <a:r>
              <a:rPr lang="en-US" altLang="ko-KR" sz="2400" dirty="0"/>
              <a:t>() </a:t>
            </a:r>
            <a:r>
              <a:rPr lang="ko-KR" altLang="en-US" sz="2400" dirty="0"/>
              <a:t>예제</a:t>
            </a:r>
            <a:endParaRPr lang="en-US" altLang="ko-Kore-KR" sz="2400" dirty="0"/>
          </a:p>
        </p:txBody>
      </p:sp>
    </p:spTree>
    <p:extLst>
      <p:ext uri="{BB962C8B-B14F-4D97-AF65-F5344CB8AC3E}">
        <p14:creationId xmlns:p14="http://schemas.microsoft.com/office/powerpoint/2010/main" val="2624049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Event Handling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279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BA535A-322E-1646-CF09-63873BF8C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DD245-6FC9-4BCD-9848-9FACA08CE32D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066AF9-BB3C-686E-909F-CE3BE0BF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1A36B4-A46B-4E8E-E378-EA3A6D84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의 </a:t>
            </a:r>
            <a:r>
              <a:rPr lang="en-US" altLang="ko-KR" dirty="0"/>
              <a:t>Event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75A017E-5214-A30C-8354-751C00AA9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385" y="1684946"/>
            <a:ext cx="6685230" cy="146391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0238AD0-6F39-281E-B688-F32282601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385" y="4020651"/>
            <a:ext cx="6704077" cy="1779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E0AF56-2801-738A-13A5-EFAD84C63640}"/>
              </a:ext>
            </a:extLst>
          </p:cNvPr>
          <p:cNvSpPr txBox="1"/>
          <p:nvPr/>
        </p:nvSpPr>
        <p:spPr>
          <a:xfrm>
            <a:off x="2608264" y="1208921"/>
            <a:ext cx="6112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HTML</a:t>
            </a:r>
            <a:r>
              <a:rPr lang="ko-KR" altLang="en-US" sz="2400" dirty="0"/>
              <a:t> </a:t>
            </a:r>
            <a:r>
              <a:rPr lang="en-US" altLang="ko-KR" sz="2400" dirty="0"/>
              <a:t>Event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535720-056A-6F15-1608-D56D58E7FB13}"/>
              </a:ext>
            </a:extLst>
          </p:cNvPr>
          <p:cNvSpPr txBox="1"/>
          <p:nvPr/>
        </p:nvSpPr>
        <p:spPr>
          <a:xfrm>
            <a:off x="2608264" y="3558702"/>
            <a:ext cx="6112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✔️ </a:t>
            </a:r>
            <a:r>
              <a:rPr lang="en-US" altLang="ko-KR" sz="2400" dirty="0"/>
              <a:t>React</a:t>
            </a:r>
            <a:r>
              <a:rPr lang="ko-KR" altLang="en-US" sz="2400" dirty="0"/>
              <a:t> </a:t>
            </a:r>
            <a:r>
              <a:rPr lang="en-US" altLang="ko-KR" sz="2400" dirty="0"/>
              <a:t>Event</a:t>
            </a:r>
            <a:endParaRPr lang="ko-KR" altLang="en-US" sz="2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1EF384-7F15-49E6-EECA-DF9F75D5687A}"/>
              </a:ext>
            </a:extLst>
          </p:cNvPr>
          <p:cNvSpPr/>
          <p:nvPr/>
        </p:nvSpPr>
        <p:spPr>
          <a:xfrm>
            <a:off x="4373880" y="1684946"/>
            <a:ext cx="1391920" cy="46166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B006382-B9FF-981B-1908-56D22C4ED010}"/>
              </a:ext>
            </a:extLst>
          </p:cNvPr>
          <p:cNvSpPr/>
          <p:nvPr/>
        </p:nvSpPr>
        <p:spPr>
          <a:xfrm>
            <a:off x="4526280" y="4142854"/>
            <a:ext cx="1391920" cy="46166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5670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1FB64E-4F00-DC11-FDAA-697E95DDC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1️⃣ React</a:t>
            </a:r>
            <a:r>
              <a:rPr lang="ko-KR" altLang="en-US" sz="2400" dirty="0"/>
              <a:t>의 이벤트는 </a:t>
            </a:r>
            <a:r>
              <a:rPr lang="ko-KR" altLang="en-US" sz="2400" dirty="0" err="1"/>
              <a:t>핸들러는</a:t>
            </a:r>
            <a:r>
              <a:rPr lang="ko-KR" altLang="en-US" sz="2400" dirty="0"/>
              <a:t> 소문자가 아닌 </a:t>
            </a:r>
            <a:r>
              <a:rPr lang="ko-KR" altLang="en-US" sz="2400" dirty="0">
                <a:solidFill>
                  <a:schemeClr val="accent1"/>
                </a:solidFill>
              </a:rPr>
              <a:t>카멜 케이스</a:t>
            </a:r>
            <a:r>
              <a:rPr lang="en-US" altLang="ko-KR" sz="2400" dirty="0">
                <a:solidFill>
                  <a:schemeClr val="accent1"/>
                </a:solidFill>
              </a:rPr>
              <a:t>(camelCase)</a:t>
            </a:r>
            <a:r>
              <a:rPr lang="ko-KR" altLang="en-US" sz="2400" dirty="0"/>
              <a:t>를 사용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ex. onclick </a:t>
            </a:r>
            <a:r>
              <a:rPr lang="ko-KR" altLang="en-US" sz="2000" dirty="0"/>
              <a:t>➡ </a:t>
            </a:r>
            <a:r>
              <a:rPr lang="en-US" altLang="ko-KR" sz="2000" dirty="0" err="1"/>
              <a:t>onClick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2️⃣ JSX</a:t>
            </a:r>
            <a:r>
              <a:rPr lang="ko-KR" altLang="en-US" sz="2400" dirty="0"/>
              <a:t>를 사용해 이벤트 </a:t>
            </a:r>
            <a:r>
              <a:rPr lang="ko-KR" altLang="en-US" sz="2400" dirty="0" err="1"/>
              <a:t>핸들러를</a:t>
            </a:r>
            <a:r>
              <a:rPr lang="ko-KR" altLang="en-US" sz="2400" dirty="0"/>
              <a:t> 전달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함수의 실행이 아닌 함수 자체를 전달</a:t>
            </a: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solidFill>
                  <a:schemeClr val="accent1"/>
                </a:solidFill>
              </a:rPr>
              <a:t>3️⃣ </a:t>
            </a:r>
            <a:r>
              <a:rPr lang="ko-KR" altLang="en-US" sz="2400" dirty="0">
                <a:solidFill>
                  <a:schemeClr val="accent1"/>
                </a:solidFill>
              </a:rPr>
              <a:t>기본 </a:t>
            </a:r>
            <a:r>
              <a:rPr lang="en-US" altLang="ko-KR" sz="2400" dirty="0">
                <a:solidFill>
                  <a:schemeClr val="accent1"/>
                </a:solidFill>
              </a:rPr>
              <a:t>DOM </a:t>
            </a:r>
            <a:r>
              <a:rPr lang="ko-KR" altLang="en-US" sz="2400" dirty="0">
                <a:solidFill>
                  <a:schemeClr val="accent1"/>
                </a:solidFill>
              </a:rPr>
              <a:t>요소에만 </a:t>
            </a:r>
            <a:r>
              <a:rPr lang="ko-KR" altLang="en-US" sz="2400" dirty="0"/>
              <a:t>이벤트를 설정 가능</a:t>
            </a: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9C73BA-05AB-CFC8-9436-46F8C6801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FB1EE-E7B1-4C9E-8657-7267753DFD72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043475-D0E2-D9DA-2F0A-3B596D3EC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D5DA34B-BD5E-6F7D-62FD-07DB62C80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의 </a:t>
            </a:r>
            <a:r>
              <a:rPr lang="en-US" altLang="ko-KR" dirty="0"/>
              <a:t>Event handler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E613C5E-A34A-B14C-2161-563B1FF29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30" y="3580331"/>
            <a:ext cx="3945529" cy="97495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5BF447F-195E-9C5F-82FE-32E709D82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344" y="3580331"/>
            <a:ext cx="3674838" cy="974957"/>
          </a:xfrm>
          <a:prstGeom prst="rect">
            <a:avLst/>
          </a:prstGeom>
        </p:spPr>
      </p:pic>
      <p:sp>
        <p:nvSpPr>
          <p:cNvPr id="10" name="십자형 9">
            <a:extLst>
              <a:ext uri="{FF2B5EF4-FFF2-40B4-BE49-F238E27FC236}">
                <a16:creationId xmlns:a16="http://schemas.microsoft.com/office/drawing/2014/main" id="{446C1545-0802-B8DD-B57A-58003EF26364}"/>
              </a:ext>
            </a:extLst>
          </p:cNvPr>
          <p:cNvSpPr/>
          <p:nvPr/>
        </p:nvSpPr>
        <p:spPr>
          <a:xfrm rot="2769033">
            <a:off x="4270619" y="3978260"/>
            <a:ext cx="574935" cy="574935"/>
          </a:xfrm>
          <a:prstGeom prst="plus">
            <a:avLst>
              <a:gd name="adj" fmla="val 3873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원형: 비어 있음 10">
            <a:extLst>
              <a:ext uri="{FF2B5EF4-FFF2-40B4-BE49-F238E27FC236}">
                <a16:creationId xmlns:a16="http://schemas.microsoft.com/office/drawing/2014/main" id="{E3EA19D2-8302-9792-6A7C-8394A469006D}"/>
              </a:ext>
            </a:extLst>
          </p:cNvPr>
          <p:cNvSpPr/>
          <p:nvPr/>
        </p:nvSpPr>
        <p:spPr>
          <a:xfrm>
            <a:off x="8223209" y="4025545"/>
            <a:ext cx="529743" cy="529743"/>
          </a:xfrm>
          <a:prstGeom prst="donut">
            <a:avLst>
              <a:gd name="adj" fmla="val 2625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3442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659164-56CC-323D-F86E-CDDC34C6F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92EB6-6BAC-455A-B68D-8451BA06159C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B22CE3-1211-B61A-01FB-C2FCF434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82ED02-3326-D1A1-E9D0-68ECC6297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이벤트 </a:t>
            </a:r>
            <a:r>
              <a:rPr lang="ko-KR" altLang="en-US" dirty="0" err="1"/>
              <a:t>핸들러</a:t>
            </a:r>
            <a:r>
              <a:rPr lang="ko-KR" altLang="en-US" dirty="0"/>
              <a:t> 함수에서 인자 사용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479E736-7E70-74AC-BC6C-57A0C9B0F8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048" r="43959" b="62326"/>
          <a:stretch/>
        </p:blipFill>
        <p:spPr>
          <a:xfrm>
            <a:off x="928037" y="2586040"/>
            <a:ext cx="7104789" cy="5665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05E14B6-AD0E-260E-6939-0AC4281311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889" r="3505" b="3505"/>
          <a:stretch/>
        </p:blipFill>
        <p:spPr>
          <a:xfrm>
            <a:off x="918512" y="4013610"/>
            <a:ext cx="10354975" cy="8210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A0997B-C4AF-AE95-043B-3CB7DA8EF8CA}"/>
              </a:ext>
            </a:extLst>
          </p:cNvPr>
          <p:cNvSpPr txBox="1"/>
          <p:nvPr/>
        </p:nvSpPr>
        <p:spPr>
          <a:xfrm>
            <a:off x="783090" y="2211615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✅ 함수에 인자가 없는 경우</a:t>
            </a:r>
            <a:endParaRPr lang="en-US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1FE0DA-F592-B5D8-6BED-1664568A5542}"/>
              </a:ext>
            </a:extLst>
          </p:cNvPr>
          <p:cNvSpPr txBox="1"/>
          <p:nvPr/>
        </p:nvSpPr>
        <p:spPr>
          <a:xfrm>
            <a:off x="783090" y="3630107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✅ 함수에 인자가 있는 경우</a:t>
            </a:r>
          </a:p>
        </p:txBody>
      </p:sp>
    </p:spTree>
    <p:extLst>
      <p:ext uri="{BB962C8B-B14F-4D97-AF65-F5344CB8AC3E}">
        <p14:creationId xmlns:p14="http://schemas.microsoft.com/office/powerpoint/2010/main" val="3598587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CE0EA-9754-56E3-2F2C-B6A43B7F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436B5-71DF-AFE2-082C-F2EF7EA23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92EB6-6BAC-455A-B68D-8451BA06159C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F1F4A0-6B4A-3439-1A13-5BF9A5C5B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2214F30-C287-F2A5-C245-01D280365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Controlled Component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123DFDE-DCE0-891F-A227-84F4C66F20D7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46657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💡입력 요소의 값</a:t>
            </a:r>
            <a:r>
              <a:rPr lang="en-US" altLang="ko-KR" sz="2400" dirty="0"/>
              <a:t>(value)</a:t>
            </a:r>
            <a:r>
              <a:rPr lang="ko-KR" altLang="en-US" sz="2400" dirty="0"/>
              <a:t>을 </a:t>
            </a:r>
            <a:r>
              <a:rPr lang="en-US" altLang="ko-KR" sz="2400" dirty="0"/>
              <a:t>React state</a:t>
            </a:r>
            <a:r>
              <a:rPr lang="ko-KR" altLang="en-US" sz="2400" dirty="0"/>
              <a:t>로 관리하는 컴포넌트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onChange</a:t>
            </a:r>
            <a:r>
              <a:rPr lang="en-US" altLang="ko-KR" sz="2000" dirty="0"/>
              <a:t> </a:t>
            </a:r>
            <a:r>
              <a:rPr lang="ko-KR" altLang="en-US" sz="2000" dirty="0"/>
              <a:t>이벤트를 통해 </a:t>
            </a:r>
            <a:r>
              <a:rPr lang="en-US" altLang="ko-KR" sz="2000" dirty="0"/>
              <a:t>state</a:t>
            </a:r>
            <a:r>
              <a:rPr lang="ko-KR" altLang="en-US" sz="2000" dirty="0"/>
              <a:t>가 즉시 업데이트됨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React</a:t>
            </a:r>
            <a:r>
              <a:rPr lang="ko-KR" altLang="en-US" sz="2000" dirty="0"/>
              <a:t>가 </a:t>
            </a:r>
            <a:r>
              <a:rPr lang="en-US" altLang="ko-KR" sz="2000" dirty="0"/>
              <a:t>UI </a:t>
            </a:r>
            <a:r>
              <a:rPr lang="ko-KR" altLang="en-US" sz="2000" dirty="0"/>
              <a:t>상태를 완전히 제어 ➡️ 권장 방식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↔️ 📌 </a:t>
            </a:r>
            <a:r>
              <a:rPr lang="en-US" altLang="ko-KR" sz="2400" dirty="0"/>
              <a:t>Uncontrolled Component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입력 요소의 값이 </a:t>
            </a:r>
            <a:r>
              <a:rPr lang="en-US" altLang="ko-KR" sz="2000" dirty="0"/>
              <a:t>DOM </a:t>
            </a:r>
            <a:r>
              <a:rPr lang="ko-KR" altLang="en-US" sz="2000" dirty="0"/>
              <a:t>자체에서 관리됨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ref</a:t>
            </a:r>
            <a:r>
              <a:rPr lang="ko-KR" altLang="en-US" sz="2000" dirty="0"/>
              <a:t>를 사용해 </a:t>
            </a:r>
            <a:r>
              <a:rPr lang="en-US" altLang="ko-KR" sz="2000" dirty="0"/>
              <a:t>DOM </a:t>
            </a:r>
            <a:r>
              <a:rPr lang="ko-KR" altLang="en-US" sz="2000" dirty="0"/>
              <a:t>값에 직접 접근 ➡️ 빠른 테스트나 간단한 입력창에 사용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685576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1D3D8-7DBC-FBC5-EB93-2BAE7AF14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0FC115-5D5D-D444-8D9E-64D4F3275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92EB6-6BAC-455A-B68D-8451BA06159C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F527D8-6087-27ED-589F-7D5C36BEF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D1E9AF8-FB8C-AA6E-B2BA-AA10FEE7E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Controlled Component</a:t>
            </a:r>
            <a:endParaRPr lang="ko-KR" altLang="en-US" dirty="0"/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3B0941-E0D3-5709-9573-2DD399E0DF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50" y="1045122"/>
            <a:ext cx="10020300" cy="55162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291E07-27DD-07D1-3BBE-44AA5C0AA2EF}"/>
              </a:ext>
            </a:extLst>
          </p:cNvPr>
          <p:cNvSpPr txBox="1"/>
          <p:nvPr/>
        </p:nvSpPr>
        <p:spPr>
          <a:xfrm>
            <a:off x="1516515" y="1145407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</a:t>
            </a:r>
            <a:r>
              <a:rPr lang="en-US" altLang="ko-KR" sz="2400" dirty="0" err="1"/>
              <a:t>onChange</a:t>
            </a:r>
            <a:r>
              <a:rPr lang="en-US" altLang="ko-KR" sz="2400" dirty="0"/>
              <a:t> </a:t>
            </a:r>
            <a:r>
              <a:rPr lang="ko-KR" altLang="en-US" sz="2400" dirty="0"/>
              <a:t>사용 예시</a:t>
            </a:r>
            <a:endParaRPr lang="en-US" altLang="ko-KR" sz="24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DD2FD1-EF31-29D1-8E95-AA645317BA7F}"/>
              </a:ext>
            </a:extLst>
          </p:cNvPr>
          <p:cNvSpPr/>
          <p:nvPr/>
        </p:nvSpPr>
        <p:spPr>
          <a:xfrm>
            <a:off x="3045822" y="4253974"/>
            <a:ext cx="4029891" cy="259969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31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 </a:t>
            </a:r>
            <a:r>
              <a:rPr lang="ko-KR" altLang="en-US" dirty="0">
                <a:solidFill>
                  <a:srgbClr val="ED7D31"/>
                </a:solidFill>
              </a:rPr>
              <a:t>이벤트 핸들링</a:t>
            </a:r>
            <a:r>
              <a:rPr lang="en-US" altLang="ko-KR" dirty="0">
                <a:solidFill>
                  <a:srgbClr val="ED7D31"/>
                </a:solidFill>
              </a:rPr>
              <a:t> </a:t>
            </a:r>
            <a:r>
              <a:rPr lang="ko-KR" altLang="en-US" dirty="0">
                <a:solidFill>
                  <a:srgbClr val="ED7D31"/>
                </a:solidFill>
              </a:rPr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이벤트 핸들링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[1~3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8527730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E9B434-8977-A422-69B8-4F63EBA50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ECA0C-8384-4A80-8CAF-F40503FCCF4C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E3E9B0-C628-12AF-B688-62BAA3A8B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C705268-880D-AF4E-8A90-8B152EB81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</a:t>
            </a:r>
            <a:r>
              <a:rPr lang="ko-KR" altLang="en-US" dirty="0">
                <a:solidFill>
                  <a:srgbClr val="ED7D31"/>
                </a:solidFill>
              </a:rPr>
              <a:t> 종합 실습 </a:t>
            </a:r>
            <a:r>
              <a:rPr lang="en-US" altLang="ko-KR" dirty="0">
                <a:solidFill>
                  <a:srgbClr val="ED7D31"/>
                </a:solidFill>
              </a:rPr>
              <a:t>(props, state, event)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3" name="20230927-0126-48.739542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514543" y="1816372"/>
            <a:ext cx="4871811" cy="326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7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Hooks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  <p:pic>
        <p:nvPicPr>
          <p:cNvPr id="5" name="Picture 2" descr="0302 CI2 Hooks">
            <a:extLst>
              <a:ext uri="{FF2B5EF4-FFF2-40B4-BE49-F238E27FC236}">
                <a16:creationId xmlns:a16="http://schemas.microsoft.com/office/drawing/2014/main" id="{A92E17E2-EAC4-7051-07D7-3C3BE4460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39107">
            <a:off x="8885173" y="3309238"/>
            <a:ext cx="2083777" cy="2083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3888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BA535A-322E-1646-CF09-63873BF8C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9A52-66EB-4C85-B703-18792A161207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066AF9-BB3C-686E-909F-CE3BE0BF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1A36B4-A46B-4E8E-E378-EA3A6D84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Hooks?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DC36583-0C3F-622A-0ABA-D2E6201B6B89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46657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</a:t>
            </a:r>
            <a:r>
              <a:rPr lang="en-US" altLang="ko-KR" sz="2400" dirty="0"/>
              <a:t>React </a:t>
            </a:r>
            <a:r>
              <a:rPr lang="ko-KR" altLang="en-US" sz="2400" dirty="0"/>
              <a:t>함수형 컴포넌트에서 </a:t>
            </a:r>
            <a:r>
              <a:rPr lang="en-US" altLang="ko-KR" sz="2400" dirty="0"/>
              <a:t>state</a:t>
            </a:r>
            <a:r>
              <a:rPr lang="ko-KR" altLang="en-US" sz="2400" dirty="0"/>
              <a:t>와 </a:t>
            </a:r>
            <a:r>
              <a:rPr lang="en-US" altLang="ko-KR" sz="2400" dirty="0"/>
              <a:t>React</a:t>
            </a:r>
            <a:r>
              <a:rPr lang="ko-KR" altLang="en-US" sz="2400" dirty="0"/>
              <a:t>의 기능을 사용할 수 있게 해주는 함수들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2018</a:t>
            </a:r>
            <a:r>
              <a:rPr lang="ko-KR" altLang="en-US" sz="2000" dirty="0"/>
              <a:t>년 </a:t>
            </a:r>
            <a:r>
              <a:rPr lang="en-US" altLang="ko-KR" sz="2000" dirty="0"/>
              <a:t>10</a:t>
            </a:r>
            <a:r>
              <a:rPr lang="ko-KR" altLang="en-US" sz="2000" dirty="0"/>
              <a:t>월에 </a:t>
            </a:r>
            <a:r>
              <a:rPr lang="en" altLang="ko-Kore-KR" sz="2000" dirty="0"/>
              <a:t>React </a:t>
            </a:r>
            <a:r>
              <a:rPr lang="ko-KR" altLang="en-US" sz="2000" dirty="0"/>
              <a:t>컨퍼런스에서 처음으로 소개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2019</a:t>
            </a:r>
            <a:r>
              <a:rPr lang="ko-KR" altLang="en-US" sz="2000" dirty="0"/>
              <a:t>년에 </a:t>
            </a:r>
            <a:r>
              <a:rPr lang="en" altLang="ko-Kore-KR" sz="2000" dirty="0"/>
              <a:t>React</a:t>
            </a:r>
            <a:r>
              <a:rPr lang="ko-KR" altLang="en-US" sz="2000" dirty="0"/>
              <a:t>의 </a:t>
            </a:r>
            <a:r>
              <a:rPr lang="en-US" altLang="ko-KR" sz="2000" dirty="0"/>
              <a:t>16.8 </a:t>
            </a:r>
            <a:r>
              <a:rPr lang="ko-KR" altLang="en-US" sz="2000" dirty="0"/>
              <a:t>버전에서 공식적으로 소개되고 사용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🔎 </a:t>
            </a:r>
            <a:r>
              <a:rPr lang="en-US" altLang="ko-KR" sz="2000" dirty="0"/>
              <a:t>Hook</a:t>
            </a:r>
            <a:r>
              <a:rPr lang="ko-KR" altLang="en-US" sz="2000" dirty="0"/>
              <a:t>의 의미</a:t>
            </a:r>
            <a:r>
              <a:rPr lang="en-US" altLang="ko-KR" sz="2000" dirty="0"/>
              <a:t> : React </a:t>
            </a:r>
            <a:r>
              <a:rPr lang="ko-KR" altLang="en-US" sz="2000" dirty="0"/>
              <a:t>기능에 연결되는 지점</a:t>
            </a:r>
            <a:r>
              <a:rPr lang="en-US" altLang="ko-KR" sz="2000" dirty="0"/>
              <a:t>(</a:t>
            </a:r>
            <a:r>
              <a:rPr lang="ko-KR" altLang="en-US" sz="2000" dirty="0"/>
              <a:t>걸어 쓸 수 있게 한다는 의미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endParaRPr lang="en-US" altLang="ko-KR" sz="2400" dirty="0"/>
          </a:p>
        </p:txBody>
      </p:sp>
      <p:pic>
        <p:nvPicPr>
          <p:cNvPr id="1026" name="Picture 2" descr="React 훅(Hook) 사용하기">
            <a:extLst>
              <a:ext uri="{FF2B5EF4-FFF2-40B4-BE49-F238E27FC236}">
                <a16:creationId xmlns:a16="http://schemas.microsoft.com/office/drawing/2014/main" id="{3606E166-A070-7160-8F34-FCAC87B3F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745" y="4232384"/>
            <a:ext cx="3482467" cy="1903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4907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28FA23-ED55-B322-71E7-521AEE0A2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1️⃣ </a:t>
            </a:r>
            <a:r>
              <a:rPr lang="ko-KR" altLang="en-US" sz="2400" dirty="0"/>
              <a:t>최상위 단계에서만 호출 가능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최상위 </a:t>
            </a:r>
            <a:r>
              <a:rPr lang="ko-KR" altLang="en-US" sz="2000" b="1" dirty="0">
                <a:solidFill>
                  <a:schemeClr val="accent1"/>
                </a:solidFill>
              </a:rPr>
              <a:t>컴포넌트</a:t>
            </a:r>
            <a:r>
              <a:rPr lang="ko-KR" altLang="en-US" sz="2000" dirty="0"/>
              <a:t> </a:t>
            </a:r>
            <a:r>
              <a:rPr lang="en-US" altLang="ko-KR" sz="2000" dirty="0"/>
              <a:t>X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반복문</a:t>
            </a:r>
            <a:r>
              <a:rPr lang="en-US" altLang="ko-KR" sz="2000" dirty="0"/>
              <a:t>, </a:t>
            </a:r>
            <a:r>
              <a:rPr lang="ko-KR" altLang="en-US" sz="2000" dirty="0"/>
              <a:t>조건문</a:t>
            </a:r>
            <a:r>
              <a:rPr lang="en-US" altLang="ko-KR" sz="2000" dirty="0"/>
              <a:t>, </a:t>
            </a:r>
            <a:r>
              <a:rPr lang="ko-KR" altLang="en-US" sz="2000" dirty="0"/>
              <a:t>중첩된 함수 내부에서 호출하면 안 되는 것</a:t>
            </a:r>
            <a:r>
              <a:rPr lang="en-US" altLang="ko-KR" sz="2000" dirty="0"/>
              <a:t>!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이유</a:t>
            </a:r>
            <a:r>
              <a:rPr lang="en-US" altLang="ko-KR" sz="2000" dirty="0"/>
              <a:t>: </a:t>
            </a:r>
            <a:r>
              <a:rPr lang="ko-KR" altLang="en-US" sz="2000" dirty="0"/>
              <a:t>호출 순서가 매번 동일해야 </a:t>
            </a:r>
            <a:r>
              <a:rPr lang="en-US" altLang="ko-KR" sz="2000" dirty="0"/>
              <a:t>React</a:t>
            </a:r>
            <a:r>
              <a:rPr lang="ko-KR" altLang="en-US" sz="2000" dirty="0"/>
              <a:t>가 올바르게 </a:t>
            </a:r>
            <a:r>
              <a:rPr lang="en-US" altLang="ko-KR" sz="2000" dirty="0"/>
              <a:t>state</a:t>
            </a:r>
            <a:r>
              <a:rPr lang="ko-KR" altLang="en-US" sz="2000" dirty="0"/>
              <a:t>를 추적할 수 있기 때문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2️⃣ Hook</a:t>
            </a:r>
            <a:r>
              <a:rPr lang="ko-KR" altLang="en-US" sz="2400" dirty="0"/>
              <a:t>은</a:t>
            </a:r>
            <a:r>
              <a:rPr lang="en-US" altLang="ko-KR" sz="2400" dirty="0"/>
              <a:t> </a:t>
            </a:r>
            <a:r>
              <a:rPr lang="ko-KR" altLang="en-US" sz="2400" dirty="0"/>
              <a:t>오로지 </a:t>
            </a:r>
            <a:r>
              <a:rPr lang="en-US" altLang="ko-KR" sz="2400" b="1" dirty="0">
                <a:solidFill>
                  <a:schemeClr val="accent1"/>
                </a:solidFill>
              </a:rPr>
              <a:t>React </a:t>
            </a:r>
            <a:r>
              <a:rPr lang="ko-KR" altLang="en-US" sz="2400" b="1" dirty="0">
                <a:solidFill>
                  <a:schemeClr val="accent1"/>
                </a:solidFill>
              </a:rPr>
              <a:t>함수형 컴포넌트 </a:t>
            </a:r>
            <a:r>
              <a:rPr lang="ko-KR" altLang="en-US" sz="2400" b="1" dirty="0"/>
              <a:t>안에서만 호출</a:t>
            </a:r>
            <a:r>
              <a:rPr lang="ko-KR" altLang="en-US" sz="2400" dirty="0"/>
              <a:t> 가능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일반 </a:t>
            </a:r>
            <a:r>
              <a:rPr lang="en-US" altLang="ko-KR" sz="2000" dirty="0"/>
              <a:t>JS </a:t>
            </a:r>
            <a:r>
              <a:rPr lang="ko-KR" altLang="en-US" sz="2000" dirty="0"/>
              <a:t>함수에서는 사용 불가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오직 </a:t>
            </a:r>
            <a:r>
              <a:rPr lang="en-US" altLang="ko-KR" sz="2000" dirty="0"/>
              <a:t>React </a:t>
            </a:r>
            <a:r>
              <a:rPr lang="ko-KR" altLang="en-US" sz="2000" dirty="0"/>
              <a:t>컴포넌트와 커스텀 </a:t>
            </a:r>
            <a:r>
              <a:rPr lang="en-US" altLang="ko-KR" sz="2000" dirty="0"/>
              <a:t>Hook</a:t>
            </a:r>
            <a:r>
              <a:rPr lang="ko-KR" altLang="en-US" sz="2000" dirty="0"/>
              <a:t>에서만 사용 가능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i="0" dirty="0">
                <a:effectLst/>
                <a:latin typeface="Söhne"/>
              </a:rPr>
              <a:t>3️⃣ </a:t>
            </a:r>
            <a:r>
              <a:rPr lang="ko-KR" altLang="en-US" sz="2400" i="0" dirty="0">
                <a:effectLst/>
                <a:latin typeface="Söhne"/>
              </a:rPr>
              <a:t>커스텀 훅 이름은 </a:t>
            </a:r>
            <a:r>
              <a:rPr lang="en-US" altLang="ko-KR" sz="2400" i="0" dirty="0">
                <a:effectLst/>
                <a:latin typeface="Söhne"/>
              </a:rPr>
              <a:t>"</a:t>
            </a:r>
            <a:r>
              <a:rPr lang="en" altLang="ko-Kore-KR" sz="2400" i="0" dirty="0">
                <a:effectLst/>
                <a:latin typeface="Söhne"/>
              </a:rPr>
              <a:t>use"</a:t>
            </a:r>
            <a:r>
              <a:rPr lang="ko-KR" altLang="en-US" sz="2400" i="0" dirty="0">
                <a:effectLst/>
                <a:latin typeface="Söhne"/>
              </a:rPr>
              <a:t>로 시작</a:t>
            </a:r>
            <a:r>
              <a:rPr lang="en-US" altLang="ko-KR" sz="2400" i="0" dirty="0">
                <a:effectLst/>
                <a:latin typeface="Söhne"/>
              </a:rPr>
              <a:t>(</a:t>
            </a:r>
            <a:r>
              <a:rPr lang="ko-KR" altLang="en-US" sz="2400" i="0" dirty="0">
                <a:effectLst/>
                <a:latin typeface="Söhne"/>
              </a:rPr>
              <a:t>권장사항</a:t>
            </a:r>
            <a:r>
              <a:rPr lang="en-US" altLang="ko-KR" sz="2400" i="0" dirty="0">
                <a:effectLst/>
                <a:latin typeface="Söhne"/>
              </a:rPr>
              <a:t>)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68B9FA-2BBC-5D2A-D4C4-DE831E0E9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B7C07-52EA-4677-8F9D-91072C84880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294CD9-D9F3-7B1C-4256-B4F0C61E2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C2E6B20-C229-57FF-D37D-653F3A46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Hooks </a:t>
            </a:r>
            <a:r>
              <a:rPr lang="ko-KR" altLang="en-US" dirty="0"/>
              <a:t>사용 규칙</a:t>
            </a:r>
          </a:p>
        </p:txBody>
      </p:sp>
    </p:spTree>
    <p:extLst>
      <p:ext uri="{BB962C8B-B14F-4D97-AF65-F5344CB8AC3E}">
        <p14:creationId xmlns:p14="http://schemas.microsoft.com/office/powerpoint/2010/main" val="32794140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2F3DB7-C33E-15E6-6299-1E30427B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52AA5-531F-18AC-1ECE-DBD663C1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648BD5-3E72-77F1-9DDB-17F4C2BD3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03" y="2393298"/>
            <a:ext cx="10612821" cy="30606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334DF1-A5B1-A8CA-BBC0-789018DDACB3}"/>
              </a:ext>
            </a:extLst>
          </p:cNvPr>
          <p:cNvSpPr txBox="1"/>
          <p:nvPr/>
        </p:nvSpPr>
        <p:spPr>
          <a:xfrm>
            <a:off x="759865" y="1039333"/>
            <a:ext cx="4926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chemeClr val="accent5"/>
                </a:solidFill>
              </a:rPr>
              <a:t>올바른</a:t>
            </a:r>
            <a:r>
              <a:rPr lang="ko-KR" altLang="en-US" sz="2800" dirty="0"/>
              <a:t> 사용 예시 🔵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24C37-2AC4-D155-D285-069C219713C5}"/>
              </a:ext>
            </a:extLst>
          </p:cNvPr>
          <p:cNvSpPr txBox="1"/>
          <p:nvPr/>
        </p:nvSpPr>
        <p:spPr>
          <a:xfrm>
            <a:off x="759865" y="1562553"/>
            <a:ext cx="3799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n-ea"/>
              </a:rPr>
              <a:t>1. </a:t>
            </a:r>
            <a:r>
              <a:rPr lang="ko-KR" altLang="en-US" sz="2400" dirty="0">
                <a:solidFill>
                  <a:schemeClr val="accent1"/>
                </a:solidFill>
                <a:latin typeface="+mn-ea"/>
              </a:rPr>
              <a:t>조건문</a:t>
            </a:r>
            <a:r>
              <a:rPr lang="ko-KR" altLang="en-US" sz="2400" dirty="0">
                <a:latin typeface="+mn-ea"/>
              </a:rPr>
              <a:t> 밖에서 호출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5B08F5B-054F-CC86-39E5-30734B457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Hooks </a:t>
            </a:r>
            <a:r>
              <a:rPr lang="ko-KR" altLang="en-US" dirty="0"/>
              <a:t>사용 규칙</a:t>
            </a:r>
          </a:p>
        </p:txBody>
      </p:sp>
    </p:spTree>
    <p:extLst>
      <p:ext uri="{BB962C8B-B14F-4D97-AF65-F5344CB8AC3E}">
        <p14:creationId xmlns:p14="http://schemas.microsoft.com/office/powerpoint/2010/main" val="22413345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2F3DB7-C33E-15E6-6299-1E30427B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52AA5-531F-18AC-1ECE-DBD663C1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24C37-2AC4-D155-D285-069C219713C5}"/>
              </a:ext>
            </a:extLst>
          </p:cNvPr>
          <p:cNvSpPr txBox="1"/>
          <p:nvPr/>
        </p:nvSpPr>
        <p:spPr>
          <a:xfrm>
            <a:off x="759865" y="1562553"/>
            <a:ext cx="3799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2. </a:t>
            </a:r>
            <a:r>
              <a:rPr lang="ko-KR" altLang="en-US" sz="2400" dirty="0" err="1">
                <a:solidFill>
                  <a:schemeClr val="accent1"/>
                </a:solidFill>
              </a:rPr>
              <a:t>반복문</a:t>
            </a:r>
            <a:r>
              <a:rPr lang="ko-KR" altLang="en-US" sz="2400" dirty="0"/>
              <a:t> 밖에서 호출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AE6BE9E-11B8-EBC7-75D8-7DA6925D6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23" y="2126488"/>
            <a:ext cx="10571253" cy="41123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4E249A-E12E-F937-C1B3-463880C0E9A8}"/>
              </a:ext>
            </a:extLst>
          </p:cNvPr>
          <p:cNvSpPr txBox="1"/>
          <p:nvPr/>
        </p:nvSpPr>
        <p:spPr>
          <a:xfrm>
            <a:off x="759865" y="1039333"/>
            <a:ext cx="4926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chemeClr val="accent5"/>
                </a:solidFill>
              </a:rPr>
              <a:t>올바른</a:t>
            </a:r>
            <a:r>
              <a:rPr lang="ko-KR" altLang="en-US" sz="2800" dirty="0"/>
              <a:t> 사용 예시 🔵 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6CD6578-1D01-31C9-9AE8-316A9DF0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Hooks </a:t>
            </a:r>
            <a:r>
              <a:rPr lang="ko-KR" altLang="en-US" dirty="0"/>
              <a:t>사용 규칙</a:t>
            </a:r>
          </a:p>
        </p:txBody>
      </p:sp>
    </p:spTree>
    <p:extLst>
      <p:ext uri="{BB962C8B-B14F-4D97-AF65-F5344CB8AC3E}">
        <p14:creationId xmlns:p14="http://schemas.microsoft.com/office/powerpoint/2010/main" val="18105488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2F3DB7-C33E-15E6-6299-1E30427B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52AA5-531F-18AC-1ECE-DBD663C1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24C37-2AC4-D155-D285-069C219713C5}"/>
              </a:ext>
            </a:extLst>
          </p:cNvPr>
          <p:cNvSpPr txBox="1"/>
          <p:nvPr/>
        </p:nvSpPr>
        <p:spPr>
          <a:xfrm>
            <a:off x="759865" y="1562553"/>
            <a:ext cx="4363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3. </a:t>
            </a:r>
            <a:r>
              <a:rPr lang="ko-KR" altLang="en-US" sz="2400" dirty="0">
                <a:solidFill>
                  <a:schemeClr val="accent1"/>
                </a:solidFill>
              </a:rPr>
              <a:t>중첩된 함수 </a:t>
            </a:r>
            <a:r>
              <a:rPr lang="ko-KR" altLang="en-US" sz="2400" dirty="0"/>
              <a:t>밖에서 호출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BD710C-8162-58E5-8E01-1B35C9C0F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079" y="1300943"/>
            <a:ext cx="6302594" cy="465321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2DBBBDA-5CA6-B652-B6D4-B1A9CD6F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Hooks </a:t>
            </a:r>
            <a:r>
              <a:rPr lang="ko-KR" altLang="en-US" dirty="0"/>
              <a:t>사용 규칙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37BFD2-780A-16E1-2173-9B5AB2BDEA2F}"/>
              </a:ext>
            </a:extLst>
          </p:cNvPr>
          <p:cNvSpPr txBox="1"/>
          <p:nvPr/>
        </p:nvSpPr>
        <p:spPr>
          <a:xfrm>
            <a:off x="759865" y="1039333"/>
            <a:ext cx="4926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chemeClr val="accent5"/>
                </a:solidFill>
              </a:rPr>
              <a:t>올바른</a:t>
            </a:r>
            <a:r>
              <a:rPr lang="ko-KR" altLang="en-US" sz="2800" dirty="0"/>
              <a:t> 사용 예시 🔵 </a:t>
            </a:r>
          </a:p>
        </p:txBody>
      </p:sp>
    </p:spTree>
    <p:extLst>
      <p:ext uri="{BB962C8B-B14F-4D97-AF65-F5344CB8AC3E}">
        <p14:creationId xmlns:p14="http://schemas.microsoft.com/office/powerpoint/2010/main" val="15010795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2F3DB7-C33E-15E6-6299-1E30427B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52AA5-531F-18AC-1ECE-DBD663C1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24C37-2AC4-D155-D285-069C219713C5}"/>
              </a:ext>
            </a:extLst>
          </p:cNvPr>
          <p:cNvSpPr txBox="1"/>
          <p:nvPr/>
        </p:nvSpPr>
        <p:spPr>
          <a:xfrm>
            <a:off x="759865" y="1562553"/>
            <a:ext cx="3799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1. </a:t>
            </a:r>
            <a:r>
              <a:rPr lang="ko-KR" altLang="en-US" sz="2400" dirty="0">
                <a:solidFill>
                  <a:schemeClr val="accent1"/>
                </a:solidFill>
              </a:rPr>
              <a:t>조건문</a:t>
            </a:r>
            <a:r>
              <a:rPr lang="ko-KR" altLang="en-US" sz="2400" dirty="0"/>
              <a:t> 내에서 호출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3B8304-1650-AC55-BBE7-7A6311B82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65" y="2349539"/>
            <a:ext cx="10189287" cy="370167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6241669-098E-53F2-7694-5414DF5C6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Hooks </a:t>
            </a:r>
            <a:r>
              <a:rPr lang="ko-KR" altLang="en-US" dirty="0"/>
              <a:t>사용 규칙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9C711-60CA-FF48-7FDD-BC4B92E79E3F}"/>
              </a:ext>
            </a:extLst>
          </p:cNvPr>
          <p:cNvSpPr txBox="1"/>
          <p:nvPr/>
        </p:nvSpPr>
        <p:spPr>
          <a:xfrm>
            <a:off x="759865" y="1039333"/>
            <a:ext cx="4926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FF0000"/>
                </a:solidFill>
              </a:rPr>
              <a:t>잘못된</a:t>
            </a:r>
            <a:r>
              <a:rPr lang="ko-KR" altLang="en-US" sz="2800" dirty="0"/>
              <a:t> 사용 예시 🔴 </a:t>
            </a:r>
          </a:p>
        </p:txBody>
      </p:sp>
    </p:spTree>
    <p:extLst>
      <p:ext uri="{BB962C8B-B14F-4D97-AF65-F5344CB8AC3E}">
        <p14:creationId xmlns:p14="http://schemas.microsoft.com/office/powerpoint/2010/main" val="40861561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2F3DB7-C33E-15E6-6299-1E30427B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52AA5-531F-18AC-1ECE-DBD663C1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24C37-2AC4-D155-D285-069C219713C5}"/>
              </a:ext>
            </a:extLst>
          </p:cNvPr>
          <p:cNvSpPr txBox="1"/>
          <p:nvPr/>
        </p:nvSpPr>
        <p:spPr>
          <a:xfrm>
            <a:off x="759865" y="1562553"/>
            <a:ext cx="3799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2. </a:t>
            </a:r>
            <a:r>
              <a:rPr lang="ko-KR" altLang="en-US" sz="2400" dirty="0" err="1">
                <a:solidFill>
                  <a:schemeClr val="accent1"/>
                </a:solidFill>
              </a:rPr>
              <a:t>반복문</a:t>
            </a:r>
            <a:r>
              <a:rPr lang="ko-KR" altLang="en-US" sz="2400" dirty="0"/>
              <a:t> 내에서 호출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35430A3-946D-2661-EC49-C17685329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21" y="2184738"/>
            <a:ext cx="10583179" cy="382832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CA2406C-EC8C-33AB-755B-E68F41C4B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Hooks </a:t>
            </a:r>
            <a:r>
              <a:rPr lang="ko-KR" altLang="en-US" dirty="0"/>
              <a:t>사용 규칙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7DBAE-9B19-B53A-2BCA-8F76FF093F93}"/>
              </a:ext>
            </a:extLst>
          </p:cNvPr>
          <p:cNvSpPr txBox="1"/>
          <p:nvPr/>
        </p:nvSpPr>
        <p:spPr>
          <a:xfrm>
            <a:off x="759865" y="1039333"/>
            <a:ext cx="4926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FF0000"/>
                </a:solidFill>
              </a:rPr>
              <a:t>잘못된</a:t>
            </a:r>
            <a:r>
              <a:rPr lang="ko-KR" altLang="en-US" sz="2800" dirty="0"/>
              <a:t> 사용 예시 🔴 </a:t>
            </a:r>
          </a:p>
        </p:txBody>
      </p:sp>
    </p:spTree>
    <p:extLst>
      <p:ext uri="{BB962C8B-B14F-4D97-AF65-F5344CB8AC3E}">
        <p14:creationId xmlns:p14="http://schemas.microsoft.com/office/powerpoint/2010/main" val="38782801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0217EC-8662-AD9A-75C2-6502C2114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39151"/>
            <a:ext cx="11688424" cy="466431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err="1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useState</a:t>
            </a:r>
            <a:r>
              <a:rPr lang="en-US" altLang="ko-KR" sz="20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상태 관리를 위한 가장 기본적인 훅</a:t>
            </a:r>
            <a:endParaRPr lang="en-US" altLang="ko-KR" sz="2000" i="0" dirty="0"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" altLang="ko-Kore-KR" sz="20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useRef</a:t>
            </a:r>
            <a:r>
              <a:rPr lang="en-US" altLang="ko-KR" sz="20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en" altLang="ko-Kore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참조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" altLang="ko-Kore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reference)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생성하고 관리할 수 있는 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(</a:t>
            </a:r>
            <a:r>
              <a:rPr lang="en" altLang="ko-Kore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DOM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접근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보존 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useEffect</a:t>
            </a:r>
            <a:r>
              <a:rPr lang="en-US" altLang="ko-KR" sz="20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컴포넌트가 렌더링 될 때마다 특정 작업을 수행하도록 설정할 수 있는 훅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" altLang="ko-Kore-KR" sz="2000" i="0" dirty="0">
                <a:solidFill>
                  <a:schemeClr val="accent1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useMemo</a:t>
            </a:r>
            <a:r>
              <a:rPr lang="en-US" altLang="ko-KR" sz="2000" i="0" dirty="0">
                <a:solidFill>
                  <a:schemeClr val="accent1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en" altLang="ko-Kore-KR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메모이제이션을 통해 함수의 리턴 값을 재사용할 수 있게 해주는 훅</a:t>
            </a:r>
            <a:endParaRPr lang="en-US" altLang="ko-KR" sz="2000" i="0" dirty="0"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" altLang="ko-Kore-KR" sz="2000" i="0" dirty="0">
                <a:solidFill>
                  <a:schemeClr val="accent1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useCallback</a:t>
            </a:r>
            <a:r>
              <a:rPr lang="en-US" altLang="ko-KR" sz="2000" i="0" dirty="0">
                <a:solidFill>
                  <a:schemeClr val="accent1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en" altLang="ko-Kore-KR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함수를 </a:t>
            </a:r>
            <a:r>
              <a:rPr lang="ko-KR" altLang="en-US" sz="2000" i="0" dirty="0" err="1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메모이제이션하여</a:t>
            </a:r>
            <a:r>
              <a:rPr lang="ko-KR" altLang="en-US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불필요한 렌더링을 줄이게 해주는 훅</a:t>
            </a:r>
            <a:endParaRPr lang="en-US" altLang="ko-KR" sz="2000" i="0" dirty="0"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" altLang="ko-Kore-KR" sz="2000" i="0" dirty="0">
                <a:solidFill>
                  <a:schemeClr val="accent1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useReducer</a:t>
            </a:r>
            <a:r>
              <a:rPr lang="en-US" altLang="ko-KR" sz="2000" i="0" dirty="0">
                <a:solidFill>
                  <a:schemeClr val="accent1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en" altLang="ko-Kore-KR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복잡한 컴포넌트 상태 로직을 </a:t>
            </a:r>
            <a:r>
              <a:rPr lang="ko-KR" altLang="en-US" sz="2000" i="0" dirty="0" err="1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리듀서</a:t>
            </a:r>
            <a:r>
              <a:rPr lang="ko-KR" altLang="en-US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함수를 통해 관리할 수 있는 훅</a:t>
            </a:r>
            <a:endParaRPr lang="en-US" altLang="ko-KR" sz="2000" i="0" dirty="0"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" altLang="ko-Kore-KR" sz="2000" i="0" dirty="0">
                <a:solidFill>
                  <a:schemeClr val="accent1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useContext</a:t>
            </a:r>
            <a:r>
              <a:rPr lang="en-US" altLang="ko-KR" sz="2000" i="0" dirty="0">
                <a:solidFill>
                  <a:schemeClr val="accent1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en" altLang="ko-Kore-KR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i="0" dirty="0" err="1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리액트에서</a:t>
            </a:r>
            <a:r>
              <a:rPr lang="ko-KR" altLang="en-US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전역적으로 접근 가능한 데이터나 함수를 관리하고</a:t>
            </a:r>
            <a:r>
              <a:rPr lang="en-US" altLang="ko-KR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필요한 컴포넌트에서 그 값을 바로 가져와 사용할 수 있게 도와주는 훅</a:t>
            </a:r>
            <a:endParaRPr lang="en-US" altLang="ko-KR" sz="2000" i="0" dirty="0"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3ADDC0-5D52-1919-030C-D0DC8F269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E367-DC36-434B-B1CF-312B3C1E9F8A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B398C2-D633-DD1D-B11D-5F58AD21A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690FE30-9EE5-AF1A-5851-D354A0821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Hooks </a:t>
            </a:r>
            <a:r>
              <a:rPr lang="ko-KR" altLang="en-US" dirty="0"/>
              <a:t>종류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8991" y="5803469"/>
            <a:ext cx="7112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🔗 더 많은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Hooks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살펴보기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3"/>
              </a:rPr>
              <a:t>https://react.dev/reference/react/hooks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65959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D7F34C0-A554-2ACB-FE1E-05B1FB68E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39B4C92-D6FB-5A3D-3156-E97B9EF4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49E05CC-5FCB-5603-44B7-A3F70F3A9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React Style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8376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037896-1FB0-E03D-15C3-79B94B419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0157"/>
            <a:ext cx="11688424" cy="51410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CSS </a:t>
            </a:r>
            <a:r>
              <a:rPr lang="ko-KR" altLang="en-US" sz="2400" dirty="0"/>
              <a:t>모듈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Sass (Syntactically Awesome Style sheets)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CSS </a:t>
            </a:r>
            <a:r>
              <a:rPr lang="ko-KR" altLang="en-US" sz="2000" dirty="0"/>
              <a:t>전처리기를 이용해 복잡한 작업을 보다 쉽게 가능하게 함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🔎 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CSS 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전처리기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자신만의 특별한 문법을 가지고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CSS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를 생성하는 프로그램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!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변수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함수 개념을 사용하여 재활용성과 가독성을 높임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solidFill>
                  <a:srgbClr val="FF5050"/>
                </a:solidFill>
              </a:rPr>
              <a:t>✔️ </a:t>
            </a:r>
            <a:r>
              <a:rPr lang="en-US" altLang="ko-KR" sz="2400" dirty="0">
                <a:solidFill>
                  <a:srgbClr val="FF5050"/>
                </a:solidFill>
              </a:rPr>
              <a:t>Styled Components</a:t>
            </a:r>
          </a:p>
          <a:p>
            <a:pPr lvl="1">
              <a:lnSpc>
                <a:spcPct val="150000"/>
              </a:lnSpc>
            </a:pPr>
            <a:r>
              <a:rPr lang="en" altLang="ko-Kore-KR" sz="2000" i="0" dirty="0">
                <a:effectLst/>
                <a:latin typeface="Söhne"/>
              </a:rPr>
              <a:t>JavaScript </a:t>
            </a:r>
            <a:r>
              <a:rPr lang="ko-KR" altLang="en-US" sz="2000" i="0" dirty="0">
                <a:effectLst/>
                <a:latin typeface="Söhne"/>
              </a:rPr>
              <a:t>안에서 </a:t>
            </a:r>
            <a:r>
              <a:rPr lang="en" altLang="ko-Kore-KR" sz="2000" i="0" dirty="0">
                <a:effectLst/>
                <a:latin typeface="Söhne"/>
              </a:rPr>
              <a:t>CSS</a:t>
            </a:r>
            <a:r>
              <a:rPr lang="ko-KR" altLang="en-US" sz="2000" i="0" dirty="0">
                <a:effectLst/>
                <a:latin typeface="Söhne"/>
              </a:rPr>
              <a:t>를 작성하도록 </a:t>
            </a:r>
            <a:r>
              <a:rPr lang="ko-KR" altLang="en-US" sz="2000" b="0" i="0" dirty="0">
                <a:effectLst/>
                <a:latin typeface="Söhne"/>
              </a:rPr>
              <a:t>도와주는 </a:t>
            </a:r>
            <a:r>
              <a:rPr lang="en" altLang="ko-Kore-KR" sz="2000" b="0" i="0" dirty="0">
                <a:effectLst/>
                <a:latin typeface="Söhne"/>
              </a:rPr>
              <a:t>CSS-in-JS </a:t>
            </a:r>
            <a:r>
              <a:rPr lang="ko-KR" altLang="en-US" sz="2000" b="0" i="0" dirty="0">
                <a:effectLst/>
                <a:latin typeface="Söhne"/>
              </a:rPr>
              <a:t>라이브러리</a:t>
            </a:r>
            <a:endParaRPr lang="en-US" altLang="ko-KR" sz="2000" b="0" i="0" dirty="0">
              <a:effectLst/>
              <a:latin typeface="Söhne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effectLst/>
                <a:latin typeface="Söhne"/>
              </a:rPr>
              <a:t>컴포넌트 기반의 설계 방식</a:t>
            </a:r>
            <a:endParaRPr lang="en-US" altLang="ko-KR" sz="2000" b="0" i="0" dirty="0">
              <a:effectLst/>
              <a:latin typeface="Söhne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>
                <a:solidFill>
                  <a:srgbClr val="FF5050"/>
                </a:solidFill>
              </a:rPr>
              <a:t>Tailwind CSS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미리 정의된 유틸리티 클래스를 조합해서 빠르게 </a:t>
            </a:r>
            <a:r>
              <a:rPr lang="ko-KR" altLang="en-US" sz="2000" dirty="0" err="1"/>
              <a:t>스타일링할</a:t>
            </a:r>
            <a:r>
              <a:rPr lang="ko-KR" altLang="en-US" sz="2000" dirty="0"/>
              <a:t> 수 있는 </a:t>
            </a:r>
            <a:r>
              <a:rPr lang="en-US" altLang="ko-KR" sz="2000" dirty="0"/>
              <a:t>CSS </a:t>
            </a:r>
            <a:r>
              <a:rPr lang="ko-KR" altLang="en-US" sz="2000" dirty="0"/>
              <a:t>프레임워크</a:t>
            </a:r>
            <a:r>
              <a:rPr lang="en-US" altLang="ko-KR" sz="2000" b="1" dirty="0"/>
              <a:t> </a:t>
            </a:r>
            <a:endParaRPr lang="ko-KR" altLang="en-US" sz="20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3AD539-0C72-97A9-4610-E2448427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1F47-7EEC-400F-A2D4-50AC284CC9C5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672433-DFF5-84B6-91A0-244765BB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0927CB-AE2E-1C9C-5AA4-01E49E197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 컴포넌트 스타일링 방식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D61C762-9DC9-11BA-A6B0-6556ECCC5EE3}"/>
              </a:ext>
            </a:extLst>
          </p:cNvPr>
          <p:cNvSpPr txBox="1">
            <a:spLocks/>
          </p:cNvSpPr>
          <p:nvPr/>
        </p:nvSpPr>
        <p:spPr>
          <a:xfrm>
            <a:off x="594979" y="2832233"/>
            <a:ext cx="11206495" cy="1193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ko-KR" altLang="en-US" sz="1600" dirty="0">
              <a:solidFill>
                <a:schemeClr val="bg2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57164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037896-1FB0-E03D-15C3-79B94B419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897901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CSS </a:t>
            </a:r>
            <a:r>
              <a:rPr lang="ko-KR" altLang="en-US" sz="2400" dirty="0"/>
              <a:t>파일을 모듈 단위로 분리하여</a:t>
            </a:r>
            <a:r>
              <a:rPr lang="en-US" altLang="ko-KR" sz="2400" dirty="0"/>
              <a:t>, </a:t>
            </a:r>
            <a:r>
              <a:rPr lang="ko-KR" altLang="en-US" sz="2400" dirty="0"/>
              <a:t>클래스명이 </a:t>
            </a:r>
            <a:r>
              <a:rPr lang="ko-KR" altLang="en-US" sz="2400" b="1" dirty="0"/>
              <a:t>자동으로 고유화</a:t>
            </a:r>
            <a:r>
              <a:rPr lang="ko-KR" altLang="en-US" sz="2400" dirty="0"/>
              <a:t> 되도록 만들어주는 방식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CSS Module</a:t>
            </a:r>
            <a:r>
              <a:rPr lang="ko-KR" altLang="en-US" sz="2000" dirty="0"/>
              <a:t> 형식을 사용하게 되면 자동으로 클래스명이 생성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css</a:t>
            </a:r>
            <a:r>
              <a:rPr lang="en-US" altLang="ko-KR" sz="2000" dirty="0"/>
              <a:t> </a:t>
            </a:r>
            <a:r>
              <a:rPr lang="ko-KR" altLang="en-US" sz="2000" dirty="0"/>
              <a:t>파일명을 컴포넌트명</a:t>
            </a:r>
            <a:r>
              <a:rPr lang="en-US" altLang="ko-KR" sz="2000" dirty="0"/>
              <a:t>.</a:t>
            </a:r>
            <a:r>
              <a:rPr lang="en-US" altLang="ko-KR" sz="2000" dirty="0" err="1"/>
              <a:t>module.css</a:t>
            </a:r>
            <a:r>
              <a:rPr lang="ko-KR" altLang="en-US" sz="2000" dirty="0"/>
              <a:t>로 생성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js</a:t>
            </a:r>
            <a:r>
              <a:rPr lang="ko-KR" altLang="en-US" sz="2000" dirty="0"/>
              <a:t>파일에서 </a:t>
            </a:r>
            <a:r>
              <a:rPr lang="en-US" altLang="ko-KR" sz="2000" dirty="0"/>
              <a:t>import</a:t>
            </a:r>
            <a:r>
              <a:rPr lang="ko-KR" altLang="en-US" sz="2000" dirty="0"/>
              <a:t>해서 객체형태로 사용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3AD539-0C72-97A9-4610-E2448427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1F47-7EEC-400F-A2D4-50AC284CC9C5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672433-DFF5-84B6-91A0-244765BB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0927CB-AE2E-1C9C-5AA4-01E49E197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모듈</a:t>
            </a:r>
          </a:p>
        </p:txBody>
      </p:sp>
      <p:pic>
        <p:nvPicPr>
          <p:cNvPr id="9" name="그림 8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A7517077-C055-439E-19BE-3EC2B68F21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191" y="3230799"/>
            <a:ext cx="6261100" cy="1435100"/>
          </a:xfrm>
          <a:prstGeom prst="rect">
            <a:avLst/>
          </a:prstGeom>
        </p:spPr>
      </p:pic>
      <p:pic>
        <p:nvPicPr>
          <p:cNvPr id="12" name="그림 11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83E37A43-C637-B74F-7CEC-719751A1F0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191" y="4816581"/>
            <a:ext cx="3047823" cy="12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893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36C36BF-584C-3785-CC8B-4D53E2641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37BAEF8-B442-B9BD-DE88-50D94E69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7C96AAB-FB4C-3CA5-295C-820779AFE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Styled-components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2675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A4DBDB-1629-C37B-FF3E-53CBCB84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4DC5-C499-469C-A3A1-6E2BDA613C9D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2A854A-915E-CA5C-AD39-5EF7A22C4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6FC67FD-EDB8-08E9-4763-955CBA128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Styled components </a:t>
            </a:r>
            <a:r>
              <a:rPr lang="ko-KR" altLang="en-US" dirty="0"/>
              <a:t>사용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4F3C82-8B0D-E84B-11C4-2A8D3BCF5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</a:t>
            </a:r>
            <a:r>
              <a:rPr lang="en-US" altLang="ko-KR" sz="2400" dirty="0"/>
              <a:t>CSS-in-JS </a:t>
            </a:r>
            <a:r>
              <a:rPr lang="ko-KR" altLang="en-US" sz="2400" dirty="0"/>
              <a:t>라이브러리로</a:t>
            </a:r>
            <a:r>
              <a:rPr lang="en-US" altLang="ko-KR" sz="2400" dirty="0"/>
              <a:t>, JavaScript </a:t>
            </a:r>
            <a:r>
              <a:rPr lang="ko-KR" altLang="en-US" sz="2400" dirty="0"/>
              <a:t>코드 안에서 </a:t>
            </a:r>
            <a:r>
              <a:rPr lang="en-US" altLang="ko-KR" sz="2400" dirty="0"/>
              <a:t>CSS</a:t>
            </a:r>
            <a:r>
              <a:rPr lang="ko-KR" altLang="en-US" sz="2400" dirty="0"/>
              <a:t>를 작성할 수 있게 해 줌</a:t>
            </a:r>
            <a:endParaRPr lang="en-US" altLang="ko-KR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장점</a:t>
            </a:r>
            <a:r>
              <a:rPr lang="en-US" altLang="ko-KR" sz="2000" dirty="0"/>
              <a:t>: 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JS </a:t>
            </a:r>
            <a:r>
              <a:rPr lang="ko-KR" altLang="en-US" sz="1800" dirty="0"/>
              <a:t>안에서 조건부 스타일링 가능 </a:t>
            </a:r>
            <a:r>
              <a:rPr lang="en-US" altLang="ko-KR" sz="1800" dirty="0"/>
              <a:t>(props </a:t>
            </a:r>
            <a:r>
              <a:rPr lang="ko-KR" altLang="en-US" sz="1800" dirty="0"/>
              <a:t>활용</a:t>
            </a:r>
            <a:r>
              <a:rPr lang="en-US" altLang="ko-KR" sz="1800" dirty="0"/>
              <a:t>).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일반 </a:t>
            </a:r>
            <a:r>
              <a:rPr lang="en-US" altLang="ko-KR" sz="1800" dirty="0"/>
              <a:t>CSS</a:t>
            </a:r>
            <a:r>
              <a:rPr lang="ko-KR" altLang="en-US" sz="1800" dirty="0"/>
              <a:t>와 동일한 문법 사용 가능</a:t>
            </a:r>
            <a:endParaRPr lang="en-US" altLang="ko-KR" sz="18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기존 </a:t>
            </a:r>
            <a:r>
              <a:rPr lang="en-US" altLang="ko-KR" sz="1800" dirty="0"/>
              <a:t>styled </a:t>
            </a:r>
            <a:r>
              <a:rPr lang="ko-KR" altLang="en-US" sz="1800" dirty="0"/>
              <a:t>컴포넌트를 기반으로 확장 가능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단점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번들 크기 증가 </a:t>
            </a:r>
            <a:r>
              <a:rPr lang="en-US" altLang="ko-KR" sz="1800" dirty="0"/>
              <a:t>(CSS-in-JS </a:t>
            </a:r>
            <a:r>
              <a:rPr lang="ko-KR" altLang="en-US" sz="1800" dirty="0"/>
              <a:t>특성상 런타임에서 해석</a:t>
            </a:r>
            <a:r>
              <a:rPr lang="en-US" altLang="ko-KR" sz="1800" dirty="0"/>
              <a:t>)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대규모 프로젝트에서 성능 이슈 가능</a:t>
            </a:r>
          </a:p>
        </p:txBody>
      </p:sp>
    </p:spTree>
    <p:extLst>
      <p:ext uri="{BB962C8B-B14F-4D97-AF65-F5344CB8AC3E}">
        <p14:creationId xmlns:p14="http://schemas.microsoft.com/office/powerpoint/2010/main" val="32751597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93F1C-C3FF-8C92-C6AE-FE0F0AB11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92F858-1F56-0662-A76F-E904468E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4DC5-C499-469C-A3A1-6E2BDA613C9D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1F2FEB-5F99-CFD9-8F32-DFDD48B4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7DE78A4-8FD7-2ACF-FA60-CE6BA557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Styled components </a:t>
            </a:r>
            <a:r>
              <a:rPr lang="ko-KR" altLang="en-US" dirty="0"/>
              <a:t>사용 준비</a:t>
            </a:r>
          </a:p>
        </p:txBody>
      </p:sp>
      <p:pic>
        <p:nvPicPr>
          <p:cNvPr id="18" name="그림 17" descr="텍스트, 폰트, 그래픽, 블랙이(가) 표시된 사진&#10;&#10;자동 생성된 설명">
            <a:extLst>
              <a:ext uri="{FF2B5EF4-FFF2-40B4-BE49-F238E27FC236}">
                <a16:creationId xmlns:a16="http://schemas.microsoft.com/office/drawing/2014/main" id="{0B5A2882-D336-20F5-60C0-B7FB253FB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0" y="1941984"/>
            <a:ext cx="3975100" cy="673100"/>
          </a:xfrm>
          <a:prstGeom prst="rect">
            <a:avLst/>
          </a:prstGeom>
        </p:spPr>
      </p:pic>
      <p:pic>
        <p:nvPicPr>
          <p:cNvPr id="20" name="그림 19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D99DFA97-65C3-AD6E-ACA0-54109CAB27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0" y="3648095"/>
            <a:ext cx="6286500" cy="18669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DF70AA0-CE9E-4B9E-5E62-C1E6A7D16D28}"/>
              </a:ext>
            </a:extLst>
          </p:cNvPr>
          <p:cNvSpPr txBox="1"/>
          <p:nvPr/>
        </p:nvSpPr>
        <p:spPr>
          <a:xfrm>
            <a:off x="2786979" y="1403577"/>
            <a:ext cx="2621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dirty="0"/>
              <a:t>✅ 라이브러리 설치</a:t>
            </a:r>
            <a:endParaRPr kumimoji="1" lang="ko-Kore-KR" alt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0B1382-0464-1263-B2B4-59DC4BE57B43}"/>
              </a:ext>
            </a:extLst>
          </p:cNvPr>
          <p:cNvSpPr txBox="1"/>
          <p:nvPr/>
        </p:nvSpPr>
        <p:spPr>
          <a:xfrm>
            <a:off x="2786979" y="3096280"/>
            <a:ext cx="3876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dirty="0"/>
              <a:t>✅ </a:t>
            </a:r>
            <a:r>
              <a:rPr kumimoji="1" lang="en-US" altLang="en-US" sz="2400" dirty="0" err="1"/>
              <a:t>VSCode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extension</a:t>
            </a:r>
            <a:r>
              <a:rPr kumimoji="1" lang="ko-KR" altLang="en-US" sz="2400" dirty="0"/>
              <a:t> 설치</a:t>
            </a:r>
            <a:endParaRPr kumimoji="1" lang="ko-Kore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211979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A4DBDB-1629-C37B-FF3E-53CBCB84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4DC5-C499-469C-A3A1-6E2BDA613C9D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2A854A-915E-CA5C-AD39-5EF7A22C4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6FC67FD-EDB8-08E9-4763-955CBA128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Styled components </a:t>
            </a:r>
            <a:r>
              <a:rPr lang="ko-KR" altLang="en-US" dirty="0"/>
              <a:t>기본 문법</a:t>
            </a:r>
          </a:p>
        </p:txBody>
      </p:sp>
      <p:pic>
        <p:nvPicPr>
          <p:cNvPr id="6" name="그림 5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C13F94FD-9AEF-289E-64FA-78C9C7C3AA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784" y="1572308"/>
            <a:ext cx="5103989" cy="453841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1BD7DA0-F42C-142C-1970-4683E6C68055}"/>
              </a:ext>
            </a:extLst>
          </p:cNvPr>
          <p:cNvSpPr/>
          <p:nvPr/>
        </p:nvSpPr>
        <p:spPr>
          <a:xfrm>
            <a:off x="3709308" y="2246997"/>
            <a:ext cx="1585237" cy="2520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오른쪽 화살표[R] 12">
            <a:extLst>
              <a:ext uri="{FF2B5EF4-FFF2-40B4-BE49-F238E27FC236}">
                <a16:creationId xmlns:a16="http://schemas.microsoft.com/office/drawing/2014/main" id="{754FF7CF-4844-DB52-021E-6BC926E21A3F}"/>
              </a:ext>
            </a:extLst>
          </p:cNvPr>
          <p:cNvSpPr/>
          <p:nvPr/>
        </p:nvSpPr>
        <p:spPr>
          <a:xfrm rot="10800000">
            <a:off x="5491844" y="2275044"/>
            <a:ext cx="1853633" cy="209689"/>
          </a:xfrm>
          <a:prstGeom prst="rightArrow">
            <a:avLst>
              <a:gd name="adj1" fmla="val 50000"/>
              <a:gd name="adj2" fmla="val 7119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5B31E3-95A1-00C5-0C09-F10685FFF7E8}"/>
              </a:ext>
            </a:extLst>
          </p:cNvPr>
          <p:cNvSpPr txBox="1"/>
          <p:nvPr/>
        </p:nvSpPr>
        <p:spPr>
          <a:xfrm>
            <a:off x="7373678" y="2193040"/>
            <a:ext cx="371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✔️ 컴포넌트 생성 </a:t>
            </a:r>
            <a:r>
              <a:rPr kumimoji="1" lang="en-US" altLang="ko-KR" dirty="0"/>
              <a:t>: styled.HTML</a:t>
            </a:r>
            <a:r>
              <a:rPr kumimoji="1" lang="ko-KR" altLang="en-US" dirty="0"/>
              <a:t>태그</a:t>
            </a:r>
            <a:endParaRPr kumimoji="1" lang="ko-Kore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CFA400C-54DF-0434-2567-A2ED41B9F830}"/>
              </a:ext>
            </a:extLst>
          </p:cNvPr>
          <p:cNvSpPr/>
          <p:nvPr/>
        </p:nvSpPr>
        <p:spPr>
          <a:xfrm>
            <a:off x="1890487" y="2547529"/>
            <a:ext cx="2514600" cy="1067892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른쪽 화살표[R] 12">
            <a:extLst>
              <a:ext uri="{FF2B5EF4-FFF2-40B4-BE49-F238E27FC236}">
                <a16:creationId xmlns:a16="http://schemas.microsoft.com/office/drawing/2014/main" id="{34ED8C65-4F2C-E290-EEEF-F69DD13F10B0}"/>
              </a:ext>
            </a:extLst>
          </p:cNvPr>
          <p:cNvSpPr/>
          <p:nvPr/>
        </p:nvSpPr>
        <p:spPr>
          <a:xfrm rot="10800000">
            <a:off x="5491844" y="2977780"/>
            <a:ext cx="1853633" cy="209689"/>
          </a:xfrm>
          <a:prstGeom prst="rightArrow">
            <a:avLst>
              <a:gd name="adj1" fmla="val 50000"/>
              <a:gd name="adj2" fmla="val 71198"/>
            </a:avLst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9D3E12-6E97-5853-E1B6-034F17B2780C}"/>
              </a:ext>
            </a:extLst>
          </p:cNvPr>
          <p:cNvSpPr txBox="1"/>
          <p:nvPr/>
        </p:nvSpPr>
        <p:spPr>
          <a:xfrm>
            <a:off x="7373678" y="2892602"/>
            <a:ext cx="2816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✔️ </a:t>
            </a:r>
            <a:r>
              <a:rPr kumimoji="1" lang="ko-KR" altLang="en-US" dirty="0" err="1"/>
              <a:t>백틱</a:t>
            </a:r>
            <a:r>
              <a:rPr kumimoji="1" lang="ko-KR" altLang="en-US" dirty="0"/>
              <a:t> 안 쪽으로 </a:t>
            </a:r>
            <a:r>
              <a:rPr kumimoji="1" lang="en-US" altLang="ko-KR" dirty="0"/>
              <a:t>CSS </a:t>
            </a:r>
            <a:r>
              <a:rPr kumimoji="1" lang="ko-KR" altLang="en-US" dirty="0"/>
              <a:t>작성</a:t>
            </a:r>
            <a:endParaRPr kumimoji="1" lang="ko-Kore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82D675C-6EE4-7650-2521-5C95CF63E459}"/>
              </a:ext>
            </a:extLst>
          </p:cNvPr>
          <p:cNvSpPr/>
          <p:nvPr/>
        </p:nvSpPr>
        <p:spPr>
          <a:xfrm>
            <a:off x="2752478" y="4950760"/>
            <a:ext cx="3534442" cy="321277"/>
          </a:xfrm>
          <a:prstGeom prst="rect">
            <a:avLst/>
          </a:prstGeom>
          <a:noFill/>
          <a:ln w="25400">
            <a:solidFill>
              <a:srgbClr val="00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른쪽 화살표[R] 12">
            <a:extLst>
              <a:ext uri="{FF2B5EF4-FFF2-40B4-BE49-F238E27FC236}">
                <a16:creationId xmlns:a16="http://schemas.microsoft.com/office/drawing/2014/main" id="{688C8D52-6C64-FED5-2A58-43D59F920067}"/>
              </a:ext>
            </a:extLst>
          </p:cNvPr>
          <p:cNvSpPr/>
          <p:nvPr/>
        </p:nvSpPr>
        <p:spPr>
          <a:xfrm rot="10800000">
            <a:off x="6418659" y="5006550"/>
            <a:ext cx="926817" cy="209691"/>
          </a:xfrm>
          <a:prstGeom prst="rightArrow">
            <a:avLst>
              <a:gd name="adj1" fmla="val 50000"/>
              <a:gd name="adj2" fmla="val 71198"/>
            </a:avLst>
          </a:prstGeom>
          <a:solidFill>
            <a:srgbClr val="00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B5B500-07AA-6843-696D-FDBC9A8912DB}"/>
              </a:ext>
            </a:extLst>
          </p:cNvPr>
          <p:cNvSpPr txBox="1"/>
          <p:nvPr/>
        </p:nvSpPr>
        <p:spPr>
          <a:xfrm>
            <a:off x="7373677" y="4946553"/>
            <a:ext cx="3357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✔️ 생성한 </a:t>
            </a:r>
            <a:r>
              <a:rPr kumimoji="1" lang="en-US" altLang="ko-KR" dirty="0"/>
              <a:t>styled </a:t>
            </a:r>
            <a:r>
              <a:rPr kumimoji="1" lang="ko-KR" altLang="en-US" dirty="0"/>
              <a:t>컴포넌트를 사용</a:t>
            </a:r>
            <a:endParaRPr kumimoji="1" lang="ko-Kore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BED9FD-37BD-6974-5A63-ABA8288D482D}"/>
              </a:ext>
            </a:extLst>
          </p:cNvPr>
          <p:cNvSpPr txBox="1"/>
          <p:nvPr/>
        </p:nvSpPr>
        <p:spPr>
          <a:xfrm>
            <a:off x="1292006" y="1047674"/>
            <a:ext cx="2621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dirty="0"/>
              <a:t>✅ 라이브러리 설치</a:t>
            </a:r>
            <a:endParaRPr kumimoji="1" lang="ko-Kore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165452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React Style </a:t>
            </a:r>
            <a:r>
              <a:rPr lang="ko-KR" altLang="en-US" dirty="0">
                <a:solidFill>
                  <a:srgbClr val="ED7D31"/>
                </a:solidFill>
              </a:rPr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[React Style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[1~3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>
                <a:solidFill>
                  <a:srgbClr val="212529"/>
                </a:solidFill>
                <a:latin typeface="+mn-ea"/>
              </a:rPr>
              <a:t> 진행</a:t>
            </a:r>
            <a:endParaRPr lang="ko-KR" altLang="en-US" sz="2800" dirty="0">
              <a:solidFill>
                <a:srgbClr val="212529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32841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26307A2-F920-18A0-D58C-C19A9FE81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6D9EED8-46ED-A0DB-78F8-70F40034A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9F68F59-00A9-A4A3-D27B-450CAC974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React</a:t>
            </a:r>
            <a:r>
              <a:rPr lang="ko-KR" altLang="en-US" sz="6000" dirty="0">
                <a:solidFill>
                  <a:srgbClr val="ED7D31"/>
                </a:solidFill>
              </a:rPr>
              <a:t> </a:t>
            </a:r>
            <a:r>
              <a:rPr lang="en-US" altLang="ko-KR" sz="6000" dirty="0">
                <a:solidFill>
                  <a:srgbClr val="ED7D31"/>
                </a:solidFill>
              </a:rPr>
              <a:t>Router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5654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14E063-90B6-C7A8-A599-F47DDB384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사용자가 요청한 </a:t>
            </a:r>
            <a:r>
              <a:rPr lang="en-US" altLang="ko-KR" sz="2400" dirty="0"/>
              <a:t>URL</a:t>
            </a:r>
            <a:r>
              <a:rPr lang="ko-KR" altLang="en-US" sz="2400" dirty="0"/>
              <a:t>에 따라 해당 </a:t>
            </a:r>
            <a:r>
              <a:rPr lang="en-US" altLang="ko-KR" sz="2400" dirty="0"/>
              <a:t>URL</a:t>
            </a:r>
            <a:r>
              <a:rPr lang="ko-KR" altLang="en-US" sz="2400" dirty="0"/>
              <a:t>에 맞는 페이지를 보여주는 것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페이지의</a:t>
            </a:r>
            <a:r>
              <a:rPr lang="en-US" altLang="ko-KR" sz="2000" dirty="0"/>
              <a:t> </a:t>
            </a:r>
            <a:r>
              <a:rPr lang="ko-KR" altLang="en-US" sz="2000" dirty="0"/>
              <a:t>경로를 지정하는 것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가장 많이 쓰이는 라이브러리</a:t>
            </a:r>
            <a:r>
              <a:rPr lang="en-US" altLang="ko-KR" sz="2000" dirty="0"/>
              <a:t>? React Router</a:t>
            </a:r>
            <a:endParaRPr lang="ko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A18BF3-C203-7D52-3233-4BD546293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1B7E4-5999-46D2-ABFA-C4AE71218798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E78A19-A532-0A76-113E-E0C4FD49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F93E23E-CA7C-35A9-52B4-958A6ABA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라우팅</a:t>
            </a:r>
            <a:r>
              <a:rPr lang="en-US" altLang="ko-KR" b="1" dirty="0"/>
              <a:t>(Routing)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1026" name="Picture 2" descr="React.JS] 강좌: 리액트 프로젝트에서의 라우터, React-router v3 사용하기 | VELOPERT.LOG">
            <a:extLst>
              <a:ext uri="{FF2B5EF4-FFF2-40B4-BE49-F238E27FC236}">
                <a16:creationId xmlns:a16="http://schemas.microsoft.com/office/drawing/2014/main" id="{554B9420-E774-0683-D4B2-EBDE79E3E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0" y="3309297"/>
            <a:ext cx="5689600" cy="2543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89929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54B354-08D6-14A5-5E12-19719AD02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303933" cy="467246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개발자가 </a:t>
            </a:r>
            <a:r>
              <a:rPr lang="ko-KR" altLang="en-US" sz="2400" b="1" dirty="0">
                <a:solidFill>
                  <a:schemeClr val="accent1"/>
                </a:solidFill>
              </a:rPr>
              <a:t>주소별로 다른 컴포넌트</a:t>
            </a:r>
            <a:r>
              <a:rPr lang="ko-KR" altLang="en-US" sz="2400" dirty="0">
                <a:solidFill>
                  <a:schemeClr val="accent1"/>
                </a:solidFill>
              </a:rPr>
              <a:t>를 보여주기 위해 </a:t>
            </a:r>
            <a:r>
              <a:rPr lang="ko-KR" altLang="en-US" sz="2400" dirty="0"/>
              <a:t>사용하는 라이브러리</a:t>
            </a:r>
            <a:endParaRPr lang="en-US" altLang="ko-KR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여러 환경에서 동작할 수 있도록 여러 종류의 라우터 컴포넌트 제공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주요 컴포넌트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en-US" altLang="ko-KR" sz="1600" dirty="0" err="1"/>
              <a:t>BrowserRouter</a:t>
            </a:r>
            <a:endParaRPr lang="en-US" altLang="ko-KR" sz="1600" dirty="0"/>
          </a:p>
          <a:p>
            <a:pPr lvl="2">
              <a:lnSpc>
                <a:spcPct val="150000"/>
              </a:lnSpc>
            </a:pPr>
            <a:r>
              <a:rPr lang="en-US" altLang="ko-KR" sz="1600" dirty="0"/>
              <a:t>Routes</a:t>
            </a:r>
          </a:p>
          <a:p>
            <a:pPr lvl="2">
              <a:lnSpc>
                <a:spcPct val="150000"/>
              </a:lnSpc>
            </a:pPr>
            <a:r>
              <a:rPr lang="en-US" altLang="ko-KR" sz="1600" dirty="0"/>
              <a:t>Route</a:t>
            </a:r>
          </a:p>
          <a:p>
            <a:pPr lvl="2">
              <a:lnSpc>
                <a:spcPct val="150000"/>
              </a:lnSpc>
            </a:pPr>
            <a:r>
              <a:rPr lang="en-US" altLang="ko-KR" sz="1600" dirty="0"/>
              <a:t>Link</a:t>
            </a:r>
          </a:p>
          <a:p>
            <a:pPr lvl="2">
              <a:lnSpc>
                <a:spcPct val="150000"/>
              </a:lnSpc>
            </a:pPr>
            <a:r>
              <a:rPr lang="en-US" altLang="ko-KR" sz="1600" dirty="0" err="1"/>
              <a:t>createBrowserRouter</a:t>
            </a:r>
            <a:endParaRPr lang="ko-KR" altLang="en-US" sz="1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B9EE68-9DF2-CC65-3E86-AA4F9DD3B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1A513-DF9B-4535-A798-D8FDF5E9EBFC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1B3070-1BED-FC92-8624-BE3A447A3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DC80DBD-0D2D-2A4F-DFEC-D98E0AAA6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리액트</a:t>
            </a:r>
            <a:r>
              <a:rPr lang="ko-KR" altLang="en-US" dirty="0"/>
              <a:t> 라우터 </a:t>
            </a:r>
            <a:r>
              <a:rPr lang="en-US" altLang="ko-KR" dirty="0"/>
              <a:t>(React Router)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967942E-5D18-E8E0-80F9-0D51FA75F1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618"/>
          <a:stretch/>
        </p:blipFill>
        <p:spPr>
          <a:xfrm>
            <a:off x="2472827" y="5043999"/>
            <a:ext cx="7246345" cy="109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9778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CE7910-2DFC-F1A0-0C9E-B71EEF2DE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59533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&lt;</a:t>
            </a:r>
            <a:r>
              <a:rPr lang="en-US" altLang="ko-KR" dirty="0" err="1"/>
              <a:t>BrowserRouter</a:t>
            </a:r>
            <a:r>
              <a:rPr lang="en-US" altLang="ko-KR" dirty="0"/>
              <a:t>&gt;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HTML5</a:t>
            </a:r>
            <a:r>
              <a:rPr lang="ko-KR" altLang="en-US" dirty="0"/>
              <a:t>를 지원하는 브라우저의 주소 감지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Router</a:t>
            </a:r>
            <a:r>
              <a:rPr lang="ko-KR" altLang="en-US" dirty="0">
                <a:solidFill>
                  <a:schemeClr val="accent1"/>
                </a:solidFill>
              </a:rPr>
              <a:t>의 역할</a:t>
            </a:r>
            <a:endParaRPr lang="en-US" altLang="ko-KR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새로고침을</a:t>
            </a:r>
            <a:r>
              <a:rPr lang="ko-KR" altLang="en-US" dirty="0"/>
              <a:t> 하지 않아도 </a:t>
            </a:r>
            <a:r>
              <a:rPr lang="ko-KR" altLang="en-US" dirty="0">
                <a:solidFill>
                  <a:schemeClr val="accent1"/>
                </a:solidFill>
              </a:rPr>
              <a:t>새로운 컴포넌트를 렌더링 </a:t>
            </a:r>
            <a:r>
              <a:rPr lang="ko-KR" altLang="en-US" dirty="0"/>
              <a:t>해주는 기능 담당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URL</a:t>
            </a:r>
            <a:r>
              <a:rPr lang="ko-KR" altLang="en-US" dirty="0"/>
              <a:t>마다 컴포넌트가 바뀔 때 이때 바뀌는 부분의 </a:t>
            </a:r>
            <a:r>
              <a:rPr lang="ko-KR" altLang="en-US" dirty="0">
                <a:solidFill>
                  <a:schemeClr val="accent1"/>
                </a:solidFill>
              </a:rPr>
              <a:t>최상단에 위치</a:t>
            </a:r>
            <a:r>
              <a:rPr lang="ko-KR" altLang="en-US" dirty="0"/>
              <a:t>해야 한다</a:t>
            </a:r>
            <a:r>
              <a:rPr lang="en-US" altLang="ko-KR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3AC840-C657-99A8-E3AA-F13C41EB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57891-4B9A-4032-8720-5D09F8AF59E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DBE8ED-60D8-9481-328C-CF5322A6F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E34EE5F-6CF1-4179-705F-D27F672C4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BrowserRouter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3588937-BCE1-0B65-EC2F-30812ACB2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982" y="4924412"/>
            <a:ext cx="951603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5795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42CD12-F124-F1ED-C9E5-EB7FB2F0E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18425-B8BD-4F49-92E1-F68FC0687435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0AAEAF-A4DA-2CE3-CD8C-1A2024BE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7796337-D254-B9C8-B0EE-66645E1BE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BrowserRouter</a:t>
            </a:r>
            <a:endParaRPr lang="ko-KR" altLang="en-US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ED1ACC8-FFDC-4AE7-4F07-02C757A40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190" y="1595459"/>
            <a:ext cx="6227620" cy="421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717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D27B41-51CC-A131-427F-CAEDD74BD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8665" y="1459484"/>
            <a:ext cx="8841867" cy="16104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💡</a:t>
            </a:r>
            <a:r>
              <a:rPr lang="en-US" altLang="ko-KR" dirty="0"/>
              <a:t>&lt;Routes&gt;,  &lt;Route&gt;</a:t>
            </a:r>
          </a:p>
          <a:p>
            <a:pPr lvl="1"/>
            <a:r>
              <a:rPr lang="en-US" altLang="ko-KR" dirty="0"/>
              <a:t>Routes: </a:t>
            </a:r>
            <a:r>
              <a:rPr lang="ko-KR" altLang="en-US" dirty="0"/>
              <a:t>여러 </a:t>
            </a:r>
            <a:r>
              <a:rPr lang="en-US" altLang="ko-KR" dirty="0"/>
              <a:t>Route</a:t>
            </a:r>
            <a:r>
              <a:rPr lang="ko-KR" altLang="en-US" dirty="0"/>
              <a:t>를 </a:t>
            </a:r>
            <a:r>
              <a:rPr lang="ko-KR" altLang="en-US" dirty="0" err="1"/>
              <a:t>그룹핑하는</a:t>
            </a:r>
            <a:r>
              <a:rPr lang="ko-KR" altLang="en-US" dirty="0"/>
              <a:t> 컨테이너</a:t>
            </a:r>
          </a:p>
          <a:p>
            <a:pPr lvl="1"/>
            <a:r>
              <a:rPr lang="en-US" altLang="ko-KR" dirty="0"/>
              <a:t>Route: </a:t>
            </a:r>
            <a:r>
              <a:rPr lang="ko-KR" altLang="en-US" dirty="0"/>
              <a:t>경로와 컴포넌트를 매핑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117602-0FFF-4166-C0B7-0FBC33776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2E59-5085-4C4E-92A3-F4D9622CE4F6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D2BC04-56D2-0FB6-256E-580DFD9C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A257053-F8BF-8C4A-FF27-7007C3F26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Routes, Route</a:t>
            </a:r>
            <a:endParaRPr lang="ko-KR" altLang="en-US" b="1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7073F67-D3CB-A688-3A28-85376106DCF2}"/>
              </a:ext>
            </a:extLst>
          </p:cNvPr>
          <p:cNvGrpSpPr/>
          <p:nvPr/>
        </p:nvGrpSpPr>
        <p:grpSpPr>
          <a:xfrm>
            <a:off x="1610591" y="3226398"/>
            <a:ext cx="8841867" cy="1610483"/>
            <a:chOff x="1371600" y="3428999"/>
            <a:chExt cx="8841867" cy="1610483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E5C5361-DDE3-2219-6252-7B6E95B76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71600" y="3429000"/>
              <a:ext cx="8841867" cy="1610482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57E99DA-A1D5-8AB3-09D1-57C2D877CD36}"/>
                </a:ext>
              </a:extLst>
            </p:cNvPr>
            <p:cNvSpPr/>
            <p:nvPr/>
          </p:nvSpPr>
          <p:spPr>
            <a:xfrm>
              <a:off x="3023858" y="3428999"/>
              <a:ext cx="6838016" cy="263525"/>
            </a:xfrm>
            <a:prstGeom prst="rect">
              <a:avLst/>
            </a:prstGeom>
            <a:solidFill>
              <a:srgbClr val="1E1E1E"/>
            </a:solidFill>
            <a:ln>
              <a:solidFill>
                <a:srgbClr val="1E1E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276E671-1C49-56C0-6724-738CEDE254AA}"/>
              </a:ext>
            </a:extLst>
          </p:cNvPr>
          <p:cNvSpPr txBox="1"/>
          <p:nvPr/>
        </p:nvSpPr>
        <p:spPr>
          <a:xfrm>
            <a:off x="1556657" y="4836880"/>
            <a:ext cx="611777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path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경로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element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연결할 컴포넌트</a:t>
            </a:r>
          </a:p>
        </p:txBody>
      </p:sp>
    </p:spTree>
    <p:extLst>
      <p:ext uri="{BB962C8B-B14F-4D97-AF65-F5344CB8AC3E}">
        <p14:creationId xmlns:p14="http://schemas.microsoft.com/office/powerpoint/2010/main" val="37759857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2D2FA1-D251-E086-C86F-1A8CEFEBD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&lt;Link&gt;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경로를 변경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기존 </a:t>
            </a:r>
            <a:r>
              <a:rPr lang="en-US" altLang="ko-KR" dirty="0"/>
              <a:t>HTML </a:t>
            </a:r>
            <a:r>
              <a:rPr lang="ko-KR" altLang="en-US" dirty="0"/>
              <a:t>의 </a:t>
            </a:r>
            <a:r>
              <a:rPr lang="en-US" altLang="ko-KR" dirty="0"/>
              <a:t>a </a:t>
            </a:r>
            <a:r>
              <a:rPr lang="ko-KR" altLang="en-US" dirty="0"/>
              <a:t>태그가 </a:t>
            </a:r>
            <a:r>
              <a:rPr lang="ko-KR" altLang="en-US" dirty="0" err="1"/>
              <a:t>새로고침</a:t>
            </a:r>
            <a:r>
              <a:rPr lang="ko-KR" altLang="en-US" dirty="0"/>
              <a:t> 해 렌더링을 수행했다면 </a:t>
            </a:r>
            <a:br>
              <a:rPr lang="en-US" altLang="ko-KR" dirty="0"/>
            </a:br>
            <a:r>
              <a:rPr lang="en-US" altLang="ko-KR" dirty="0"/>
              <a:t>&lt;Link&gt; </a:t>
            </a:r>
            <a:r>
              <a:rPr lang="ko-KR" altLang="en-US" dirty="0"/>
              <a:t>컴포넌트는 페이지 전환을 방지한다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0D0E48-5C5E-A472-2FCA-1D4AACA90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22A39-C1C5-4537-84EB-2A2FE2122056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73D772-EBAE-2D35-DD1C-678D06E7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4CD2C32-5AB7-43F5-F1CD-60C5643A1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Link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2A79FB7-2D71-F289-4E98-7540259C8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941" y="3888839"/>
            <a:ext cx="6360767" cy="192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4260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8745D1-BFFB-CF6D-3394-3A863D0EE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dirty="0">
                <a:solidFill>
                  <a:schemeClr val="accent1"/>
                </a:solidFill>
              </a:rPr>
              <a:t>💡 </a:t>
            </a:r>
            <a:r>
              <a:rPr lang="en-US" altLang="ko-KR" b="1" dirty="0" err="1">
                <a:solidFill>
                  <a:schemeClr val="accent1"/>
                </a:solidFill>
              </a:rPr>
              <a:t>useParams</a:t>
            </a:r>
            <a:r>
              <a:rPr lang="en-US" altLang="ko-KR" b="1" dirty="0">
                <a:solidFill>
                  <a:schemeClr val="accent1"/>
                </a:solidFill>
              </a:rPr>
              <a:t>()</a:t>
            </a:r>
          </a:p>
          <a:p>
            <a:pPr lvl="1"/>
            <a:r>
              <a:rPr lang="en-US" altLang="ko-KR" dirty="0"/>
              <a:t>/product/:id</a:t>
            </a:r>
          </a:p>
          <a:p>
            <a:pPr lvl="1"/>
            <a:r>
              <a:rPr lang="ko-KR" altLang="en-US" dirty="0"/>
              <a:t>경로에 </a:t>
            </a:r>
            <a:r>
              <a:rPr lang="en-US" altLang="ko-KR" dirty="0"/>
              <a:t>: </a:t>
            </a:r>
            <a:r>
              <a:rPr lang="ko-KR" altLang="en-US" dirty="0"/>
              <a:t>를 사용해 설정되는 것</a:t>
            </a:r>
            <a:endParaRPr lang="en-US" altLang="ko-KR" dirty="0"/>
          </a:p>
          <a:p>
            <a:pPr lvl="1"/>
            <a:r>
              <a:rPr lang="en-US" altLang="ko-KR" dirty="0"/>
              <a:t> URL </a:t>
            </a:r>
            <a:r>
              <a:rPr lang="ko-KR" altLang="en-US" dirty="0"/>
              <a:t>파라미터가 여러 개인 경우 </a:t>
            </a:r>
            <a:r>
              <a:rPr lang="en-US" altLang="ko-KR" dirty="0"/>
              <a:t>/product/:id/:name </a:t>
            </a:r>
            <a:r>
              <a:rPr lang="ko-KR" altLang="en-US" dirty="0"/>
              <a:t>처럼 설정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724543-5CCB-DBD1-EDC1-7E315D8A6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27F15-4936-4148-9CAA-FDFBD0C60B42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50AD36-6272-F3BF-71E8-D20AE88B1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8B78FFD-B752-5A76-C3AA-09157A54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err="1"/>
              <a:t>useParams</a:t>
            </a:r>
            <a:r>
              <a:rPr lang="en-US" altLang="ko-KR" b="1" dirty="0"/>
              <a:t>()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D4B91D-A0EB-0A9C-0569-BD5A92925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206" y="3637184"/>
            <a:ext cx="8685587" cy="218394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D5037A2-A6AE-9495-D1CA-ADC971EED5CB}"/>
              </a:ext>
            </a:extLst>
          </p:cNvPr>
          <p:cNvSpPr/>
          <p:nvPr/>
        </p:nvSpPr>
        <p:spPr>
          <a:xfrm>
            <a:off x="6010946" y="4797423"/>
            <a:ext cx="2494879" cy="491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3243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8110AF-C1F3-94F4-7146-096C82D5A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0419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chemeClr val="accent1"/>
                </a:solidFill>
              </a:rPr>
              <a:t>💡 </a:t>
            </a:r>
            <a:r>
              <a:rPr lang="en-US" altLang="ko-KR" b="1" dirty="0" err="1">
                <a:solidFill>
                  <a:schemeClr val="accent1"/>
                </a:solidFill>
              </a:rPr>
              <a:t>useSearchParams</a:t>
            </a:r>
            <a:r>
              <a:rPr lang="en-US" altLang="ko-KR" b="1" dirty="0">
                <a:solidFill>
                  <a:schemeClr val="accent1"/>
                </a:solidFill>
              </a:rPr>
              <a:t>()</a:t>
            </a:r>
          </a:p>
          <a:p>
            <a:pPr lvl="1"/>
            <a:r>
              <a:rPr lang="en-US" altLang="ko-KR" b="1" dirty="0"/>
              <a:t>URL</a:t>
            </a:r>
            <a:r>
              <a:rPr lang="ko-KR" altLang="en-US" b="1" dirty="0"/>
              <a:t>의 쿼리 스트링</a:t>
            </a:r>
            <a:r>
              <a:rPr lang="en-US" altLang="ko-KR" b="1" dirty="0"/>
              <a:t>(query string)</a:t>
            </a:r>
            <a:r>
              <a:rPr lang="ko-KR" altLang="en-US" dirty="0"/>
              <a:t> 을 읽거나 수정할 수 있게 해 줌</a:t>
            </a:r>
            <a:endParaRPr lang="en-US" altLang="ko-KR" dirty="0"/>
          </a:p>
          <a:p>
            <a:pPr lvl="1"/>
            <a:r>
              <a:rPr lang="ko-KR" altLang="en-US" dirty="0"/>
              <a:t>쿼리 스트링</a:t>
            </a:r>
            <a:r>
              <a:rPr lang="en-US" altLang="ko-KR" dirty="0"/>
              <a:t>: URL </a:t>
            </a:r>
            <a:r>
              <a:rPr lang="ko-KR" altLang="en-US" dirty="0"/>
              <a:t>끝에 </a:t>
            </a:r>
            <a:r>
              <a:rPr lang="en-US" altLang="ko-KR" dirty="0"/>
              <a:t>?key=value </a:t>
            </a:r>
            <a:r>
              <a:rPr lang="ko-KR" altLang="en-US" dirty="0"/>
              <a:t>형식으로 붙어 서버나 클라이언트에 추가 데이터를 전달하는 문자열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B6EB41-E18C-12E0-66A7-AB3825F09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EADBC-887F-41B7-B6A7-64D6160F268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3C8008-109A-F275-64CB-6B2AAC5DE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C12D8DE-5931-5F3A-7F04-E480463F6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b="1" dirty="0" err="1"/>
              <a:t>useSearchParams</a:t>
            </a:r>
            <a:r>
              <a:rPr lang="en-US" altLang="ko-KR" b="1" dirty="0"/>
              <a:t>()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6DA69E5-DE39-0F18-4ED3-446CFE6CB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4" y="3529020"/>
            <a:ext cx="5107066" cy="67402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7D6BFE7-CBFE-D306-4249-9B784F81B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4305060"/>
            <a:ext cx="10677084" cy="49038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BFC9879-5E43-9A32-18CC-735B500BD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4897459"/>
            <a:ext cx="4805793" cy="49038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2A7381C-02DC-966F-C156-412B0E5A1E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4" y="5507361"/>
            <a:ext cx="5531565" cy="49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9632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809374-C7C3-D475-B1CD-E16F4F616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dirty="0">
                <a:solidFill>
                  <a:schemeClr val="accent1"/>
                </a:solidFill>
              </a:rPr>
              <a:t>💡 </a:t>
            </a:r>
            <a:r>
              <a:rPr lang="en-US" altLang="ko-KR" b="1" dirty="0" err="1">
                <a:solidFill>
                  <a:schemeClr val="accent1"/>
                </a:solidFill>
              </a:rPr>
              <a:t>useNavigate</a:t>
            </a:r>
            <a:r>
              <a:rPr lang="en-US" altLang="ko-KR" b="1" dirty="0">
                <a:solidFill>
                  <a:schemeClr val="accent1"/>
                </a:solidFill>
              </a:rPr>
              <a:t>()</a:t>
            </a:r>
          </a:p>
          <a:p>
            <a:pPr lvl="1"/>
            <a:r>
              <a:rPr lang="ko-KR" altLang="en-US" dirty="0"/>
              <a:t>코드 상에서 페이지 이동 제어 가능</a:t>
            </a:r>
            <a:endParaRPr lang="en-US" altLang="ko-KR" b="1" dirty="0">
              <a:solidFill>
                <a:schemeClr val="accent1"/>
              </a:solidFill>
            </a:endParaRPr>
          </a:p>
          <a:p>
            <a:pPr lvl="1"/>
            <a:r>
              <a:rPr lang="en-US" altLang="ko-KR" b="1" dirty="0"/>
              <a:t>Link </a:t>
            </a:r>
            <a:r>
              <a:rPr lang="ko-KR" altLang="en-US" b="1" dirty="0"/>
              <a:t>컴포넌트를 사용하지 않고 </a:t>
            </a:r>
            <a:r>
              <a:rPr lang="ko-KR" altLang="en-US" dirty="0"/>
              <a:t>다른 페이지로 이동해야 하는 경우</a:t>
            </a:r>
            <a:r>
              <a:rPr lang="en-US" altLang="ko-KR" dirty="0"/>
              <a:t>, </a:t>
            </a:r>
            <a:r>
              <a:rPr lang="ko-KR" altLang="en-US" dirty="0" err="1"/>
              <a:t>뒤로가기</a:t>
            </a:r>
            <a:r>
              <a:rPr lang="ko-KR" altLang="en-US" dirty="0"/>
              <a:t> 등에 사용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70CBCE-6D9C-EB5D-3CDF-E8A15EDAC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CFCF-82D4-4967-89DC-011B22F4B465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531897-8AAD-7518-9DE2-96C429BE4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DAD7A6-F617-66B6-E040-BB6A8DCB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err="1"/>
              <a:t>useNavigate</a:t>
            </a:r>
            <a:r>
              <a:rPr lang="en-US" altLang="ko-KR" b="1" dirty="0"/>
              <a:t>()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E15133-E993-42CF-7D0E-276AD079E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16" y="3232020"/>
            <a:ext cx="7696200" cy="65121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798587B-DE99-D2A8-0CA8-221532E0857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618"/>
          <a:stretch/>
        </p:blipFill>
        <p:spPr>
          <a:xfrm>
            <a:off x="744716" y="3990665"/>
            <a:ext cx="10702567" cy="172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7038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8816</TotalTime>
  <Words>1912</Words>
  <Application>Microsoft Office PowerPoint</Application>
  <PresentationFormat>와이드스크린</PresentationFormat>
  <Paragraphs>454</Paragraphs>
  <Slides>68</Slides>
  <Notes>55</Notes>
  <HiddenSlides>0</HiddenSlides>
  <MMClips>3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68</vt:i4>
      </vt:variant>
    </vt:vector>
  </HeadingPairs>
  <TitlesOfParts>
    <vt:vector size="79" baseType="lpstr">
      <vt:lpstr>G마켓 산스 TTF Bold</vt:lpstr>
      <vt:lpstr>Kim jung chul Gothic Regular</vt:lpstr>
      <vt:lpstr>Pretendard Black</vt:lpstr>
      <vt:lpstr>Pretendard Light</vt:lpstr>
      <vt:lpstr>Pretendard Medium</vt:lpstr>
      <vt:lpstr>Söhne</vt:lpstr>
      <vt:lpstr>메이플스토리</vt:lpstr>
      <vt:lpstr>Arial</vt:lpstr>
      <vt:lpstr>Consolas</vt:lpstr>
      <vt:lpstr>Wingdings</vt:lpstr>
      <vt:lpstr>1_Office 테마</vt:lpstr>
      <vt:lpstr>x</vt:lpstr>
      <vt:lpstr>React(2)</vt:lpstr>
      <vt:lpstr>조건부 렌더링과 리스트 렌더링</vt:lpstr>
      <vt:lpstr>조건부 렌더링</vt:lpstr>
      <vt:lpstr>조건부 렌더링 – 삼항 연산자</vt:lpstr>
      <vt:lpstr>조건부 렌더링 – &amp;&amp; 연산자</vt:lpstr>
      <vt:lpstr>리스트 렌더링 – map() 함수 사용</vt:lpstr>
      <vt:lpstr>리스트 렌더링 – map() 함수 사용</vt:lpstr>
      <vt:lpstr>리스트 렌더링 – map() 함수 사용</vt:lpstr>
      <vt:lpstr>리스트 렌더링 – map() 함수 사용</vt:lpstr>
      <vt:lpstr>리스트 렌더링과 key</vt:lpstr>
      <vt:lpstr>리스트 렌더링과 key</vt:lpstr>
      <vt:lpstr>리스트 렌더링과 key</vt:lpstr>
      <vt:lpstr>실습. input으로 새로운 알파벳 추가해보기</vt:lpstr>
      <vt:lpstr>filter()를 이용한 렌더링</vt:lpstr>
      <vt:lpstr>filter() 함수</vt:lpstr>
      <vt:lpstr>filter() 함수</vt:lpstr>
      <vt:lpstr>filter() 함수</vt:lpstr>
      <vt:lpstr>실습. 알파벳을 더블 클릭 했을 때 삭제하기</vt:lpstr>
      <vt:lpstr>실습. Map &amp; Filter 실습</vt:lpstr>
      <vt:lpstr>useEffect와 라이프사이클</vt:lpstr>
      <vt:lpstr>라이프 사이클 이란?</vt:lpstr>
      <vt:lpstr>라이프 사이클</vt:lpstr>
      <vt:lpstr>라이프 사이클</vt:lpstr>
      <vt:lpstr>라이프사이클 용어 정리</vt:lpstr>
      <vt:lpstr>useEffect()</vt:lpstr>
      <vt:lpstr>useEffect() 문법</vt:lpstr>
      <vt:lpstr>useEffect()</vt:lpstr>
      <vt:lpstr>useEffect()</vt:lpstr>
      <vt:lpstr>useEffect()</vt:lpstr>
      <vt:lpstr>useEffect()</vt:lpstr>
      <vt:lpstr>useEffect()</vt:lpstr>
      <vt:lpstr>Event Handling</vt:lpstr>
      <vt:lpstr>React의 Event</vt:lpstr>
      <vt:lpstr>React의 Event handler</vt:lpstr>
      <vt:lpstr>이벤트 핸들러 함수에서 인자 사용</vt:lpstr>
      <vt:lpstr>Controlled Component</vt:lpstr>
      <vt:lpstr>Controlled Component</vt:lpstr>
      <vt:lpstr>실습.  이벤트 핸들링 실습</vt:lpstr>
      <vt:lpstr>실습. 종합 실습 (props, state, event)</vt:lpstr>
      <vt:lpstr>Hooks</vt:lpstr>
      <vt:lpstr>Hooks?</vt:lpstr>
      <vt:lpstr>Hooks 사용 규칙</vt:lpstr>
      <vt:lpstr>Hooks 사용 규칙</vt:lpstr>
      <vt:lpstr>Hooks 사용 규칙</vt:lpstr>
      <vt:lpstr>Hooks 사용 규칙</vt:lpstr>
      <vt:lpstr>Hooks 사용 규칙</vt:lpstr>
      <vt:lpstr>Hooks 사용 규칙</vt:lpstr>
      <vt:lpstr>Hooks 종류</vt:lpstr>
      <vt:lpstr>React Style</vt:lpstr>
      <vt:lpstr>React 컴포넌트 스타일링 방식</vt:lpstr>
      <vt:lpstr>CSS 모듈</vt:lpstr>
      <vt:lpstr>Styled-components</vt:lpstr>
      <vt:lpstr>Styled components 사용 준비</vt:lpstr>
      <vt:lpstr>Styled components 사용 준비</vt:lpstr>
      <vt:lpstr>Styled components 기본 문법</vt:lpstr>
      <vt:lpstr>실습. React Style 실습</vt:lpstr>
      <vt:lpstr>React Router</vt:lpstr>
      <vt:lpstr>라우팅(Routing)이란?</vt:lpstr>
      <vt:lpstr>리액트 라우터 (React Router)</vt:lpstr>
      <vt:lpstr>BrowserRouter</vt:lpstr>
      <vt:lpstr>BrowserRouter</vt:lpstr>
      <vt:lpstr>Routes, Route</vt:lpstr>
      <vt:lpstr>Link</vt:lpstr>
      <vt:lpstr>useParams()</vt:lpstr>
      <vt:lpstr>useSearchParams()</vt:lpstr>
      <vt:lpstr>useNavigate()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699</cp:revision>
  <dcterms:created xsi:type="dcterms:W3CDTF">2023-01-31T04:26:23Z</dcterms:created>
  <dcterms:modified xsi:type="dcterms:W3CDTF">2025-08-29T08:40:36Z</dcterms:modified>
</cp:coreProperties>
</file>