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0"/>
  </p:notesMasterIdLst>
  <p:sldIdLst>
    <p:sldId id="1004" r:id="rId2"/>
    <p:sldId id="420" r:id="rId3"/>
    <p:sldId id="1380" r:id="rId4"/>
    <p:sldId id="696" r:id="rId5"/>
    <p:sldId id="1381" r:id="rId6"/>
    <p:sldId id="1383" r:id="rId7"/>
    <p:sldId id="1382" r:id="rId8"/>
    <p:sldId id="1384" r:id="rId9"/>
    <p:sldId id="1385" r:id="rId10"/>
    <p:sldId id="700" r:id="rId11"/>
    <p:sldId id="701" r:id="rId12"/>
    <p:sldId id="702" r:id="rId13"/>
    <p:sldId id="703" r:id="rId14"/>
    <p:sldId id="704" r:id="rId15"/>
    <p:sldId id="705" r:id="rId16"/>
    <p:sldId id="697" r:id="rId17"/>
    <p:sldId id="1386" r:id="rId18"/>
    <p:sldId id="813" r:id="rId1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21"/>
    </p:embeddedFont>
    <p:embeddedFont>
      <p:font typeface="Pretendard Black" panose="02000A03000000020004" pitchFamily="2" charset="-127"/>
      <p:bold r:id="rId22"/>
    </p:embeddedFont>
    <p:embeddedFont>
      <p:font typeface="Pretendard Light" panose="02000403000000020004" pitchFamily="2" charset="-127"/>
      <p:regular r:id="rId23"/>
    </p:embeddedFont>
    <p:embeddedFont>
      <p:font typeface="Pretendard Medium" panose="02000603000000020004" pitchFamily="2" charset="-127"/>
      <p:regular r:id="rId24"/>
    </p:embeddedFont>
    <p:embeddedFont>
      <p:font typeface="메이플스토리" panose="02000300000000000000" pitchFamily="2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FF99"/>
    <a:srgbClr val="FF5050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991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EE13-EB40-666A-62E2-7A4DB391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E6D92F-F09E-371D-C21E-EDDAC2A06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43091C-F8D6-E310-8FBD-216179CD1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3B9469-B293-47A9-D7F5-3BBE80605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68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00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82D76-7079-412D-848B-E1B9E7A6A286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2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map.esran.com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map.esran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>
                <a:solidFill>
                  <a:srgbClr val="ED7D31"/>
                </a:solidFill>
              </a:rPr>
              <a:t>지도 시각화</a:t>
            </a:r>
          </a:p>
        </p:txBody>
      </p:sp>
    </p:spTree>
    <p:extLst>
      <p:ext uri="{BB962C8B-B14F-4D97-AF65-F5344CB8AC3E}">
        <p14:creationId xmlns:p14="http://schemas.microsoft.com/office/powerpoint/2010/main" val="260638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Folium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</a:t>
            </a:r>
            <a:r>
              <a:rPr lang="en-US" altLang="ko-KR" dirty="0">
                <a:latin typeface="+mn-ea"/>
              </a:rPr>
              <a:t>leaflet.js </a:t>
            </a:r>
            <a:r>
              <a:rPr lang="ko-KR" altLang="en-US" dirty="0">
                <a:latin typeface="+mn-ea"/>
              </a:rPr>
              <a:t>기반으로 만들어진 </a:t>
            </a:r>
            <a:r>
              <a:rPr lang="en-US" altLang="ko-KR" dirty="0">
                <a:latin typeface="+mn-ea"/>
              </a:rPr>
              <a:t>Python </a:t>
            </a:r>
            <a:r>
              <a:rPr lang="ko-KR" altLang="en-US" dirty="0">
                <a:latin typeface="+mn-ea"/>
              </a:rPr>
              <a:t>지도 시각화 라이브러리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경도 좌표를 기준으로 지도를 생성함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err="1">
                <a:latin typeface="+mn-ea"/>
              </a:rPr>
              <a:t>인터랙티브한</a:t>
            </a:r>
            <a:r>
              <a:rPr lang="ko-KR" altLang="en-US" dirty="0">
                <a:latin typeface="+mn-ea"/>
              </a:rPr>
              <a:t> 지도를 생성하고 마커를 추가하여 시각화 할 수 있음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범위를 표기 할 수 있음</a:t>
            </a: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🔎 </a:t>
            </a:r>
            <a:r>
              <a:rPr lang="en-US" altLang="ko-KR" sz="2000" dirty="0">
                <a:latin typeface="+mn-ea"/>
              </a:rPr>
              <a:t>leaflet : </a:t>
            </a:r>
            <a:r>
              <a:rPr lang="ko-KR" altLang="en-US" sz="2000" dirty="0">
                <a:latin typeface="+mn-ea"/>
              </a:rPr>
              <a:t>웹 매핑 애플리케이션을 빌드하기 위해 사용되는 오픈 소스 자바스크립트 라이브러리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599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Folium </a:t>
            </a:r>
            <a:r>
              <a:rPr lang="ko-KR" altLang="en-US" dirty="0"/>
              <a:t>설치</a:t>
            </a:r>
          </a:p>
        </p:txBody>
      </p:sp>
      <p:pic>
        <p:nvPicPr>
          <p:cNvPr id="9" name="그림 8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A8E663-374E-4B22-31BC-42EDF57AA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857250"/>
            <a:ext cx="8839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E3AE8-5FDE-AE70-356D-E876372C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33DDE-F57A-CEA6-4B9A-0C5C4031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Folium.Map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7" name="그림 6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6B14DC-CF5D-3A6D-7292-DB863F23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0" t="20325" r="7520" b="19919"/>
          <a:stretch>
            <a:fillRect/>
          </a:stretch>
        </p:blipFill>
        <p:spPr>
          <a:xfrm>
            <a:off x="1200149" y="2028825"/>
            <a:ext cx="9791701" cy="2800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373A30-7646-BA88-9266-274CC6A8F4DC}"/>
              </a:ext>
            </a:extLst>
          </p:cNvPr>
          <p:cNvSpPr txBox="1"/>
          <p:nvPr/>
        </p:nvSpPr>
        <p:spPr>
          <a:xfrm>
            <a:off x="1114424" y="4829175"/>
            <a:ext cx="665797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zoom_start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최대값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18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http://map.esran.com/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경도 검색 사이트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76194-1720-C948-EA92-35B007A82A6D}"/>
              </a:ext>
            </a:extLst>
          </p:cNvPr>
          <p:cNvSpPr txBox="1"/>
          <p:nvPr/>
        </p:nvSpPr>
        <p:spPr>
          <a:xfrm>
            <a:off x="1039247" y="139016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지도 생성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50742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EE24-5C84-227C-376A-B797E1EB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0BE610-7D4A-D6B5-3421-0819BF044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" y="1228244"/>
            <a:ext cx="6657976" cy="48930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4AE705A-9223-209B-E07B-C42C779C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Folium.Map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738E7-BC2D-2036-C4FF-70A3A6555292}"/>
              </a:ext>
            </a:extLst>
          </p:cNvPr>
          <p:cNvSpPr txBox="1"/>
          <p:nvPr/>
        </p:nvSpPr>
        <p:spPr>
          <a:xfrm>
            <a:off x="6297047" y="2173243"/>
            <a:ext cx="5894953" cy="280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zoom_start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최대값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18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tiles: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타일스타일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openstreetmap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(default)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cartodbpositron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cartodbdark_matter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http://map.esran.com/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경도 검색 사이트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5DAA42-CD39-E8FC-3362-FA0F94ADB68C}"/>
              </a:ext>
            </a:extLst>
          </p:cNvPr>
          <p:cNvSpPr txBox="1"/>
          <p:nvPr/>
        </p:nvSpPr>
        <p:spPr>
          <a:xfrm>
            <a:off x="515372" y="129491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지도 생성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52083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25D8-5291-45B6-2927-6939680A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7203D1-576D-F664-0BB0-40F0D4AC2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422"/>
            <a:ext cx="12192000" cy="29851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A28E77-7A0C-61A3-0F70-35564048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Folium.Map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0F415-39DC-024F-48BA-2725761294C4}"/>
              </a:ext>
            </a:extLst>
          </p:cNvPr>
          <p:cNvSpPr txBox="1"/>
          <p:nvPr/>
        </p:nvSpPr>
        <p:spPr>
          <a:xfrm>
            <a:off x="582047" y="208549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지도 생성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80892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DAF8A-3DA8-7C43-E170-BBEF2A99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CBB70D-F032-51EF-F7CD-772C18850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8" y="961544"/>
            <a:ext cx="1152525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698EF1-6B3E-B8FF-FB78-7E19D493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Folium.Marker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88DFE7-F1BC-BB72-AF89-DA718A5F1DD7}"/>
              </a:ext>
            </a:extLst>
          </p:cNvPr>
          <p:cNvSpPr txBox="1"/>
          <p:nvPr/>
        </p:nvSpPr>
        <p:spPr>
          <a:xfrm>
            <a:off x="953522" y="129491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마커 추가 문법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119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D155-746D-2092-5DA6-BC4AEC0A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BFDAC4-6805-9B44-8E3A-CAB23F71B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701217"/>
            <a:ext cx="11525250" cy="36004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405A52-50BE-7274-B2B2-ADCC8952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Folium.Marker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CC5AFF-9765-F52B-0B65-6985959EC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297" y="3192720"/>
            <a:ext cx="3949537" cy="2964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3B56A9-9A1A-EF55-B2D7-11554402973F}"/>
              </a:ext>
            </a:extLst>
          </p:cNvPr>
          <p:cNvSpPr txBox="1"/>
          <p:nvPr/>
        </p:nvSpPr>
        <p:spPr>
          <a:xfrm>
            <a:off x="1048772" y="105679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마커 추가</a:t>
            </a:r>
            <a:r>
              <a:rPr lang="en-US" altLang="ko-KR" sz="2400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518800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9E375F-2F47-925C-5F9B-1BCEB0931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5176"/>
            <a:ext cx="12192000" cy="29851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Folium.Marker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1C3266-5876-FE05-6B84-1EA5BD5B1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49" y="2837206"/>
            <a:ext cx="4381502" cy="3493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F80FB2-EA53-3C2B-AA2B-D4E9DA2DE608}"/>
              </a:ext>
            </a:extLst>
          </p:cNvPr>
          <p:cNvSpPr txBox="1"/>
          <p:nvPr/>
        </p:nvSpPr>
        <p:spPr>
          <a:xfrm>
            <a:off x="591572" y="95201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마커 추가</a:t>
            </a:r>
            <a:r>
              <a:rPr lang="en-US" altLang="ko-K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162091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162482-2DDD-D959-8394-F3BF80E96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412" y="2028635"/>
            <a:ext cx="8443288" cy="290281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Folium.Marker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9113E9-8C7E-8F13-DEBB-AE7BADE02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2028635"/>
            <a:ext cx="4644303" cy="3704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FFF884-9FE5-4880-1354-4DE7ABA548F6}"/>
              </a:ext>
            </a:extLst>
          </p:cNvPr>
          <p:cNvSpPr txBox="1"/>
          <p:nvPr/>
        </p:nvSpPr>
        <p:spPr>
          <a:xfrm>
            <a:off x="185113" y="210242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마커 추가</a:t>
            </a:r>
            <a:r>
              <a:rPr lang="en-US" altLang="ko-KR" sz="2400" dirty="0"/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943906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FF85C00-4E57-30E0-CAF8-804B3475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78" y="1483009"/>
            <a:ext cx="8011643" cy="180047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Folium.Marker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01D784E-C73F-6E1D-2EA3-D283EBE4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4" y="3159847"/>
            <a:ext cx="3714750" cy="31705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98D49C-46A5-D064-8827-34C4BE74179A}"/>
              </a:ext>
            </a:extLst>
          </p:cNvPr>
          <p:cNvSpPr txBox="1"/>
          <p:nvPr/>
        </p:nvSpPr>
        <p:spPr>
          <a:xfrm>
            <a:off x="1918663" y="901503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마커 추가</a:t>
            </a:r>
            <a:r>
              <a:rPr lang="en-US" altLang="ko-KR" sz="2400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192525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Folium.ClickForMarker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7" name="그림 6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EE454C-C3FA-2F3F-7F95-7937FD92A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4" t="25637" r="7554" b="25784"/>
          <a:stretch>
            <a:fillRect/>
          </a:stretch>
        </p:blipFill>
        <p:spPr>
          <a:xfrm>
            <a:off x="314325" y="2728913"/>
            <a:ext cx="7601550" cy="1357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C5D72D-AEB6-DE68-EEDC-5DF4B357EBB3}"/>
              </a:ext>
            </a:extLst>
          </p:cNvPr>
          <p:cNvSpPr txBox="1"/>
          <p:nvPr/>
        </p:nvSpPr>
        <p:spPr>
          <a:xfrm>
            <a:off x="238992" y="4049317"/>
            <a:ext cx="4427351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folium.ClickForMarker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지도 위를 클릭했을 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마커를 생성함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E6A7415-C34D-DE6D-BBE5-ED1B9D489140}"/>
              </a:ext>
            </a:extLst>
          </p:cNvPr>
          <p:cNvGrpSpPr/>
          <p:nvPr/>
        </p:nvGrpSpPr>
        <p:grpSpPr>
          <a:xfrm>
            <a:off x="7604369" y="1861147"/>
            <a:ext cx="4348639" cy="3393552"/>
            <a:chOff x="6854296" y="1533656"/>
            <a:chExt cx="4847726" cy="387501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3235FC9-3155-12AE-8DBC-39D84407F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4296" y="1533656"/>
              <a:ext cx="4847726" cy="3875017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467E7FF-7356-4865-EA1A-486E9196DC57}"/>
                </a:ext>
              </a:extLst>
            </p:cNvPr>
            <p:cNvSpPr/>
            <p:nvPr/>
          </p:nvSpPr>
          <p:spPr>
            <a:xfrm>
              <a:off x="9887102" y="1679779"/>
              <a:ext cx="1693719" cy="155863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5145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Folium.LatLngPopup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04258F-40EB-07AC-D06E-904BB2893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C9B2CE-D68E-34FD-F940-852169D32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3" t="25548" r="7558" b="26082"/>
          <a:stretch>
            <a:fillRect/>
          </a:stretch>
        </p:blipFill>
        <p:spPr>
          <a:xfrm>
            <a:off x="338848" y="2728623"/>
            <a:ext cx="7859003" cy="1400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09F09-7DE6-B0D4-9B69-05E639B2D714}"/>
              </a:ext>
            </a:extLst>
          </p:cNvPr>
          <p:cNvSpPr txBox="1"/>
          <p:nvPr/>
        </p:nvSpPr>
        <p:spPr>
          <a:xfrm>
            <a:off x="238992" y="4049317"/>
            <a:ext cx="532360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folium.LatLngPopup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지도 위를 클릭했을 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위도와 경도 정보를 표시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86C22DB-2D6A-8EB9-0CDC-5F9E64B1F7AB}"/>
              </a:ext>
            </a:extLst>
          </p:cNvPr>
          <p:cNvGrpSpPr/>
          <p:nvPr/>
        </p:nvGrpSpPr>
        <p:grpSpPr>
          <a:xfrm>
            <a:off x="7255596" y="1715644"/>
            <a:ext cx="4597556" cy="3631190"/>
            <a:chOff x="7255596" y="2651126"/>
            <a:chExt cx="4597556" cy="363119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9DDFE33-4DDC-5D93-1B95-17FC02835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5596" y="2651126"/>
              <a:ext cx="4597556" cy="363119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7606493-6DB6-F137-9224-A07D3238F4F0}"/>
                </a:ext>
              </a:extLst>
            </p:cNvPr>
            <p:cNvSpPr/>
            <p:nvPr/>
          </p:nvSpPr>
          <p:spPr>
            <a:xfrm>
              <a:off x="10065916" y="3025198"/>
              <a:ext cx="1693718" cy="841664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7383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Folium.Circle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04258F-40EB-07AC-D06E-904BB2893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764" y="973093"/>
            <a:ext cx="6694761" cy="8938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✅ </a:t>
            </a:r>
            <a:r>
              <a:rPr lang="en-US" altLang="ko-KR" sz="2000" dirty="0" err="1"/>
              <a:t>folium.Circle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folium.CircleMarker</a:t>
            </a:r>
            <a:r>
              <a:rPr lang="en-US" altLang="ko-KR" sz="2000" dirty="0"/>
              <a:t>() : </a:t>
            </a:r>
            <a:r>
              <a:rPr lang="ko-KR" altLang="en-US" sz="2000" dirty="0"/>
              <a:t>지도에 원을 표시</a:t>
            </a:r>
            <a:r>
              <a:rPr lang="en-US" altLang="ko-KR" sz="20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CirclMarker</a:t>
            </a:r>
            <a:r>
              <a:rPr lang="en-US" altLang="ko-KR" sz="1600" dirty="0"/>
              <a:t> : </a:t>
            </a:r>
            <a:r>
              <a:rPr lang="ko-KR" altLang="en-US" sz="1600" dirty="0"/>
              <a:t>지도 확대 축소에 따라 원의 반경이 변경됨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B44881-E5D5-8425-FD79-E7C92798A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145" y="2299993"/>
            <a:ext cx="4453513" cy="3521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278B71-BF5B-F2EE-3E67-9E1FA9AB5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94" y="1485900"/>
            <a:ext cx="5867400" cy="51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45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FCCAC-50CC-0054-7244-275A0EB5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강의장</a:t>
            </a:r>
            <a:r>
              <a:rPr lang="ko-KR" altLang="en-US" dirty="0">
                <a:solidFill>
                  <a:srgbClr val="ED7D31"/>
                </a:solidFill>
              </a:rPr>
              <a:t> 주변 장소 </a:t>
            </a:r>
            <a:r>
              <a:rPr lang="en-US" altLang="ko-KR" dirty="0">
                <a:solidFill>
                  <a:srgbClr val="ED7D31"/>
                </a:solidFill>
              </a:rPr>
              <a:t>3</a:t>
            </a:r>
            <a:r>
              <a:rPr lang="ko-KR" altLang="en-US" dirty="0">
                <a:solidFill>
                  <a:srgbClr val="ED7D31"/>
                </a:solidFill>
              </a:rPr>
              <a:t>개 표시하기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895DFD6-D72A-1D5A-5FB3-706FDC84B8B0}"/>
              </a:ext>
            </a:extLst>
          </p:cNvPr>
          <p:cNvSpPr txBox="1">
            <a:spLocks/>
          </p:cNvSpPr>
          <p:nvPr/>
        </p:nvSpPr>
        <p:spPr>
          <a:xfrm>
            <a:off x="180975" y="1216025"/>
            <a:ext cx="10001250" cy="479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강의장</a:t>
            </a:r>
            <a:r>
              <a:rPr lang="ko-KR" altLang="en-US" dirty="0"/>
              <a:t> 주변 맛집</a:t>
            </a:r>
            <a:r>
              <a:rPr lang="en-US" altLang="ko-KR" dirty="0"/>
              <a:t>, </a:t>
            </a:r>
            <a:r>
              <a:rPr lang="ko-KR" altLang="en-US" dirty="0"/>
              <a:t>카페</a:t>
            </a:r>
            <a:r>
              <a:rPr lang="en-US" altLang="ko-KR" dirty="0"/>
              <a:t>, </a:t>
            </a:r>
            <a:r>
              <a:rPr lang="ko-KR" altLang="en-US" dirty="0"/>
              <a:t>공원 등등 원하는 곳 </a:t>
            </a:r>
            <a:r>
              <a:rPr lang="en-US" altLang="ko-KR" dirty="0"/>
              <a:t>3</a:t>
            </a:r>
            <a:r>
              <a:rPr lang="ko-KR" altLang="en-US" dirty="0"/>
              <a:t>군데 이상 표시하기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534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1FDCD-2C27-89AF-1DAA-4336BE99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531B5-67F6-2742-F0E5-59764AC7F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택시 </a:t>
            </a:r>
            <a:r>
              <a:rPr lang="ko-KR" altLang="en-US" dirty="0" err="1">
                <a:solidFill>
                  <a:srgbClr val="ED7D31"/>
                </a:solidFill>
              </a:rPr>
              <a:t>승차대</a:t>
            </a:r>
            <a:r>
              <a:rPr lang="ko-KR" altLang="en-US" dirty="0">
                <a:solidFill>
                  <a:srgbClr val="ED7D31"/>
                </a:solidFill>
              </a:rPr>
              <a:t> 위치 표시하기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7075168-4CCC-B282-EF81-6765FDE870CC}"/>
              </a:ext>
            </a:extLst>
          </p:cNvPr>
          <p:cNvSpPr txBox="1">
            <a:spLocks/>
          </p:cNvSpPr>
          <p:nvPr/>
        </p:nvSpPr>
        <p:spPr>
          <a:xfrm>
            <a:off x="180975" y="1216025"/>
            <a:ext cx="10001250" cy="479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💡 “택시승차대 현황</a:t>
            </a:r>
            <a:r>
              <a:rPr lang="en-US" altLang="ko-KR" dirty="0"/>
              <a:t>.csv”</a:t>
            </a:r>
            <a:r>
              <a:rPr lang="ko-KR" altLang="en-US" dirty="0"/>
              <a:t>의 데이터로 택시 </a:t>
            </a:r>
            <a:r>
              <a:rPr lang="ko-KR" altLang="en-US" dirty="0" err="1"/>
              <a:t>승차대</a:t>
            </a:r>
            <a:r>
              <a:rPr lang="ko-KR" altLang="en-US" dirty="0"/>
              <a:t> 위치 표시하기</a:t>
            </a:r>
            <a:r>
              <a:rPr lang="en-US" altLang="ko-KR" dirty="0"/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178381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8095</TotalTime>
  <Words>293</Words>
  <Application>Microsoft Office PowerPoint</Application>
  <PresentationFormat>와이드스크린</PresentationFormat>
  <Paragraphs>52</Paragraphs>
  <Slides>18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G마켓 산스 TTF Bold</vt:lpstr>
      <vt:lpstr>Kim jung chul Gothic Regular</vt:lpstr>
      <vt:lpstr>메이플스토리</vt:lpstr>
      <vt:lpstr>Pretendard Light</vt:lpstr>
      <vt:lpstr>Arial</vt:lpstr>
      <vt:lpstr>Wingdings</vt:lpstr>
      <vt:lpstr>Pretendard Medium</vt:lpstr>
      <vt:lpstr>Pretendard Black</vt:lpstr>
      <vt:lpstr>1_Office 테마</vt:lpstr>
      <vt:lpstr>x</vt:lpstr>
      <vt:lpstr>지도 시각화</vt:lpstr>
      <vt:lpstr>Folium</vt:lpstr>
      <vt:lpstr>Folium 설치</vt:lpstr>
      <vt:lpstr>Folium.Map()</vt:lpstr>
      <vt:lpstr>Folium.Map()</vt:lpstr>
      <vt:lpstr>Folium.Map()</vt:lpstr>
      <vt:lpstr>Folium.Marker()</vt:lpstr>
      <vt:lpstr>Folium.Marker()</vt:lpstr>
      <vt:lpstr>Folium.Marker()</vt:lpstr>
      <vt:lpstr>Folium.Marker()</vt:lpstr>
      <vt:lpstr>Folium.Marker()</vt:lpstr>
      <vt:lpstr>Folium.ClickForMarker()</vt:lpstr>
      <vt:lpstr>Folium.LatLngPopup()</vt:lpstr>
      <vt:lpstr>Folium.Circle()</vt:lpstr>
      <vt:lpstr>실습1. 강의장 주변 장소 3개 표시하기</vt:lpstr>
      <vt:lpstr>실습2. 택시 승차대 위치 표시하기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553</cp:revision>
  <dcterms:created xsi:type="dcterms:W3CDTF">2023-01-31T04:26:23Z</dcterms:created>
  <dcterms:modified xsi:type="dcterms:W3CDTF">2025-08-21T06:52:38Z</dcterms:modified>
</cp:coreProperties>
</file>