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55"/>
  </p:notesMasterIdLst>
  <p:sldIdLst>
    <p:sldId id="1004" r:id="rId2"/>
    <p:sldId id="1060" r:id="rId3"/>
    <p:sldId id="1063" r:id="rId4"/>
    <p:sldId id="1062" r:id="rId5"/>
    <p:sldId id="1064" r:id="rId6"/>
    <p:sldId id="1066" r:id="rId7"/>
    <p:sldId id="1065" r:id="rId8"/>
    <p:sldId id="1068" r:id="rId9"/>
    <p:sldId id="1069" r:id="rId10"/>
    <p:sldId id="1067" r:id="rId11"/>
    <p:sldId id="1087" r:id="rId12"/>
    <p:sldId id="1070" r:id="rId13"/>
    <p:sldId id="1071" r:id="rId14"/>
    <p:sldId id="1072" r:id="rId15"/>
    <p:sldId id="1073" r:id="rId16"/>
    <p:sldId id="1074" r:id="rId17"/>
    <p:sldId id="1095" r:id="rId18"/>
    <p:sldId id="1075" r:id="rId19"/>
    <p:sldId id="1076" r:id="rId20"/>
    <p:sldId id="1077" r:id="rId21"/>
    <p:sldId id="1078" r:id="rId22"/>
    <p:sldId id="1079" r:id="rId23"/>
    <p:sldId id="1082" r:id="rId24"/>
    <p:sldId id="1083" r:id="rId25"/>
    <p:sldId id="1084" r:id="rId26"/>
    <p:sldId id="1081" r:id="rId27"/>
    <p:sldId id="1080" r:id="rId28"/>
    <p:sldId id="1085" r:id="rId29"/>
    <p:sldId id="1086" r:id="rId30"/>
    <p:sldId id="1088" r:id="rId31"/>
    <p:sldId id="1090" r:id="rId32"/>
    <p:sldId id="1061" r:id="rId33"/>
    <p:sldId id="1092" r:id="rId34"/>
    <p:sldId id="1089" r:id="rId35"/>
    <p:sldId id="1093" r:id="rId36"/>
    <p:sldId id="1094" r:id="rId37"/>
    <p:sldId id="1096" r:id="rId38"/>
    <p:sldId id="1098" r:id="rId39"/>
    <p:sldId id="1099" r:id="rId40"/>
    <p:sldId id="1100" r:id="rId41"/>
    <p:sldId id="1101" r:id="rId42"/>
    <p:sldId id="1102" r:id="rId43"/>
    <p:sldId id="1103" r:id="rId44"/>
    <p:sldId id="1104" r:id="rId45"/>
    <p:sldId id="1106" r:id="rId46"/>
    <p:sldId id="1091" r:id="rId47"/>
    <p:sldId id="1097" r:id="rId48"/>
    <p:sldId id="1105" r:id="rId49"/>
    <p:sldId id="1034" r:id="rId50"/>
    <p:sldId id="1037" r:id="rId51"/>
    <p:sldId id="1040" r:id="rId52"/>
    <p:sldId id="1044" r:id="rId53"/>
    <p:sldId id="1059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5C5F"/>
    <a:srgbClr val="00FA3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09" autoAdjust="0"/>
    <p:restoredTop sz="81019" autoAdjust="0"/>
  </p:normalViewPr>
  <p:slideViewPr>
    <p:cSldViewPr snapToGrid="0">
      <p:cViewPr varScale="1">
        <p:scale>
          <a:sx n="81" d="100"/>
          <a:sy n="81" d="100"/>
        </p:scale>
        <p:origin x="8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00" d="100"/>
          <a:sy n="100" d="100"/>
        </p:scale>
        <p:origin x="35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24.5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24575,'2'46'0,"13"71"0,-8-72 0,2 78 0,-9 136 0,0-244 0,2 0 0,0-1 0,1 0 0,6 19 0,-4-16 0,0 0 0,2 25 0,-6 41-1365,-1-67-5461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32.7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52 24575,'0'-2'0,"0"0"0,-1 0 0,2 0 0,-1 1 0,0-2 0,0 2 0,1-1 0,-1 0 0,0 0 0,1 1 0,0-2 0,0 2 0,0-1 0,-1 1 0,1-1 0,0 0 0,1 1 0,-2-1 0,2 1 0,-1 0 0,0-1 0,1 1 0,-1 0 0,3-1 0,1-1 0,0 2 0,0-1 0,-1 1 0,1 0 0,1 0 0,-1 1 0,0-1 0,6 1 0,214 2 0,-216-1 0,-1 1 0,0-1 0,1 2 0,-1-1 0,1 1 0,-1 0 0,-1 1 0,1 0 0,0 0 0,-1 1 0,0 0 0,-1 0 0,1 0 0,0 2 0,-1-2 0,0 1 0,-1 1 0,1 0 0,-2 0 0,1 0 0,-1 0 0,0 1 0,0 0 0,-1 0 0,0 0 0,0 0 0,-1 1 0,1-1 0,-2 0 0,0 1 0,0-1 0,0 1 0,-1 0 0,-1-1 0,1 1 0,-2-1 0,-1 10 0,1-11 0,0-2 0,-1 1 0,0 0 0,0 0 0,0-1 0,0 1 0,-1-2 0,0 2 0,0-1 0,-1 0 0,1-2 0,-1 2 0,0-1 0,0 0 0,0-1 0,-1 1 0,1 0 0,-1-2 0,0 1 0,0-1 0,0 0 0,0 0 0,-13 2 0,-9 0 0,-2 0 0,0-2 0,-57-4 0,40 2 0,37 0 0,0 0 0,0 0 0,-1-1 0,-19-3 0,30 4 0,-1 0 0,-1 0 0,1 0 0,1 0 0,-1-1 0,0 1 0,-1 0 0,2-1 0,-1 1 0,0-1 0,0 1 0,0 0 0,1-1 0,-1 1 0,0-1 0,0 0 0,0 0 0,1 1 0,0-1 0,-1 0 0,0 0 0,0 0 0,1 1 0,0-1 0,0 0 0,-1 0 0,1 0 0,-1 1 0,1-1 0,0-1 0,-1 2 0,1-1 0,0 0 0,0 0 0,0 0 0,0 0 0,0 0 0,0 0 0,0 0 0,1 0 0,-1 0 0,0 0 0,1 0 0,-1 1 0,0-1 0,1-1 0,-1 1 0,0 1 0,1-1 0,0 0 0,-1 0 0,1 0 0,3-3 0,-1 1 0,1-1 0,-1 0 0,1 1 0,0 0 0,0 0 0,0 0 0,0 0 0,1 1 0,-1 0 0,0 0 0,1 0 0,0 1 0,0-1 0,-1 1 0,1 0 0,9-1 0,12 0 0,-1 1 0,34 3 0,-19 0 0,28 2 0,-1 3 0,1 3 0,-2 2 0,0 4 0,80 29 0,-124-35-1365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57.3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0 24575,'0'6'0,"0"5"0,0 5 0,0 4 0,0 4 0,-3 3 0,0 4 0,-3-2 0,-2-3 0,3 1 0,0-2 0,0-2 0,0 0 0,-2 0 0,0-1 0,1-6-8191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58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24575,'13'0'0,"-3"-1"0,0 1 0,0 0 0,0 0 0,0 2 0,0-1 0,0 1 0,0 0 0,-1 1 0,1 0 0,15 8 0,203 100 0,-211-101-1365,-3 1-5461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6:11.578"/>
    </inkml:context>
    <inkml:brush xml:id="br0">
      <inkml:brushProperty name="width" value="0.1" units="cm"/>
      <inkml:brushProperty name="height" value="0.1" units="cm"/>
      <inkml:brushProperty name="color" value="#996633"/>
    </inkml:brush>
  </inkml:definitions>
  <inkml:trace contextRef="#ctx0" brushRef="#br0">481 1 24575,'-1'5'0,"1"0"0,-1-1 0,-1 0 0,1 1 0,-1 0 0,0-1 0,0 1 0,0-2 0,-1 1 0,1 0 0,-1 0 0,0 0 0,0 0 0,-5 4 0,-8 7 0,-29 23 0,-11 1 0,-3-3 0,-97 45 0,60-33 0,80-34 0,15-14 0,1 1 0,0-1 0,0 0 0,0 0 0,0 0 0,0 1 0,0-1 0,0 0 0,0 1 0,0-1 0,0 1 0,0-1 0,0 0 0,0 1 0,0-1 0,1 0 0,-1 0 0,0 0 0,0 1 0,0-1 0,1 1 0,-1-1 0,0 0 0,0 1 0,0-1 0,0 0 0,0 0 0,0 1 0,1-1 0,-1 0 0,1 0 0,0 0 0,4 3 0,-1-1 0,1 0 0,1-1 0,-1 1 0,8 0 0,84 16 0,1-6 0,180 1 0,13-13-1365,-262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6:13.048"/>
    </inkml:context>
    <inkml:brush xml:id="br0">
      <inkml:brushProperty name="width" value="0.1" units="cm"/>
      <inkml:brushProperty name="height" value="0.1" units="cm"/>
      <inkml:brushProperty name="color" value="#996633"/>
    </inkml:brush>
  </inkml:definitions>
  <inkml:trace contextRef="#ctx0" brushRef="#br0">18 1 24575,'-1'29'0,"-6"35"0,-2 21 0,8 317 84,3-192-1533,-2-195-5377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4D7BB-9D09-4DB4-979A-1857C46342D6}" type="datetimeFigureOut">
              <a:rPr lang="ko-KR" altLang="en-US" smtClean="0"/>
              <a:t>2025-10-24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99D024-DE68-44ED-822F-D827F84FBD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159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8277-0718-E14B-8080-F1743842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175E1-F880-85B0-EE66-12E944A95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823E11-8398-7F5F-57BF-040C26FC6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56015D-BD35-9A59-FC37-90C608D762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198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C1283-CA1A-D774-6EF1-E2C91E85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DC4948-9AC0-65B1-6B9E-E491C671CE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BACAD7-1CAF-AA54-4F5E-7F6FCC0396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F9557D-9440-3402-AA5C-98221DC37F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4860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0C9F-B57E-F326-B2AE-882FDF1C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F57E59-85FE-7EBD-6F93-D896D3869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465EC-2FD9-8B96-BC64-F438E54C1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5DB41-9F87-5563-368C-4E38C58588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66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D6C34-4311-AE11-1A58-86C2EBCA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460E3-4300-5E43-7E1F-B7FE8CA4C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FEDCD7-46CC-0A6F-41B4-893A5763E7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CD7121-A2D9-E4A5-05CB-3A0B1C5623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8853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411AD-6C54-2AD8-ABD2-5DDAED277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0CFA06-BCCD-B994-FF83-9A3B56D7A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6714D3-A268-EC14-C136-A9326F00D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9B0F9-03A0-14E8-65E6-E58D40B04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317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E74B2-181C-4FED-22B3-7AE0A5572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3CB124-3D26-B301-A237-48ABF980B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CA3FAD-2007-854F-5081-36FBCDD3E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0DBF46-E763-59C9-B462-F4DC16D8A7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6257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29CF-60C1-D2B4-106A-50A80EDF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A6B038-4DEF-BD21-08A6-69A60FB00B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867029-297C-491C-ABFA-8006F4829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F40315-8263-B17E-F967-0AC21F90F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136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0F90D-C9A3-98D4-8CA9-06CEAA9C1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641FAF-DFBD-4724-0C50-5BE94E190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BB97A4-B37C-9177-38F6-23275C877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1AF669-D504-9C6B-2A73-51B40FE05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1881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95AFA-CB26-F568-9BCF-05582D234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4C2656-B9B0-25BA-BBE4-2B169E7C1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F611F5-2ECA-F008-C472-EC0EBFE9EC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524AB-6ECB-779E-B2CD-E2F2854CB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2068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2F138-C41E-CB22-7D28-244DF1005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B102F-D10F-5ED9-9A24-DB4BED31D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CF83E3-E141-B986-E597-61162C389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6DEF34-6FFC-66DE-C6D4-DC53F17320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0139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13564-D5DA-0D24-E741-68E887C9F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50C5E7-3568-680F-58A4-CAC0BA9CE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207235-0265-2B88-7F86-B7205946B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C43B56-8735-A76D-B116-B1600BEC5A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28145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A9ADF-FF6F-4877-826A-7FE11E9F9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8A05FE-4936-36D7-FEC5-5B7BFCC0A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CC1D99-88BD-0815-01BF-157C9A8A7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C087A0-1B97-5D5F-8659-8FD050236F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818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BE4F2-1BE2-255C-2D2A-92E43BA89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C21006-8002-9E67-646F-679B94D83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7D4976-642B-26FE-5B30-57DB8117E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EBF723-D188-2BB4-0974-EDB0FD4010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22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5645B-5627-02D8-EF5E-F923F997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809F1A-EF65-2558-3A31-72E1C9DBB9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03F419-5675-DE39-4118-167E2735A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9A6BF-22D4-2E9A-B928-7AC2CD5C4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99274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5927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F42A2-DB46-526D-25BC-E44B24B00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16C1EE-0D6F-A219-AAB1-6806A04378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27650E-AE33-C418-39D0-6F005EC47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604972-6757-D5D9-8474-C4F6E8EE4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4754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17B93-2085-777C-84D5-B695C89C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0EF22F-DD4D-737F-2855-956026F9B9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508635-097B-D757-A491-A018D88871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8A0307-7F3B-DB3A-E788-A25A8F7B9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34871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F2045-98FB-3DB1-A956-75EF182E2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032159-E09D-71A6-184F-1F899CFA25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D773F2-1AB8-7F32-FFAE-A7CF4FB49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F4A950-7308-C1C3-D19B-BA59ABEE5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65420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FA75D-2E90-2945-F357-6070F174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658B33-C885-4BC2-2EAD-1B3E4E00E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F8394-2040-D1BF-C0DE-BE2CC725F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07314-D5A4-22C7-53A0-71215CCF59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424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88AD8-EAFD-E6A8-447B-F1E5AC5CA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4EC82-AEEC-E6F8-6023-A790B02C8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C24E29-E63D-BD2F-DE3F-42CBCDAA8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E5766-5FDB-55A8-2C85-C2EB656B3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9336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5DCB-0430-6FF3-D596-0AA19B2B8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CFC049-52C2-97A0-36C7-89059E1B1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5D695D-3A8F-1344-B442-933810FBE2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4D69C-C96F-F584-D9F8-83CB7914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0153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822E5-BF76-F180-41BD-87D593FC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5C0043-E72C-5EB7-253D-D60587881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FD61EC-88E8-01E6-1F1C-5866B2C0E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09BF02-3B81-3A53-FBD4-D9A658535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7642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9929E-CB76-F3B4-1D1D-1E20BDFD4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55C06-0EA9-CB83-729B-316D21FEA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3B9D28-8BE1-1432-D9D9-665917FDA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  <a:r>
              <a:rPr lang="en-US" altLang="ko-KR" dirty="0"/>
              <a:t>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533374-8523-CEB9-C62C-EE2506B7D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6957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8418E-449B-5619-913D-9AD5ABFE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116328-4F7C-A234-7E24-B2D0333A6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5F128-6CD2-4D0C-17B9-F6C74EC8F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A1192E-B096-6542-BEAB-F913C8AC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0511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FE1A-B652-42C3-13FA-70CBE90E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CDDD0-A29F-8C3E-145B-9F4CFA33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4F55AC-C71F-B317-5EFD-E3E8AE182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A01C6-497B-67F6-1476-628008B43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7661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92017-792E-C7BF-616B-BDDF4F4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87B1C8-06AD-E32E-B52B-5EB547E9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7551DA-FD80-0FEA-FB6D-DCEB89A57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ACB60-5A17-9BBE-0646-C1ED636A2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5670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7673E-74C7-AFDE-69D1-1F9A80E1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B32E6E-43F8-8BD2-C8C2-6B6F2FAE9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1C0786-4D55-0285-6958-E7763FEB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C69716-A6AE-AAB7-8211-8994FAAD6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6343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BCB1-E1EB-465C-9EE7-F07BBDA3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4C389-2569-B6A5-6037-421397C08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0C7E3A-2D3A-7164-3E91-FFC02E39D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1ppm</a:t>
            </a:r>
            <a:r>
              <a:rPr lang="ko-KR" altLang="en-US" dirty="0"/>
              <a:t>이란</a:t>
            </a:r>
            <a:r>
              <a:rPr lang="en-US" altLang="ko-KR" dirty="0"/>
              <a:t>? </a:t>
            </a:r>
          </a:p>
          <a:p>
            <a:pPr lvl="1"/>
            <a:r>
              <a:rPr lang="ko-KR" altLang="en-US" dirty="0"/>
              <a:t>일산화탄소</a:t>
            </a:r>
            <a:r>
              <a:rPr lang="en-US" altLang="ko-KR" dirty="0"/>
              <a:t>, </a:t>
            </a:r>
            <a:r>
              <a:rPr lang="ko-KR" altLang="en-US" dirty="0"/>
              <a:t>메탄 등과 같은 가스를 측정할 때는 공기 중의 부피당 가스의 양을 </a:t>
            </a:r>
            <a:r>
              <a:rPr lang="ko-KR" altLang="en-US" dirty="0" err="1"/>
              <a:t>일컷기</a:t>
            </a:r>
            <a:r>
              <a:rPr lang="ko-KR" altLang="en-US" dirty="0"/>
              <a:t> 위해 농도라는 용어를 사용한다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농도를 측정하기 위해 가장 많이 표현하는 방법이 </a:t>
            </a:r>
            <a:r>
              <a:rPr lang="en-US" altLang="ko-KR" dirty="0"/>
              <a:t>ppm</a:t>
            </a:r>
            <a:r>
              <a:rPr lang="ko-KR" altLang="en-US" dirty="0"/>
              <a:t>과 </a:t>
            </a:r>
            <a:r>
              <a:rPr lang="en-US" altLang="ko-KR" dirty="0"/>
              <a:t>%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ppm</a:t>
            </a:r>
            <a:r>
              <a:rPr lang="ko-KR" altLang="en-US" dirty="0"/>
              <a:t>은 ‘어떤 한 가스와 다른 가스와의 </a:t>
            </a:r>
            <a:r>
              <a:rPr lang="ko-KR" altLang="en-US" dirty="0" err="1"/>
              <a:t>비’를</a:t>
            </a:r>
            <a:r>
              <a:rPr lang="ko-KR" altLang="en-US" dirty="0"/>
              <a:t> 의미하는 것으로 </a:t>
            </a:r>
            <a:r>
              <a:rPr lang="en-US" altLang="ko-KR" dirty="0"/>
              <a:t>1,000ppm</a:t>
            </a:r>
            <a:r>
              <a:rPr lang="ko-KR" altLang="en-US" dirty="0"/>
              <a:t>의 </a:t>
            </a:r>
            <a:r>
              <a:rPr lang="en-US" altLang="ko-KR" dirty="0"/>
              <a:t>CO</a:t>
            </a:r>
            <a:r>
              <a:rPr lang="ko-KR" altLang="en-US" dirty="0"/>
              <a:t>는 </a:t>
            </a:r>
            <a:r>
              <a:rPr lang="en-US" altLang="ko-KR" dirty="0"/>
              <a:t>1000</a:t>
            </a:r>
            <a:r>
              <a:rPr lang="ko-KR" altLang="en-US" dirty="0"/>
              <a:t>개의 일산화탄소가 다른 가스 </a:t>
            </a:r>
            <a:r>
              <a:rPr lang="en-US" altLang="ko-KR" dirty="0"/>
              <a:t>999,000</a:t>
            </a:r>
            <a:r>
              <a:rPr lang="ko-KR" altLang="en-US" dirty="0"/>
              <a:t>개와 섞여 있는 농도를 의미한다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쉽게 비유하자면</a:t>
            </a:r>
            <a:r>
              <a:rPr lang="en-US" altLang="ko-KR" dirty="0"/>
              <a:t>, 11.5</a:t>
            </a:r>
            <a:r>
              <a:rPr lang="ko-KR" altLang="en-US" dirty="0"/>
              <a:t>일 중 </a:t>
            </a:r>
            <a:r>
              <a:rPr lang="en-US" altLang="ko-KR" dirty="0"/>
              <a:t>1</a:t>
            </a:r>
            <a:r>
              <a:rPr lang="ko-KR" altLang="en-US" dirty="0"/>
              <a:t>초</a:t>
            </a:r>
            <a:r>
              <a:rPr lang="en-US" altLang="ko-KR" dirty="0"/>
              <a:t>, 2</a:t>
            </a:r>
            <a:r>
              <a:rPr lang="ko-KR" altLang="en-US" dirty="0"/>
              <a:t>년 중 </a:t>
            </a:r>
            <a:r>
              <a:rPr lang="en-US" altLang="ko-KR" dirty="0"/>
              <a:t>1</a:t>
            </a:r>
            <a:r>
              <a:rPr lang="ko-KR" altLang="en-US" dirty="0"/>
              <a:t>분과 같은 양의 정도이다</a:t>
            </a:r>
            <a:r>
              <a:rPr lang="en-US" altLang="ko-KR" dirty="0"/>
              <a:t>.</a:t>
            </a:r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48A91F-A568-58F7-BC3E-A930EB7C3E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704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B8571-F9E9-4B66-6E52-CEDE0ADD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B968E5-EE57-CBE5-A7FA-33FC1D22A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747FA5-ABCD-CF0C-4D4B-14858229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1ppm</a:t>
            </a:r>
            <a:r>
              <a:rPr lang="ko-KR" altLang="en-US" dirty="0"/>
              <a:t>이란</a:t>
            </a:r>
            <a:r>
              <a:rPr lang="en-US" altLang="ko-KR" dirty="0"/>
              <a:t>? </a:t>
            </a:r>
          </a:p>
          <a:p>
            <a:pPr lvl="1"/>
            <a:r>
              <a:rPr lang="ko-KR" altLang="en-US" dirty="0"/>
              <a:t>일산화탄소</a:t>
            </a:r>
            <a:r>
              <a:rPr lang="en-US" altLang="ko-KR" dirty="0"/>
              <a:t>, </a:t>
            </a:r>
            <a:r>
              <a:rPr lang="ko-KR" altLang="en-US" dirty="0"/>
              <a:t>메탄 등과 같은 가스를 측정할 때는 공기 중의 부피당 가스의 양을 </a:t>
            </a:r>
            <a:r>
              <a:rPr lang="ko-KR" altLang="en-US" dirty="0" err="1"/>
              <a:t>일컷기</a:t>
            </a:r>
            <a:r>
              <a:rPr lang="ko-KR" altLang="en-US" dirty="0"/>
              <a:t> 위해 농도라는 용어를 사용한다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농도를 측정하기 위해 가장 많이 표현하는 방법이 </a:t>
            </a:r>
            <a:r>
              <a:rPr lang="en-US" altLang="ko-KR" dirty="0"/>
              <a:t>ppm</a:t>
            </a:r>
            <a:r>
              <a:rPr lang="ko-KR" altLang="en-US" dirty="0"/>
              <a:t>과 </a:t>
            </a:r>
            <a:r>
              <a:rPr lang="en-US" altLang="ko-KR" dirty="0"/>
              <a:t>%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ppm</a:t>
            </a:r>
            <a:r>
              <a:rPr lang="ko-KR" altLang="en-US" dirty="0"/>
              <a:t>은 ‘어떤 한 가스와 다른 가스와의 </a:t>
            </a:r>
            <a:r>
              <a:rPr lang="ko-KR" altLang="en-US" dirty="0" err="1"/>
              <a:t>비’를</a:t>
            </a:r>
            <a:r>
              <a:rPr lang="ko-KR" altLang="en-US" dirty="0"/>
              <a:t> 의미하는 것으로 </a:t>
            </a:r>
            <a:r>
              <a:rPr lang="en-US" altLang="ko-KR" dirty="0"/>
              <a:t>1,000ppm</a:t>
            </a:r>
            <a:r>
              <a:rPr lang="ko-KR" altLang="en-US" dirty="0"/>
              <a:t>의 </a:t>
            </a:r>
            <a:r>
              <a:rPr lang="en-US" altLang="ko-KR" dirty="0"/>
              <a:t>CO</a:t>
            </a:r>
            <a:r>
              <a:rPr lang="ko-KR" altLang="en-US" dirty="0"/>
              <a:t>는 </a:t>
            </a:r>
            <a:r>
              <a:rPr lang="en-US" altLang="ko-KR" dirty="0"/>
              <a:t>1000</a:t>
            </a:r>
            <a:r>
              <a:rPr lang="ko-KR" altLang="en-US" dirty="0"/>
              <a:t>개의 일산화탄소가 다른 가스 </a:t>
            </a:r>
            <a:r>
              <a:rPr lang="en-US" altLang="ko-KR" dirty="0"/>
              <a:t>999,000</a:t>
            </a:r>
            <a:r>
              <a:rPr lang="ko-KR" altLang="en-US" dirty="0"/>
              <a:t>개와 섞여 있는 농도를 의미한다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쉽게 비유하자면</a:t>
            </a:r>
            <a:r>
              <a:rPr lang="en-US" altLang="ko-KR" dirty="0"/>
              <a:t>, 11.5</a:t>
            </a:r>
            <a:r>
              <a:rPr lang="ko-KR" altLang="en-US" dirty="0"/>
              <a:t>일 중 </a:t>
            </a:r>
            <a:r>
              <a:rPr lang="en-US" altLang="ko-KR" dirty="0"/>
              <a:t>1</a:t>
            </a:r>
            <a:r>
              <a:rPr lang="ko-KR" altLang="en-US" dirty="0"/>
              <a:t>초</a:t>
            </a:r>
            <a:r>
              <a:rPr lang="en-US" altLang="ko-KR" dirty="0"/>
              <a:t>, 2</a:t>
            </a:r>
            <a:r>
              <a:rPr lang="ko-KR" altLang="en-US" dirty="0"/>
              <a:t>년 중 </a:t>
            </a:r>
            <a:r>
              <a:rPr lang="en-US" altLang="ko-KR" dirty="0"/>
              <a:t>1</a:t>
            </a:r>
            <a:r>
              <a:rPr lang="ko-KR" altLang="en-US" dirty="0"/>
              <a:t>분과 같은 양의 정도이다</a:t>
            </a:r>
            <a:r>
              <a:rPr lang="en-US" altLang="ko-KR" dirty="0"/>
              <a:t>.</a:t>
            </a:r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EE625-1480-F641-4EFE-7BE264A53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5990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5823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4046-7307-8ECF-3575-F1D1B54EC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793884-E900-E411-74BB-FFD311D24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CA177A-1BAD-C38F-AF0C-458ED2A780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539E5F-7E57-0EBF-31F9-AF33A749C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4728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5089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98657-E859-4B33-2499-B5A9DEEC7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49E690-8D75-B1EF-7C80-772655F41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A5869D-0362-8073-2A38-5EEE59E1E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959FC9-ABCD-6291-C893-6DE7A527D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24515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987F7-F122-4767-B2D9-E05156E6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AEB3A2-9063-B8F3-E568-B9BDF25ED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1BB625-B0E3-D753-4580-4402ECC97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A66E0E-A9D7-04D1-618E-8E5E6812B0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2284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4F2C-58F2-EF2A-99DC-CAD1C0F58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996F9C-3483-AFE6-4FAA-3B32CA06A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57BD22-473C-FD9E-A096-252888803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15FB38-FFE0-C0BE-8D91-9135C74C59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93204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306DD-E132-EE00-43C7-2B7DC4506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411222-EC68-F210-A1F6-83C26748D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88B719-6D11-18FE-0326-3CA11532C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7D154B-5915-BCF4-6DE6-FCDBE1B3E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2857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467FA-8CB4-4475-B2B5-24DC3ED8B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1B6998-D912-8C42-0799-AD808AB6F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801959-5475-85B0-1A15-6EA606E8A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5FA8BC-D212-CFCC-2682-9357A6163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65421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FF3E-9F90-2147-B543-81C22B41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EFA10D-E582-3FAC-FCB8-00EA1C771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0A1A11-DAD2-8EC4-BCAA-00E8C94F6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FC5777-0496-EDFC-8B3A-D177418B6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1992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5F50A-47EC-D589-2C0F-BBED5628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F1374C-FB94-51A8-47BA-15418AD7B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AAB358-4486-D0D2-1363-794A407F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A441B-8868-8B8C-ACA6-C5B3ADAB3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52717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7E93-0AD6-790E-C816-B5CC343C0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89198-B26D-FF52-7767-945D1CC0A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79DB9B-53FB-4B91-FFDA-F6A4E2E51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F5C856-C8ED-035F-1359-FEF9CE52FC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8760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E2C6D-A51C-B2FD-40CD-43A59B69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04BF1-8E9B-CD5A-B6C3-1332795B5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A45CF5-D057-93CA-12B2-B97AECA21D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AB742C-B6CE-5C92-FAB1-3A1AFF25FE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08666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9E0AE-88FD-E5F9-183C-4AEE9DAB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B8E31C-48BF-DE49-EB56-A31925913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CD5C7D-0193-E84F-3AFD-8C78E5024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90B514-2763-DB31-7418-8F94402E6D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2835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A2F51-082C-7C37-681B-B56BFD532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368602-3026-F45D-A4A3-5708BF49C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10BE52-C3AC-F959-1800-76C1202F6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6C9D3F-A9AB-4295-3B7F-F6E863499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85418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333423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48D18-A0B4-DBF8-E584-922D6E975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D92D3B-39E5-5BC7-B45C-1A0061420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B44259-56BF-EC56-4E1F-6E3DC112B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 dirty="0">
              <a:solidFill>
                <a:srgbClr val="292A2D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1239E-184F-FEA9-BD43-B2EDBCE29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60911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906C-25CE-4003-2116-D850B9B9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EDDCD8-6953-BEC7-8711-8C62AA9BB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56E6D5-ACC9-2044-6E11-83AEDBF89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LED 3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개가 있고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각각은 저항 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-&gt; GDN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으로 연결되어 있다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i="0" dirty="0">
              <a:solidFill>
                <a:srgbClr val="292A2D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각 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LED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는 긴 다리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(+)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는 </a:t>
            </a:r>
            <a:r>
              <a:rPr lang="ko-KR" altLang="en-US" b="0" i="0" dirty="0" err="1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아두이노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디지털 핀에 연결되어 있다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i="0" dirty="0">
              <a:solidFill>
                <a:srgbClr val="292A2D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즉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0" i="0" dirty="0" err="1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아두이노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디지털 </a:t>
            </a:r>
            <a:r>
              <a:rPr lang="ko-KR" altLang="en-US" b="0" i="0" dirty="0" err="1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출력핀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-&gt; LED(+) -&gt; LED(-) -&gt; </a:t>
            </a: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저항</a:t>
            </a:r>
            <a:r>
              <a:rPr lang="en-US" altLang="ko-KR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-&gt; GND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i="0" dirty="0">
              <a:solidFill>
                <a:srgbClr val="292A2D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i="0" dirty="0">
                <a:solidFill>
                  <a:srgbClr val="292A2D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전기는 항상 </a:t>
            </a:r>
            <a:r>
              <a:rPr lang="en-US" altLang="ko-KR" dirty="0"/>
              <a:t>+) → (</a:t>
            </a:r>
            <a:r>
              <a:rPr lang="ko-KR" altLang="en-US" dirty="0"/>
              <a:t>부하</a:t>
            </a:r>
            <a:r>
              <a:rPr lang="en-US" altLang="ko-KR" dirty="0"/>
              <a:t>, </a:t>
            </a:r>
            <a:r>
              <a:rPr lang="ko-KR" altLang="en-US" dirty="0"/>
              <a:t>즉 </a:t>
            </a:r>
            <a:r>
              <a:rPr lang="en-US" altLang="ko-KR" dirty="0"/>
              <a:t>LED) → (–) </a:t>
            </a:r>
            <a:r>
              <a:rPr lang="ko-KR" altLang="en-US" dirty="0"/>
              <a:t>이 방향으로 흐른다</a:t>
            </a:r>
            <a:r>
              <a:rPr lang="en-US" altLang="ko-KR" dirty="0"/>
              <a:t>.</a:t>
            </a:r>
            <a:endParaRPr lang="ko-KR" altLang="en-US" b="0" i="0" dirty="0">
              <a:solidFill>
                <a:srgbClr val="292A2D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892696-C26E-B54F-3F91-8EC80C98D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12861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6DC93-E442-81A5-5E41-C23F3FB76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33F36E-CFAB-B06C-88FB-075C26C05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9762BA-E6F3-1695-5D3A-A379F1D39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415EF-8D99-E6E1-C0A1-30F4AC0E8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43977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256F0-C170-1ED8-539D-DE5A5066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2687C9-3D6D-EF30-B1A0-F9235B67C5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060FA6-9F4F-9808-A139-1E36A541B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734475-8949-654B-D19C-63A74E85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38101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A08D8-80BC-8B02-9D1C-33D116AD2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AF9E8A-FC67-ECF7-813D-69C8E301B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AAF73B-495B-6D72-8999-F1CFFE427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 dirty="0">
              <a:solidFill>
                <a:srgbClr val="292A2D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E27F34-4E58-E9E6-5090-49709E668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962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363AF495-5D7E-D543-8293-A330C027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0A9264D-0D91-1C47-F467-5413B437A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32C6696-EE0A-BC2D-7063-70F28936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88913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>
            <a:normAutofit/>
          </a:bodyPr>
          <a:lstStyle>
            <a:lvl1pPr>
              <a:defRPr sz="4800"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/>
          <a:lstStyle>
            <a:lvl1pPr>
              <a:lnSpc>
                <a:spcPct val="120000"/>
              </a:lnSpc>
              <a:defRPr sz="2400"/>
            </a:lvl1pPr>
            <a:lvl2pPr>
              <a:lnSpc>
                <a:spcPct val="120000"/>
              </a:lnSpc>
              <a:defRPr sz="2000"/>
            </a:lvl2pPr>
            <a:lvl3pPr>
              <a:lnSpc>
                <a:spcPct val="120000"/>
              </a:lnSpc>
              <a:defRPr sz="1800"/>
            </a:lvl3pPr>
            <a:lvl4pPr>
              <a:lnSpc>
                <a:spcPct val="120000"/>
              </a:lnSpc>
              <a:defRPr sz="1600"/>
            </a:lvl4pPr>
            <a:lvl5pPr>
              <a:lnSpc>
                <a:spcPct val="120000"/>
              </a:lnSpc>
              <a:defRPr sz="16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3132" y="64616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280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9203132" y="6460503"/>
            <a:ext cx="2743200" cy="365125"/>
          </a:xfrm>
          <a:prstGeom prst="rect">
            <a:avLst/>
          </a:prstGeom>
        </p:spPr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652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06F24-622A-4AA1-9EE9-61C4C87F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0FB5B-CBB9-D05F-2D4C-35F2E277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FD3D05-2043-7424-C7F9-3D759F9A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65429-C731-4E12-954F-54C9E5190F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36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A4579422-9426-9FEC-70F2-16B5A9ADE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0E2B5B01-93B1-9ADC-F3DF-2B340E54EC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3132" y="6459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F3BE842-C521-0C8F-A4B5-11422EB6C247}"/>
              </a:ext>
            </a:extLst>
          </p:cNvPr>
          <p:cNvSpPr txBox="1">
            <a:spLocks/>
          </p:cNvSpPr>
          <p:nvPr userDrawn="1"/>
        </p:nvSpPr>
        <p:spPr>
          <a:xfrm>
            <a:off x="10555576" y="218354"/>
            <a:ext cx="293806" cy="321897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en-US" altLang="ko-KR" sz="2400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sz="2400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DCCE0A-8512-9AD3-FCFE-854EDADA9794}"/>
              </a:ext>
            </a:extLst>
          </p:cNvPr>
          <p:cNvGrpSpPr/>
          <p:nvPr userDrawn="1"/>
        </p:nvGrpSpPr>
        <p:grpSpPr>
          <a:xfrm>
            <a:off x="9299385" y="287928"/>
            <a:ext cx="2646947" cy="325258"/>
            <a:chOff x="22849643" y="-4470425"/>
            <a:chExt cx="7688784" cy="944801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AB111EE-FD1E-BC5A-5D1E-AC40300BC5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41510" y="-4460662"/>
              <a:ext cx="2996917" cy="935038"/>
            </a:xfrm>
            <a:prstGeom prst="rect">
              <a:avLst/>
            </a:prstGeom>
          </p:spPr>
        </p:pic>
        <p:pic>
          <p:nvPicPr>
            <p:cNvPr id="9" name="그림 8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71F583FB-0B92-1510-CF5E-6C92F7905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849643" y="-4470425"/>
              <a:ext cx="3459479" cy="744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5190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afruit/DHT-sensor-librar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afruit/Adafruit_Sensor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openxmlformats.org/officeDocument/2006/relationships/customXml" Target="../ink/ink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6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3.png"/><Relationship Id="rId14" Type="http://schemas.openxmlformats.org/officeDocument/2006/relationships/customXml" Target="../ink/ink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jpeg"/><Relationship Id="rId7" Type="http://schemas.openxmlformats.org/officeDocument/2006/relationships/image" Target="../media/image2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e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microsoft.com/office/2007/relationships/hdphoto" Target="../media/hdphoto1.wdp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1.jpe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e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40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jpeg"/><Relationship Id="rId3" Type="http://schemas.openxmlformats.org/officeDocument/2006/relationships/image" Target="../media/image31.jpe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jpe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m.blog.naver.com/eduino/221203076403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eduino/223271516471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arduino.cc/en/Tutorial/PWM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jpeg"/><Relationship Id="rId3" Type="http://schemas.openxmlformats.org/officeDocument/2006/relationships/image" Target="../media/image31.jpe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5F9E2036-8D3D-3C48-304C-6615D19E4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049" y="3037564"/>
            <a:ext cx="10243899" cy="2028316"/>
          </a:xfrm>
        </p:spPr>
        <p:txBody>
          <a:bodyPr wrap="square">
            <a:noAutofit/>
          </a:bodyPr>
          <a:lstStyle/>
          <a:p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endParaRPr lang="en-US" altLang="ko-KR" sz="4800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  <a:p>
            <a:r>
              <a:rPr lang="en-US" altLang="ko-KR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 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1324" y="1985210"/>
            <a:ext cx="4069351" cy="61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17157-F89F-3863-BDEC-EEAC44D15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F7929-03E1-AE29-D141-5B75C22D8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B2ED-95B9-BC22-1DC5-C2ED1FCCABC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C3ED7274-2594-9B74-39C9-09E22BA19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온도 센서와 습도 센서가 하나의 전자 부품으로 구성된 장치</a:t>
            </a:r>
            <a:endParaRPr lang="en-US" altLang="ko-KR" sz="2000" dirty="0"/>
          </a:p>
          <a:p>
            <a:r>
              <a:rPr lang="ko-KR" altLang="en-US" sz="2000" dirty="0" err="1"/>
              <a:t>온습도</a:t>
            </a:r>
            <a:r>
              <a:rPr lang="ko-KR" altLang="en-US" sz="2000" dirty="0"/>
              <a:t> 측정 범위와 정확도에 따라 </a:t>
            </a:r>
            <a:r>
              <a:rPr lang="en-US" altLang="ko-KR" sz="2000" dirty="0"/>
              <a:t>DHT11 </a:t>
            </a:r>
            <a:r>
              <a:rPr lang="ko-KR" altLang="en-US" sz="2000" dirty="0"/>
              <a:t>모델과 </a:t>
            </a:r>
            <a:r>
              <a:rPr lang="en-US" altLang="ko-KR" sz="2000" dirty="0"/>
              <a:t>DHT22 </a:t>
            </a:r>
            <a:r>
              <a:rPr lang="ko-KR" altLang="en-US" sz="2000" dirty="0"/>
              <a:t>모델로 나뉘며</a:t>
            </a:r>
            <a:r>
              <a:rPr lang="en-US" altLang="ko-KR" sz="2000" dirty="0"/>
              <a:t>, </a:t>
            </a:r>
            <a:r>
              <a:rPr lang="ko-KR" altLang="en-US" sz="2000" dirty="0"/>
              <a:t>두 모델은 동작 전압과 소비 전류가 동일하지만 온도와 습도 측정 범위와 샘플링 주기가 다르다</a:t>
            </a:r>
            <a:r>
              <a:rPr lang="en-US" altLang="ko-KR" sz="2000" dirty="0"/>
              <a:t>.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97A7A104-B75B-B88E-9DF4-8E0A95DFBF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2058683" y="3248434"/>
            <a:ext cx="3155455" cy="264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37D90426-86AE-04A6-7530-D80E9E2045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726960" y="1549839"/>
            <a:ext cx="2270240" cy="242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1832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BCBD-E388-5018-C7DB-7461A52AC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88E765-158E-FE54-AE6A-547963D6D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 동작 원리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3B88B-0E5C-004B-A1A0-8F9A41A8965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CF68405-E240-3BF7-DEF3-4F94BA086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온도를 감지하는 부분은 세라믹 반도체로 이루어져</a:t>
            </a:r>
            <a:r>
              <a:rPr lang="en-US" altLang="ko-KR" sz="2000" dirty="0"/>
              <a:t>, </a:t>
            </a:r>
            <a:r>
              <a:rPr lang="ko-KR" altLang="en-US" sz="2000" dirty="0"/>
              <a:t>온도에 따라 물질의 저항 값이 변하는 소재의 특성을 이용하여 값의 변화를 감지해 온도 값을 출력합니다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습도는 두 전극 사이의 저항 변화를 측정함으로써</a:t>
            </a:r>
            <a:r>
              <a:rPr lang="en-US" altLang="ko-KR" sz="2000" dirty="0"/>
              <a:t>, </a:t>
            </a:r>
            <a:r>
              <a:rPr lang="ko-KR" altLang="en-US" sz="2000" dirty="0"/>
              <a:t>공기 중의 습도 변화를 알아낼 수 있습니다</a:t>
            </a:r>
            <a:r>
              <a:rPr lang="en-US" altLang="ko-KR" sz="2000" dirty="0"/>
              <a:t>.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FEAB69FE-C4DF-683F-61C5-2CBFA34CFE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2058683" y="3248434"/>
            <a:ext cx="3155455" cy="264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A7615965-2060-B29E-1FBA-9A9923B538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726960" y="1549839"/>
            <a:ext cx="2270240" cy="242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8555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8E92E-8F8D-4C68-A0E0-ED80C90DC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5BC32A-447A-6C1D-0B42-45D984AA3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 종류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6FCF1569-9B02-8EFF-9DE8-2F61459069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7872686" y="4523772"/>
            <a:ext cx="1953036" cy="1637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F4C8C25E-9B20-A521-C581-AE898D0824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5174369" y="4352487"/>
            <a:ext cx="1693272" cy="1809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AD96EFD-B3EE-BF53-5F46-BB8E23D03D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350700"/>
              </p:ext>
            </p:extLst>
          </p:nvPr>
        </p:nvGraphicFramePr>
        <p:xfrm>
          <a:off x="2032000" y="1385575"/>
          <a:ext cx="8127999" cy="4926325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378822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57103958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551975937"/>
                    </a:ext>
                  </a:extLst>
                </a:gridCol>
              </a:tblGrid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DHT11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DHT22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4802136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전압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3V~5V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3V~5V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0780793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소비 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2.5mA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2.5mA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4309324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습도 측정 범위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20~80% </a:t>
                      </a:r>
                      <a:r>
                        <a:rPr lang="en-US" altLang="ko-KR" sz="1400" dirty="0"/>
                        <a:t>(5%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0~100% </a:t>
                      </a:r>
                      <a:r>
                        <a:rPr lang="en-US" altLang="ko-KR" sz="1400" dirty="0"/>
                        <a:t>(2~5%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 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4389146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온도 측정 범위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0~50°C </a:t>
                      </a:r>
                      <a:r>
                        <a:rPr lang="en-US" altLang="ko-KR" sz="1400" dirty="0"/>
                        <a:t>(±2°C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-40~80°C </a:t>
                      </a:r>
                      <a:r>
                        <a:rPr lang="en-US" altLang="ko-KR" sz="1400" dirty="0"/>
                        <a:t>(±0.5°C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8525328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샘플링 주기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0.5Hz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63339"/>
                  </a:ext>
                </a:extLst>
              </a:tr>
              <a:tr h="196956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센서 모듈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6563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8791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56DE9-4E3C-72E9-00D0-9481AAC5F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B4EA9C-7E03-37B2-C5E9-28AEE8A1B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pic>
        <p:nvPicPr>
          <p:cNvPr id="17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F6BF7066-52E0-EDA0-187A-8572FAE7BF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 rot="19200000">
            <a:off x="4197802" y="1261394"/>
            <a:ext cx="3796395" cy="405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31789A07-BD25-6B4D-B761-8C3F730364B2}"/>
              </a:ext>
            </a:extLst>
          </p:cNvPr>
          <p:cNvSpPr/>
          <p:nvPr/>
        </p:nvSpPr>
        <p:spPr>
          <a:xfrm>
            <a:off x="4314388" y="4927710"/>
            <a:ext cx="1080000" cy="2540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위로 굽음 18">
            <a:extLst>
              <a:ext uri="{FF2B5EF4-FFF2-40B4-BE49-F238E27FC236}">
                <a16:creationId xmlns:a16="http://schemas.microsoft.com/office/drawing/2014/main" id="{6416BE1E-FF0E-CFA9-53F6-6B48C20434C3}"/>
              </a:ext>
            </a:extLst>
          </p:cNvPr>
          <p:cNvSpPr/>
          <p:nvPr/>
        </p:nvSpPr>
        <p:spPr>
          <a:xfrm flipH="1">
            <a:off x="5709241" y="5364124"/>
            <a:ext cx="1440000" cy="462600"/>
          </a:xfrm>
          <a:prstGeom prst="bent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75CC0095-981D-F32A-E7B1-EE44C723D0D6}"/>
              </a:ext>
            </a:extLst>
          </p:cNvPr>
          <p:cNvSpPr/>
          <p:nvPr/>
        </p:nvSpPr>
        <p:spPr>
          <a:xfrm rot="10800000">
            <a:off x="6724433" y="4267310"/>
            <a:ext cx="720000" cy="2540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E7643B-74D1-3DBE-8AD6-7268FEC19AFE}"/>
              </a:ext>
            </a:extLst>
          </p:cNvPr>
          <p:cNvSpPr txBox="1"/>
          <p:nvPr/>
        </p:nvSpPr>
        <p:spPr>
          <a:xfrm>
            <a:off x="3126575" y="4870044"/>
            <a:ext cx="1143262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전원</a:t>
            </a:r>
            <a:r>
              <a:rPr lang="en-US" altLang="ko-KR" dirty="0"/>
              <a:t>(5V)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9227A7-5571-F279-080B-921C96980C4B}"/>
              </a:ext>
            </a:extLst>
          </p:cNvPr>
          <p:cNvSpPr txBox="1"/>
          <p:nvPr/>
        </p:nvSpPr>
        <p:spPr>
          <a:xfrm>
            <a:off x="7444433" y="4209644"/>
            <a:ext cx="1409360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접지</a:t>
            </a:r>
            <a:r>
              <a:rPr lang="en-US" altLang="ko-KR" dirty="0"/>
              <a:t>(GND)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17427B-8292-0C73-6791-0A1237DB7A0D}"/>
              </a:ext>
            </a:extLst>
          </p:cNvPr>
          <p:cNvSpPr txBox="1"/>
          <p:nvPr/>
        </p:nvSpPr>
        <p:spPr>
          <a:xfrm>
            <a:off x="7149241" y="5575725"/>
            <a:ext cx="853119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신호선</a:t>
            </a:r>
          </a:p>
        </p:txBody>
      </p:sp>
      <p:sp>
        <p:nvSpPr>
          <p:cNvPr id="25" name="화살표: 오른쪽 24">
            <a:extLst>
              <a:ext uri="{FF2B5EF4-FFF2-40B4-BE49-F238E27FC236}">
                <a16:creationId xmlns:a16="http://schemas.microsoft.com/office/drawing/2014/main" id="{06A07481-B1AD-A745-366B-E7BB20182696}"/>
              </a:ext>
            </a:extLst>
          </p:cNvPr>
          <p:cNvSpPr/>
          <p:nvPr/>
        </p:nvSpPr>
        <p:spPr>
          <a:xfrm rot="10800000">
            <a:off x="6326019" y="4800710"/>
            <a:ext cx="2160000" cy="2540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BBB904-F22D-00A3-5B63-ECD5115126D9}"/>
              </a:ext>
            </a:extLst>
          </p:cNvPr>
          <p:cNvSpPr txBox="1"/>
          <p:nvPr/>
        </p:nvSpPr>
        <p:spPr>
          <a:xfrm>
            <a:off x="8486019" y="4743044"/>
            <a:ext cx="805029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사용</a:t>
            </a:r>
            <a:r>
              <a:rPr lang="en-US" altLang="ko-KR" dirty="0"/>
              <a:t>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4370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6A3AE-3384-15DF-2897-C5C78126B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973D3B-82B6-E618-761D-DF4F0EE47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2BEA64-87BD-E1B9-E598-36CAC7E0D93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566C8DD8-A5DC-72EA-96B3-B7E5C52C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altLang="ko-KR" dirty="0"/>
              <a:t>DHT11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https://github.com/adafruit/DHT-sensor-library</a:t>
            </a:r>
            <a:r>
              <a:rPr lang="en-US" altLang="ko-KR" dirty="0"/>
              <a:t> </a:t>
            </a:r>
            <a:r>
              <a:rPr lang="ko-KR" altLang="en-US" dirty="0"/>
              <a:t>접속 또는 구글에 </a:t>
            </a:r>
            <a:r>
              <a:rPr lang="en-US" altLang="ko-KR" dirty="0"/>
              <a:t>‘DHT sensor library by Adafruit’ </a:t>
            </a:r>
            <a:r>
              <a:rPr lang="ko-KR" altLang="en-US" dirty="0"/>
              <a:t>검색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67C93E2-A59A-E7BA-0EB5-2E32EBF59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981465"/>
            <a:ext cx="6726237" cy="319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240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617E1-56BE-1750-9D28-E9852D72F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948386-C22F-758E-FD93-F852EA2BC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4DEC10-B9A2-C58E-1017-8C16DE33BEB4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EA75F0D-0B07-D5BE-878B-C41765C00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2. DHT11 </a:t>
            </a: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</a:t>
            </a:r>
            <a:r>
              <a:rPr lang="en-US" altLang="ko-KR" dirty="0"/>
              <a:t>.zip </a:t>
            </a:r>
            <a:r>
              <a:rPr lang="ko-KR" altLang="en-US" dirty="0"/>
              <a:t>라이브러리 추가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E51DB8-2F4C-AE38-3A07-7F6211AF3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2673070"/>
            <a:ext cx="6038850" cy="369500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A6208F1-5302-6357-7C01-4D6D768D6B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631"/>
          <a:stretch>
            <a:fillRect/>
          </a:stretch>
        </p:blipFill>
        <p:spPr>
          <a:xfrm>
            <a:off x="7935139" y="3582359"/>
            <a:ext cx="2662312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616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F9C7-5380-F255-BC6C-816DC87F5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754CC6-EAF5-1766-B50F-C53DBC46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CB4CB-8A1A-050F-B5C2-078C63F0FE16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3566B69-C0BB-CF76-56C2-907A3BA5A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3. </a:t>
            </a:r>
            <a:r>
              <a:rPr lang="en-US" altLang="ko-KR" dirty="0" err="1"/>
              <a:t>Adafruit_Sensor</a:t>
            </a:r>
            <a:r>
              <a:rPr lang="en-US" altLang="ko-KR" dirty="0"/>
              <a:t>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https://github.com/adafruit/Adafruit_Sensor</a:t>
            </a:r>
            <a:r>
              <a:rPr lang="en-US" altLang="ko-KR" dirty="0"/>
              <a:t> </a:t>
            </a:r>
            <a:r>
              <a:rPr lang="ko-KR" altLang="en-US" dirty="0"/>
              <a:t>접속 또는 구글에 </a:t>
            </a:r>
            <a:r>
              <a:rPr lang="en-US" altLang="ko-KR" dirty="0"/>
              <a:t>‘</a:t>
            </a:r>
            <a:r>
              <a:rPr lang="en-US" altLang="ko-KR" dirty="0" err="1"/>
              <a:t>Adafruit_Sensor</a:t>
            </a:r>
            <a:r>
              <a:rPr lang="en-US" altLang="ko-KR" dirty="0"/>
              <a:t>’ </a:t>
            </a:r>
            <a:r>
              <a:rPr lang="ko-KR" altLang="en-US" dirty="0"/>
              <a:t>검색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4B08AF8-5836-3373-AA6B-B6C34A14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6613" y="3068923"/>
            <a:ext cx="6707187" cy="319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9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0E03-4A0C-8E09-03AA-4A60444A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E87C34-460B-5EFD-1618-FA5D37508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4C4A9-B89F-8AD3-1EF9-D16D8C89D2F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3360C34F-1666-444D-CC1D-12C4DFD7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4. </a:t>
            </a:r>
            <a:r>
              <a:rPr lang="en-US" altLang="ko-KR" dirty="0" err="1"/>
              <a:t>Adafruit_Sensor</a:t>
            </a:r>
            <a:r>
              <a:rPr lang="en-US" altLang="ko-KR" dirty="0"/>
              <a:t> </a:t>
            </a: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</a:t>
            </a:r>
            <a:r>
              <a:rPr lang="en-US" altLang="ko-KR" dirty="0"/>
              <a:t>.zip </a:t>
            </a:r>
            <a:r>
              <a:rPr lang="ko-KR" altLang="en-US" dirty="0"/>
              <a:t>라이브러리 추가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530404-70E8-A2F9-E616-D9BC8630A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2673070"/>
            <a:ext cx="6038850" cy="369500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E8424A7-5814-AC39-D492-D8D0ACA13B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631"/>
          <a:stretch>
            <a:fillRect/>
          </a:stretch>
        </p:blipFill>
        <p:spPr>
          <a:xfrm>
            <a:off x="7935139" y="3582359"/>
            <a:ext cx="2662312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774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B766D-BA68-1723-4A9A-2A0C25E72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43897F-E1D4-BC7B-A245-FF9AFC595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F80156-6CDF-480A-91FA-12E62E9A6952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E1954D18-34FD-9953-E2FB-BA7297F1F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5. </a:t>
            </a:r>
            <a:r>
              <a:rPr lang="ko-KR" altLang="en-US" dirty="0"/>
              <a:t>회로 연결</a:t>
            </a:r>
            <a:endParaRPr lang="en-US" altLang="ko-KR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02E8F52-CB63-2565-56EA-7256AD979254}"/>
              </a:ext>
            </a:extLst>
          </p:cNvPr>
          <p:cNvGrpSpPr/>
          <p:nvPr/>
        </p:nvGrpSpPr>
        <p:grpSpPr>
          <a:xfrm>
            <a:off x="2909294" y="1639428"/>
            <a:ext cx="6830145" cy="4393072"/>
            <a:chOff x="1792557" y="1389952"/>
            <a:chExt cx="8606883" cy="5535850"/>
          </a:xfrm>
        </p:grpSpPr>
        <p:pic>
          <p:nvPicPr>
            <p:cNvPr id="34" name="그림 33" descr="전자제품, 전자 공학, 전기 배선, 회로 구성요소이(가) 표시된 사진&#10;&#10;자동 생성된 설명">
              <a:extLst>
                <a:ext uri="{FF2B5EF4-FFF2-40B4-BE49-F238E27FC236}">
                  <a16:creationId xmlns:a16="http://schemas.microsoft.com/office/drawing/2014/main" id="{9148FA37-C1C1-039F-197B-7ABE383C2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2557" y="1389952"/>
              <a:ext cx="8606883" cy="5535850"/>
            </a:xfrm>
            <a:prstGeom prst="rect">
              <a:avLst/>
            </a:prstGeom>
          </p:spPr>
        </p:pic>
        <p:sp>
          <p:nvSpPr>
            <p:cNvPr id="35" name="TextBox 5">
              <a:extLst>
                <a:ext uri="{FF2B5EF4-FFF2-40B4-BE49-F238E27FC236}">
                  <a16:creationId xmlns:a16="http://schemas.microsoft.com/office/drawing/2014/main" id="{B8C2CB88-EB73-0F56-CB6C-59037900CD8B}"/>
                </a:ext>
              </a:extLst>
            </p:cNvPr>
            <p:cNvSpPr txBox="1"/>
            <p:nvPr/>
          </p:nvSpPr>
          <p:spPr>
            <a:xfrm>
              <a:off x="6359914" y="4251676"/>
              <a:ext cx="3464312" cy="226823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dirty="0">
                  <a:solidFill>
                    <a:schemeClr val="bg1"/>
                  </a:solidFill>
                </a:rPr>
                <a:t>*</a:t>
              </a:r>
              <a:r>
                <a:rPr lang="ko-KR" altLang="en-US" dirty="0">
                  <a:solidFill>
                    <a:schemeClr val="bg1"/>
                  </a:solidFill>
                </a:rPr>
                <a:t> 연결 하기</a:t>
              </a:r>
              <a:br>
                <a:rPr lang="en-US" altLang="ko-KR" dirty="0">
                  <a:solidFill>
                    <a:schemeClr val="bg1"/>
                  </a:solidFill>
                </a:rPr>
              </a:br>
              <a:r>
                <a:rPr lang="en-US" altLang="ko-KR" dirty="0">
                  <a:solidFill>
                    <a:schemeClr val="bg1"/>
                  </a:solidFill>
                </a:rPr>
                <a:t>(3</a:t>
              </a:r>
              <a:r>
                <a:rPr lang="ko-KR" altLang="en-US" dirty="0">
                  <a:solidFill>
                    <a:schemeClr val="bg1"/>
                  </a:solidFill>
                </a:rPr>
                <a:t>번에는 안 꽂음</a:t>
              </a:r>
              <a:r>
                <a:rPr lang="en-US" altLang="ko-KR" dirty="0">
                  <a:solidFill>
                    <a:schemeClr val="bg1"/>
                  </a:solidFill>
                </a:rPr>
                <a:t>!)</a:t>
              </a:r>
            </a:p>
            <a:p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1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- 5V – </a:t>
              </a:r>
              <a:r>
                <a:rPr lang="ko-KR" altLang="en-US" dirty="0" err="1">
                  <a:solidFill>
                    <a:schemeClr val="bg1"/>
                  </a:solidFill>
                </a:rPr>
                <a:t>빨간선</a:t>
              </a:r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2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- 2</a:t>
              </a:r>
              <a:r>
                <a:rPr lang="ko-KR" altLang="en-US" dirty="0">
                  <a:solidFill>
                    <a:schemeClr val="bg1"/>
                  </a:solidFill>
                </a:rPr>
                <a:t>번 핀 </a:t>
              </a:r>
              <a:r>
                <a:rPr lang="en-US" altLang="ko-KR" dirty="0">
                  <a:solidFill>
                    <a:schemeClr val="bg1"/>
                  </a:solidFill>
                </a:rPr>
                <a:t>– </a:t>
              </a:r>
              <a:r>
                <a:rPr lang="ko-KR" altLang="en-US" dirty="0" err="1">
                  <a:solidFill>
                    <a:schemeClr val="bg1"/>
                  </a:solidFill>
                </a:rPr>
                <a:t>주황선</a:t>
              </a:r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4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GND – </a:t>
              </a:r>
              <a:r>
                <a:rPr lang="ko-KR" altLang="en-US" dirty="0" err="1">
                  <a:solidFill>
                    <a:schemeClr val="bg1"/>
                  </a:solidFill>
                </a:rPr>
                <a:t>갈색선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2190C6A2-F41E-85F4-43FB-A30D99F4ECF5}"/>
                    </a:ext>
                  </a:extLst>
                </p14:cNvPr>
                <p14:cNvContentPartPr/>
                <p14:nvPr/>
              </p14:nvContentPartPr>
              <p14:xfrm>
                <a:off x="7490400" y="2788860"/>
                <a:ext cx="31320" cy="388800"/>
              </p14:xfrm>
            </p:contentPart>
          </mc:Choice>
          <mc:Fallback xmlns=""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2190C6A2-F41E-85F4-43FB-A30D99F4EC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67371" y="2766176"/>
                  <a:ext cx="76918" cy="4337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7" name="잉크 36">
                  <a:extLst>
                    <a:ext uri="{FF2B5EF4-FFF2-40B4-BE49-F238E27FC236}">
                      <a16:creationId xmlns:a16="http://schemas.microsoft.com/office/drawing/2014/main" id="{4246D757-0D46-59A4-60DF-08BE57DE8DC1}"/>
                    </a:ext>
                  </a:extLst>
                </p14:cNvPr>
                <p14:cNvContentPartPr/>
                <p14:nvPr/>
              </p14:nvContentPartPr>
              <p14:xfrm>
                <a:off x="7375920" y="2567100"/>
                <a:ext cx="353520" cy="169560"/>
              </p14:xfrm>
            </p:contentPart>
          </mc:Choice>
          <mc:Fallback xmlns="">
            <p:pic>
              <p:nvPicPr>
                <p:cNvPr id="37" name="잉크 36">
                  <a:extLst>
                    <a:ext uri="{FF2B5EF4-FFF2-40B4-BE49-F238E27FC236}">
                      <a16:creationId xmlns:a16="http://schemas.microsoft.com/office/drawing/2014/main" id="{4246D757-0D46-59A4-60DF-08BE57DE8D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53229" y="2544432"/>
                  <a:ext cx="398447" cy="21444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22304B79-3D9F-9C54-F542-1697A73B913A}"/>
                </a:ext>
              </a:extLst>
            </p:cNvPr>
            <p:cNvGrpSpPr/>
            <p:nvPr/>
          </p:nvGrpSpPr>
          <p:grpSpPr>
            <a:xfrm>
              <a:off x="7574280" y="2468820"/>
              <a:ext cx="179640" cy="158760"/>
              <a:chOff x="7574280" y="2468820"/>
              <a:chExt cx="179640" cy="1587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42" name="잉크 41">
                    <a:extLst>
                      <a:ext uri="{FF2B5EF4-FFF2-40B4-BE49-F238E27FC236}">
                        <a16:creationId xmlns:a16="http://schemas.microsoft.com/office/drawing/2014/main" id="{BAABBD0E-B9D1-50ED-1891-059A2E420596}"/>
                      </a:ext>
                    </a:extLst>
                  </p14:cNvPr>
                  <p14:cNvContentPartPr/>
                  <p14:nvPr/>
                </p14:nvContentPartPr>
                <p14:xfrm>
                  <a:off x="7638000" y="2468820"/>
                  <a:ext cx="27720" cy="158760"/>
                </p14:xfrm>
              </p:contentPart>
            </mc:Choice>
            <mc:Fallback xmlns="">
              <p:pic>
                <p:nvPicPr>
                  <p:cNvPr id="42" name="잉크 41">
                    <a:extLst>
                      <a:ext uri="{FF2B5EF4-FFF2-40B4-BE49-F238E27FC236}">
                        <a16:creationId xmlns:a16="http://schemas.microsoft.com/office/drawing/2014/main" id="{BAABBD0E-B9D1-50ED-1891-059A2E420596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7615279" y="2446140"/>
                    <a:ext cx="72708" cy="2036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43" name="잉크 42">
                    <a:extLst>
                      <a:ext uri="{FF2B5EF4-FFF2-40B4-BE49-F238E27FC236}">
                        <a16:creationId xmlns:a16="http://schemas.microsoft.com/office/drawing/2014/main" id="{A0A0F385-E5FC-5BAD-5E1B-A61489937CB6}"/>
                      </a:ext>
                    </a:extLst>
                  </p14:cNvPr>
                  <p14:cNvContentPartPr/>
                  <p14:nvPr/>
                </p14:nvContentPartPr>
                <p14:xfrm>
                  <a:off x="7574280" y="2498700"/>
                  <a:ext cx="179640" cy="70920"/>
                </p14:xfrm>
              </p:contentPart>
            </mc:Choice>
            <mc:Fallback xmlns="">
              <p:pic>
                <p:nvPicPr>
                  <p:cNvPr id="43" name="잉크 42">
                    <a:extLst>
                      <a:ext uri="{FF2B5EF4-FFF2-40B4-BE49-F238E27FC236}">
                        <a16:creationId xmlns:a16="http://schemas.microsoft.com/office/drawing/2014/main" id="{A0A0F385-E5FC-5BAD-5E1B-A61489937CB6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7551655" y="2476114"/>
                    <a:ext cx="224437" cy="1156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6133D163-BE94-E5FF-7D93-C2BD4F2B738C}"/>
                </a:ext>
              </a:extLst>
            </p:cNvPr>
            <p:cNvGrpSpPr/>
            <p:nvPr/>
          </p:nvGrpSpPr>
          <p:grpSpPr>
            <a:xfrm>
              <a:off x="7577160" y="2118180"/>
              <a:ext cx="379800" cy="365400"/>
              <a:chOff x="7577160" y="2118180"/>
              <a:chExt cx="379800" cy="365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40" name="잉크 39">
                    <a:extLst>
                      <a:ext uri="{FF2B5EF4-FFF2-40B4-BE49-F238E27FC236}">
                        <a16:creationId xmlns:a16="http://schemas.microsoft.com/office/drawing/2014/main" id="{0BE73856-182A-B976-276A-C8885B31A91E}"/>
                      </a:ext>
                    </a:extLst>
                  </p14:cNvPr>
                  <p14:cNvContentPartPr/>
                  <p14:nvPr/>
                </p14:nvContentPartPr>
                <p14:xfrm>
                  <a:off x="7577160" y="2140860"/>
                  <a:ext cx="379800" cy="183240"/>
                </p14:xfrm>
              </p:contentPart>
            </mc:Choice>
            <mc:Fallback xmlns="">
              <p:pic>
                <p:nvPicPr>
                  <p:cNvPr id="40" name="잉크 39">
                    <a:extLst>
                      <a:ext uri="{FF2B5EF4-FFF2-40B4-BE49-F238E27FC236}">
                        <a16:creationId xmlns:a16="http://schemas.microsoft.com/office/drawing/2014/main" id="{0BE73856-182A-B976-276A-C8885B31A91E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7554472" y="2118182"/>
                    <a:ext cx="424723" cy="2281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41" name="잉크 40">
                    <a:extLst>
                      <a:ext uri="{FF2B5EF4-FFF2-40B4-BE49-F238E27FC236}">
                        <a16:creationId xmlns:a16="http://schemas.microsoft.com/office/drawing/2014/main" id="{760E529C-5147-ECFB-6490-AEAC5CF9BC81}"/>
                      </a:ext>
                    </a:extLst>
                  </p14:cNvPr>
                  <p14:cNvContentPartPr/>
                  <p14:nvPr/>
                </p14:nvContentPartPr>
                <p14:xfrm>
                  <a:off x="7825200" y="2118180"/>
                  <a:ext cx="8280" cy="365400"/>
                </p14:xfrm>
              </p:contentPart>
            </mc:Choice>
            <mc:Fallback xmlns="">
              <p:pic>
                <p:nvPicPr>
                  <p:cNvPr id="41" name="잉크 40">
                    <a:extLst>
                      <a:ext uri="{FF2B5EF4-FFF2-40B4-BE49-F238E27FC236}">
                        <a16:creationId xmlns:a16="http://schemas.microsoft.com/office/drawing/2014/main" id="{760E529C-5147-ECFB-6490-AEAC5CF9BC81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7803411" y="2095513"/>
                    <a:ext cx="51423" cy="410282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426134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AE2795-7318-BB46-BA92-D70836845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선언 차이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D34F95-8B9E-0529-7741-B000CEF616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1809"/>
            <a:ext cx="10515600" cy="4295154"/>
          </a:xfrm>
        </p:spPr>
        <p:txBody>
          <a:bodyPr/>
          <a:lstStyle/>
          <a:p>
            <a:r>
              <a:rPr lang="en-US" altLang="ko-KR" dirty="0"/>
              <a:t>int</a:t>
            </a:r>
            <a:r>
              <a:rPr lang="ko-KR" altLang="en-US" dirty="0"/>
              <a:t> </a:t>
            </a:r>
            <a:r>
              <a:rPr lang="en-US" altLang="ko-KR" dirty="0"/>
              <a:t>LED = 13;</a:t>
            </a:r>
          </a:p>
          <a:p>
            <a:pPr lvl="1"/>
            <a:r>
              <a:rPr lang="ko-KR" altLang="en-US" dirty="0"/>
              <a:t>일반 변수 선언</a:t>
            </a:r>
            <a:r>
              <a:rPr lang="en-US" altLang="ko-KR" dirty="0"/>
              <a:t>, </a:t>
            </a:r>
            <a:r>
              <a:rPr lang="ko-KR" altLang="en-US" dirty="0"/>
              <a:t>메모리에 공간이 만들어지고 값을 변경할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const int LED = 13;</a:t>
            </a:r>
          </a:p>
          <a:p>
            <a:pPr lvl="1"/>
            <a:r>
              <a:rPr lang="ko-KR" altLang="en-US" dirty="0"/>
              <a:t>변하지 않는 변수</a:t>
            </a:r>
            <a:r>
              <a:rPr lang="en-US" altLang="ko-KR" dirty="0"/>
              <a:t>(</a:t>
            </a:r>
            <a:r>
              <a:rPr lang="ko-KR" altLang="en-US" dirty="0"/>
              <a:t>상수</a:t>
            </a:r>
            <a:r>
              <a:rPr lang="en-US" altLang="ko-KR" dirty="0"/>
              <a:t>) </a:t>
            </a:r>
            <a:r>
              <a:rPr lang="ko-KR" altLang="en-US" dirty="0"/>
              <a:t>선언</a:t>
            </a:r>
            <a:r>
              <a:rPr lang="en-US" altLang="ko-KR" dirty="0"/>
              <a:t>, </a:t>
            </a:r>
            <a:r>
              <a:rPr lang="ko-KR" altLang="en-US" dirty="0"/>
              <a:t>메모리에 공간이 만들어지나</a:t>
            </a:r>
            <a:r>
              <a:rPr lang="en-US" altLang="ko-KR" dirty="0"/>
              <a:t>, </a:t>
            </a:r>
            <a:r>
              <a:rPr lang="ko-KR" altLang="en-US" dirty="0"/>
              <a:t>값을 바꿀 수 없다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#define LED 13</a:t>
            </a:r>
          </a:p>
          <a:p>
            <a:pPr lvl="1"/>
            <a:r>
              <a:rPr lang="ko-KR" altLang="en-US" dirty="0"/>
              <a:t>전처리기 매크로 </a:t>
            </a:r>
            <a:r>
              <a:rPr lang="en-US" altLang="ko-KR" dirty="0"/>
              <a:t>( </a:t>
            </a:r>
            <a:r>
              <a:rPr lang="ko-KR" altLang="en-US" dirty="0"/>
              <a:t>진짜 변수가 아닌</a:t>
            </a:r>
            <a:r>
              <a:rPr lang="en-US" altLang="ko-KR" dirty="0"/>
              <a:t>, </a:t>
            </a:r>
            <a:r>
              <a:rPr lang="ko-KR" altLang="en-US" dirty="0"/>
              <a:t>컴파일 전에 단순 치환된다</a:t>
            </a:r>
            <a:r>
              <a:rPr lang="en-US" altLang="ko-KR" dirty="0"/>
              <a:t>. )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코드가 실행되기 전에</a:t>
            </a:r>
            <a:r>
              <a:rPr lang="en-US" altLang="ko-KR" dirty="0"/>
              <a:t>, LED</a:t>
            </a:r>
            <a:r>
              <a:rPr lang="ko-KR" altLang="en-US" dirty="0"/>
              <a:t>라는 단어를 모두 </a:t>
            </a:r>
            <a:r>
              <a:rPr lang="en-US" altLang="ko-KR" dirty="0"/>
              <a:t>13</a:t>
            </a:r>
            <a:r>
              <a:rPr lang="ko-KR" altLang="en-US" dirty="0"/>
              <a:t>으로 바꿔버리는 형식으로 메모리에 공간을 차지하지 않는다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453350-6CFD-AD56-CD42-B09F17BC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8932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2EC30-137A-E2B6-8D80-0AC9F5A9A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F6403F-B48B-CCDE-BA8E-D5DA3CD83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C7323F-2756-6294-EDB3-E0DFBCD733E1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08FCF7BD-57FF-79C4-3769-EA832EEA4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6. </a:t>
            </a:r>
            <a:r>
              <a:rPr lang="ko-KR" altLang="en-US" dirty="0"/>
              <a:t>코드 작성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B4C54D-3E1A-6AC7-69CF-C2CC6B2CD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698" y="2711938"/>
            <a:ext cx="4019550" cy="30575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B970A9F-9914-4237-D58F-66175F51F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318" y="1694876"/>
            <a:ext cx="7574882" cy="433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377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CB18E-F646-2158-AD4D-04A9826E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EC9DF3-4EB9-FB8E-C791-D0AE75BA6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30E26-1D8D-5D78-C84B-F5D263D4FD6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C7DEC6C6-7FCE-BF47-D4C0-CF018ABC34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7. </a:t>
            </a:r>
            <a:r>
              <a:rPr lang="ko-KR" altLang="en-US" dirty="0"/>
              <a:t>시리얼 모니터 확인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743CBB-824E-5193-1848-AD6D2D5A6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634" y="2427556"/>
            <a:ext cx="9178731" cy="3316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602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451F3-7162-E3CF-055E-32C2D65F5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5CDED-B08C-3894-FBB5-F57E5FE50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DHT22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EAAC5B59-1765-585B-0E40-8B3BD2AE6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DHT22 </a:t>
            </a:r>
            <a:r>
              <a:rPr lang="ko-KR" altLang="en-US" dirty="0" err="1"/>
              <a:t>온습도</a:t>
            </a:r>
            <a:r>
              <a:rPr lang="ko-KR" altLang="en-US" dirty="0"/>
              <a:t> 센서 연결해서 습도</a:t>
            </a:r>
            <a:r>
              <a:rPr lang="en-US" altLang="ko-KR" dirty="0"/>
              <a:t>, </a:t>
            </a:r>
            <a:r>
              <a:rPr lang="ko-KR" altLang="en-US" dirty="0"/>
              <a:t>온도</a:t>
            </a:r>
            <a:r>
              <a:rPr lang="en-US" altLang="ko-KR" dirty="0"/>
              <a:t>(</a:t>
            </a:r>
            <a:r>
              <a:rPr lang="ko-KR" altLang="en-US" dirty="0"/>
              <a:t>섭씨</a:t>
            </a:r>
            <a:r>
              <a:rPr lang="en-US" altLang="ko-KR" dirty="0"/>
              <a:t>), </a:t>
            </a:r>
            <a:r>
              <a:rPr lang="ko-KR" altLang="en-US" dirty="0"/>
              <a:t>온도</a:t>
            </a:r>
            <a:r>
              <a:rPr lang="en-US" altLang="ko-KR" dirty="0"/>
              <a:t>(</a:t>
            </a:r>
            <a:r>
              <a:rPr lang="ko-KR" altLang="en-US" dirty="0"/>
              <a:t>화씨</a:t>
            </a:r>
            <a:r>
              <a:rPr lang="en-US" altLang="ko-KR" dirty="0"/>
              <a:t>) </a:t>
            </a:r>
            <a:r>
              <a:rPr lang="ko-KR" altLang="en-US" dirty="0"/>
              <a:t>값을 가져오시오</a:t>
            </a:r>
            <a:r>
              <a:rPr lang="en-US" altLang="ko-KR" dirty="0"/>
              <a:t>.</a:t>
            </a:r>
          </a:p>
        </p:txBody>
      </p:sp>
      <p:pic>
        <p:nvPicPr>
          <p:cNvPr id="3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BE6A5333-838F-28E2-0164-9CD53A4889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4037585" y="2410007"/>
            <a:ext cx="4116830" cy="345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88412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C7B0561-9335-1EDE-D178-6BE8A19E4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E56DFF-C731-CD6B-BF5A-5D6E414C7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기압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72EA82-F682-21CC-FB5E-B9A740CFBDFC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B72D0805-0447-6E2C-3A33-9D2BF1631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대기압</a:t>
            </a:r>
            <a:r>
              <a:rPr lang="en-US" altLang="ko-KR" sz="2000" dirty="0"/>
              <a:t>, </a:t>
            </a:r>
            <a:r>
              <a:rPr lang="ko-KR" altLang="en-US" sz="2000" dirty="0"/>
              <a:t>고도</a:t>
            </a:r>
            <a:r>
              <a:rPr lang="en-US" altLang="ko-KR" sz="2000" dirty="0"/>
              <a:t>, </a:t>
            </a:r>
            <a:r>
              <a:rPr lang="ko-KR" altLang="en-US" sz="2000" dirty="0"/>
              <a:t>온도</a:t>
            </a:r>
            <a:r>
              <a:rPr lang="en-US" altLang="ko-KR" sz="2000" dirty="0"/>
              <a:t>, </a:t>
            </a:r>
            <a:r>
              <a:rPr lang="ko-KR" altLang="en-US" sz="2000" dirty="0"/>
              <a:t>습도를 측정해주는 센서</a:t>
            </a:r>
            <a:endParaRPr lang="en-US" altLang="ko-KR" sz="2000" dirty="0"/>
          </a:p>
          <a:p>
            <a:r>
              <a:rPr lang="ko-KR" altLang="en-US" sz="2000" dirty="0"/>
              <a:t>이전 버전이 </a:t>
            </a:r>
            <a:r>
              <a:rPr lang="en-US" altLang="ko-KR" sz="2000" dirty="0"/>
              <a:t>BMP180</a:t>
            </a:r>
            <a:r>
              <a:rPr lang="ko-KR" altLang="en-US" sz="2000" dirty="0"/>
              <a:t>에서 업그레이드 된 버전으로 이전보다 다양한 통신을 지원하고 이전보다 적은 전력을 소비하도록 설계되었다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실생활에서는 일기예보나 </a:t>
            </a:r>
            <a:r>
              <a:rPr lang="ko-KR" altLang="en-US" sz="2000" dirty="0" err="1"/>
              <a:t>드론</a:t>
            </a:r>
            <a:r>
              <a:rPr lang="en-US" altLang="ko-KR" sz="2000" dirty="0"/>
              <a:t>, GPS </a:t>
            </a:r>
            <a:r>
              <a:rPr lang="ko-KR" altLang="en-US" sz="2000" dirty="0"/>
              <a:t>등에 사용된다</a:t>
            </a:r>
            <a:r>
              <a:rPr lang="en-US" altLang="ko-KR" sz="2000" dirty="0"/>
              <a:t>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D4E3171-4649-37F0-124A-55F71A53C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60" y="1549839"/>
            <a:ext cx="5010150" cy="4067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91756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4917B4-60D0-88D2-2B5A-C860245C6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47CD6-8EA1-9082-BAF0-BDB7BE49F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기압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F988E3-94C4-3725-5583-4B50518B25A6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030" name="Picture 6" descr="BMP-280 pressure sensor. | Download Scientific Diagram">
            <a:extLst>
              <a:ext uri="{FF2B5EF4-FFF2-40B4-BE49-F238E27FC236}">
                <a16:creationId xmlns:a16="http://schemas.microsoft.com/office/drawing/2014/main" id="{411630E2-0F6F-7952-8314-854EC1AB5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65" y="1953867"/>
            <a:ext cx="5057775" cy="255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25CAAE2-7FB2-1BA3-3817-3BFFEAD10A75}"/>
              </a:ext>
            </a:extLst>
          </p:cNvPr>
          <p:cNvSpPr/>
          <p:nvPr/>
        </p:nvSpPr>
        <p:spPr>
          <a:xfrm>
            <a:off x="1219200" y="2981739"/>
            <a:ext cx="490330" cy="54333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3482D8-0FA1-2529-6B16-BCACBC5E2231}"/>
              </a:ext>
            </a:extLst>
          </p:cNvPr>
          <p:cNvSpPr txBox="1"/>
          <p:nvPr/>
        </p:nvSpPr>
        <p:spPr>
          <a:xfrm>
            <a:off x="967409" y="2355646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센서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8518ADA3-6398-FBD0-E16C-D7AC6CDF0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224234"/>
              </p:ext>
            </p:extLst>
          </p:nvPr>
        </p:nvGraphicFramePr>
        <p:xfrm>
          <a:off x="5115339" y="1549839"/>
          <a:ext cx="6386847" cy="4307625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28949">
                  <a:extLst>
                    <a:ext uri="{9D8B030D-6E8A-4147-A177-3AD203B41FA5}">
                      <a16:colId xmlns:a16="http://schemas.microsoft.com/office/drawing/2014/main" val="1461716744"/>
                    </a:ext>
                  </a:extLst>
                </a:gridCol>
                <a:gridCol w="2128949">
                  <a:extLst>
                    <a:ext uri="{9D8B030D-6E8A-4147-A177-3AD203B41FA5}">
                      <a16:colId xmlns:a16="http://schemas.microsoft.com/office/drawing/2014/main" val="3666070569"/>
                    </a:ext>
                  </a:extLst>
                </a:gridCol>
                <a:gridCol w="2128949">
                  <a:extLst>
                    <a:ext uri="{9D8B030D-6E8A-4147-A177-3AD203B41FA5}">
                      <a16:colId xmlns:a16="http://schemas.microsoft.com/office/drawing/2014/main" val="2815396915"/>
                    </a:ext>
                  </a:extLst>
                </a:gridCol>
              </a:tblGrid>
              <a:tr h="615375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I2C </a:t>
                      </a:r>
                      <a:r>
                        <a:rPr lang="ko-KR" altLang="en-US" dirty="0"/>
                        <a:t>통신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SPI </a:t>
                      </a:r>
                      <a:r>
                        <a:rPr lang="ko-KR" altLang="en-US" dirty="0"/>
                        <a:t>통신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1262470"/>
                  </a:ext>
                </a:extLst>
              </a:tr>
              <a:tr h="61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VCC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3~5 V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3193288"/>
                  </a:ext>
                </a:extLst>
              </a:tr>
              <a:tr h="61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GND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GND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8854798"/>
                  </a:ext>
                </a:extLst>
              </a:tr>
              <a:tr h="61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SCL(SCK)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A5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D3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2433908"/>
                  </a:ext>
                </a:extLst>
              </a:tr>
              <a:tr h="61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SDA(SDI)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A4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D11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8657229"/>
                  </a:ext>
                </a:extLst>
              </a:tr>
              <a:tr h="61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CSB(CS)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D10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5969822"/>
                  </a:ext>
                </a:extLst>
              </a:tr>
              <a:tr h="61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SDO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D12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196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22953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12724-C942-BA2D-9835-C7E7F0C4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93CDE9-DAE0-DDCC-596A-22EC0656F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B5CCA6-FB46-D61A-63B3-3E6BCB2A2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2016A87-5EBA-FEC9-68EF-11F220448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379" y="812800"/>
            <a:ext cx="9781681" cy="5232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D0DDB75-738E-F714-5045-2C6422A7E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6815" y="1258356"/>
            <a:ext cx="5816485" cy="200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8930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5CAF3D-AD44-B380-CF1F-3CED0A6BF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C19EE6-9283-B583-E2A0-D4EE8DC57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기압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96166F-4F47-EA2A-84A9-9E2317330EDE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70D76921-F048-7C68-5E98-27E58F872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4807226" cy="4627124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라이브러리 관리</a:t>
            </a:r>
            <a:endParaRPr lang="en-US" altLang="ko-KR" dirty="0"/>
          </a:p>
          <a:p>
            <a:pPr lvl="1"/>
            <a:r>
              <a:rPr lang="ko-KR" altLang="en-US" dirty="0"/>
              <a:t>라이브러리 매니저 → </a:t>
            </a:r>
            <a:r>
              <a:rPr lang="en-US" altLang="ko-KR" dirty="0"/>
              <a:t>‘Adafruit bmp280’ </a:t>
            </a:r>
            <a:r>
              <a:rPr lang="ko-KR" altLang="en-US" dirty="0"/>
              <a:t>검색 후 설치 버튼 클릭 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F35106E-60C8-F97D-FAB2-428D555A7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565" y="887057"/>
            <a:ext cx="5514975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3164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6B12E8C-4792-7F31-94A5-429F35020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49F2EA-FF2C-C127-697D-FBFC5CDC1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기압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F6F6D-3919-9DEB-3295-00148D96678C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2CEC6E12-9F94-39EC-7B3C-BFC1C5FEB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4807226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2. </a:t>
            </a:r>
            <a:r>
              <a:rPr lang="ko-KR" altLang="en-US" dirty="0"/>
              <a:t>회로 연결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2A74CC-A2A3-4337-D68E-A39C60601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138" y="1599639"/>
            <a:ext cx="6135688" cy="431000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A0269D9-0BAC-17EF-B833-F314BB673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47342"/>
            <a:ext cx="3714750" cy="31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92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0588D-A98E-3FAA-F980-AD0D4046E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84C8C2-4759-CE78-61CF-AB4DEFEEE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D76C04-70A7-4809-5AF3-7CD385FFD4C8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7ABD1E7-6A54-BDB4-F686-4E758CB56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디지털 신호</a:t>
            </a:r>
            <a:endParaRPr lang="en-US" altLang="ko-KR" sz="2000" dirty="0"/>
          </a:p>
          <a:p>
            <a:r>
              <a:rPr lang="ko-KR" altLang="en-US" sz="2000" dirty="0"/>
              <a:t>사람이 들을 수 없는 </a:t>
            </a:r>
            <a:r>
              <a:rPr lang="en-US" altLang="ko-KR" sz="2000" dirty="0"/>
              <a:t>20kHz </a:t>
            </a:r>
            <a:r>
              <a:rPr lang="ko-KR" altLang="en-US" sz="2000" dirty="0"/>
              <a:t>이상의 주파수를 가진 소리인 초음파를 이용해서 앞쪽에 위치한 물체와의 거리를 인식하는 센서</a:t>
            </a:r>
            <a:endParaRPr lang="en-US" altLang="ko-KR" sz="2000" dirty="0"/>
          </a:p>
          <a:p>
            <a:r>
              <a:rPr lang="ko-KR" altLang="en-US" sz="2000" dirty="0" err="1"/>
              <a:t>송신부</a:t>
            </a:r>
            <a:r>
              <a:rPr lang="en-US" altLang="ko-KR" sz="2000" dirty="0"/>
              <a:t>(Trig)</a:t>
            </a:r>
            <a:r>
              <a:rPr lang="ko-KR" altLang="en-US" sz="2000" dirty="0"/>
              <a:t>에서 내보내는 초음파가 물체와 부딪혀서 돌아오게 되고 이때 반사된 초음파를 </a:t>
            </a:r>
            <a:r>
              <a:rPr lang="ko-KR" altLang="en-US" sz="2000" dirty="0" err="1"/>
              <a:t>수신부</a:t>
            </a:r>
            <a:r>
              <a:rPr lang="en-US" altLang="ko-KR" sz="2000" dirty="0"/>
              <a:t>(Echo)</a:t>
            </a:r>
            <a:r>
              <a:rPr lang="ko-KR" altLang="en-US" sz="2000" dirty="0"/>
              <a:t>가 인식하는 원리</a:t>
            </a:r>
            <a:endParaRPr lang="en-US" altLang="ko-KR" sz="2000" dirty="0"/>
          </a:p>
        </p:txBody>
      </p:sp>
      <p:pic>
        <p:nvPicPr>
          <p:cNvPr id="3074" name="Picture 2" descr="아두이노 중급] 16. 초음파 센서(거리 측정 센서) : 네이버 블로그">
            <a:extLst>
              <a:ext uri="{FF2B5EF4-FFF2-40B4-BE49-F238E27FC236}">
                <a16:creationId xmlns:a16="http://schemas.microsoft.com/office/drawing/2014/main" id="{F17EEF69-B436-E1CD-945E-B25E76B94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60" y="2534064"/>
            <a:ext cx="4515326" cy="2718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중학교 1학년 일차방정식 활용 문제: 거속시 관련 몇 가지 예제 풀이 : 네이버 블로그">
            <a:extLst>
              <a:ext uri="{FF2B5EF4-FFF2-40B4-BE49-F238E27FC236}">
                <a16:creationId xmlns:a16="http://schemas.microsoft.com/office/drawing/2014/main" id="{37BF367F-5ED0-DBBA-199F-29FA80908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0449" y="4309659"/>
            <a:ext cx="1924050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4962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AC127-E478-F28C-1039-D3CD24758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3AE016-5451-76E2-AE79-94BDCFDC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FB4402-45D1-2728-5713-9F6E2594B6E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58531C-4B19-2191-5072-9F494A096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3E66E4B-BE78-BB44-8462-EC3617DDE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746" y="1341514"/>
            <a:ext cx="4843027" cy="504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1747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EB7E4-56D3-191F-958D-DA7A616EC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2254B-11DE-AEF9-585F-53B683B53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FFA076-3E47-ACB6-82A0-D50E65EC80A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ACA22B-6DB3-CEF3-0243-956B031A7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ED26D-7340-467F-B9ED-EA4F97512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994" y="743985"/>
            <a:ext cx="6410325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2709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D365-46EB-7A9B-62A8-A67629A8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CC8A11-3B91-F5DD-E722-10974EEA7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50461B-4C33-44AF-9694-BCBAAF5AFDE4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795E877-8958-96EA-6960-E24B4A5016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469" r="40044" b="32550"/>
          <a:stretch>
            <a:fillRect/>
          </a:stretch>
        </p:blipFill>
        <p:spPr>
          <a:xfrm>
            <a:off x="536461" y="2942673"/>
            <a:ext cx="5069210" cy="118855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78922F-1563-E482-632B-D7C424397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TRIG </a:t>
            </a:r>
            <a:r>
              <a:rPr lang="ko-KR" altLang="en-US" sz="2000" dirty="0"/>
              <a:t>핀이 </a:t>
            </a:r>
            <a:r>
              <a:rPr lang="en-US" altLang="ko-KR" sz="2000" dirty="0"/>
              <a:t>10ms(10,000 µs)</a:t>
            </a:r>
            <a:r>
              <a:rPr lang="ko-KR" altLang="en-US" sz="2000" dirty="0"/>
              <a:t>동안 </a:t>
            </a:r>
            <a:r>
              <a:rPr lang="en-US" altLang="ko-KR" sz="2000" dirty="0"/>
              <a:t>HIGH </a:t>
            </a:r>
            <a:r>
              <a:rPr lang="ko-KR" altLang="en-US" sz="2000" dirty="0"/>
              <a:t>신호를 보낸다</a:t>
            </a:r>
            <a:r>
              <a:rPr lang="en-US" altLang="ko-KR" sz="2000" dirty="0"/>
              <a:t>. </a:t>
            </a:r>
          </a:p>
          <a:p>
            <a:pPr lvl="1"/>
            <a:r>
              <a:rPr lang="ko-KR" altLang="en-US" sz="1600" dirty="0"/>
              <a:t>센서가 그동안 초음파</a:t>
            </a:r>
            <a:r>
              <a:rPr lang="en-US" altLang="ko-KR" sz="1600" dirty="0"/>
              <a:t>(40 kHz)</a:t>
            </a:r>
            <a:r>
              <a:rPr lang="ko-KR" altLang="en-US" sz="1600" dirty="0"/>
              <a:t>를 발사한다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권장되는 트리거 길이는 </a:t>
            </a:r>
            <a:r>
              <a:rPr lang="en-US" altLang="ko-KR" sz="1600" b="1" dirty="0"/>
              <a:t>10 µs</a:t>
            </a:r>
            <a:r>
              <a:rPr lang="en-US" altLang="ko-KR" sz="1600" dirty="0"/>
              <a:t>(10 </a:t>
            </a:r>
            <a:r>
              <a:rPr lang="ko-KR" altLang="en-US" sz="1600" dirty="0" err="1"/>
              <a:t>마이크로초</a:t>
            </a:r>
            <a:r>
              <a:rPr lang="en-US" altLang="ko-KR" sz="1600" dirty="0"/>
              <a:t>)</a:t>
            </a:r>
          </a:p>
          <a:p>
            <a:pPr lvl="1"/>
            <a:r>
              <a:rPr lang="en-US" altLang="ko-KR" sz="1600" dirty="0" err="1"/>
              <a:t>delayMicroseconds</a:t>
            </a:r>
            <a:r>
              <a:rPr lang="en-US" altLang="ko-KR" sz="1600" dirty="0"/>
              <a:t>(10) </a:t>
            </a:r>
            <a:r>
              <a:rPr lang="ko-KR" altLang="en-US" sz="1600" dirty="0"/>
              <a:t>이 더 올바른 형태</a:t>
            </a:r>
            <a:endParaRPr lang="en-US" altLang="ko-KR" sz="1600" dirty="0"/>
          </a:p>
          <a:p>
            <a:pPr lvl="1"/>
            <a:r>
              <a:rPr lang="en-US" altLang="ko-KR" sz="1600" dirty="0"/>
              <a:t>delay(10)</a:t>
            </a:r>
            <a:r>
              <a:rPr lang="ko-KR" altLang="en-US" sz="1600" dirty="0"/>
              <a:t>은 </a:t>
            </a:r>
            <a:r>
              <a:rPr lang="en-US" altLang="ko-KR" sz="1600" dirty="0"/>
              <a:t>1,000</a:t>
            </a:r>
            <a:r>
              <a:rPr lang="ko-KR" altLang="en-US" sz="1600" dirty="0"/>
              <a:t>배 길기에 비효율적이지만 동작은 가능</a:t>
            </a:r>
            <a:endParaRPr lang="en-US" altLang="ko-KR" sz="1600" dirty="0"/>
          </a:p>
          <a:p>
            <a:pPr marL="0" indent="0">
              <a:buNone/>
            </a:pP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88428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B280C-3868-2721-D4DF-BE877CE81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36A53-D948-D990-0128-480B67050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86772-2D75-3891-6E12-A9923320D165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335BFB-B1FF-1902-B634-922DE9C749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90" t="66071" r="880" b="22629"/>
          <a:stretch>
            <a:fillRect/>
          </a:stretch>
        </p:blipFill>
        <p:spPr>
          <a:xfrm>
            <a:off x="2148957" y="1688341"/>
            <a:ext cx="7290605" cy="84049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B6D22B-CFF1-CD8E-7C2D-F4664F033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60" y="2709402"/>
            <a:ext cx="10738080" cy="3509624"/>
          </a:xfrm>
        </p:spPr>
        <p:txBody>
          <a:bodyPr>
            <a:normAutofit/>
          </a:bodyPr>
          <a:lstStyle/>
          <a:p>
            <a:r>
              <a:rPr lang="en-US" altLang="ko-KR" sz="2000" dirty="0" err="1"/>
              <a:t>pulseIn</a:t>
            </a:r>
            <a:r>
              <a:rPr lang="en-US" altLang="ko-KR" sz="2000" dirty="0"/>
              <a:t>() </a:t>
            </a:r>
            <a:r>
              <a:rPr lang="ko-KR" altLang="en-US" sz="2000" dirty="0"/>
              <a:t>함수는 </a:t>
            </a:r>
            <a:r>
              <a:rPr lang="en-US" altLang="ko-KR" sz="2000" dirty="0"/>
              <a:t>“</a:t>
            </a:r>
            <a:r>
              <a:rPr lang="ko-KR" altLang="en-US" sz="2000" dirty="0" err="1"/>
              <a:t>마이크로초</a:t>
            </a:r>
            <a:r>
              <a:rPr lang="en-US" altLang="ko-KR" sz="2000" dirty="0"/>
              <a:t>(µs) </a:t>
            </a:r>
            <a:r>
              <a:rPr lang="ko-KR" altLang="en-US" sz="2000" dirty="0"/>
              <a:t>단위로 결과를 준다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duration</a:t>
            </a:r>
            <a:r>
              <a:rPr lang="ko-KR" altLang="en-US" sz="2000" dirty="0"/>
              <a:t>은 </a:t>
            </a:r>
            <a:r>
              <a:rPr lang="en-US" altLang="ko-KR" sz="2000" dirty="0"/>
              <a:t>“</a:t>
            </a:r>
            <a:r>
              <a:rPr lang="ko-KR" altLang="en-US" sz="2000" dirty="0"/>
              <a:t>왕복 시간</a:t>
            </a:r>
            <a:r>
              <a:rPr lang="en-US" altLang="ko-KR" sz="2000" dirty="0"/>
              <a:t>”</a:t>
            </a:r>
            <a:r>
              <a:rPr lang="ko-KR" altLang="en-US" sz="2000" dirty="0"/>
              <a:t>이 저장된다</a:t>
            </a:r>
            <a:r>
              <a:rPr lang="en-US" altLang="ko-KR" sz="2000" dirty="0"/>
              <a:t>.</a:t>
            </a:r>
          </a:p>
          <a:p>
            <a:pPr lvl="1"/>
            <a:r>
              <a:rPr lang="ko-KR" altLang="en-US" sz="1600" dirty="0"/>
              <a:t>초음파가 나갔다가 되돌아오기까지의 시간</a:t>
            </a:r>
            <a:endParaRPr lang="en-US" altLang="ko-KR" sz="1600" dirty="0"/>
          </a:p>
          <a:p>
            <a:r>
              <a:rPr lang="en-US" altLang="ko-KR" sz="2000" dirty="0"/>
              <a:t>34000 : </a:t>
            </a:r>
            <a:r>
              <a:rPr lang="ko-KR" altLang="en-US" sz="2000" dirty="0"/>
              <a:t>음속 </a:t>
            </a:r>
            <a:r>
              <a:rPr lang="en-US" altLang="ko-KR" sz="2000" dirty="0"/>
              <a:t>(</a:t>
            </a:r>
            <a:r>
              <a:rPr lang="ko-KR" altLang="en-US" sz="2000" dirty="0"/>
              <a:t>약 </a:t>
            </a:r>
            <a:r>
              <a:rPr lang="en-US" altLang="ko-KR" sz="2000" dirty="0"/>
              <a:t>340m/s </a:t>
            </a:r>
            <a:r>
              <a:rPr lang="ko-KR" altLang="en-US" sz="2000" dirty="0"/>
              <a:t>→ </a:t>
            </a:r>
            <a:r>
              <a:rPr lang="en-US" altLang="ko-KR" sz="2000" dirty="0"/>
              <a:t>34,000 cm/s)</a:t>
            </a:r>
          </a:p>
          <a:p>
            <a:r>
              <a:rPr lang="en-US" altLang="ko-KR" sz="2000" dirty="0"/>
              <a:t>duration : </a:t>
            </a:r>
            <a:r>
              <a:rPr lang="ko-KR" altLang="en-US" sz="2000" dirty="0"/>
              <a:t>초음파의 왕복 시간 </a:t>
            </a:r>
            <a:r>
              <a:rPr lang="en-US" altLang="ko-KR" sz="2000" dirty="0"/>
              <a:t>(</a:t>
            </a:r>
            <a:r>
              <a:rPr lang="ko-KR" altLang="en-US" sz="2000" dirty="0"/>
              <a:t>단위 </a:t>
            </a:r>
            <a:r>
              <a:rPr lang="el-GR" altLang="ko-KR" sz="2000" dirty="0"/>
              <a:t>μ</a:t>
            </a:r>
            <a:r>
              <a:rPr lang="en-US" altLang="ko-KR" sz="2000" dirty="0"/>
              <a:t>s = 10⁻⁶ s)</a:t>
            </a:r>
          </a:p>
          <a:p>
            <a:r>
              <a:rPr lang="en-US" altLang="ko-KR" sz="2000" dirty="0"/>
              <a:t>1000000 : </a:t>
            </a:r>
            <a:r>
              <a:rPr lang="el-GR" altLang="ko-KR" sz="2000" dirty="0"/>
              <a:t>μ</a:t>
            </a:r>
            <a:r>
              <a:rPr lang="en-US" altLang="ko-KR" sz="2000" dirty="0"/>
              <a:t>s </a:t>
            </a:r>
            <a:r>
              <a:rPr lang="ko-KR" altLang="en-US" sz="2000" dirty="0"/>
              <a:t>→ </a:t>
            </a:r>
            <a:r>
              <a:rPr lang="en-US" altLang="ko-KR" sz="2000" dirty="0"/>
              <a:t>s </a:t>
            </a:r>
            <a:r>
              <a:rPr lang="ko-KR" altLang="en-US" sz="2000" dirty="0"/>
              <a:t>로 변환</a:t>
            </a:r>
            <a:endParaRPr lang="en-US" altLang="ko-KR" sz="2000" dirty="0"/>
          </a:p>
          <a:p>
            <a:r>
              <a:rPr lang="en-US" altLang="ko-KR" sz="2000" dirty="0"/>
              <a:t>/2 : </a:t>
            </a:r>
            <a:r>
              <a:rPr lang="ko-KR" altLang="en-US" sz="2000" dirty="0"/>
              <a:t>왕복 → 편도로 거리 변환</a:t>
            </a:r>
            <a:endParaRPr lang="en-US" altLang="ko-KR" sz="2000" dirty="0"/>
          </a:p>
          <a:p>
            <a:endParaRPr lang="en-US" altLang="ko-KR" sz="20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4D26E3A-D677-08EE-E3E8-F4FBB070603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5930673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902335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F16CCAE-0098-DFFE-9F0A-FF30BDA0B9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900937"/>
              </p:ext>
            </p:extLst>
          </p:nvPr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36952394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2549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94049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8BA42-A1C5-90D7-C81C-5570F5D17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EB2F64-BECF-6D09-678B-8205C2DBF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7887A6-6DD1-8EB5-58DC-6DE2CCD019A2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85BE231-8BAD-8AB5-BCD5-55A46239F0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90" t="66071" r="880" b="22629"/>
          <a:stretch>
            <a:fillRect/>
          </a:stretch>
        </p:blipFill>
        <p:spPr>
          <a:xfrm>
            <a:off x="2450696" y="1688341"/>
            <a:ext cx="7290605" cy="840495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A28AD41-19BF-EEDB-9C48-159D99F0E8B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5930673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902335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99EA28F-5009-462F-2329-36D1360F80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812621"/>
              </p:ext>
            </p:extLst>
          </p:nvPr>
        </p:nvGraphicFramePr>
        <p:xfrm>
          <a:off x="838200" y="3963405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36952394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254924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21EF8C-741C-B322-0FF7-4C2AA129A9BA}"/>
                  </a:ext>
                </a:extLst>
              </p:cNvPr>
              <p:cNvSpPr txBox="1"/>
              <p:nvPr/>
            </p:nvSpPr>
            <p:spPr>
              <a:xfrm>
                <a:off x="2450697" y="3184577"/>
                <a:ext cx="7290605" cy="8178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거리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𝑐𝑚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3400 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×(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𝑑𝑢𝑟𝑎𝑡𝑖𝑜𝑛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÷1,000,000)</m:t>
                          </m:r>
                        </m:num>
                        <m:den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21EF8C-741C-B322-0FF7-4C2AA129A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697" y="3184577"/>
                <a:ext cx="7290605" cy="8178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948FB2E-3EEB-57C7-6F56-191CE26BFB2A}"/>
                  </a:ext>
                </a:extLst>
              </p:cNvPr>
              <p:cNvSpPr txBox="1"/>
              <p:nvPr/>
            </p:nvSpPr>
            <p:spPr>
              <a:xfrm>
                <a:off x="2450697" y="4511392"/>
                <a:ext cx="729060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거리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𝑐𝑚</m:t>
                          </m:r>
                        </m:e>
                      </m:d>
                      <m:r>
                        <a:rPr lang="en-US" altLang="ko-K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𝑑𝑢𝑟𝑎𝑡𝑖𝑜𝑛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×0.017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948FB2E-3EEB-57C7-6F56-191CE26BF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697" y="4511392"/>
                <a:ext cx="7290605" cy="430887"/>
              </a:xfrm>
              <a:prstGeom prst="rect">
                <a:avLst/>
              </a:prstGeom>
              <a:blipFill>
                <a:blip r:embed="rId5"/>
                <a:stretch>
                  <a:fillRect t="-15493" b="-19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02577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1A4ACC0-8BCF-B5AE-EAF0-DBB3D1A9B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C22397-B668-E791-819D-F917DD09B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B2E4C-D79D-BD46-08FC-93CD91C4F47C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5">
            <a:extLst>
              <a:ext uri="{FF2B5EF4-FFF2-40B4-BE49-F238E27FC236}">
                <a16:creationId xmlns:a16="http://schemas.microsoft.com/office/drawing/2014/main" id="{FC334989-C3B6-10E4-38E6-4DCDB47756E4}"/>
              </a:ext>
            </a:extLst>
          </p:cNvPr>
          <p:cNvSpPr txBox="1">
            <a:spLocks/>
          </p:cNvSpPr>
          <p:nvPr/>
        </p:nvSpPr>
        <p:spPr>
          <a:xfrm>
            <a:off x="838200" y="1549839"/>
            <a:ext cx="10515600" cy="4627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초음파 센서를 </a:t>
            </a:r>
            <a:r>
              <a:rPr lang="ko-KR" altLang="en-US" dirty="0" err="1"/>
              <a:t>아두이노로</a:t>
            </a:r>
            <a:r>
              <a:rPr lang="ko-KR" altLang="en-US" dirty="0"/>
              <a:t> 읽어 </a:t>
            </a:r>
            <a:r>
              <a:rPr lang="en-US" altLang="ko-KR" dirty="0"/>
              <a:t>“</a:t>
            </a:r>
            <a:r>
              <a:rPr lang="ko-KR" altLang="en-US" dirty="0" err="1"/>
              <a:t>물체끼리의</a:t>
            </a:r>
            <a:r>
              <a:rPr lang="ko-KR" altLang="en-US" dirty="0"/>
              <a:t> 거리</a:t>
            </a:r>
            <a:r>
              <a:rPr lang="en-US" altLang="ko-KR" dirty="0"/>
              <a:t>＂</a:t>
            </a:r>
            <a:r>
              <a:rPr lang="ko-KR" altLang="en-US" dirty="0"/>
              <a:t>를 계산해 시리얼로 출력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 TRIG</a:t>
            </a:r>
            <a:r>
              <a:rPr lang="ko-KR" altLang="en-US" dirty="0"/>
              <a:t>로 </a:t>
            </a:r>
            <a:r>
              <a:rPr lang="el-GR" altLang="ko-KR" dirty="0"/>
              <a:t>10μ</a:t>
            </a:r>
            <a:r>
              <a:rPr lang="en-US" altLang="ko-KR" dirty="0"/>
              <a:t>s</a:t>
            </a:r>
            <a:r>
              <a:rPr lang="ko-KR" altLang="en-US" dirty="0" err="1"/>
              <a:t>짜리</a:t>
            </a:r>
            <a:r>
              <a:rPr lang="ko-KR" altLang="en-US" dirty="0"/>
              <a:t> 초음파 </a:t>
            </a:r>
            <a:r>
              <a:rPr lang="en-US" altLang="ko-KR" dirty="0"/>
              <a:t>“</a:t>
            </a:r>
            <a:r>
              <a:rPr lang="ko-KR" altLang="en-US" dirty="0"/>
              <a:t>핑</a:t>
            </a:r>
            <a:r>
              <a:rPr lang="en-US" altLang="ko-KR" dirty="0"/>
              <a:t>” </a:t>
            </a:r>
            <a:r>
              <a:rPr lang="ko-KR" altLang="en-US" dirty="0"/>
              <a:t>을 쏘고</a:t>
            </a:r>
            <a:r>
              <a:rPr lang="en-US" altLang="ko-KR" dirty="0"/>
              <a:t>, ECHO</a:t>
            </a:r>
            <a:r>
              <a:rPr lang="ko-KR" altLang="en-US" dirty="0"/>
              <a:t>가 </a:t>
            </a:r>
            <a:r>
              <a:rPr lang="en-US" altLang="ko-KR" dirty="0"/>
              <a:t>“HIGH</a:t>
            </a:r>
            <a:r>
              <a:rPr lang="ko-KR" altLang="en-US" dirty="0"/>
              <a:t>로 유지된 시간</a:t>
            </a:r>
            <a:r>
              <a:rPr lang="en-US" altLang="ko-KR" dirty="0"/>
              <a:t>(</a:t>
            </a:r>
            <a:r>
              <a:rPr lang="el-GR" altLang="ko-KR" dirty="0"/>
              <a:t>μ</a:t>
            </a:r>
            <a:r>
              <a:rPr lang="en-US" altLang="ko-KR" dirty="0"/>
              <a:t>s)”</a:t>
            </a:r>
            <a:r>
              <a:rPr lang="ko-KR" altLang="en-US" dirty="0"/>
              <a:t>을 재서 거리를 계산한다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96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AC403-510B-BE9C-B1F3-EE4F2434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81F832-041A-DA3A-5A26-F7B4A23D1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538F2DD-2840-B570-FA70-BE07ED48F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초음파 센서를 통해 가까운 물체가 감지될 시</a:t>
            </a:r>
            <a:r>
              <a:rPr lang="en-US" altLang="ko-KR" dirty="0"/>
              <a:t>, </a:t>
            </a:r>
            <a:r>
              <a:rPr lang="ko-KR" altLang="en-US" dirty="0"/>
              <a:t>빨간 </a:t>
            </a:r>
            <a:r>
              <a:rPr lang="en-US" altLang="ko-KR" dirty="0"/>
              <a:t>LED</a:t>
            </a:r>
            <a:r>
              <a:rPr lang="ko-KR" altLang="en-US" dirty="0"/>
              <a:t>의 불을 켜고 </a:t>
            </a:r>
            <a:r>
              <a:rPr lang="ko-KR" altLang="en-US" dirty="0" err="1"/>
              <a:t>피에조</a:t>
            </a:r>
            <a:r>
              <a:rPr lang="ko-KR" altLang="en-US" dirty="0"/>
              <a:t> </a:t>
            </a:r>
            <a:r>
              <a:rPr lang="ko-KR" altLang="en-US" dirty="0" err="1"/>
              <a:t>부저를</a:t>
            </a:r>
            <a:r>
              <a:rPr lang="ko-KR" altLang="en-US" dirty="0"/>
              <a:t> 통해 경고음을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7C334408-BC2C-74DD-0A9B-848CA5407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D54D7F-F36C-2708-957C-49E139DB9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2F320F-B20D-258F-6BA0-60B157243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E3A299-C3E7-DF93-563E-5F69B3576D1C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962C1-EB2E-14E9-C60A-A5A480E3B2E2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7703DE-5A17-3BD5-0288-73243A0F4066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893316-F962-F9E4-AD21-8A32405D0025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3A866A88-898D-FE34-877A-4C53B71A20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2775492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아두이노 중급] 16. 초음파 센서(거리 측정 센서) : 네이버 블로그">
            <a:extLst>
              <a:ext uri="{FF2B5EF4-FFF2-40B4-BE49-F238E27FC236}">
                <a16:creationId xmlns:a16="http://schemas.microsoft.com/office/drawing/2014/main" id="{2BF2A8C8-EC91-FEE4-653A-BDD05AFAB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6148" y="2772486"/>
            <a:ext cx="1592830" cy="95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71DDB0-BB1A-F7C6-C213-3E63FE4EA180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초음파 센서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7865C0-384E-7A0C-E611-FB74F0171928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8E2EF01C-AE31-6E4F-4697-7E84B77676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2174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0736-3A39-AE75-39E4-8408EDB4B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6332D-49D3-02F8-A177-0E811BF5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50EAB8-9911-3459-181E-97D28F920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79" y="1325563"/>
            <a:ext cx="5384289" cy="5308161"/>
          </a:xfrm>
          <a:prstGeom prst="rect">
            <a:avLst/>
          </a:prstGeom>
        </p:spPr>
      </p:pic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BA9AB3DC-7D5E-A350-1677-1988E3B77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3538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95EE-189E-424D-3543-269651CDF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403870-1342-522F-3739-18B439FA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9A868864-A509-C3E9-5A7C-C55344671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C5F3326-0AF3-038C-04EF-A78B0E233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5563"/>
            <a:ext cx="5086350" cy="3581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F066CB9-1291-242C-12A3-57EF6BBA6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872" y="1284818"/>
            <a:ext cx="5762928" cy="515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778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97E7-A344-1A07-BDAC-420FF5C75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023E7F-25FF-B317-EC8B-950B69DA5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EAF5F0-DF9F-B561-DD75-BBAEC035B366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A4EB6E5-EC11-5D1C-F814-626976513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아날로그 신호</a:t>
            </a:r>
            <a:endParaRPr lang="en-US" altLang="ko-KR" sz="2000" dirty="0"/>
          </a:p>
          <a:p>
            <a:r>
              <a:rPr lang="en-US" altLang="ko-KR" sz="2000" dirty="0"/>
              <a:t>LPG, </a:t>
            </a:r>
            <a:r>
              <a:rPr lang="ko-KR" altLang="en-US" sz="2000" dirty="0"/>
              <a:t>프로판</a:t>
            </a:r>
            <a:r>
              <a:rPr lang="en-US" altLang="ko-KR" sz="2000" dirty="0"/>
              <a:t>, </a:t>
            </a:r>
            <a:r>
              <a:rPr lang="ko-KR" altLang="en-US" sz="2000" dirty="0"/>
              <a:t>메탄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Hydroge</a:t>
            </a:r>
            <a:r>
              <a:rPr lang="en-US" altLang="ko-KR" sz="2000" dirty="0"/>
              <a:t>, </a:t>
            </a:r>
            <a:r>
              <a:rPr lang="ko-KR" altLang="en-US" sz="2000" dirty="0"/>
              <a:t>일산화탄소와 같은 가연성 가스를 감지할 수 있는 센서</a:t>
            </a:r>
            <a:endParaRPr lang="en-US" altLang="ko-KR" sz="2000" dirty="0"/>
          </a:p>
          <a:p>
            <a:r>
              <a:rPr lang="ko-KR" altLang="en-US" sz="2000" dirty="0"/>
              <a:t>활용 </a:t>
            </a:r>
            <a:r>
              <a:rPr lang="en-US" altLang="ko-KR" sz="2000" dirty="0"/>
              <a:t>: </a:t>
            </a:r>
            <a:r>
              <a:rPr lang="ko-KR" altLang="en-US" sz="2000" dirty="0"/>
              <a:t>화재 경보 장치</a:t>
            </a:r>
            <a:r>
              <a:rPr lang="en-US" altLang="ko-KR" sz="2000" dirty="0"/>
              <a:t>, </a:t>
            </a:r>
            <a:r>
              <a:rPr lang="ko-KR" altLang="en-US" sz="2000" dirty="0"/>
              <a:t>가스누설 경보기 등</a:t>
            </a:r>
            <a:endParaRPr lang="en-US" altLang="ko-KR" sz="2000" dirty="0"/>
          </a:p>
        </p:txBody>
      </p:sp>
      <p:pic>
        <p:nvPicPr>
          <p:cNvPr id="2050" name="Picture 2" descr="MQ-135 아두이노 유해가스/공기질 센서 모듈 [SZH-SSBH-038 ...">
            <a:extLst>
              <a:ext uri="{FF2B5EF4-FFF2-40B4-BE49-F238E27FC236}">
                <a16:creationId xmlns:a16="http://schemas.microsoft.com/office/drawing/2014/main" id="{9DB659F0-BDBA-A797-0574-01BF9222EA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27" t="22584" r="10116" b="25498"/>
          <a:stretch>
            <a:fillRect/>
          </a:stretch>
        </p:blipFill>
        <p:spPr bwMode="auto">
          <a:xfrm>
            <a:off x="726960" y="2427913"/>
            <a:ext cx="4424363" cy="242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B42095-A3BA-6B5B-741D-0F138C063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912935"/>
              </p:ext>
            </p:extLst>
          </p:nvPr>
        </p:nvGraphicFramePr>
        <p:xfrm>
          <a:off x="5963477" y="3550306"/>
          <a:ext cx="5274366" cy="2626656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2305880">
                  <a:extLst>
                    <a:ext uri="{9D8B030D-6E8A-4147-A177-3AD203B41FA5}">
                      <a16:colId xmlns:a16="http://schemas.microsoft.com/office/drawing/2014/main" val="3270330777"/>
                    </a:ext>
                  </a:extLst>
                </a:gridCol>
                <a:gridCol w="2968486">
                  <a:extLst>
                    <a:ext uri="{9D8B030D-6E8A-4147-A177-3AD203B41FA5}">
                      <a16:colId xmlns:a16="http://schemas.microsoft.com/office/drawing/2014/main" val="4130277623"/>
                    </a:ext>
                  </a:extLst>
                </a:gridCol>
              </a:tblGrid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동작전압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5V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1821111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부하저항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20KΩ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377169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히터저항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330Ω ± 5%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249091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 err="1"/>
                        <a:t>히팅</a:t>
                      </a:r>
                      <a:r>
                        <a:rPr lang="ko-KR" altLang="en-US" b="0" dirty="0"/>
                        <a:t> 전력 소비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&lt; 880mW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0037038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측정 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10K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9741257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농도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200 ~ 10000ppm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808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11916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73954-AE4E-4820-6D0A-4A579873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013F20-FE49-1DCB-AE63-0E59D104E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</a:p>
        </p:txBody>
      </p:sp>
      <p:pic>
        <p:nvPicPr>
          <p:cNvPr id="5122" name="Picture 2" descr="MQ-2 아두이노 가연성 가스 센서 모듈의 상세화면 입니다.">
            <a:extLst>
              <a:ext uri="{FF2B5EF4-FFF2-40B4-BE49-F238E27FC236}">
                <a16:creationId xmlns:a16="http://schemas.microsoft.com/office/drawing/2014/main" id="{E7D9527A-9408-FF67-D596-7EADD4D105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71"/>
          <a:stretch>
            <a:fillRect/>
          </a:stretch>
        </p:blipFill>
        <p:spPr bwMode="auto">
          <a:xfrm rot="5400000">
            <a:off x="1686664" y="1139267"/>
            <a:ext cx="4011257" cy="4515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위로 굽음 4">
            <a:extLst>
              <a:ext uri="{FF2B5EF4-FFF2-40B4-BE49-F238E27FC236}">
                <a16:creationId xmlns:a16="http://schemas.microsoft.com/office/drawing/2014/main" id="{A0BFF312-2AE0-F9B5-A280-C19FBC48FC6C}"/>
              </a:ext>
            </a:extLst>
          </p:cNvPr>
          <p:cNvSpPr/>
          <p:nvPr/>
        </p:nvSpPr>
        <p:spPr>
          <a:xfrm flipH="1">
            <a:off x="3305534" y="5171250"/>
            <a:ext cx="1440000" cy="462600"/>
          </a:xfrm>
          <a:prstGeom prst="bent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383FD-276B-5530-F4EB-D8F12DA581D4}"/>
              </a:ext>
            </a:extLst>
          </p:cNvPr>
          <p:cNvSpPr txBox="1"/>
          <p:nvPr/>
        </p:nvSpPr>
        <p:spPr>
          <a:xfrm>
            <a:off x="4814966" y="5434493"/>
            <a:ext cx="4070345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가스의 농도에 따라 아날로그 전압 출력</a:t>
            </a: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C504BACD-E552-A0E8-4FE7-AE0FD7153399}"/>
              </a:ext>
            </a:extLst>
          </p:cNvPr>
          <p:cNvSpPr/>
          <p:nvPr/>
        </p:nvSpPr>
        <p:spPr>
          <a:xfrm rot="10800000">
            <a:off x="3683518" y="4804119"/>
            <a:ext cx="2160000" cy="254000"/>
          </a:xfrm>
          <a:prstGeom prst="right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83E5BB-9F69-F4E2-C40B-32DC2368BC20}"/>
              </a:ext>
            </a:extLst>
          </p:cNvPr>
          <p:cNvSpPr txBox="1"/>
          <p:nvPr/>
        </p:nvSpPr>
        <p:spPr>
          <a:xfrm>
            <a:off x="5950132" y="4746453"/>
            <a:ext cx="5705408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센서의 출력 전압이 비교 전압과 비교해서 </a:t>
            </a:r>
            <a:r>
              <a:rPr lang="en-US" altLang="ko-KR" dirty="0"/>
              <a:t>1 </a:t>
            </a:r>
            <a:r>
              <a:rPr lang="ko-KR" altLang="en-US" dirty="0"/>
              <a:t>또는 </a:t>
            </a:r>
            <a:r>
              <a:rPr lang="en-US" altLang="ko-KR" dirty="0"/>
              <a:t>0 </a:t>
            </a:r>
            <a:r>
              <a:rPr lang="ko-KR" altLang="en-US" dirty="0"/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4730854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D9BDC-91F8-E380-D4DB-6E662173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32</a:t>
            </a:fld>
            <a:endParaRPr lang="ko-KR" alt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2B5292C-4DF6-6BB2-B1CA-EC1BA3AE15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2383" y="1189872"/>
            <a:ext cx="6870749" cy="4478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929554-7B90-7D4E-590E-C288EB2E3D19}"/>
              </a:ext>
            </a:extLst>
          </p:cNvPr>
          <p:cNvSpPr txBox="1"/>
          <p:nvPr/>
        </p:nvSpPr>
        <p:spPr>
          <a:xfrm>
            <a:off x="5181600" y="615390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출처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https://m.blog.naver.com/emperonics/222133873670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FE03A249-47B0-221B-88E5-F739FFCD7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/>
          <a:lstStyle/>
          <a:p>
            <a:r>
              <a:rPr lang="ko-KR" altLang="en-US" dirty="0"/>
              <a:t>가스 센서</a:t>
            </a:r>
          </a:p>
        </p:txBody>
      </p:sp>
    </p:spTree>
    <p:extLst>
      <p:ext uri="{BB962C8B-B14F-4D97-AF65-F5344CB8AC3E}">
        <p14:creationId xmlns:p14="http://schemas.microsoft.com/office/powerpoint/2010/main" val="11583992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A080A-106C-FF27-1103-40A7A8E8B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CE27E-1D4D-EBF0-B506-5049318E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2C85D4-E584-6059-5C04-A1511EDC458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D6433E-E57F-088F-C80A-23422EC6C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5C6A72-519B-E5C5-B5C3-12D0D0B31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897" y="1915071"/>
            <a:ext cx="9656206" cy="339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9657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01C19C-DF4B-6930-2796-2B29622A6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 실습</a:t>
            </a:r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3A08F3ED-9F9D-33B3-CAAF-BB5712390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7434" y="1687651"/>
            <a:ext cx="5133975" cy="245745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FFD3ED-D5DA-CC2B-0304-599D418EC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34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E0CB20D-7BD4-CB9E-E39D-B8262344B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3259" y="4071499"/>
            <a:ext cx="4248150" cy="25622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78CBBB0-9070-3D7E-983E-3F5FF02F94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4310" y="887057"/>
            <a:ext cx="5705475" cy="543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6964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81521-9BB7-F698-7800-C10700169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684C5-7A1A-0F78-D7CD-1762DBB24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8DB8214-3710-08B9-F130-D57197A50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가스 센서를 통해 가스가 감지될 시</a:t>
            </a:r>
            <a:r>
              <a:rPr lang="en-US" altLang="ko-KR" dirty="0"/>
              <a:t>, </a:t>
            </a:r>
            <a:r>
              <a:rPr lang="ko-KR" altLang="en-US" dirty="0"/>
              <a:t>빨간 </a:t>
            </a:r>
            <a:r>
              <a:rPr lang="en-US" altLang="ko-KR" dirty="0"/>
              <a:t>LED</a:t>
            </a:r>
            <a:r>
              <a:rPr lang="ko-KR" altLang="en-US" dirty="0"/>
              <a:t>의 불을 켜고 </a:t>
            </a:r>
            <a:r>
              <a:rPr lang="ko-KR" altLang="en-US" dirty="0" err="1"/>
              <a:t>피에조</a:t>
            </a:r>
            <a:r>
              <a:rPr lang="ko-KR" altLang="en-US" dirty="0"/>
              <a:t> </a:t>
            </a:r>
            <a:r>
              <a:rPr lang="ko-KR" altLang="en-US" dirty="0" err="1"/>
              <a:t>부저를</a:t>
            </a:r>
            <a:r>
              <a:rPr lang="ko-KR" altLang="en-US" dirty="0"/>
              <a:t> 통해 경고음을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22AADE30-B9D1-5B0C-AF43-76D5D468A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EEB4212-867D-4E58-87FD-DE37DBCFE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4A23BE5-1225-B656-0628-1359A4DC80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DE76AD-1B42-12B1-ED92-78E8B98D1FFD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251E68-61F9-33D7-4076-666F796E733D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1EC9CE-0755-E9B1-C1F6-1292613AD5F4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795A15-5EB4-43C0-D567-C0D7F3AF7819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49B699DF-F7A0-0889-F9EA-F9D8289FCC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2775492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D9A82A3-2222-A01C-CB9C-DD5F7F555CE6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가스 센서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EF4A6-5E10-8E56-926B-7893DA98B7A6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C4F33B5E-6276-EE27-67EC-2417150AE6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Q-135 아두이노 유해가스/공기질 센서 모듈 [SZH-SSBH-038 ...">
            <a:extLst>
              <a:ext uri="{FF2B5EF4-FFF2-40B4-BE49-F238E27FC236}">
                <a16:creationId xmlns:a16="http://schemas.microsoft.com/office/drawing/2014/main" id="{A98BBA26-FA9B-4A10-B1EB-BE162765D0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27" t="22584" r="10116" b="25498"/>
          <a:stretch>
            <a:fillRect/>
          </a:stretch>
        </p:blipFill>
        <p:spPr bwMode="auto">
          <a:xfrm>
            <a:off x="5209886" y="2806012"/>
            <a:ext cx="1661450" cy="911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8248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93CCA-28FE-8A87-1304-0DEC79FAC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8AFC3-C076-79E4-F304-0E2BB34DF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21FECE9A-9610-0A6F-C150-6E63CA0A7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A9318B-E4C1-44F5-B95E-CB828EB2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76410"/>
            <a:ext cx="4187940" cy="351274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B85E16E-37E7-F140-65A0-70B30599F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1542" y="1271233"/>
            <a:ext cx="4534426" cy="518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6672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9899-340D-6AAB-8589-75B2C4DC3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84A58-DDA2-BA6C-859B-CBD91F2DB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B37D2-0CD1-FD91-391D-7A98E4D54F1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06949328-5A94-3AE1-408C-24CCD8062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DC</a:t>
            </a:r>
            <a:r>
              <a:rPr lang="ko-KR" altLang="en-US" sz="2000" dirty="0"/>
              <a:t> 모터와 달리 속도와 각도를 모두 제어할 수 있는 모터</a:t>
            </a:r>
            <a:endParaRPr lang="en-US" altLang="ko-KR" sz="2000" dirty="0"/>
          </a:p>
          <a:p>
            <a:r>
              <a:rPr lang="ko-KR" altLang="en-US" sz="2000" dirty="0"/>
              <a:t>활용 </a:t>
            </a:r>
            <a:r>
              <a:rPr lang="en-US" altLang="ko-KR" sz="2000" dirty="0"/>
              <a:t>: RC</a:t>
            </a:r>
            <a:r>
              <a:rPr lang="ko-KR" altLang="en-US" sz="2000" dirty="0" err="1"/>
              <a:t>카의</a:t>
            </a:r>
            <a:r>
              <a:rPr lang="ko-KR" altLang="en-US" sz="2000" dirty="0"/>
              <a:t> 방향 제어</a:t>
            </a:r>
            <a:r>
              <a:rPr lang="en-US" altLang="ko-KR" sz="2000" dirty="0"/>
              <a:t>, </a:t>
            </a:r>
            <a:r>
              <a:rPr lang="ko-KR" altLang="en-US" sz="2000" dirty="0"/>
              <a:t>로봇의 관절 제어</a:t>
            </a:r>
            <a:r>
              <a:rPr lang="en-US" altLang="ko-KR" sz="2000" dirty="0"/>
              <a:t>, </a:t>
            </a:r>
            <a:r>
              <a:rPr lang="ko-KR" altLang="en-US" sz="2000" dirty="0"/>
              <a:t>잠금 장치 열고 닫음 등</a:t>
            </a:r>
            <a:endParaRPr lang="en-US" altLang="ko-KR" sz="2000" dirty="0"/>
          </a:p>
        </p:txBody>
      </p:sp>
      <p:pic>
        <p:nvPicPr>
          <p:cNvPr id="6146" name="Picture 2" descr="아두이노 서보모터 SG-90 B117 : 모터 기획전 &gt; 모터 &gt; 모터/로봇/전자키트">
            <a:extLst>
              <a:ext uri="{FF2B5EF4-FFF2-40B4-BE49-F238E27FC236}">
                <a16:creationId xmlns:a16="http://schemas.microsoft.com/office/drawing/2014/main" id="{67B3BCA6-8CB2-49B1-BECD-E9D47CD0B6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9" t="20741" r="15185" b="20371"/>
          <a:stretch>
            <a:fillRect/>
          </a:stretch>
        </p:blipFill>
        <p:spPr bwMode="auto">
          <a:xfrm>
            <a:off x="1086680" y="1549839"/>
            <a:ext cx="3856754" cy="342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아두이노 스터디 - DC 모터 : 네이버 블로그">
            <a:extLst>
              <a:ext uri="{FF2B5EF4-FFF2-40B4-BE49-F238E27FC236}">
                <a16:creationId xmlns:a16="http://schemas.microsoft.com/office/drawing/2014/main" id="{CD705B24-5B36-447A-6A7D-F93B9BCB5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940" y="5405439"/>
            <a:ext cx="944081" cy="63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3C7FF2-00A1-7C7F-2D3E-6C9E1D9CBA0E}"/>
              </a:ext>
            </a:extLst>
          </p:cNvPr>
          <p:cNvSpPr txBox="1"/>
          <p:nvPr/>
        </p:nvSpPr>
        <p:spPr>
          <a:xfrm>
            <a:off x="2860021" y="5540654"/>
            <a:ext cx="14912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※ DC </a:t>
            </a:r>
            <a:r>
              <a:rPr lang="ko-KR" altLang="en-US" dirty="0"/>
              <a:t>모터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327BF26-E5CF-873A-C376-3922A7A26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388252"/>
              </p:ext>
            </p:extLst>
          </p:nvPr>
        </p:nvGraphicFramePr>
        <p:xfrm>
          <a:off x="6266620" y="3427778"/>
          <a:ext cx="4838700" cy="175382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19350">
                  <a:extLst>
                    <a:ext uri="{9D8B030D-6E8A-4147-A177-3AD203B41FA5}">
                      <a16:colId xmlns:a16="http://schemas.microsoft.com/office/drawing/2014/main" val="707138077"/>
                    </a:ext>
                  </a:extLst>
                </a:gridCol>
                <a:gridCol w="2419350">
                  <a:extLst>
                    <a:ext uri="{9D8B030D-6E8A-4147-A177-3AD203B41FA5}">
                      <a16:colId xmlns:a16="http://schemas.microsoft.com/office/drawing/2014/main" val="3002405254"/>
                    </a:ext>
                  </a:extLst>
                </a:gridCol>
              </a:tblGrid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노란색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데이터 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9888616"/>
                  </a:ext>
                </a:extLst>
              </a:tr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빨간색</a:t>
                      </a: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VCC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257210"/>
                  </a:ext>
                </a:extLst>
              </a:tr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검정색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갈색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GND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3487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88927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5028E-9D3F-C0C9-16E9-95AA55CF4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06F84B-6719-254A-68E3-1C2DD5B8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CB472-8639-1E7B-3F6A-00F69BAAC565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357E71-BBB4-C6A0-0947-90003CD05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780B57-9801-7705-777B-FFE3F5A34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268" y="1282126"/>
            <a:ext cx="618172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0960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72136-BE66-56F3-7FB8-D8E9AC6F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C7069-6251-04F3-5822-143DD411B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B0069-C337-14E8-3285-2D3991E028A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F04E184-9CC9-565A-6A82-1BB8C51FD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A736B6-AE86-B2C4-C641-772D467CA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662" y="887057"/>
            <a:ext cx="5781675" cy="552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681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79E5E-867C-7C04-58E6-8DB47D47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58515-E9F5-1C77-65D7-1EBB7D047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875F52-31EA-BD2F-C92F-A19376BF729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1AF6C71-8F4D-2D27-6A7E-6BFCC5D28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액정 디스플레이</a:t>
            </a:r>
            <a:r>
              <a:rPr lang="en-US" altLang="ko-KR" sz="2000" dirty="0"/>
              <a:t> (Liquid Crystal Display)</a:t>
            </a:r>
          </a:p>
          <a:p>
            <a:r>
              <a:rPr lang="ko-KR" altLang="en-US" sz="2000" dirty="0"/>
              <a:t>뒷면에 빛을 내는 </a:t>
            </a:r>
            <a:r>
              <a:rPr lang="ko-KR" altLang="en-US" sz="2000" dirty="0" err="1"/>
              <a:t>백라이트를</a:t>
            </a:r>
            <a:r>
              <a:rPr lang="ko-KR" altLang="en-US" sz="2000" dirty="0"/>
              <a:t> 배치하고 앞면에 액정을 두어 전기 신호에 따라 빛을 차단하거나 통과시키는 방식</a:t>
            </a:r>
            <a:endParaRPr lang="en-US" altLang="ko-KR" sz="2000" dirty="0"/>
          </a:p>
          <a:p>
            <a:r>
              <a:rPr lang="ko-KR" altLang="en-US" sz="2000" dirty="0"/>
              <a:t>문자나 숫자 등을 표시하는 장치</a:t>
            </a:r>
            <a:endParaRPr lang="en-US" altLang="ko-KR" sz="2000" dirty="0"/>
          </a:p>
        </p:txBody>
      </p:sp>
      <p:pic>
        <p:nvPicPr>
          <p:cNvPr id="8194" name="Picture 2" descr="아두이노 - LCD 디스플레이 : 네이버 블로그">
            <a:extLst>
              <a:ext uri="{FF2B5EF4-FFF2-40B4-BE49-F238E27FC236}">
                <a16:creationId xmlns:a16="http://schemas.microsoft.com/office/drawing/2014/main" id="{DACD6817-265A-BC7D-A18A-C7122660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328" y="1730405"/>
            <a:ext cx="4050106" cy="3466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44242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D5D4-1F8B-C9DF-91AA-641948A1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0A4FC-CD51-416B-1293-A00561858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 </a:t>
            </a:r>
            <a:r>
              <a:rPr lang="ko-KR" altLang="en-US" dirty="0"/>
              <a:t>사용 함수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01456E-9FE4-6E72-FE8C-521C9347F0FB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3BE0895-9CC5-CA4E-0455-1FDCB1215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50871"/>
              </p:ext>
            </p:extLst>
          </p:nvPr>
        </p:nvGraphicFramePr>
        <p:xfrm>
          <a:off x="944657" y="1418166"/>
          <a:ext cx="10302686" cy="483164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34343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6959256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begin()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LCD</a:t>
                      </a:r>
                      <a:r>
                        <a:rPr lang="ko-KR" altLang="en-US" dirty="0"/>
                        <a:t>를 시작한다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clear()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초기화한다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setCursor</a:t>
                      </a:r>
                      <a:r>
                        <a:rPr lang="en-US" altLang="ko-KR" dirty="0"/>
                        <a:t>(col, row)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col, row</a:t>
                      </a:r>
                      <a:r>
                        <a:rPr lang="ko-KR" altLang="en-US" dirty="0"/>
                        <a:t>로 커서를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print(“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 </a:t>
                      </a:r>
                      <a:r>
                        <a:rPr lang="ko-KR" altLang="en-US" dirty="0"/>
                        <a:t>글자를 출력한다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home()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커서를 </a:t>
                      </a:r>
                      <a:r>
                        <a:rPr lang="en-US" altLang="ko-KR" dirty="0"/>
                        <a:t>(0,0)</a:t>
                      </a:r>
                      <a:r>
                        <a:rPr lang="ko-KR" altLang="en-US" dirty="0"/>
                        <a:t>으로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79913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display()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표시한다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12217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noDisplay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숨긴다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859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75726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9F86F-7FD3-1880-F045-A25370EB1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AC6B2-1067-895C-89A9-BFC5906D6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 </a:t>
            </a:r>
            <a:r>
              <a:rPr lang="ko-KR" altLang="en-US" dirty="0"/>
              <a:t>사용 함수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E87AB-F5A7-9D93-E1F0-741461C4BCE8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17860D9-8106-06AB-3935-789D1D9C9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986867"/>
              </p:ext>
            </p:extLst>
          </p:nvPr>
        </p:nvGraphicFramePr>
        <p:xfrm>
          <a:off x="944657" y="1418166"/>
          <a:ext cx="10302686" cy="4779432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34343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6959256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backlight()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백라이트를</a:t>
                      </a:r>
                      <a:r>
                        <a:rPr lang="ko-KR" altLang="en-US" dirty="0"/>
                        <a:t> 켠다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noBacklight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백라이트를</a:t>
                      </a:r>
                      <a:r>
                        <a:rPr lang="ko-KR" altLang="en-US" dirty="0"/>
                        <a:t> 끈다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cursor()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밑줄 커서를 표시한다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noCursor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커서를 표시하지 않는다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scrollDisplayLeft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표시된 내용을 좌측으로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칸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799134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scrollDisplayRight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표시된 내용을 우측으로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칸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12217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leftToRight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문자 표시를 좌측에서 우측으로 설정한다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859230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rightToLeft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문자 표시를 우측에서 좌측으로 설정한다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7614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97092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78C36-3EB7-0A19-4635-3F8063E10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B170A-F5BB-D3BE-3307-4F18203F9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5EC1-465E-B251-7D10-39B3E41DE06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40EFC7-AA03-5085-8418-58984830A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E494697-45DF-0F83-EBF3-05DE4A220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350" y="1549839"/>
            <a:ext cx="81153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497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DE021-6EB2-07B6-70B5-CCEBA25B2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D1A48E-7796-B193-493B-B72B0C68C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34C46A-3A03-AEDB-D680-758B87A8DD5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1EC6C36-7D96-A6BF-CFFB-4AE500ADC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825350-12E0-DB0A-AD2F-E859D64AB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736" y="342900"/>
            <a:ext cx="5267325" cy="617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4519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D780-7B0F-0340-E740-7F44BB086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6922E-7023-82EB-0B7E-45A82E667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  <a:r>
              <a:rPr lang="en-US" altLang="ko-KR" dirty="0"/>
              <a:t>, LCD 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B1A3A54C-F5D7-52CA-5A2B-CF5A0E527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가변 저항을 이용하여 </a:t>
            </a:r>
            <a:r>
              <a:rPr lang="ko-KR" altLang="en-US" dirty="0" err="1"/>
              <a:t>서보</a:t>
            </a:r>
            <a:r>
              <a:rPr lang="ko-KR" altLang="en-US" dirty="0"/>
              <a:t> 모터를 제어하며</a:t>
            </a:r>
            <a:r>
              <a:rPr lang="en-US" altLang="ko-KR" dirty="0"/>
              <a:t>, </a:t>
            </a:r>
            <a:r>
              <a:rPr lang="ko-KR" altLang="en-US" dirty="0" err="1"/>
              <a:t>서보</a:t>
            </a:r>
            <a:r>
              <a:rPr lang="ko-KR" altLang="en-US" dirty="0"/>
              <a:t> 모터의 각도 값을 </a:t>
            </a:r>
            <a:r>
              <a:rPr lang="en-US" altLang="ko-KR" dirty="0"/>
              <a:t>LCD </a:t>
            </a:r>
            <a:r>
              <a:rPr lang="ko-KR" altLang="en-US" dirty="0"/>
              <a:t>에 출력하는 회로를 구성하고 </a:t>
            </a:r>
            <a:r>
              <a:rPr lang="ko-KR" altLang="en-US" dirty="0" err="1"/>
              <a:t>동작하시오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13F05291-23B6-C4C6-E06D-23D276C4B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E96C08-3001-2790-E35D-D8F51F4DD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3021351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0CE067-2656-59EC-75CB-073958F523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989341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A9D854-423D-3304-2F38-11E6304A8102}"/>
              </a:ext>
            </a:extLst>
          </p:cNvPr>
          <p:cNvSpPr txBox="1"/>
          <p:nvPr/>
        </p:nvSpPr>
        <p:spPr>
          <a:xfrm>
            <a:off x="7846273" y="4272682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B82850-770B-4ADD-40C3-52479D83E9C6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B2CD4C-8849-59C3-337A-BF98A6D2CF3A}"/>
              </a:ext>
            </a:extLst>
          </p:cNvPr>
          <p:cNvSpPr txBox="1"/>
          <p:nvPr/>
        </p:nvSpPr>
        <p:spPr>
          <a:xfrm>
            <a:off x="2042044" y="4276811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2BAB54-0600-4039-C7A1-22ECA91910EC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LCD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87FABB-C1DC-CF3B-7B9F-FD35C9F7E8C9}"/>
              </a:ext>
            </a:extLst>
          </p:cNvPr>
          <p:cNvSpPr txBox="1"/>
          <p:nvPr/>
        </p:nvSpPr>
        <p:spPr>
          <a:xfrm>
            <a:off x="4798165" y="4268404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8FF7FF-3372-33DE-50C9-BAA5C5E0C9A5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가변 저항</a:t>
            </a:r>
          </a:p>
        </p:txBody>
      </p:sp>
      <p:pic>
        <p:nvPicPr>
          <p:cNvPr id="8" name="Picture 2" descr="아두이노 - LCD 디스플레이 : 네이버 블로그">
            <a:extLst>
              <a:ext uri="{FF2B5EF4-FFF2-40B4-BE49-F238E27FC236}">
                <a16:creationId xmlns:a16="http://schemas.microsoft.com/office/drawing/2014/main" id="{A6D325E6-B8DF-B75B-5324-B527AFF62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8082" y="4615052"/>
            <a:ext cx="1619475" cy="1386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아두이노 서보모터 SG-90 B117 : 모터 기획전 &gt; 모터 &gt; 모터/로봇/전자키트">
            <a:extLst>
              <a:ext uri="{FF2B5EF4-FFF2-40B4-BE49-F238E27FC236}">
                <a16:creationId xmlns:a16="http://schemas.microsoft.com/office/drawing/2014/main" id="{C24A88F4-AF12-95F1-4907-86B4BD8DD4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9" t="20741" r="15185" b="20371"/>
          <a:stretch>
            <a:fillRect/>
          </a:stretch>
        </p:blipFill>
        <p:spPr bwMode="auto">
          <a:xfrm>
            <a:off x="5171897" y="2749578"/>
            <a:ext cx="1619477" cy="1438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아두이노 가변저항 모듈 (20KΩ) [ELB030640] / 디바이스마트">
            <a:extLst>
              <a:ext uri="{FF2B5EF4-FFF2-40B4-BE49-F238E27FC236}">
                <a16:creationId xmlns:a16="http://schemas.microsoft.com/office/drawing/2014/main" id="{63AC3D55-1C2B-9F42-2193-F2C8E59B44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0" t="11567" r="8222" b="12644"/>
          <a:stretch>
            <a:fillRect/>
          </a:stretch>
        </p:blipFill>
        <p:spPr bwMode="auto">
          <a:xfrm>
            <a:off x="7660259" y="4622478"/>
            <a:ext cx="1526969" cy="1396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70481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F8A5E-19AD-0A25-875F-AD68A5467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8BDD42-A76D-060D-C64E-AC3CAF49E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CFCB02-E3EB-A626-0055-3BA1C0DDA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27834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F38A7-6BA9-6C5B-BF86-6F05F393A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 </a:t>
            </a:r>
            <a:r>
              <a:rPr lang="en-US" altLang="ko-KR" dirty="0"/>
              <a:t>/ </a:t>
            </a:r>
            <a:r>
              <a:rPr lang="ko-KR" altLang="en-US" dirty="0" err="1"/>
              <a:t>디슾ㄹ레이</a:t>
            </a:r>
            <a:r>
              <a:rPr lang="ko-KR" altLang="en-US" dirty="0"/>
              <a:t>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3F49E8-7553-7751-5F22-7D0DBD996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47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FA5E5E-6823-7126-4992-F785B0F40395}"/>
              </a:ext>
            </a:extLst>
          </p:cNvPr>
          <p:cNvSpPr txBox="1"/>
          <p:nvPr/>
        </p:nvSpPr>
        <p:spPr>
          <a:xfrm>
            <a:off x="3048000" y="2228671"/>
            <a:ext cx="6096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000" dirty="0">
                <a:hlinkClick r:id="rId2"/>
              </a:rPr>
              <a:t>https://m.blog.naver.com/eduino/221203076403</a:t>
            </a:r>
            <a:r>
              <a:rPr lang="ko-KR" altLang="en-US" sz="5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829571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7977F-2554-FC52-220E-1C6F81F7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DB00E0-0207-E97D-2B0B-847BDB4A2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 </a:t>
            </a:r>
            <a:r>
              <a:rPr lang="en-US" altLang="ko-KR" dirty="0"/>
              <a:t>/ </a:t>
            </a:r>
            <a:r>
              <a:rPr lang="ko-KR" altLang="en-US" dirty="0" err="1"/>
              <a:t>디슾ㄹ레이</a:t>
            </a:r>
            <a:r>
              <a:rPr lang="ko-KR" altLang="en-US" dirty="0"/>
              <a:t>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83C02A-44F5-B51F-86B9-6E941A1F5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48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6049-405F-E7F5-98FB-6ED8FB43C0E4}"/>
              </a:ext>
            </a:extLst>
          </p:cNvPr>
          <p:cNvSpPr txBox="1"/>
          <p:nvPr/>
        </p:nvSpPr>
        <p:spPr>
          <a:xfrm>
            <a:off x="3048000" y="2228671"/>
            <a:ext cx="6096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0" dirty="0">
                <a:hlinkClick r:id="rId3"/>
              </a:rPr>
              <a:t>https://blog.naver.com/eduino/223271516471</a:t>
            </a:r>
            <a:r>
              <a:rPr lang="en-US" altLang="ko-KR" sz="5000" dirty="0"/>
              <a:t> 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38875719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B5720-C557-465F-2009-0AF3D2E8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FC799C-04FF-6B3B-F251-FDC35696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LED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BF9C36-8BB4-B885-A5F2-4746FC492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49</a:t>
            </a:fld>
            <a:endParaRPr lang="ko-KR" altLang="en-US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74133C7-9FB9-58D3-9F51-8EFA55BE9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3103147"/>
              </p:ext>
            </p:extLst>
          </p:nvPr>
        </p:nvGraphicFramePr>
        <p:xfrm>
          <a:off x="1851684" y="1873405"/>
          <a:ext cx="3424664" cy="3785246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712332">
                  <a:extLst>
                    <a:ext uri="{9D8B030D-6E8A-4147-A177-3AD203B41FA5}">
                      <a16:colId xmlns:a16="http://schemas.microsoft.com/office/drawing/2014/main" val="730627021"/>
                    </a:ext>
                  </a:extLst>
                </a:gridCol>
                <a:gridCol w="1712332">
                  <a:extLst>
                    <a:ext uri="{9D8B030D-6E8A-4147-A177-3AD203B41FA5}">
                      <a16:colId xmlns:a16="http://schemas.microsoft.com/office/drawing/2014/main" val="2960328077"/>
                    </a:ext>
                  </a:extLst>
                </a:gridCol>
              </a:tblGrid>
              <a:tr h="7374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아두이노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LED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1756950"/>
                  </a:ext>
                </a:extLst>
              </a:tr>
              <a:tr h="7864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D12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빨간색 </a:t>
                      </a:r>
                      <a:r>
                        <a:rPr lang="en-US" altLang="ko-KR" dirty="0"/>
                        <a:t>+</a:t>
                      </a:r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긴 다리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576924"/>
                  </a:ext>
                </a:extLst>
              </a:tr>
              <a:tr h="7374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D11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초록색 </a:t>
                      </a:r>
                      <a:r>
                        <a:rPr lang="en-US" altLang="ko-KR" dirty="0"/>
                        <a:t>+</a:t>
                      </a:r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긴 다리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1387090"/>
                  </a:ext>
                </a:extLst>
              </a:tr>
              <a:tr h="7374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D10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파란색 </a:t>
                      </a:r>
                      <a:r>
                        <a:rPr lang="en-US" altLang="ko-KR" dirty="0"/>
                        <a:t>+</a:t>
                      </a:r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긴 다리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4347028"/>
                  </a:ext>
                </a:extLst>
              </a:tr>
              <a:tr h="7864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GND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</a:t>
                      </a:r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짧은 다리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3148876"/>
                  </a:ext>
                </a:extLst>
              </a:tr>
            </a:tbl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73544D-0152-5951-3245-98E2EA948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6293" y="2265451"/>
            <a:ext cx="3781850" cy="232709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2000" dirty="0"/>
              <a:t>3</a:t>
            </a:r>
            <a:r>
              <a:rPr lang="ko-KR" altLang="en-US" sz="2000" dirty="0"/>
              <a:t>개의 </a:t>
            </a:r>
            <a:r>
              <a:rPr lang="en-US" altLang="ko-KR" sz="2000" dirty="0"/>
              <a:t>LED</a:t>
            </a:r>
            <a:r>
              <a:rPr lang="ko-KR" altLang="en-US" sz="2000" dirty="0"/>
              <a:t>가 </a:t>
            </a:r>
            <a:r>
              <a:rPr lang="en-US" altLang="ko-KR" sz="2000" dirty="0"/>
              <a:t>0.5</a:t>
            </a:r>
            <a:r>
              <a:rPr lang="ko-KR" altLang="en-US" sz="2000" dirty="0"/>
              <a:t>초 간격으로 켜지고 꺼지기를 반복하세요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11547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A02A0-533E-C1EF-852D-95840FC06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FBC684-1D02-1EFD-B9C6-D0810538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LED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A8178B-863B-D753-C325-8AC9B8A10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50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8448B8-B69D-C15F-9800-B43EB692E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387" y="1305529"/>
            <a:ext cx="7082345" cy="5013796"/>
          </a:xfrm>
          <a:prstGeom prst="rect">
            <a:avLst/>
          </a:prstGeom>
        </p:spPr>
      </p:pic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E0570D5-16F7-CDA8-A189-48237909E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174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EF3BB-9F30-2E68-CA75-9D6C3BF3F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8363E-576A-819C-6096-928A4D1B5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펄스 폭 변조 </a:t>
            </a:r>
            <a:r>
              <a:rPr lang="en-US" altLang="ko-KR" sz="3600" dirty="0"/>
              <a:t>(PWM)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7ACB65-8F48-63AB-7701-66F2CDA27D4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A25166C-B646-F1A4-E603-01E433A4E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PWM : Pulse Width Modulation</a:t>
            </a:r>
          </a:p>
          <a:p>
            <a:r>
              <a:rPr lang="ko-KR" altLang="en-US" sz="2000" dirty="0"/>
              <a:t>디지털 신호를 사용하여 아날로그 신호로 출력하는 방법</a:t>
            </a:r>
            <a:endParaRPr lang="en-US" altLang="ko-KR" sz="2000" dirty="0"/>
          </a:p>
          <a:p>
            <a:r>
              <a:rPr lang="ko-KR" altLang="en-US" sz="2000" dirty="0" err="1"/>
              <a:t>아두이노</a:t>
            </a:r>
            <a:r>
              <a:rPr lang="ko-KR" altLang="en-US" sz="2000" dirty="0"/>
              <a:t> </a:t>
            </a:r>
            <a:r>
              <a:rPr lang="ko-KR" altLang="en-US" sz="2000" dirty="0" err="1"/>
              <a:t>우노</a:t>
            </a:r>
            <a:r>
              <a:rPr lang="ko-KR" altLang="en-US" sz="2000" dirty="0"/>
              <a:t> 보드의 경우</a:t>
            </a:r>
            <a:r>
              <a:rPr lang="en-US" altLang="ko-KR" sz="2000" dirty="0"/>
              <a:t>,</a:t>
            </a:r>
            <a:r>
              <a:rPr lang="ko-KR" altLang="en-US" sz="2000" dirty="0"/>
              <a:t> 핀 앞에 물결 표시가 있는 </a:t>
            </a:r>
            <a:r>
              <a:rPr lang="en-US" altLang="ko-KR" sz="2000" dirty="0"/>
              <a:t>3, 4, 5, 6, 9, 10, 11</a:t>
            </a:r>
            <a:r>
              <a:rPr lang="ko-KR" altLang="en-US" sz="2000" dirty="0"/>
              <a:t>번 핀에서 사용 가능하다</a:t>
            </a:r>
            <a:r>
              <a:rPr lang="en-US" altLang="ko-KR" sz="200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8DFDC6-6C9A-CE88-C6CB-75E67D096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1337646"/>
            <a:ext cx="3991532" cy="43154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E6D5DE-3FDC-B8E7-1E0C-89DC33541210}"/>
              </a:ext>
            </a:extLst>
          </p:cNvPr>
          <p:cNvSpPr txBox="1"/>
          <p:nvPr/>
        </p:nvSpPr>
        <p:spPr>
          <a:xfrm>
            <a:off x="1139940" y="5837739"/>
            <a:ext cx="52968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400" b="0" i="0" dirty="0">
                <a:solidFill>
                  <a:schemeClr val="accent3"/>
                </a:solidFill>
                <a:effectLst/>
                <a:highlight>
                  <a:srgbClr val="FFFFFF"/>
                </a:highlight>
                <a:latin typeface="나눔고딕" pitchFamily="2" charset="-127"/>
                <a:ea typeface="나눔고딕" pitchFamily="2" charset="-127"/>
              </a:rPr>
              <a:t>출처</a:t>
            </a:r>
            <a:r>
              <a:rPr lang="en-US" altLang="ko-KR" sz="1400" b="0" i="0" dirty="0">
                <a:solidFill>
                  <a:schemeClr val="accent3"/>
                </a:solidFill>
                <a:effectLst/>
                <a:highlight>
                  <a:srgbClr val="FFFFFF"/>
                </a:highlight>
                <a:latin typeface="나눔고딕" pitchFamily="2" charset="-127"/>
                <a:ea typeface="나눔고딕" pitchFamily="2" charset="-127"/>
              </a:rPr>
              <a:t>: </a:t>
            </a:r>
            <a:r>
              <a:rPr lang="en-US" altLang="ko-KR" sz="1400" b="0" i="0" u="sng" dirty="0">
                <a:solidFill>
                  <a:srgbClr val="0563C1"/>
                </a:solidFill>
                <a:effectLst/>
                <a:highlight>
                  <a:srgbClr val="FFFFFF"/>
                </a:highlight>
                <a:latin typeface="나눔고딕" pitchFamily="2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https://www.arduino.cc/en/Tutorial/</a:t>
            </a:r>
            <a:r>
              <a:rPr lang="en-US" altLang="ko-KR" sz="1400" b="0" i="0" u="sng" dirty="0">
                <a:solidFill>
                  <a:schemeClr val="accent3"/>
                </a:solidFill>
                <a:effectLst/>
                <a:highlight>
                  <a:srgbClr val="FFFFFF"/>
                </a:highlight>
                <a:latin typeface="나눔고딕" pitchFamily="2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PWM</a:t>
            </a:r>
            <a:br>
              <a:rPr lang="ko-KR" altLang="en-US" sz="1400" dirty="0">
                <a:solidFill>
                  <a:schemeClr val="accent3"/>
                </a:solidFill>
              </a:rPr>
            </a:br>
            <a:endParaRPr lang="ko-KR" altLang="en-US" sz="14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7183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122AA-650D-BEF1-6A91-A2424F4C7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370764-CAFA-E94E-6221-8F2A98B40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풀업</a:t>
            </a:r>
            <a:r>
              <a:rPr lang="ko-KR" altLang="en-US" dirty="0"/>
              <a:t> 저항과 </a:t>
            </a:r>
            <a:r>
              <a:rPr lang="ko-KR" altLang="en-US" dirty="0" err="1"/>
              <a:t>풀다운</a:t>
            </a:r>
            <a:r>
              <a:rPr lang="ko-KR" altLang="en-US" dirty="0"/>
              <a:t> 저항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99210-EBA7-5A3B-3EDE-366E7E868D7B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C1EED6C-C7E2-37ED-7684-3D15A806EE7A}"/>
              </a:ext>
            </a:extLst>
          </p:cNvPr>
          <p:cNvSpPr txBox="1">
            <a:spLocks/>
          </p:cNvSpPr>
          <p:nvPr/>
        </p:nvSpPr>
        <p:spPr>
          <a:xfrm>
            <a:off x="838199" y="1562978"/>
            <a:ext cx="5752171" cy="46271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err="1"/>
              <a:t>풀업</a:t>
            </a:r>
            <a:r>
              <a:rPr lang="en-US" altLang="ko-KR" dirty="0"/>
              <a:t>(Pull-Up) </a:t>
            </a:r>
            <a:r>
              <a:rPr lang="ko-KR" altLang="en-US" dirty="0"/>
              <a:t>저항</a:t>
            </a:r>
            <a:endParaRPr lang="en-US" altLang="ko-KR" dirty="0"/>
          </a:p>
          <a:p>
            <a:pPr lvl="1"/>
            <a:r>
              <a:rPr lang="ko-KR" altLang="en-US" dirty="0"/>
              <a:t>스위치 제어 핀에 연결된 라인과 전원 라인 사이에 저항을 연결해주는 방법</a:t>
            </a:r>
            <a:endParaRPr lang="en-US" altLang="ko-KR" dirty="0"/>
          </a:p>
          <a:p>
            <a:pPr lvl="1"/>
            <a:r>
              <a:rPr lang="ko-KR" altLang="en-US" dirty="0"/>
              <a:t>버튼을 누르지 않았을 때 스위치 제어 핀이 전원 라인과 연결되어 </a:t>
            </a:r>
            <a:r>
              <a:rPr lang="en-US" altLang="ko-KR" dirty="0"/>
              <a:t>HIGH(1)</a:t>
            </a:r>
            <a:r>
              <a:rPr lang="ko-KR" altLang="en-US" dirty="0"/>
              <a:t>의 신호를 출력하고</a:t>
            </a:r>
            <a:r>
              <a:rPr lang="en-US" altLang="ko-KR" dirty="0"/>
              <a:t>, </a:t>
            </a:r>
            <a:r>
              <a:rPr lang="ko-KR" altLang="en-US" dirty="0" err="1"/>
              <a:t>눌를</a:t>
            </a:r>
            <a:r>
              <a:rPr lang="ko-KR" altLang="en-US" dirty="0"/>
              <a:t> 때 스위치 제어 핀이 </a:t>
            </a:r>
            <a:r>
              <a:rPr lang="en-US" altLang="ko-KR" dirty="0"/>
              <a:t>GND </a:t>
            </a:r>
            <a:r>
              <a:rPr lang="ko-KR" altLang="en-US" dirty="0"/>
              <a:t>라인과 연결되어 </a:t>
            </a:r>
            <a:r>
              <a:rPr lang="en-US" altLang="ko-KR" dirty="0"/>
              <a:t>LOW(0)</a:t>
            </a:r>
            <a:r>
              <a:rPr lang="ko-KR" altLang="en-US" dirty="0"/>
              <a:t>의 신호를 출력한다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45A76FF-25FF-041B-2993-9F1F1A60401B}"/>
              </a:ext>
            </a:extLst>
          </p:cNvPr>
          <p:cNvGrpSpPr/>
          <p:nvPr/>
        </p:nvGrpSpPr>
        <p:grpSpPr>
          <a:xfrm rot="16200000">
            <a:off x="6698173" y="2302102"/>
            <a:ext cx="5472760" cy="2920380"/>
            <a:chOff x="821778" y="1742663"/>
            <a:chExt cx="6781764" cy="3618892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F04DCD7-A3F8-4CC0-CFBE-FBC77A60DC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-1" t="587" r="59765" b="4306"/>
            <a:stretch>
              <a:fillRect/>
            </a:stretch>
          </p:blipFill>
          <p:spPr>
            <a:xfrm>
              <a:off x="5594733" y="1742663"/>
              <a:ext cx="2008809" cy="3606152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31E5C3A8-F3B0-1A71-F1CA-8EC5856359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2411"/>
            <a:stretch/>
          </p:blipFill>
          <p:spPr>
            <a:xfrm>
              <a:off x="821778" y="1750741"/>
              <a:ext cx="5602618" cy="36108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929102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1D56-9005-7A5A-D7FB-BF56C07A2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0639DE-853D-5F4A-63E2-BE816CB1B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택트</a:t>
            </a:r>
            <a:r>
              <a:rPr lang="ko-KR" altLang="en-US" dirty="0"/>
              <a:t> 스위치 실습 </a:t>
            </a:r>
            <a:r>
              <a:rPr lang="en-US" altLang="ko-KR" dirty="0"/>
              <a:t>Quiz 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7FCCC8-E649-5E80-74ED-D9187A801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53</a:t>
            </a:fld>
            <a:endParaRPr lang="ko-KR" altLang="en-US" dirty="0"/>
          </a:p>
        </p:txBody>
      </p:sp>
      <p:sp>
        <p:nvSpPr>
          <p:cNvPr id="7" name="내용 개체 틀 5">
            <a:extLst>
              <a:ext uri="{FF2B5EF4-FFF2-40B4-BE49-F238E27FC236}">
                <a16:creationId xmlns:a16="http://schemas.microsoft.com/office/drawing/2014/main" id="{7CD3716E-6ED5-4782-E8C8-352AA1C43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개의 </a:t>
            </a:r>
            <a:r>
              <a:rPr lang="ko-KR" altLang="en-US" dirty="0" err="1"/>
              <a:t>택트</a:t>
            </a:r>
            <a:r>
              <a:rPr lang="ko-KR" altLang="en-US" dirty="0"/>
              <a:t> 스위치와 </a:t>
            </a:r>
            <a:r>
              <a:rPr lang="en-US" altLang="ko-KR" dirty="0"/>
              <a:t>2</a:t>
            </a:r>
            <a:r>
              <a:rPr lang="ko-KR" altLang="en-US" dirty="0"/>
              <a:t>개의 </a:t>
            </a:r>
            <a:r>
              <a:rPr lang="en-US" altLang="ko-KR" dirty="0"/>
              <a:t>LED</a:t>
            </a:r>
            <a:r>
              <a:rPr lang="ko-KR" altLang="en-US" dirty="0"/>
              <a:t>가 있을 때</a:t>
            </a:r>
            <a:r>
              <a:rPr lang="en-US" altLang="ko-KR" dirty="0"/>
              <a:t>, </a:t>
            </a:r>
            <a:r>
              <a:rPr lang="ko-KR" altLang="en-US" dirty="0"/>
              <a:t>각각의 스위치를 눌렀을 때 </a:t>
            </a:r>
            <a:r>
              <a:rPr lang="en-US" altLang="ko-KR" dirty="0"/>
              <a:t>LED</a:t>
            </a:r>
            <a:r>
              <a:rPr lang="ko-KR" altLang="en-US" dirty="0"/>
              <a:t>가 켜지게 </a:t>
            </a:r>
            <a:r>
              <a:rPr lang="ko-KR" altLang="en-US" dirty="0" err="1"/>
              <a:t>하시오</a:t>
            </a:r>
            <a:r>
              <a:rPr lang="en-US" altLang="ko-KR" dirty="0"/>
              <a:t>.</a:t>
            </a:r>
          </a:p>
        </p:txBody>
      </p:sp>
      <p:pic>
        <p:nvPicPr>
          <p:cNvPr id="8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6F884DCB-E575-A2BD-1A83-3E28C8FE0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4343FA-03C8-2F5D-6494-23AFABE2F4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603D64-A79F-E783-398A-74492927EB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C540E92-6CC3-419C-BA51-736020B8F1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229" y="2704225"/>
            <a:ext cx="1514686" cy="8954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5C8ADED-4305-8559-3456-BA608BAD54C8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92219F-0E47-25FC-6FC8-CE276F71B084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321DDB-302A-F062-701D-93C3CB73F7D8}"/>
              </a:ext>
            </a:extLst>
          </p:cNvPr>
          <p:cNvSpPr txBox="1"/>
          <p:nvPr/>
        </p:nvSpPr>
        <p:spPr>
          <a:xfrm>
            <a:off x="4717115" y="3959685"/>
            <a:ext cx="210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330</a:t>
            </a:r>
            <a:r>
              <a:rPr lang="ko-KR" altLang="en-US" dirty="0"/>
              <a:t>옴 저항 </a:t>
            </a:r>
            <a:r>
              <a:rPr lang="en-US" altLang="ko-KR" dirty="0"/>
              <a:t>x 2</a:t>
            </a:r>
            <a:r>
              <a:rPr lang="ko-KR" altLang="en-US" dirty="0"/>
              <a:t>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C16719-7CDE-4CD4-CB95-6E9EEBD8DDE6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28518E-98DB-1937-541A-40F1923E80E0}"/>
              </a:ext>
            </a:extLst>
          </p:cNvPr>
          <p:cNvSpPr txBox="1"/>
          <p:nvPr/>
        </p:nvSpPr>
        <p:spPr>
          <a:xfrm>
            <a:off x="2361902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LED x 2</a:t>
            </a:r>
            <a:r>
              <a:rPr lang="ko-KR" altLang="en-US" dirty="0"/>
              <a:t>개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19" name="Picture 2" descr="택트 스위치 [NW3-TS-G008] H:7.3mm / 디바이스마트">
            <a:extLst>
              <a:ext uri="{FF2B5EF4-FFF2-40B4-BE49-F238E27FC236}">
                <a16:creationId xmlns:a16="http://schemas.microsoft.com/office/drawing/2014/main" id="{C15DC65D-12BB-8C0A-FC10-E61C68709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4925" y="4756776"/>
            <a:ext cx="1424228" cy="1066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5EE532C-6A1B-26C5-C443-5559935DE87D}"/>
              </a:ext>
            </a:extLst>
          </p:cNvPr>
          <p:cNvSpPr txBox="1"/>
          <p:nvPr/>
        </p:nvSpPr>
        <p:spPr>
          <a:xfrm>
            <a:off x="7518634" y="6088580"/>
            <a:ext cx="2176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택트</a:t>
            </a:r>
            <a:r>
              <a:rPr lang="ko-KR" altLang="en-US" dirty="0"/>
              <a:t> 스위치 </a:t>
            </a:r>
            <a:r>
              <a:rPr lang="en-US" altLang="ko-KR" dirty="0"/>
              <a:t>x 2</a:t>
            </a:r>
            <a:r>
              <a:rPr lang="ko-KR" altLang="en-US" dirty="0"/>
              <a:t>개</a:t>
            </a:r>
          </a:p>
        </p:txBody>
      </p:sp>
      <p:pic>
        <p:nvPicPr>
          <p:cNvPr id="10242" name="Picture 2" descr="4 LED 5개 색상랜덤 아두이노 베스트 부품">
            <a:extLst>
              <a:ext uri="{FF2B5EF4-FFF2-40B4-BE49-F238E27FC236}">
                <a16:creationId xmlns:a16="http://schemas.microsoft.com/office/drawing/2014/main" id="{8B49523E-F2C4-4D95-E794-A75CA3251E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56062" b="12666"/>
          <a:stretch>
            <a:fillRect/>
          </a:stretch>
        </p:blipFill>
        <p:spPr bwMode="auto">
          <a:xfrm>
            <a:off x="2775492" y="4644051"/>
            <a:ext cx="796726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090925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3">
      <a:majorFont>
        <a:latin typeface="G마켓 산스 TTF Bold"/>
        <a:ea typeface="G마켓 산스 TTF Bold"/>
        <a:cs typeface=""/>
      </a:majorFont>
      <a:minorFont>
        <a:latin typeface="G마켓 산스 TTF Medium"/>
        <a:ea typeface="G마켓 산스 TTF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16071</TotalTime>
  <Words>2209</Words>
  <Application>Microsoft Office PowerPoint</Application>
  <PresentationFormat>와이드스크린</PresentationFormat>
  <Paragraphs>394</Paragraphs>
  <Slides>53</Slides>
  <Notes>50</Notes>
  <HiddenSlides>7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2" baseType="lpstr">
      <vt:lpstr>G마켓 산스 TTF Bold</vt:lpstr>
      <vt:lpstr>G마켓 산스 TTF Medium</vt:lpstr>
      <vt:lpstr>Noto Sans KR</vt:lpstr>
      <vt:lpstr>나눔고딕</vt:lpstr>
      <vt:lpstr>맑은 고딕</vt:lpstr>
      <vt:lpstr>메이플스토리</vt:lpstr>
      <vt:lpstr>Arial</vt:lpstr>
      <vt:lpstr>Cambria Math</vt:lpstr>
      <vt:lpstr>1_Office 테마</vt:lpstr>
      <vt:lpstr>PowerPoint 프레젠테이션</vt:lpstr>
      <vt:lpstr>온습도 센서</vt:lpstr>
      <vt:lpstr>온습도 센서 동작 원리</vt:lpstr>
      <vt:lpstr>온습도 센서 종류</vt:lpstr>
      <vt:lpstr>DHT11 실습</vt:lpstr>
      <vt:lpstr>DHT11 실습</vt:lpstr>
      <vt:lpstr>DHT11 실습</vt:lpstr>
      <vt:lpstr>DHT11 실습</vt:lpstr>
      <vt:lpstr>DHT11 실습</vt:lpstr>
      <vt:lpstr>DHT11 실습</vt:lpstr>
      <vt:lpstr>변수 선언 차이</vt:lpstr>
      <vt:lpstr>DHT11 실습</vt:lpstr>
      <vt:lpstr>DHT11 실습</vt:lpstr>
      <vt:lpstr>DHT22 실습 Quiz</vt:lpstr>
      <vt:lpstr>기압 센서</vt:lpstr>
      <vt:lpstr>기압 센서</vt:lpstr>
      <vt:lpstr>PowerPoint 프레젠테이션</vt:lpstr>
      <vt:lpstr>기압 센서 실습</vt:lpstr>
      <vt:lpstr>기압 센서 실습</vt:lpstr>
      <vt:lpstr>초음파 센서</vt:lpstr>
      <vt:lpstr>초음파 센서 실습</vt:lpstr>
      <vt:lpstr>초음파 센서 실습</vt:lpstr>
      <vt:lpstr>초음파 센서 실습</vt:lpstr>
      <vt:lpstr>초음파 센서 실습</vt:lpstr>
      <vt:lpstr>초음파 센서 실습</vt:lpstr>
      <vt:lpstr>초음파 센서 실습</vt:lpstr>
      <vt:lpstr>초음파 센서 실습 Quiz</vt:lpstr>
      <vt:lpstr>초음파 센서 실습 Quiz</vt:lpstr>
      <vt:lpstr>초음파 센서 실습 Quiz</vt:lpstr>
      <vt:lpstr>가스 센서</vt:lpstr>
      <vt:lpstr>가스 센서</vt:lpstr>
      <vt:lpstr>가스 센서</vt:lpstr>
      <vt:lpstr>가스 센서 실습</vt:lpstr>
      <vt:lpstr>가스 센서 실습</vt:lpstr>
      <vt:lpstr>가스 센서 실습 Quiz</vt:lpstr>
      <vt:lpstr>가스 센서 실습 Quiz</vt:lpstr>
      <vt:lpstr>서보 모터</vt:lpstr>
      <vt:lpstr>서보 모터 실습</vt:lpstr>
      <vt:lpstr>서보 모터 실습</vt:lpstr>
      <vt:lpstr>LCD</vt:lpstr>
      <vt:lpstr>LCD 사용 함수(1)</vt:lpstr>
      <vt:lpstr>LCD 사용 함수(2)</vt:lpstr>
      <vt:lpstr>LCD 실습</vt:lpstr>
      <vt:lpstr>LCD 실습</vt:lpstr>
      <vt:lpstr>서보 모터, LCD Quiz</vt:lpstr>
      <vt:lpstr>PowerPoint 프레젠테이션</vt:lpstr>
      <vt:lpstr>서보 모터 / 디슾ㄹ레이 Quiz</vt:lpstr>
      <vt:lpstr>서보 모터 / 디슾ㄹ레이 Quiz</vt:lpstr>
      <vt:lpstr>LED 실습 Quiz</vt:lpstr>
      <vt:lpstr>LED 실습 Quiz</vt:lpstr>
      <vt:lpstr>펄스 폭 변조 (PWM)</vt:lpstr>
      <vt:lpstr>풀업 저항과 풀다운 저항</vt:lpstr>
      <vt:lpstr>택트 스위치 실습 Quiz (2)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 Coding</dc:creator>
  <cp:lastModifiedBy>On Coding</cp:lastModifiedBy>
  <cp:revision>710</cp:revision>
  <dcterms:created xsi:type="dcterms:W3CDTF">2024-10-23T01:56:35Z</dcterms:created>
  <dcterms:modified xsi:type="dcterms:W3CDTF">2025-10-24T08:32:08Z</dcterms:modified>
</cp:coreProperties>
</file>