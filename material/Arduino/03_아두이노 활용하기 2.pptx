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9"/>
  </p:notesMasterIdLst>
  <p:sldIdLst>
    <p:sldId id="1004" r:id="rId2"/>
    <p:sldId id="1060" r:id="rId3"/>
    <p:sldId id="1063" r:id="rId4"/>
    <p:sldId id="1062" r:id="rId5"/>
    <p:sldId id="1064" r:id="rId6"/>
    <p:sldId id="1066" r:id="rId7"/>
    <p:sldId id="1065" r:id="rId8"/>
    <p:sldId id="1068" r:id="rId9"/>
    <p:sldId id="1069" r:id="rId10"/>
    <p:sldId id="1067" r:id="rId11"/>
    <p:sldId id="1070" r:id="rId12"/>
    <p:sldId id="1071" r:id="rId13"/>
    <p:sldId id="1072" r:id="rId14"/>
    <p:sldId id="1073" r:id="rId15"/>
    <p:sldId id="1074" r:id="rId16"/>
    <p:sldId id="1075" r:id="rId17"/>
    <p:sldId id="1076" r:id="rId18"/>
    <p:sldId id="1077" r:id="rId19"/>
    <p:sldId id="1078" r:id="rId20"/>
    <p:sldId id="1079" r:id="rId21"/>
    <p:sldId id="1080" r:id="rId22"/>
    <p:sldId id="1061" r:id="rId23"/>
    <p:sldId id="1034" r:id="rId24"/>
    <p:sldId id="1037" r:id="rId25"/>
    <p:sldId id="1040" r:id="rId26"/>
    <p:sldId id="1044" r:id="rId27"/>
    <p:sldId id="1059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C5F"/>
    <a:srgbClr val="00FA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73" autoAdjust="0"/>
    <p:restoredTop sz="72443" autoAdjust="0"/>
  </p:normalViewPr>
  <p:slideViewPr>
    <p:cSldViewPr snapToGrid="0">
      <p:cViewPr varScale="1">
        <p:scale>
          <a:sx n="72" d="100"/>
          <a:sy n="72" d="100"/>
        </p:scale>
        <p:origin x="11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6T03:55:24.5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24575,'2'46'0,"13"71"0,-8-72 0,2 78 0,-9 136 0,0-244 0,2 0 0,0-1 0,1 0 0,6 19 0,-4-16 0,0 0 0,2 25 0,-6 41-1365,-1-67-5461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6T03:55:32.7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52 24575,'0'-2'0,"0"0"0,-1 0 0,2 0 0,-1 1 0,0-2 0,0 2 0,1-1 0,-1 0 0,0 0 0,1 1 0,0-2 0,0 2 0,0-1 0,-1 1 0,1-1 0,0 0 0,1 1 0,-2-1 0,2 1 0,-1 0 0,0-1 0,1 1 0,-1 0 0,3-1 0,1-1 0,0 2 0,0-1 0,-1 1 0,1 0 0,1 0 0,-1 1 0,0-1 0,6 1 0,214 2 0,-216-1 0,-1 1 0,0-1 0,1 2 0,-1-1 0,1 1 0,-1 0 0,-1 1 0,1 0 0,0 0 0,-1 1 0,0 0 0,-1 0 0,1 0 0,0 2 0,-1-2 0,0 1 0,-1 1 0,1 0 0,-2 0 0,1 0 0,-1 0 0,0 1 0,0 0 0,-1 0 0,0 0 0,0 0 0,-1 1 0,1-1 0,-2 0 0,0 1 0,0-1 0,0 1 0,-1 0 0,-1-1 0,1 1 0,-2-1 0,-1 10 0,1-11 0,0-2 0,-1 1 0,0 0 0,0 0 0,0-1 0,0 1 0,-1-2 0,0 2 0,0-1 0,-1 0 0,1-2 0,-1 2 0,0-1 0,0 0 0,0-1 0,-1 1 0,1 0 0,-1-2 0,0 1 0,0-1 0,0 0 0,0 0 0,-13 2 0,-9 0 0,-2 0 0,0-2 0,-57-4 0,40 2 0,37 0 0,0 0 0,0 0 0,-1-1 0,-19-3 0,30 4 0,-1 0 0,-1 0 0,1 0 0,1 0 0,-1-1 0,0 1 0,-1 0 0,2-1 0,-1 1 0,0-1 0,0 1 0,0 0 0,1-1 0,-1 1 0,0-1 0,0 0 0,0 0 0,1 1 0,0-1 0,-1 0 0,0 0 0,0 0 0,1 1 0,0-1 0,0 0 0,-1 0 0,1 0 0,-1 1 0,1-1 0,0-1 0,-1 2 0,1-1 0,0 0 0,0 0 0,0 0 0,0 0 0,0 0 0,0 0 0,0 0 0,1 0 0,-1 0 0,0 0 0,1 0 0,-1 1 0,0-1 0,1-1 0,-1 1 0,0 1 0,1-1 0,0 0 0,-1 0 0,1 0 0,3-3 0,-1 1 0,1-1 0,-1 0 0,1 1 0,0 0 0,0 0 0,0 0 0,0 0 0,1 1 0,-1 0 0,0 0 0,1 0 0,0 1 0,0-1 0,-1 1 0,1 0 0,9-1 0,12 0 0,-1 1 0,34 3 0,-19 0 0,28 2 0,-1 3 0,1 3 0,-2 2 0,0 4 0,80 29 0,-124-35-1365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6T03:55:57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0 24575,'0'6'0,"0"5"0,0 5 0,0 4 0,0 4 0,-3 3 0,0 4 0,-3-2 0,-2-3 0,3 1 0,0-2 0,0-2 0,0 0 0,-2 0 0,0-1 0,1-6-8191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6T03:55:58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24575,'13'0'0,"-3"-1"0,0 1 0,0 0 0,0 0 0,0 2 0,0-1 0,0 1 0,0 0 0,-1 1 0,1 0 0,15 8 0,203 100 0,-211-101-1365,-3 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6T03:56:11.578"/>
    </inkml:context>
    <inkml:brush xml:id="br0">
      <inkml:brushProperty name="width" value="0.1" units="cm"/>
      <inkml:brushProperty name="height" value="0.1" units="cm"/>
      <inkml:brushProperty name="color" value="#996633"/>
    </inkml:brush>
  </inkml:definitions>
  <inkml:trace contextRef="#ctx0" brushRef="#br0">481 1 24575,'-1'5'0,"1"0"0,-1-1 0,-1 0 0,1 1 0,-1 0 0,0-1 0,0 1 0,0-2 0,-1 1 0,1 0 0,-1 0 0,0 0 0,0 0 0,-5 4 0,-8 7 0,-29 23 0,-11 1 0,-3-3 0,-97 45 0,60-33 0,80-34 0,15-14 0,1 1 0,0-1 0,0 0 0,0 0 0,0 0 0,0 1 0,0-1 0,0 0 0,0 1 0,0-1 0,0 1 0,0-1 0,0 0 0,0 1 0,0-1 0,1 0 0,-1 0 0,0 0 0,0 1 0,0-1 0,1 1 0,-1-1 0,0 0 0,0 1 0,0-1 0,0 0 0,0 0 0,0 1 0,1-1 0,-1 0 0,1 0 0,0 0 0,4 3 0,-1-1 0,1 0 0,1-1 0,-1 1 0,8 0 0,84 16 0,1-6 0,180 1 0,13-13-1365,-262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6T03:56:13.048"/>
    </inkml:context>
    <inkml:brush xml:id="br0">
      <inkml:brushProperty name="width" value="0.1" units="cm"/>
      <inkml:brushProperty name="height" value="0.1" units="cm"/>
      <inkml:brushProperty name="color" value="#996633"/>
    </inkml:brush>
  </inkml:definitions>
  <inkml:trace contextRef="#ctx0" brushRef="#br0">18 1 24575,'-1'29'0,"-6"35"0,-2 21 0,8 317 84,3-192-1533,-2-195-5377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lagrange0115/222345576071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aver.com/mathesis_time" TargetMode="External"/><Relationship Id="rId5" Type="http://schemas.openxmlformats.org/officeDocument/2006/relationships/hyperlink" Target="https://blog.naver.com/mathesis_time/221136759652" TargetMode="External"/><Relationship Id="rId4" Type="http://schemas.openxmlformats.org/officeDocument/2006/relationships/hyperlink" Target="https://blog.naver.com/lagrange0115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lagrange0115/222345576071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aver.com/mathesis_time" TargetMode="External"/><Relationship Id="rId5" Type="http://schemas.openxmlformats.org/officeDocument/2006/relationships/hyperlink" Target="https://blog.naver.com/mathesis_time/221136759652" TargetMode="External"/><Relationship Id="rId4" Type="http://schemas.openxmlformats.org/officeDocument/2006/relationships/hyperlink" Target="https://blog.naver.com/lagrange0115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lagrange0115/222345576071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aver.com/mathesis_time" TargetMode="External"/><Relationship Id="rId5" Type="http://schemas.openxmlformats.org/officeDocument/2006/relationships/hyperlink" Target="https://blog.naver.com/mathesis_time/221136759652" TargetMode="External"/><Relationship Id="rId4" Type="http://schemas.openxmlformats.org/officeDocument/2006/relationships/hyperlink" Target="https://blog.naver.com/lagrange0115" TargetMode="Externa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lagrange0115/222345576071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aver.com/mathesis_time" TargetMode="External"/><Relationship Id="rId5" Type="http://schemas.openxmlformats.org/officeDocument/2006/relationships/hyperlink" Target="https://blog.naver.com/mathesis_time/221136759652" TargetMode="External"/><Relationship Id="rId4" Type="http://schemas.openxmlformats.org/officeDocument/2006/relationships/hyperlink" Target="https://blog.naver.com/lagrange0115" TargetMode="Externa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lagrange0115/222345576071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aver.com/mathesis_time" TargetMode="External"/><Relationship Id="rId5" Type="http://schemas.openxmlformats.org/officeDocument/2006/relationships/hyperlink" Target="https://blog.naver.com/mathesis_time/221136759652" TargetMode="External"/><Relationship Id="rId4" Type="http://schemas.openxmlformats.org/officeDocument/2006/relationships/hyperlink" Target="https://blog.naver.com/lagrange0115" TargetMode="Externa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F8277-0718-E14B-8080-F17438423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8175E1-F880-85B0-EE66-12E944A95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823E11-8398-7F5F-57BF-040C26FC6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Pulse :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사각파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Width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폭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Modulation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변조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PWM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제어란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? (Pulse Width Modulation)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4"/>
              </a:rPr>
              <a:t>엠에스리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Dotum" panose="020B0600000101010101" pitchFamily="50" charset="-127"/>
            </a:endParaRP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dirty="0"/>
              <a:t>디지털 신호 </a:t>
            </a:r>
            <a:r>
              <a:rPr lang="en-US" altLang="ko-KR" dirty="0"/>
              <a:t>0,1</a:t>
            </a:r>
            <a:r>
              <a:rPr lang="ko-KR" altLang="en-US" dirty="0"/>
              <a:t>을 빠르게 반복해서 평균값을 내는 것처럼 보이게 하는 것</a:t>
            </a:r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아래 그림과 같이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5v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의 폭을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25%, 50%, 75%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등으로 다양하게 바꾸어 아날로그 신호를 나타냅니다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즉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0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부터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255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까지의 숫자를 표현할 수 있게 되는 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b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64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라는 값을 나타내고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50%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127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이라는 값을 나타내는 방식입니다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[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가장 쉬운 </a:t>
            </a:r>
            <a:r>
              <a:rPr lang="ko-KR" altLang="en-US" b="0" i="0" u="sng" dirty="0" err="1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아두이노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 강의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] (33) PWM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6"/>
              </a:rPr>
              <a:t>코딩타임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br>
              <a:rPr lang="ko-KR" altLang="en-US" dirty="0">
                <a:latin typeface="+mn-lt"/>
              </a:rPr>
            </a:br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56015D-BD35-9A59-FC37-90C608D76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198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C1283-CA1A-D774-6EF1-E2C91E85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DC4948-9AC0-65B1-6B9E-E491C671C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BACAD7-1CAF-AA54-4F5E-7F6FCC039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Pulse :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사각파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Width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폭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Modulation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변조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PWM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제어란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? (Pulse Width Modulation)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4"/>
              </a:rPr>
              <a:t>엠에스리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Dotum" panose="020B0600000101010101" pitchFamily="50" charset="-127"/>
            </a:endParaRP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dirty="0"/>
              <a:t>디지털 신호 </a:t>
            </a:r>
            <a:r>
              <a:rPr lang="en-US" altLang="ko-KR" dirty="0"/>
              <a:t>0,1</a:t>
            </a:r>
            <a:r>
              <a:rPr lang="ko-KR" altLang="en-US" dirty="0"/>
              <a:t>을 빠르게 반복해서 평균값을 내는 것처럼 보이게 하는 것</a:t>
            </a:r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아래 그림과 같이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5v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의 폭을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25%, 50%, 75%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등으로 다양하게 바꾸어 아날로그 신호를 나타냅니다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즉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0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부터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255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까지의 숫자를 표현할 수 있게 되는 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b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64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라는 값을 나타내고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50%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127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이라는 값을 나타내는 방식입니다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[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가장 쉬운 </a:t>
            </a:r>
            <a:r>
              <a:rPr lang="ko-KR" altLang="en-US" b="0" i="0" u="sng" dirty="0" err="1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아두이노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 강의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] (33) PWM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6"/>
              </a:rPr>
              <a:t>코딩타임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br>
              <a:rPr lang="ko-KR" altLang="en-US" dirty="0">
                <a:latin typeface="+mn-lt"/>
              </a:rPr>
            </a:br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F9557D-9440-3402-AA5C-98221DC37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860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0C9F-B57E-F326-B2AE-882FDF1C2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F57E59-85FE-7EBD-6F93-D896D3869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F465EC-2FD9-8B96-BC64-F438E54C1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45DB41-9F87-5563-368C-4E38C5858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666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D6C34-4311-AE11-1A58-86C2EBCA9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A460E3-4300-5E43-7E1F-B7FE8CA4C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FEDCD7-46CC-0A6F-41B4-893A5763E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CD7121-A2D9-E4A5-05CB-3A0B1C562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885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411AD-6C54-2AD8-ABD2-5DDAED27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0CFA06-BCCD-B994-FF83-9A3B56D7A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6714D3-A268-EC14-C136-A9326F00D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89B0F9-03A0-14E8-65E6-E58D40B04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731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E74B2-181C-4FED-22B3-7AE0A5572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3CB124-3D26-B301-A237-48ABF980B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CA3FAD-2007-854F-5081-36FBCDD3E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0DBF46-E763-59C9-B462-F4DC16D8A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625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F29CF-60C1-D2B4-106A-50A80EDF5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A6B038-4DEF-BD21-08A6-69A60FB00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867029-297C-491C-ABFA-8006F4829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F40315-8263-B17E-F967-0AC21F90F9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136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0F90D-C9A3-98D4-8CA9-06CEAA9C1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641FAF-DFBD-4724-0C50-5BE94E190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BB97A4-B37C-9177-38F6-23275C877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1AF669-D504-9C6B-2A73-51B40FE05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188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95AFA-CB26-F568-9BCF-05582D23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4C2656-B9B0-25BA-BBE4-2B169E7C1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F611F5-2ECA-F008-C472-EC0EBFE9E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A524AB-6ECB-779E-B2CD-E2F2854CB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206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2F138-C41E-CB22-7D28-244DF1005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8B102F-D10F-5ED9-9A24-DB4BED31D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CF83E3-E141-B986-E597-61162C389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6DEF34-6FFC-66DE-C6D4-DC53F1732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0139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13564-D5DA-0D24-E741-68E887C9F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50C5E7-3568-680F-58A4-CAC0BA9CE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207235-0265-2B88-7F86-B7205946B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C43B56-8735-A76D-B116-B1600BEC5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814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A9ADF-FF6F-4877-826A-7FE11E9F9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8A05FE-4936-36D7-FEC5-5B7BFCC0A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CC1D99-88BD-0815-01BF-157C9A8A7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C087A0-1B97-5D5F-8659-8FD050236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818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E4F2-1BE2-255C-2D2A-92E43BA89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C21006-8002-9E67-646F-679B94D83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7D4976-642B-26FE-5B30-57DB8117E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Pulse :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사각파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Width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폭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Modulation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변조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PWM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제어란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? (Pulse Width Modulation)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4"/>
              </a:rPr>
              <a:t>엠에스리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Dotum" panose="020B0600000101010101" pitchFamily="50" charset="-127"/>
            </a:endParaRP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dirty="0"/>
              <a:t>디지털 신호 </a:t>
            </a:r>
            <a:r>
              <a:rPr lang="en-US" altLang="ko-KR" dirty="0"/>
              <a:t>0,1</a:t>
            </a:r>
            <a:r>
              <a:rPr lang="ko-KR" altLang="en-US" dirty="0"/>
              <a:t>을 빠르게 반복해서 평균값을 내는 것처럼 보이게 하는 것</a:t>
            </a:r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아래 그림과 같이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5v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의 폭을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25%, 50%, 75%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등으로 다양하게 바꾸어 아날로그 신호를 나타냅니다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즉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0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부터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255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까지의 숫자를 표현할 수 있게 되는 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b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64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라는 값을 나타내고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50%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127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이라는 값을 나타내는 방식입니다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[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가장 쉬운 </a:t>
            </a:r>
            <a:r>
              <a:rPr lang="ko-KR" altLang="en-US" b="0" i="0" u="sng" dirty="0" err="1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아두이노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 강의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] (33) PWM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6"/>
              </a:rPr>
              <a:t>코딩타임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br>
              <a:rPr lang="ko-KR" altLang="en-US" dirty="0">
                <a:latin typeface="+mn-lt"/>
              </a:rPr>
            </a:br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EBF723-D188-2BB4-0974-EDB0FD401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22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5645B-5627-02D8-EF5E-F923F9970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809F1A-EF65-2558-3A31-72E1C9DBB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03F419-5675-DE39-4118-167E2735A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Pulse :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사각파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Width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폭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Modulation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변조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PWM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제어란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? (Pulse Width Modulation)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4"/>
              </a:rPr>
              <a:t>엠에스리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Dotum" panose="020B0600000101010101" pitchFamily="50" charset="-127"/>
            </a:endParaRP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dirty="0"/>
              <a:t>디지털 신호 </a:t>
            </a:r>
            <a:r>
              <a:rPr lang="en-US" altLang="ko-KR" dirty="0"/>
              <a:t>0,1</a:t>
            </a:r>
            <a:r>
              <a:rPr lang="ko-KR" altLang="en-US" dirty="0"/>
              <a:t>을 빠르게 반복해서 평균값을 내는 것처럼 보이게 하는 것</a:t>
            </a:r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아래 그림과 같이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5v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의 폭을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25%, 50%, 75%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등으로 다양하게 바꾸어 아날로그 신호를 나타냅니다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즉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0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부터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255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까지의 숫자를 표현할 수 있게 되는 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b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64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라는 값을 나타내고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50%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127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이라는 값을 나타내는 방식입니다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[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가장 쉬운 </a:t>
            </a:r>
            <a:r>
              <a:rPr lang="ko-KR" altLang="en-US" b="0" i="0" u="sng" dirty="0" err="1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아두이노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 강의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] (33) PWM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6"/>
              </a:rPr>
              <a:t>코딩타임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br>
              <a:rPr lang="ko-KR" altLang="en-US" dirty="0">
                <a:latin typeface="+mn-lt"/>
              </a:rPr>
            </a:br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F9A6BF-22D4-2E9A-B928-7AC2CD5C4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927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F42A2-DB46-526D-25BC-E44B24B00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16C1EE-0D6F-A219-AAB1-6806A0437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27650E-AE33-C418-39D0-6F005EC47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604972-6757-D5D9-8474-C4F6E8EE4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475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17B93-2085-777C-84D5-B695C89C0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0EF22F-DD4D-737F-2855-956026F9B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508635-097B-D757-A491-A018D8887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8A0307-7F3B-DB3A-E788-A25A8F7B9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4871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F2045-98FB-3DB1-A956-75EF182E2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032159-E09D-71A6-184F-1F899CFA2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D773F2-1AB8-7F32-FFAE-A7CF4FB49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F4A950-7308-C1C3-D19B-BA59ABEE5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5420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FA75D-2E90-2945-F357-6070F174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658B33-C885-4BC2-2EAD-1B3E4E00E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9F8394-2040-D1BF-C0DE-BE2CC725F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807314-D5A4-22C7-53A0-71215CCF5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0424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88AD8-EAFD-E6A8-447B-F1E5AC5CA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54EC82-AEEC-E6F8-6023-A790B02C8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C24E29-E63D-BD2F-DE3F-42CBCDAA8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AE5766-5FDB-55A8-2C85-C2EB656B3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9336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FE1A-B652-42C3-13FA-70CBE90E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BCDDD0-A29F-8C3E-145B-9F4CFA331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4F55AC-C71F-B317-5EFD-E3E8AE182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3A01C6-497B-67F6-1476-628008B43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7661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48D18-A0B4-DBF8-E584-922D6E975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D92D3B-39E5-5BC7-B45C-1A0061420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B44259-56BF-EC56-4E1F-6E3DC112B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51239E-184F-FEA9-BD43-B2EDBCE29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0911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8906C-25CE-4003-2116-D850B9B95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EDDCD8-6953-BEC7-8711-8C62AA9BB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56E6D5-ACC9-2044-6E11-83AEDBF89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LED 3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개가 있고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각각은 저항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-&gt; GDN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으로 연결되어 있다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각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LED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는 긴 다리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(+)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lang="ko-KR" altLang="en-US" b="0" i="0" dirty="0" err="1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아두이노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디지털 핀에 연결되어 있다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즉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 err="1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아두이노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디지털 </a:t>
            </a:r>
            <a:r>
              <a:rPr lang="ko-KR" altLang="en-US" b="0" i="0" dirty="0" err="1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출력핀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-&gt; LED(+) -&gt; LED(-) -&gt; </a:t>
            </a: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저항</a:t>
            </a:r>
            <a:r>
              <a:rPr lang="en-US" altLang="ko-KR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-&gt; GND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292A2D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전기는 항상 </a:t>
            </a:r>
            <a:r>
              <a:rPr lang="en-US" altLang="ko-KR" dirty="0"/>
              <a:t>+) → (</a:t>
            </a:r>
            <a:r>
              <a:rPr lang="ko-KR" altLang="en-US" dirty="0"/>
              <a:t>부하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LED) → (–) </a:t>
            </a:r>
            <a:r>
              <a:rPr lang="ko-KR" altLang="en-US" dirty="0"/>
              <a:t>이 방향으로 흐른다</a:t>
            </a:r>
            <a:r>
              <a:rPr lang="en-US" altLang="ko-KR" dirty="0"/>
              <a:t>.</a:t>
            </a: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892696-C26E-B54F-3F91-8EC80C98D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1286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6DC93-E442-81A5-5E41-C23F3FB76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33F36E-CFAB-B06C-88FB-075C26C05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9762BA-E6F3-1695-5D3A-A379F1D39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Pulse :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사각파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Width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폭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Modulation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변조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PWM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제어란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? (Pulse Width Modulation)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4"/>
              </a:rPr>
              <a:t>엠에스리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Dotum" panose="020B0600000101010101" pitchFamily="50" charset="-127"/>
            </a:endParaRP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dirty="0"/>
              <a:t>디지털 신호 </a:t>
            </a:r>
            <a:r>
              <a:rPr lang="en-US" altLang="ko-KR" dirty="0"/>
              <a:t>0,1</a:t>
            </a:r>
            <a:r>
              <a:rPr lang="ko-KR" altLang="en-US" dirty="0"/>
              <a:t>을 빠르게 반복해서 평균값을 내는 것처럼 보이게 하는 것</a:t>
            </a:r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아래 그림과 같이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5v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의 폭을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25%, 50%, 75%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등으로 다양하게 바꾸어 아날로그 신호를 나타냅니다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즉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0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부터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255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까지의 숫자를 표현할 수 있게 되는 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b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64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라는 값을 나타내고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50%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127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이라는 값을 나타내는 방식입니다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[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가장 쉬운 </a:t>
            </a:r>
            <a:r>
              <a:rPr lang="ko-KR" altLang="en-US" b="0" i="0" u="sng" dirty="0" err="1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아두이노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 강의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] (33) PWM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6"/>
              </a:rPr>
              <a:t>코딩타임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br>
              <a:rPr lang="ko-KR" altLang="en-US" dirty="0">
                <a:latin typeface="+mn-lt"/>
              </a:rPr>
            </a:br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6415EF-8D99-E6E1-C0A1-30F4AC0E8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4397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256F0-C170-1ED8-539D-DE5A50668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2687C9-3D6D-EF30-B1A0-F9235B67C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060FA6-9F4F-9808-A139-1E36A541B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프로그래밍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734475-8949-654B-D19C-63A74E859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3810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A08D8-80BC-8B02-9D1C-33D116AD2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AF9E8A-FC67-ECF7-813D-69C8E301B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AAF73B-495B-6D72-8999-F1CFFE427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>
              <a:solidFill>
                <a:srgbClr val="292A2D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E27F34-4E58-E9E6-5090-49709E668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962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32C6696-EE0A-BC2D-7063-70F289365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F3BE842-C521-0C8F-A4B5-11422EB6C247}"/>
              </a:ext>
            </a:extLst>
          </p:cNvPr>
          <p:cNvSpPr txBox="1">
            <a:spLocks/>
          </p:cNvSpPr>
          <p:nvPr userDrawn="1"/>
        </p:nvSpPr>
        <p:spPr>
          <a:xfrm>
            <a:off x="10555576" y="218354"/>
            <a:ext cx="293806" cy="3218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en-US" altLang="ko-KR" sz="2400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sz="2400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BDCCE0A-8512-9AD3-FCFE-854EDADA9794}"/>
              </a:ext>
            </a:extLst>
          </p:cNvPr>
          <p:cNvGrpSpPr/>
          <p:nvPr userDrawn="1"/>
        </p:nvGrpSpPr>
        <p:grpSpPr>
          <a:xfrm>
            <a:off x="9299385" y="287928"/>
            <a:ext cx="2646947" cy="325258"/>
            <a:chOff x="22849643" y="-4470425"/>
            <a:chExt cx="7688784" cy="94480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AB111EE-FD1E-BC5A-5D1E-AC40300BC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41510" y="-4460662"/>
              <a:ext cx="2996917" cy="935038"/>
            </a:xfrm>
            <a:prstGeom prst="rect">
              <a:avLst/>
            </a:prstGeom>
          </p:spPr>
        </p:pic>
        <p:pic>
          <p:nvPicPr>
            <p:cNvPr id="9" name="그림 8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71F583FB-0B92-1510-CF5E-6C92F7905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49643" y="-4470425"/>
              <a:ext cx="3459479" cy="744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afruit/DHT-sensor-librar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afruit/Adafruit_Senso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5" Type="http://schemas.openxmlformats.org/officeDocument/2006/relationships/image" Target="../media/image16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3.png"/><Relationship Id="rId14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jpe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rduino.cc/en/Tutorial/PWM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9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049" y="3037564"/>
            <a:ext cx="10243899" cy="2028316"/>
          </a:xfrm>
        </p:spPr>
        <p:txBody>
          <a:bodyPr wrap="square">
            <a:noAutofit/>
          </a:bodyPr>
          <a:lstStyle/>
          <a:p>
            <a:r>
              <a:rPr lang="ko-KR" altLang="en-US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endParaRPr lang="en-US" altLang="ko-KR" sz="4800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 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324" y="1985210"/>
            <a:ext cx="4069351" cy="61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17157-F89F-3863-BDEC-EEAC44D15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F7929-03E1-AE29-D141-5B75C22D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온습도</a:t>
            </a:r>
            <a:r>
              <a:rPr lang="ko-KR" altLang="en-US" dirty="0"/>
              <a:t> 센서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9B2ED-95B9-BC22-1DC5-C2ED1FCCABC3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3ED7274-2594-9B74-39C9-09E22BA19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온도 센서와 습도 센서가 하나의 전자 부품으로 구성된 장치</a:t>
            </a:r>
            <a:endParaRPr lang="en-US" altLang="ko-KR" sz="2000" dirty="0"/>
          </a:p>
          <a:p>
            <a:r>
              <a:rPr lang="ko-KR" altLang="en-US" sz="2000" dirty="0" err="1"/>
              <a:t>온습도</a:t>
            </a:r>
            <a:r>
              <a:rPr lang="ko-KR" altLang="en-US" sz="2000" dirty="0"/>
              <a:t> 측정 범위와 정확도에 따라 </a:t>
            </a:r>
            <a:r>
              <a:rPr lang="en-US" altLang="ko-KR" sz="2000" dirty="0"/>
              <a:t>DHT11 </a:t>
            </a:r>
            <a:r>
              <a:rPr lang="ko-KR" altLang="en-US" sz="2000" dirty="0"/>
              <a:t>모델과 </a:t>
            </a:r>
            <a:r>
              <a:rPr lang="en-US" altLang="ko-KR" sz="2000" dirty="0"/>
              <a:t>DHT22 </a:t>
            </a:r>
            <a:r>
              <a:rPr lang="ko-KR" altLang="en-US" sz="2000" dirty="0"/>
              <a:t>모델로 나뉘며</a:t>
            </a:r>
            <a:r>
              <a:rPr lang="en-US" altLang="ko-KR" sz="2000" dirty="0"/>
              <a:t>, </a:t>
            </a:r>
            <a:r>
              <a:rPr lang="ko-KR" altLang="en-US" sz="2000" dirty="0"/>
              <a:t>두 모델은 동작 전압과 소비 전류가 동일하지만 온도와 습도 측정 범위와 샘플링 주기가 다르다</a:t>
            </a:r>
            <a:r>
              <a:rPr lang="en-US" altLang="ko-KR" sz="2000" dirty="0"/>
              <a:t>.</a:t>
            </a:r>
          </a:p>
        </p:txBody>
      </p:sp>
      <p:pic>
        <p:nvPicPr>
          <p:cNvPr id="63492" name="Picture 4" descr="Grove - Temperature &amp; Humidity Sensor Pro (DHT22/AM2302) - The Pi Hut">
            <a:extLst>
              <a:ext uri="{FF2B5EF4-FFF2-40B4-BE49-F238E27FC236}">
                <a16:creationId xmlns:a16="http://schemas.microsoft.com/office/drawing/2014/main" id="{97A7A104-B75B-B88E-9DF4-8E0A95DFBF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" t="9931" b="9931"/>
          <a:stretch>
            <a:fillRect/>
          </a:stretch>
        </p:blipFill>
        <p:spPr bwMode="auto">
          <a:xfrm>
            <a:off x="2058683" y="3248434"/>
            <a:ext cx="3155455" cy="264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490" name="Picture 2" descr="아두이노 온습도 센서(DHT11) - 주식회사 씽크타운">
            <a:extLst>
              <a:ext uri="{FF2B5EF4-FFF2-40B4-BE49-F238E27FC236}">
                <a16:creationId xmlns:a16="http://schemas.microsoft.com/office/drawing/2014/main" id="{37D90426-86AE-04A6-7530-D80E9E2045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7" t="10670" r="13255" b="9581"/>
          <a:stretch>
            <a:fillRect/>
          </a:stretch>
        </p:blipFill>
        <p:spPr bwMode="auto">
          <a:xfrm>
            <a:off x="726960" y="1549839"/>
            <a:ext cx="2270240" cy="242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832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CBCBD-E388-5018-C7DB-7461A52AC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88E765-158E-FE54-AE6A-547963D6D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온습도</a:t>
            </a:r>
            <a:r>
              <a:rPr lang="ko-KR" altLang="en-US" dirty="0"/>
              <a:t> 센서 동작 원리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93B88B-0E5C-004B-A1A0-8F9A41A8965F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CF68405-E240-3BF7-DEF3-4F94BA086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온도를 감지하는 부분은 세라믹 반도체로 이루어져</a:t>
            </a:r>
            <a:r>
              <a:rPr lang="en-US" altLang="ko-KR" sz="2000" dirty="0"/>
              <a:t>, </a:t>
            </a:r>
            <a:r>
              <a:rPr lang="ko-KR" altLang="en-US" sz="2000" dirty="0"/>
              <a:t>온도에 따라 물질의 저항 값이 변하는 소재의 특성을 이용하여 값의 변화를 감지해 온도 값을 출력합니다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습도는 두 전극 사이의 저항 변화를 측정함으로써</a:t>
            </a:r>
            <a:r>
              <a:rPr lang="en-US" altLang="ko-KR" sz="2000" dirty="0"/>
              <a:t>, </a:t>
            </a:r>
            <a:r>
              <a:rPr lang="ko-KR" altLang="en-US" sz="2000" dirty="0"/>
              <a:t>공기 중의 습도 변화를 알아낼 수 있습니다</a:t>
            </a:r>
            <a:r>
              <a:rPr lang="en-US" altLang="ko-KR" sz="2000" dirty="0"/>
              <a:t>.</a:t>
            </a:r>
          </a:p>
        </p:txBody>
      </p:sp>
      <p:pic>
        <p:nvPicPr>
          <p:cNvPr id="63492" name="Picture 4" descr="Grove - Temperature &amp; Humidity Sensor Pro (DHT22/AM2302) - The Pi Hut">
            <a:extLst>
              <a:ext uri="{FF2B5EF4-FFF2-40B4-BE49-F238E27FC236}">
                <a16:creationId xmlns:a16="http://schemas.microsoft.com/office/drawing/2014/main" id="{FEAB69FE-C4DF-683F-61C5-2CBFA34CFE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" t="9931" b="9931"/>
          <a:stretch>
            <a:fillRect/>
          </a:stretch>
        </p:blipFill>
        <p:spPr bwMode="auto">
          <a:xfrm>
            <a:off x="2058683" y="3248434"/>
            <a:ext cx="3155455" cy="264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490" name="Picture 2" descr="아두이노 온습도 센서(DHT11) - 주식회사 씽크타운">
            <a:extLst>
              <a:ext uri="{FF2B5EF4-FFF2-40B4-BE49-F238E27FC236}">
                <a16:creationId xmlns:a16="http://schemas.microsoft.com/office/drawing/2014/main" id="{A7615965-2060-B29E-1FBA-9A9923B538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7" t="10670" r="13255" b="9581"/>
          <a:stretch>
            <a:fillRect/>
          </a:stretch>
        </p:blipFill>
        <p:spPr bwMode="auto">
          <a:xfrm>
            <a:off x="726960" y="1549839"/>
            <a:ext cx="2270240" cy="242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555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8E92E-8F8D-4C68-A0E0-ED80C90DC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5BC32A-447A-6C1D-0B42-45D984AA3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온습도</a:t>
            </a:r>
            <a:r>
              <a:rPr lang="ko-KR" altLang="en-US" dirty="0"/>
              <a:t> 센서 종류</a:t>
            </a:r>
          </a:p>
        </p:txBody>
      </p:sp>
      <p:pic>
        <p:nvPicPr>
          <p:cNvPr id="63492" name="Picture 4" descr="Grove - Temperature &amp; Humidity Sensor Pro (DHT22/AM2302) - The Pi Hut">
            <a:extLst>
              <a:ext uri="{FF2B5EF4-FFF2-40B4-BE49-F238E27FC236}">
                <a16:creationId xmlns:a16="http://schemas.microsoft.com/office/drawing/2014/main" id="{6FCF1569-9B02-8EFF-9DE8-2F61459069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" t="9931" b="9931"/>
          <a:stretch>
            <a:fillRect/>
          </a:stretch>
        </p:blipFill>
        <p:spPr bwMode="auto">
          <a:xfrm>
            <a:off x="7872686" y="4523772"/>
            <a:ext cx="1953036" cy="163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490" name="Picture 2" descr="아두이노 온습도 센서(DHT11) - 주식회사 씽크타운">
            <a:extLst>
              <a:ext uri="{FF2B5EF4-FFF2-40B4-BE49-F238E27FC236}">
                <a16:creationId xmlns:a16="http://schemas.microsoft.com/office/drawing/2014/main" id="{F4C8C25E-9B20-A521-C581-AE898D0824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7" t="10670" r="13255" b="9581"/>
          <a:stretch>
            <a:fillRect/>
          </a:stretch>
        </p:blipFill>
        <p:spPr bwMode="auto">
          <a:xfrm>
            <a:off x="5174369" y="4352487"/>
            <a:ext cx="1693272" cy="1809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AD96EFD-B3EE-BF53-5F46-BB8E23D03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350700"/>
              </p:ext>
            </p:extLst>
          </p:nvPr>
        </p:nvGraphicFramePr>
        <p:xfrm>
          <a:off x="2032000" y="1385575"/>
          <a:ext cx="8127999" cy="4926325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0378822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710395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51975937"/>
                    </a:ext>
                  </a:extLst>
                </a:gridCol>
              </a:tblGrid>
              <a:tr h="4927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DHT11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DHT22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4802136"/>
                  </a:ext>
                </a:extLst>
              </a:tr>
              <a:tr h="4927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동작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전압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3V~5V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3V~5V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0780793"/>
                  </a:ext>
                </a:extLst>
              </a:tr>
              <a:tr h="4927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소비 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2.5mA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2.5mA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309324"/>
                  </a:ext>
                </a:extLst>
              </a:tr>
              <a:tr h="4927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습도 측정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20~80% </a:t>
                      </a:r>
                      <a:r>
                        <a:rPr lang="en-US" altLang="ko-KR" sz="1400" dirty="0"/>
                        <a:t>(5% </a:t>
                      </a:r>
                      <a:r>
                        <a:rPr lang="ko-KR" altLang="en-US" sz="1400" dirty="0"/>
                        <a:t>오차</a:t>
                      </a:r>
                      <a:r>
                        <a:rPr lang="en-US" altLang="ko-KR" sz="1400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0~100% </a:t>
                      </a:r>
                      <a:r>
                        <a:rPr lang="en-US" altLang="ko-KR" sz="1400" dirty="0"/>
                        <a:t>(2~5% </a:t>
                      </a:r>
                      <a:r>
                        <a:rPr lang="ko-KR" altLang="en-US" sz="1400" dirty="0"/>
                        <a:t>오차</a:t>
                      </a:r>
                      <a:r>
                        <a:rPr lang="en-US" altLang="ko-KR" sz="1400" dirty="0"/>
                        <a:t>) 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389146"/>
                  </a:ext>
                </a:extLst>
              </a:tr>
              <a:tr h="4927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온도 측정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0~50°C </a:t>
                      </a:r>
                      <a:r>
                        <a:rPr lang="en-US" altLang="ko-KR" sz="1400" dirty="0"/>
                        <a:t>(±2°C </a:t>
                      </a:r>
                      <a:r>
                        <a:rPr lang="ko-KR" altLang="en-US" sz="1400" dirty="0"/>
                        <a:t>오차</a:t>
                      </a:r>
                      <a:r>
                        <a:rPr lang="en-US" altLang="ko-KR" sz="1400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-40~80°C </a:t>
                      </a:r>
                      <a:r>
                        <a:rPr lang="en-US" altLang="ko-KR" sz="1400" dirty="0"/>
                        <a:t>(±0.5°C </a:t>
                      </a:r>
                      <a:r>
                        <a:rPr lang="ko-KR" altLang="en-US" sz="1400" dirty="0"/>
                        <a:t>오차</a:t>
                      </a:r>
                      <a:r>
                        <a:rPr lang="en-US" altLang="ko-KR" sz="1400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8525328"/>
                  </a:ext>
                </a:extLst>
              </a:tr>
              <a:tr h="4927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샘플링 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1Hz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0.5Hz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763339"/>
                  </a:ext>
                </a:extLst>
              </a:tr>
              <a:tr h="19695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센서 모듈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6563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8791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56DE9-4E3C-72E9-00D0-9481AAC5F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B4EA9C-7E03-37B2-C5E9-28AEE8A1B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DHT11 </a:t>
            </a:r>
            <a:r>
              <a:rPr lang="ko-KR" altLang="en-US" dirty="0"/>
              <a:t>실습</a:t>
            </a:r>
          </a:p>
        </p:txBody>
      </p:sp>
      <p:pic>
        <p:nvPicPr>
          <p:cNvPr id="17" name="Picture 2" descr="아두이노 온습도 센서(DHT11) - 주식회사 씽크타운">
            <a:extLst>
              <a:ext uri="{FF2B5EF4-FFF2-40B4-BE49-F238E27FC236}">
                <a16:creationId xmlns:a16="http://schemas.microsoft.com/office/drawing/2014/main" id="{F6BF7066-52E0-EDA0-187A-8572FAE7BF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7" t="10670" r="13255" b="9581"/>
          <a:stretch>
            <a:fillRect/>
          </a:stretch>
        </p:blipFill>
        <p:spPr bwMode="auto">
          <a:xfrm rot="19200000">
            <a:off x="4197802" y="1261394"/>
            <a:ext cx="3796395" cy="405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31789A07-BD25-6B4D-B761-8C3F730364B2}"/>
              </a:ext>
            </a:extLst>
          </p:cNvPr>
          <p:cNvSpPr/>
          <p:nvPr/>
        </p:nvSpPr>
        <p:spPr>
          <a:xfrm>
            <a:off x="4314388" y="4927710"/>
            <a:ext cx="1080000" cy="2540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위로 굽음 18">
            <a:extLst>
              <a:ext uri="{FF2B5EF4-FFF2-40B4-BE49-F238E27FC236}">
                <a16:creationId xmlns:a16="http://schemas.microsoft.com/office/drawing/2014/main" id="{6416BE1E-FF0E-CFA9-53F6-6B48C20434C3}"/>
              </a:ext>
            </a:extLst>
          </p:cNvPr>
          <p:cNvSpPr/>
          <p:nvPr/>
        </p:nvSpPr>
        <p:spPr>
          <a:xfrm flipH="1">
            <a:off x="5709241" y="5364124"/>
            <a:ext cx="1440000" cy="462600"/>
          </a:xfrm>
          <a:prstGeom prst="bent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75CC0095-981D-F32A-E7B1-EE44C723D0D6}"/>
              </a:ext>
            </a:extLst>
          </p:cNvPr>
          <p:cNvSpPr/>
          <p:nvPr/>
        </p:nvSpPr>
        <p:spPr>
          <a:xfrm rot="10800000">
            <a:off x="6724433" y="4267310"/>
            <a:ext cx="720000" cy="2540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E7643B-74D1-3DBE-8AD6-7268FEC19AFE}"/>
              </a:ext>
            </a:extLst>
          </p:cNvPr>
          <p:cNvSpPr txBox="1"/>
          <p:nvPr/>
        </p:nvSpPr>
        <p:spPr>
          <a:xfrm>
            <a:off x="3126575" y="4870044"/>
            <a:ext cx="114326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dirty="0"/>
              <a:t>전원</a:t>
            </a:r>
            <a:r>
              <a:rPr lang="en-US" altLang="ko-KR" dirty="0"/>
              <a:t>(5V)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9227A7-5571-F279-080B-921C96980C4B}"/>
              </a:ext>
            </a:extLst>
          </p:cNvPr>
          <p:cNvSpPr txBox="1"/>
          <p:nvPr/>
        </p:nvSpPr>
        <p:spPr>
          <a:xfrm>
            <a:off x="7444433" y="4209644"/>
            <a:ext cx="14093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dirty="0"/>
              <a:t>접지</a:t>
            </a:r>
            <a:r>
              <a:rPr lang="en-US" altLang="ko-KR" dirty="0"/>
              <a:t>(GND)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17427B-8292-0C73-6791-0A1237DB7A0D}"/>
              </a:ext>
            </a:extLst>
          </p:cNvPr>
          <p:cNvSpPr txBox="1"/>
          <p:nvPr/>
        </p:nvSpPr>
        <p:spPr>
          <a:xfrm>
            <a:off x="7149241" y="5575725"/>
            <a:ext cx="85311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dirty="0"/>
              <a:t>신호선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06A07481-B1AD-A745-366B-E7BB20182696}"/>
              </a:ext>
            </a:extLst>
          </p:cNvPr>
          <p:cNvSpPr/>
          <p:nvPr/>
        </p:nvSpPr>
        <p:spPr>
          <a:xfrm rot="10800000">
            <a:off x="6326019" y="4800710"/>
            <a:ext cx="2160000" cy="25400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BBB904-F22D-00A3-5B63-ECD5115126D9}"/>
              </a:ext>
            </a:extLst>
          </p:cNvPr>
          <p:cNvSpPr txBox="1"/>
          <p:nvPr/>
        </p:nvSpPr>
        <p:spPr>
          <a:xfrm>
            <a:off x="8486019" y="4743044"/>
            <a:ext cx="80502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dirty="0"/>
              <a:t>사용</a:t>
            </a:r>
            <a:r>
              <a:rPr lang="en-US" altLang="ko-KR" dirty="0"/>
              <a:t>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437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6A3AE-3384-15DF-2897-C5C78126B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73D3B-82B6-E618-761D-DF4F0EE47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DHT11 </a:t>
            </a:r>
            <a:r>
              <a:rPr lang="ko-KR" altLang="en-US" dirty="0"/>
              <a:t>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2BEA64-87BD-E1B9-E598-36CAC7E0D937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566C8DD8-A5DC-72EA-96B3-B7E5C52C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altLang="ko-KR" dirty="0"/>
              <a:t>DHT11 </a:t>
            </a:r>
            <a:r>
              <a:rPr lang="ko-KR" altLang="en-US" dirty="0"/>
              <a:t>라이브러리 다운로드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https://github.com/adafruit/DHT-sensor-library</a:t>
            </a:r>
            <a:r>
              <a:rPr lang="en-US" altLang="ko-KR" dirty="0"/>
              <a:t> </a:t>
            </a:r>
            <a:r>
              <a:rPr lang="ko-KR" altLang="en-US" dirty="0"/>
              <a:t>접속 또는 구글에 </a:t>
            </a:r>
            <a:r>
              <a:rPr lang="en-US" altLang="ko-KR" dirty="0"/>
              <a:t>‘DHT sensor library by Adafruit’ </a:t>
            </a:r>
            <a:r>
              <a:rPr lang="ko-KR" altLang="en-US" dirty="0"/>
              <a:t>검색</a:t>
            </a:r>
            <a:endParaRPr lang="en-US" altLang="ko-KR" dirty="0"/>
          </a:p>
          <a:p>
            <a:pPr lvl="1"/>
            <a:r>
              <a:rPr lang="en-US" altLang="ko-KR" dirty="0"/>
              <a:t>Zip </a:t>
            </a:r>
            <a:r>
              <a:rPr lang="ko-KR" altLang="en-US" dirty="0"/>
              <a:t>파일 다운로드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67C93E2-A59A-E7BA-0EB5-2E32EBF59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700" y="2981465"/>
            <a:ext cx="6726237" cy="319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40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617E1-56BE-1750-9D28-E9852D72F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48386-C22F-758E-FD93-F852EA2BC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DHT11 </a:t>
            </a:r>
            <a:r>
              <a:rPr lang="ko-KR" altLang="en-US" dirty="0"/>
              <a:t>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4DEC10-B9A2-C58E-1017-8C16DE33BEB4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4EA75F0D-0B07-D5BE-878B-C41765C00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2. DHT11 </a:t>
            </a:r>
            <a:r>
              <a:rPr lang="ko-KR" altLang="en-US" dirty="0"/>
              <a:t>라이브러리 추가</a:t>
            </a:r>
            <a:endParaRPr lang="en-US" altLang="ko-KR" dirty="0"/>
          </a:p>
          <a:p>
            <a:pPr lvl="1"/>
            <a:r>
              <a:rPr lang="en-US" altLang="ko-KR" dirty="0"/>
              <a:t>Arduino</a:t>
            </a:r>
            <a:r>
              <a:rPr lang="ko-KR" altLang="en-US" dirty="0"/>
              <a:t> </a:t>
            </a:r>
            <a:r>
              <a:rPr lang="en-US" altLang="ko-KR" dirty="0"/>
              <a:t>IDE</a:t>
            </a:r>
            <a:r>
              <a:rPr lang="ko-KR" altLang="en-US" dirty="0"/>
              <a:t> → 스케치 → 라이브러리 포함 → </a:t>
            </a:r>
            <a:r>
              <a:rPr lang="en-US" altLang="ko-KR" dirty="0"/>
              <a:t>.zip </a:t>
            </a:r>
            <a:r>
              <a:rPr lang="ko-KR" altLang="en-US" dirty="0"/>
              <a:t>라이브러리 추가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E51DB8-2F4C-AE38-3A07-7F6211AF3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940" y="2673070"/>
            <a:ext cx="6038850" cy="369500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A6208F1-5302-6357-7C01-4D6D768D6B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631"/>
          <a:stretch>
            <a:fillRect/>
          </a:stretch>
        </p:blipFill>
        <p:spPr>
          <a:xfrm>
            <a:off x="7935139" y="3582359"/>
            <a:ext cx="2662312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16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0F9C7-5380-F255-BC6C-816DC87F5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54CC6-EAF5-1766-B50F-C53DBC461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DHT11 </a:t>
            </a:r>
            <a:r>
              <a:rPr lang="ko-KR" altLang="en-US" dirty="0"/>
              <a:t>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CB4CB-8A1A-050F-B5C2-078C63F0FE16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43566B69-C0BB-CF76-56C2-907A3BA5A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3. </a:t>
            </a:r>
            <a:r>
              <a:rPr lang="en-US" altLang="ko-KR" dirty="0" err="1"/>
              <a:t>Adafruit_Sensor</a:t>
            </a:r>
            <a:r>
              <a:rPr lang="en-US" altLang="ko-KR" dirty="0"/>
              <a:t> </a:t>
            </a:r>
            <a:r>
              <a:rPr lang="ko-KR" altLang="en-US" dirty="0"/>
              <a:t>라이브러리 다운로드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https://github.com/adafruit/Adafruit_Sensor</a:t>
            </a:r>
            <a:r>
              <a:rPr lang="en-US" altLang="ko-KR" dirty="0"/>
              <a:t> </a:t>
            </a:r>
            <a:r>
              <a:rPr lang="ko-KR" altLang="en-US" dirty="0"/>
              <a:t>접속 또는 구글에 </a:t>
            </a:r>
            <a:r>
              <a:rPr lang="en-US" altLang="ko-KR" dirty="0"/>
              <a:t>‘</a:t>
            </a:r>
            <a:r>
              <a:rPr lang="en-US" altLang="ko-KR" dirty="0" err="1"/>
              <a:t>Adafruit_Sensor</a:t>
            </a:r>
            <a:r>
              <a:rPr lang="en-US" altLang="ko-KR" dirty="0"/>
              <a:t>’ </a:t>
            </a:r>
            <a:r>
              <a:rPr lang="ko-KR" altLang="en-US" dirty="0"/>
              <a:t>검색</a:t>
            </a:r>
            <a:endParaRPr lang="en-US" altLang="ko-KR" dirty="0"/>
          </a:p>
          <a:p>
            <a:pPr lvl="1"/>
            <a:r>
              <a:rPr lang="en-US" altLang="ko-KR" dirty="0"/>
              <a:t>Zip </a:t>
            </a:r>
            <a:r>
              <a:rPr lang="ko-KR" altLang="en-US" dirty="0"/>
              <a:t>파일 다운로드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B08AF8-5836-3373-AA6B-B6C34A149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613" y="3068923"/>
            <a:ext cx="6707187" cy="319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92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80E03-4A0C-8E09-03AA-4A60444A0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87C34-460B-5EFD-1618-FA5D37508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DHT11 </a:t>
            </a:r>
            <a:r>
              <a:rPr lang="ko-KR" altLang="en-US" dirty="0"/>
              <a:t>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4C4A9-B89F-8AD3-1EF9-D16D8C89D2F7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3360C34F-1666-444D-CC1D-12C4DFD73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4. </a:t>
            </a:r>
            <a:r>
              <a:rPr lang="en-US" altLang="ko-KR" dirty="0" err="1"/>
              <a:t>Adafruit_Sensor</a:t>
            </a:r>
            <a:r>
              <a:rPr lang="en-US" altLang="ko-KR" dirty="0"/>
              <a:t> </a:t>
            </a:r>
            <a:r>
              <a:rPr lang="ko-KR" altLang="en-US" dirty="0"/>
              <a:t>라이브러리 추가</a:t>
            </a:r>
            <a:endParaRPr lang="en-US" altLang="ko-KR" dirty="0"/>
          </a:p>
          <a:p>
            <a:pPr lvl="1"/>
            <a:r>
              <a:rPr lang="en-US" altLang="ko-KR" dirty="0"/>
              <a:t>Arduino</a:t>
            </a:r>
            <a:r>
              <a:rPr lang="ko-KR" altLang="en-US" dirty="0"/>
              <a:t> </a:t>
            </a:r>
            <a:r>
              <a:rPr lang="en-US" altLang="ko-KR" dirty="0"/>
              <a:t>IDE</a:t>
            </a:r>
            <a:r>
              <a:rPr lang="ko-KR" altLang="en-US" dirty="0"/>
              <a:t> → 스케치 → 라이브러리 포함 → </a:t>
            </a:r>
            <a:r>
              <a:rPr lang="en-US" altLang="ko-KR" dirty="0"/>
              <a:t>.zip </a:t>
            </a:r>
            <a:r>
              <a:rPr lang="ko-KR" altLang="en-US" dirty="0"/>
              <a:t>라이브러리 추가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530404-70E8-A2F9-E616-D9BC8630A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940" y="2673070"/>
            <a:ext cx="6038850" cy="369500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E8424A7-5814-AC39-D492-D8D0ACA13B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631"/>
          <a:stretch>
            <a:fillRect/>
          </a:stretch>
        </p:blipFill>
        <p:spPr>
          <a:xfrm>
            <a:off x="7935139" y="3582359"/>
            <a:ext cx="2662312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74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B766D-BA68-1723-4A9A-2A0C25E7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43897F-E1D4-BC7B-A245-FF9AFC595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DHT11 </a:t>
            </a:r>
            <a:r>
              <a:rPr lang="ko-KR" altLang="en-US" dirty="0"/>
              <a:t>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F80156-6CDF-480A-91FA-12E62E9A6952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E1954D18-34FD-9953-E2FB-BA7297F1F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회로 연결</a:t>
            </a:r>
            <a:endParaRPr lang="en-US" altLang="ko-KR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02E8F52-CB63-2565-56EA-7256AD979254}"/>
              </a:ext>
            </a:extLst>
          </p:cNvPr>
          <p:cNvGrpSpPr/>
          <p:nvPr/>
        </p:nvGrpSpPr>
        <p:grpSpPr>
          <a:xfrm>
            <a:off x="2909294" y="1639428"/>
            <a:ext cx="6830145" cy="4393072"/>
            <a:chOff x="1792557" y="1389952"/>
            <a:chExt cx="8606883" cy="5535850"/>
          </a:xfrm>
        </p:grpSpPr>
        <p:pic>
          <p:nvPicPr>
            <p:cNvPr id="34" name="그림 33" descr="전자제품, 전자 공학, 전기 배선, 회로 구성요소이(가) 표시된 사진&#10;&#10;자동 생성된 설명">
              <a:extLst>
                <a:ext uri="{FF2B5EF4-FFF2-40B4-BE49-F238E27FC236}">
                  <a16:creationId xmlns:a16="http://schemas.microsoft.com/office/drawing/2014/main" id="{9148FA37-C1C1-039F-197B-7ABE383C2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2557" y="1389952"/>
              <a:ext cx="8606883" cy="5535850"/>
            </a:xfrm>
            <a:prstGeom prst="rect">
              <a:avLst/>
            </a:prstGeom>
          </p:spPr>
        </p:pic>
        <p:sp>
          <p:nvSpPr>
            <p:cNvPr id="35" name="TextBox 5">
              <a:extLst>
                <a:ext uri="{FF2B5EF4-FFF2-40B4-BE49-F238E27FC236}">
                  <a16:creationId xmlns:a16="http://schemas.microsoft.com/office/drawing/2014/main" id="{B8C2CB88-EB73-0F56-CB6C-59037900CD8B}"/>
                </a:ext>
              </a:extLst>
            </p:cNvPr>
            <p:cNvSpPr txBox="1"/>
            <p:nvPr/>
          </p:nvSpPr>
          <p:spPr>
            <a:xfrm>
              <a:off x="6359914" y="4251676"/>
              <a:ext cx="3464312" cy="226823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>
                  <a:solidFill>
                    <a:schemeClr val="bg1"/>
                  </a:solidFill>
                </a:rPr>
                <a:t>*</a:t>
              </a:r>
              <a:r>
                <a:rPr lang="ko-KR" altLang="en-US" dirty="0">
                  <a:solidFill>
                    <a:schemeClr val="bg1"/>
                  </a:solidFill>
                </a:rPr>
                <a:t> 연결 하기</a:t>
              </a:r>
              <a:br>
                <a:rPr lang="en-US" altLang="ko-KR" dirty="0">
                  <a:solidFill>
                    <a:schemeClr val="bg1"/>
                  </a:solidFill>
                </a:rPr>
              </a:br>
              <a:r>
                <a:rPr lang="en-US" altLang="ko-KR" dirty="0">
                  <a:solidFill>
                    <a:schemeClr val="bg1"/>
                  </a:solidFill>
                </a:rPr>
                <a:t>(3</a:t>
              </a:r>
              <a:r>
                <a:rPr lang="ko-KR" altLang="en-US" dirty="0">
                  <a:solidFill>
                    <a:schemeClr val="bg1"/>
                  </a:solidFill>
                </a:rPr>
                <a:t>번에는 안 꽂음</a:t>
              </a:r>
              <a:r>
                <a:rPr lang="en-US" altLang="ko-KR" dirty="0">
                  <a:solidFill>
                    <a:schemeClr val="bg1"/>
                  </a:solidFill>
                </a:rPr>
                <a:t>!)</a:t>
              </a:r>
            </a:p>
            <a:p>
              <a:endParaRPr lang="en-US" altLang="ko-KR" dirty="0">
                <a:solidFill>
                  <a:schemeClr val="bg1"/>
                </a:solidFill>
              </a:endParaRPr>
            </a:p>
            <a:p>
              <a:r>
                <a:rPr lang="en-US" altLang="ko-KR" dirty="0">
                  <a:solidFill>
                    <a:schemeClr val="bg1"/>
                  </a:solidFill>
                </a:rPr>
                <a:t>1</a:t>
              </a:r>
              <a:r>
                <a:rPr lang="ko-KR" altLang="en-US" dirty="0">
                  <a:solidFill>
                    <a:schemeClr val="bg1"/>
                  </a:solidFill>
                </a:rPr>
                <a:t>번 </a:t>
              </a:r>
              <a:r>
                <a:rPr lang="en-US" altLang="ko-KR" dirty="0">
                  <a:solidFill>
                    <a:schemeClr val="bg1"/>
                  </a:solidFill>
                </a:rPr>
                <a:t>- 5V – </a:t>
              </a:r>
              <a:r>
                <a:rPr lang="ko-KR" altLang="en-US" dirty="0" err="1">
                  <a:solidFill>
                    <a:schemeClr val="bg1"/>
                  </a:solidFill>
                </a:rPr>
                <a:t>빨간선</a:t>
              </a:r>
              <a:endParaRPr lang="en-US" altLang="ko-KR" dirty="0">
                <a:solidFill>
                  <a:schemeClr val="bg1"/>
                </a:solidFill>
              </a:endParaRPr>
            </a:p>
            <a:p>
              <a:r>
                <a:rPr lang="en-US" altLang="ko-KR" dirty="0">
                  <a:solidFill>
                    <a:schemeClr val="bg1"/>
                  </a:solidFill>
                </a:rPr>
                <a:t>2</a:t>
              </a:r>
              <a:r>
                <a:rPr lang="ko-KR" altLang="en-US" dirty="0">
                  <a:solidFill>
                    <a:schemeClr val="bg1"/>
                  </a:solidFill>
                </a:rPr>
                <a:t>번 </a:t>
              </a:r>
              <a:r>
                <a:rPr lang="en-US" altLang="ko-KR" dirty="0">
                  <a:solidFill>
                    <a:schemeClr val="bg1"/>
                  </a:solidFill>
                </a:rPr>
                <a:t>- 2</a:t>
              </a:r>
              <a:r>
                <a:rPr lang="ko-KR" altLang="en-US" dirty="0">
                  <a:solidFill>
                    <a:schemeClr val="bg1"/>
                  </a:solidFill>
                </a:rPr>
                <a:t>번 핀 </a:t>
              </a:r>
              <a:r>
                <a:rPr lang="en-US" altLang="ko-KR" dirty="0">
                  <a:solidFill>
                    <a:schemeClr val="bg1"/>
                  </a:solidFill>
                </a:rPr>
                <a:t>– </a:t>
              </a:r>
              <a:r>
                <a:rPr lang="ko-KR" altLang="en-US" dirty="0" err="1">
                  <a:solidFill>
                    <a:schemeClr val="bg1"/>
                  </a:solidFill>
                </a:rPr>
                <a:t>주황선</a:t>
              </a:r>
              <a:endParaRPr lang="en-US" altLang="ko-KR" dirty="0">
                <a:solidFill>
                  <a:schemeClr val="bg1"/>
                </a:solidFill>
              </a:endParaRPr>
            </a:p>
            <a:p>
              <a:r>
                <a:rPr lang="en-US" altLang="ko-KR" dirty="0">
                  <a:solidFill>
                    <a:schemeClr val="bg1"/>
                  </a:solidFill>
                </a:rPr>
                <a:t>4</a:t>
              </a:r>
              <a:r>
                <a:rPr lang="ko-KR" altLang="en-US" dirty="0">
                  <a:solidFill>
                    <a:schemeClr val="bg1"/>
                  </a:solidFill>
                </a:rPr>
                <a:t>번 </a:t>
              </a:r>
              <a:r>
                <a:rPr lang="en-US" altLang="ko-KR" dirty="0">
                  <a:solidFill>
                    <a:schemeClr val="bg1"/>
                  </a:solidFill>
                </a:rPr>
                <a:t>- GND – </a:t>
              </a:r>
              <a:r>
                <a:rPr lang="ko-KR" altLang="en-US" dirty="0" err="1">
                  <a:solidFill>
                    <a:schemeClr val="bg1"/>
                  </a:solidFill>
                </a:rPr>
                <a:t>갈색선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2190C6A2-F41E-85F4-43FB-A30D99F4ECF5}"/>
                    </a:ext>
                  </a:extLst>
                </p14:cNvPr>
                <p14:cNvContentPartPr/>
                <p14:nvPr/>
              </p14:nvContentPartPr>
              <p14:xfrm>
                <a:off x="7490400" y="2788860"/>
                <a:ext cx="31320" cy="38880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2190C6A2-F41E-85F4-43FB-A30D99F4ECF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67371" y="2766176"/>
                  <a:ext cx="76918" cy="4337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4246D757-0D46-59A4-60DF-08BE57DE8DC1}"/>
                    </a:ext>
                  </a:extLst>
                </p14:cNvPr>
                <p14:cNvContentPartPr/>
                <p14:nvPr/>
              </p14:nvContentPartPr>
              <p14:xfrm>
                <a:off x="7375920" y="2567100"/>
                <a:ext cx="353520" cy="16956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4246D757-0D46-59A4-60DF-08BE57DE8DC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53229" y="2544432"/>
                  <a:ext cx="398447" cy="214444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22304B79-3D9F-9C54-F542-1697A73B913A}"/>
                </a:ext>
              </a:extLst>
            </p:cNvPr>
            <p:cNvGrpSpPr/>
            <p:nvPr/>
          </p:nvGrpSpPr>
          <p:grpSpPr>
            <a:xfrm>
              <a:off x="7574280" y="2468820"/>
              <a:ext cx="179640" cy="158760"/>
              <a:chOff x="7574280" y="2468820"/>
              <a:chExt cx="179640" cy="1587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42" name="잉크 41">
                    <a:extLst>
                      <a:ext uri="{FF2B5EF4-FFF2-40B4-BE49-F238E27FC236}">
                        <a16:creationId xmlns:a16="http://schemas.microsoft.com/office/drawing/2014/main" id="{BAABBD0E-B9D1-50ED-1891-059A2E420596}"/>
                      </a:ext>
                    </a:extLst>
                  </p14:cNvPr>
                  <p14:cNvContentPartPr/>
                  <p14:nvPr/>
                </p14:nvContentPartPr>
                <p14:xfrm>
                  <a:off x="7638000" y="2468820"/>
                  <a:ext cx="27720" cy="158760"/>
                </p14:xfrm>
              </p:contentPart>
            </mc:Choice>
            <mc:Fallback xmlns="">
              <p:pic>
                <p:nvPicPr>
                  <p:cNvPr id="42" name="잉크 41">
                    <a:extLst>
                      <a:ext uri="{FF2B5EF4-FFF2-40B4-BE49-F238E27FC236}">
                        <a16:creationId xmlns:a16="http://schemas.microsoft.com/office/drawing/2014/main" id="{BAABBD0E-B9D1-50ED-1891-059A2E420596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7615279" y="2446140"/>
                    <a:ext cx="72708" cy="20366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43" name="잉크 42">
                    <a:extLst>
                      <a:ext uri="{FF2B5EF4-FFF2-40B4-BE49-F238E27FC236}">
                        <a16:creationId xmlns:a16="http://schemas.microsoft.com/office/drawing/2014/main" id="{A0A0F385-E5FC-5BAD-5E1B-A61489937CB6}"/>
                      </a:ext>
                    </a:extLst>
                  </p14:cNvPr>
                  <p14:cNvContentPartPr/>
                  <p14:nvPr/>
                </p14:nvContentPartPr>
                <p14:xfrm>
                  <a:off x="7574280" y="2498700"/>
                  <a:ext cx="179640" cy="70920"/>
                </p14:xfrm>
              </p:contentPart>
            </mc:Choice>
            <mc:Fallback xmlns="">
              <p:pic>
                <p:nvPicPr>
                  <p:cNvPr id="43" name="잉크 42">
                    <a:extLst>
                      <a:ext uri="{FF2B5EF4-FFF2-40B4-BE49-F238E27FC236}">
                        <a16:creationId xmlns:a16="http://schemas.microsoft.com/office/drawing/2014/main" id="{A0A0F385-E5FC-5BAD-5E1B-A61489937CB6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7551655" y="2476114"/>
                    <a:ext cx="224437" cy="1156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6133D163-BE94-E5FF-7D93-C2BD4F2B738C}"/>
                </a:ext>
              </a:extLst>
            </p:cNvPr>
            <p:cNvGrpSpPr/>
            <p:nvPr/>
          </p:nvGrpSpPr>
          <p:grpSpPr>
            <a:xfrm>
              <a:off x="7577160" y="2118180"/>
              <a:ext cx="379800" cy="365400"/>
              <a:chOff x="7577160" y="2118180"/>
              <a:chExt cx="379800" cy="365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40" name="잉크 39">
                    <a:extLst>
                      <a:ext uri="{FF2B5EF4-FFF2-40B4-BE49-F238E27FC236}">
                        <a16:creationId xmlns:a16="http://schemas.microsoft.com/office/drawing/2014/main" id="{0BE73856-182A-B976-276A-C8885B31A91E}"/>
                      </a:ext>
                    </a:extLst>
                  </p14:cNvPr>
                  <p14:cNvContentPartPr/>
                  <p14:nvPr/>
                </p14:nvContentPartPr>
                <p14:xfrm>
                  <a:off x="7577160" y="2140860"/>
                  <a:ext cx="379800" cy="183240"/>
                </p14:xfrm>
              </p:contentPart>
            </mc:Choice>
            <mc:Fallback xmlns="">
              <p:pic>
                <p:nvPicPr>
                  <p:cNvPr id="40" name="잉크 39">
                    <a:extLst>
                      <a:ext uri="{FF2B5EF4-FFF2-40B4-BE49-F238E27FC236}">
                        <a16:creationId xmlns:a16="http://schemas.microsoft.com/office/drawing/2014/main" id="{0BE73856-182A-B976-276A-C8885B31A91E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7554472" y="2118182"/>
                    <a:ext cx="424723" cy="2281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41" name="잉크 40">
                    <a:extLst>
                      <a:ext uri="{FF2B5EF4-FFF2-40B4-BE49-F238E27FC236}">
                        <a16:creationId xmlns:a16="http://schemas.microsoft.com/office/drawing/2014/main" id="{760E529C-5147-ECFB-6490-AEAC5CF9BC81}"/>
                      </a:ext>
                    </a:extLst>
                  </p14:cNvPr>
                  <p14:cNvContentPartPr/>
                  <p14:nvPr/>
                </p14:nvContentPartPr>
                <p14:xfrm>
                  <a:off x="7825200" y="2118180"/>
                  <a:ext cx="8280" cy="365400"/>
                </p14:xfrm>
              </p:contentPart>
            </mc:Choice>
            <mc:Fallback xmlns="">
              <p:pic>
                <p:nvPicPr>
                  <p:cNvPr id="41" name="잉크 40">
                    <a:extLst>
                      <a:ext uri="{FF2B5EF4-FFF2-40B4-BE49-F238E27FC236}">
                        <a16:creationId xmlns:a16="http://schemas.microsoft.com/office/drawing/2014/main" id="{760E529C-5147-ECFB-6490-AEAC5CF9BC81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7803411" y="2095513"/>
                    <a:ext cx="51423" cy="410282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426134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2EC30-137A-E2B6-8D80-0AC9F5A9A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6403F-B48B-CCDE-BA8E-D5DA3CD83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DHT11 </a:t>
            </a:r>
            <a:r>
              <a:rPr lang="ko-KR" altLang="en-US" dirty="0"/>
              <a:t>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7323F-2756-6294-EDB3-E0DFBCD733E1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08FCF7BD-57FF-79C4-3769-EA832EEA4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6. </a:t>
            </a:r>
            <a:r>
              <a:rPr lang="ko-KR" altLang="en-US" dirty="0"/>
              <a:t>코드 작성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B4C54D-3E1A-6AC7-69CF-C2CC6B2CD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98" y="2711938"/>
            <a:ext cx="4019550" cy="30575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B970A9F-9914-4237-D58F-66175F51F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318" y="1694876"/>
            <a:ext cx="7574882" cy="433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77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CB18E-F646-2158-AD4D-04A9826E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EC9DF3-4EB9-FB8E-C791-D0AE75BA6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DHT11 </a:t>
            </a:r>
            <a:r>
              <a:rPr lang="ko-KR" altLang="en-US" dirty="0"/>
              <a:t>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D30E26-1D8D-5D78-C84B-F5D263D4FD60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C7DEC6C6-7FCE-BF47-D4C0-CF018ABC3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7. </a:t>
            </a:r>
            <a:r>
              <a:rPr lang="ko-KR" altLang="en-US" dirty="0"/>
              <a:t>시리얼 모니터 확인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743CBB-824E-5193-1848-AD6D2D5A6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634" y="2427556"/>
            <a:ext cx="9178731" cy="331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02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451F3-7162-E3CF-055E-32C2D65F5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C5CDED-B08C-3894-FBB5-F57E5FE50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DHT22 </a:t>
            </a:r>
            <a:r>
              <a:rPr lang="ko-KR" altLang="en-US" dirty="0"/>
              <a:t>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EAAC5B59-1765-585B-0E40-8B3BD2AE6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DHT22 </a:t>
            </a:r>
            <a:r>
              <a:rPr lang="ko-KR" altLang="en-US" dirty="0" err="1"/>
              <a:t>온습도</a:t>
            </a:r>
            <a:r>
              <a:rPr lang="ko-KR" altLang="en-US" dirty="0"/>
              <a:t> 센서 연결해서 습도</a:t>
            </a:r>
            <a:r>
              <a:rPr lang="en-US" altLang="ko-KR" dirty="0"/>
              <a:t>, </a:t>
            </a:r>
            <a:r>
              <a:rPr lang="ko-KR" altLang="en-US" dirty="0"/>
              <a:t>온도</a:t>
            </a:r>
            <a:r>
              <a:rPr lang="en-US" altLang="ko-KR" dirty="0"/>
              <a:t>(</a:t>
            </a:r>
            <a:r>
              <a:rPr lang="ko-KR" altLang="en-US" dirty="0"/>
              <a:t>섭씨</a:t>
            </a:r>
            <a:r>
              <a:rPr lang="en-US" altLang="ko-KR" dirty="0"/>
              <a:t>), </a:t>
            </a:r>
            <a:r>
              <a:rPr lang="ko-KR" altLang="en-US" dirty="0"/>
              <a:t>온도</a:t>
            </a:r>
            <a:r>
              <a:rPr lang="en-US" altLang="ko-KR" dirty="0"/>
              <a:t>(</a:t>
            </a:r>
            <a:r>
              <a:rPr lang="ko-KR" altLang="en-US" dirty="0"/>
              <a:t>화씨</a:t>
            </a:r>
            <a:r>
              <a:rPr lang="en-US" altLang="ko-KR" dirty="0"/>
              <a:t>) </a:t>
            </a:r>
            <a:r>
              <a:rPr lang="ko-KR" altLang="en-US" dirty="0"/>
              <a:t>값을 가져오시오</a:t>
            </a:r>
            <a:r>
              <a:rPr lang="en-US" altLang="ko-KR" dirty="0"/>
              <a:t>.</a:t>
            </a:r>
          </a:p>
        </p:txBody>
      </p:sp>
      <p:pic>
        <p:nvPicPr>
          <p:cNvPr id="3" name="Picture 4" descr="Grove - Temperature &amp; Humidity Sensor Pro (DHT22/AM2302) - The Pi Hut">
            <a:extLst>
              <a:ext uri="{FF2B5EF4-FFF2-40B4-BE49-F238E27FC236}">
                <a16:creationId xmlns:a16="http://schemas.microsoft.com/office/drawing/2014/main" id="{BE6A5333-838F-28E2-0164-9CD53A4889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" t="9931" b="9931"/>
          <a:stretch>
            <a:fillRect/>
          </a:stretch>
        </p:blipFill>
        <p:spPr bwMode="auto">
          <a:xfrm>
            <a:off x="4037585" y="2410007"/>
            <a:ext cx="4116830" cy="3452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841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C7B0561-9335-1EDE-D178-6BE8A19E4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E56DFF-C731-CD6B-BF5A-5D6E414C7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기압 센서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72EA82-F682-21CC-FB5E-B9A740CFBDFC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B72D0805-0447-6E2C-3A33-9D2BF1631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대기압</a:t>
            </a:r>
            <a:r>
              <a:rPr lang="en-US" altLang="ko-KR" sz="2000" dirty="0"/>
              <a:t>, </a:t>
            </a:r>
            <a:r>
              <a:rPr lang="ko-KR" altLang="en-US" sz="2000" dirty="0"/>
              <a:t>고도</a:t>
            </a:r>
            <a:r>
              <a:rPr lang="en-US" altLang="ko-KR" sz="2000" dirty="0"/>
              <a:t>, </a:t>
            </a:r>
            <a:r>
              <a:rPr lang="ko-KR" altLang="en-US" sz="2000" dirty="0"/>
              <a:t>온도</a:t>
            </a:r>
            <a:r>
              <a:rPr lang="en-US" altLang="ko-KR" sz="2000" dirty="0"/>
              <a:t>, </a:t>
            </a:r>
            <a:r>
              <a:rPr lang="ko-KR" altLang="en-US" sz="2000" dirty="0"/>
              <a:t>습도를 측정해주는 센서</a:t>
            </a:r>
            <a:endParaRPr lang="en-US" altLang="ko-KR" sz="2000" dirty="0"/>
          </a:p>
          <a:p>
            <a:r>
              <a:rPr lang="ko-KR" altLang="en-US" sz="2000" dirty="0"/>
              <a:t>이전 버전이 </a:t>
            </a:r>
            <a:r>
              <a:rPr lang="en-US" altLang="ko-KR" sz="2000" dirty="0"/>
              <a:t>BMP180</a:t>
            </a:r>
            <a:r>
              <a:rPr lang="ko-KR" altLang="en-US" sz="2000" dirty="0"/>
              <a:t>에서 업그레이드 된 버전으로 이전보다 다양한 통신을 지원하고 이전보다 적은 전력을 소비하도록 설계되었다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실생활에서는 일기예보나 </a:t>
            </a:r>
            <a:r>
              <a:rPr lang="ko-KR" altLang="en-US" sz="2000" dirty="0" err="1"/>
              <a:t>드론</a:t>
            </a:r>
            <a:r>
              <a:rPr lang="en-US" altLang="ko-KR" sz="2000" dirty="0"/>
              <a:t>, GPS </a:t>
            </a:r>
            <a:r>
              <a:rPr lang="ko-KR" altLang="en-US" sz="2000" dirty="0"/>
              <a:t>등에 사용된다</a:t>
            </a:r>
            <a:r>
              <a:rPr lang="en-US" altLang="ko-KR" sz="2000" dirty="0"/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D4E3171-4649-37F0-124A-55F71A53C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60" y="1549839"/>
            <a:ext cx="5010150" cy="406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175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4917B4-60D0-88D2-2B5A-C860245C6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B47CD6-8EA1-9082-BAF0-BDB7BE49F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기압 센서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F988E3-94C4-3725-5583-4B50518B25A6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030" name="Picture 6" descr="BMP-280 pressure sensor. | Download Scientific Diagram">
            <a:extLst>
              <a:ext uri="{FF2B5EF4-FFF2-40B4-BE49-F238E27FC236}">
                <a16:creationId xmlns:a16="http://schemas.microsoft.com/office/drawing/2014/main" id="{411630E2-0F6F-7952-8314-854EC1AB5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65" y="1953867"/>
            <a:ext cx="5057775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25CAAE2-7FB2-1BA3-3817-3BFFEAD10A75}"/>
              </a:ext>
            </a:extLst>
          </p:cNvPr>
          <p:cNvSpPr/>
          <p:nvPr/>
        </p:nvSpPr>
        <p:spPr>
          <a:xfrm>
            <a:off x="1219200" y="2981739"/>
            <a:ext cx="490330" cy="54333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3482D8-0FA1-2529-6B16-BCACBC5E2231}"/>
              </a:ext>
            </a:extLst>
          </p:cNvPr>
          <p:cNvSpPr txBox="1"/>
          <p:nvPr/>
        </p:nvSpPr>
        <p:spPr>
          <a:xfrm>
            <a:off x="967409" y="2355646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센서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518ADA3-6398-FBD0-E16C-D7AC6CDF0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224234"/>
              </p:ext>
            </p:extLst>
          </p:nvPr>
        </p:nvGraphicFramePr>
        <p:xfrm>
          <a:off x="5115339" y="1549839"/>
          <a:ext cx="6386847" cy="4307625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128949">
                  <a:extLst>
                    <a:ext uri="{9D8B030D-6E8A-4147-A177-3AD203B41FA5}">
                      <a16:colId xmlns:a16="http://schemas.microsoft.com/office/drawing/2014/main" val="1461716744"/>
                    </a:ext>
                  </a:extLst>
                </a:gridCol>
                <a:gridCol w="2128949">
                  <a:extLst>
                    <a:ext uri="{9D8B030D-6E8A-4147-A177-3AD203B41FA5}">
                      <a16:colId xmlns:a16="http://schemas.microsoft.com/office/drawing/2014/main" val="3666070569"/>
                    </a:ext>
                  </a:extLst>
                </a:gridCol>
                <a:gridCol w="2128949">
                  <a:extLst>
                    <a:ext uri="{9D8B030D-6E8A-4147-A177-3AD203B41FA5}">
                      <a16:colId xmlns:a16="http://schemas.microsoft.com/office/drawing/2014/main" val="2815396915"/>
                    </a:ext>
                  </a:extLst>
                </a:gridCol>
              </a:tblGrid>
              <a:tr h="615375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I2C </a:t>
                      </a:r>
                      <a:r>
                        <a:rPr lang="ko-KR" altLang="en-US" dirty="0"/>
                        <a:t>통신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SPI </a:t>
                      </a:r>
                      <a:r>
                        <a:rPr lang="ko-KR" altLang="en-US" dirty="0"/>
                        <a:t>통신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262470"/>
                  </a:ext>
                </a:extLst>
              </a:tr>
              <a:tr h="615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VCC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3~5 V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193288"/>
                  </a:ext>
                </a:extLst>
              </a:tr>
              <a:tr h="615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GND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GND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854798"/>
                  </a:ext>
                </a:extLst>
              </a:tr>
              <a:tr h="615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SCL(SCK)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433908"/>
                  </a:ext>
                </a:extLst>
              </a:tr>
              <a:tr h="615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SDA(SDI)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657229"/>
                  </a:ext>
                </a:extLst>
              </a:tr>
              <a:tr h="615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CSB(CS)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969822"/>
                  </a:ext>
                </a:extLst>
              </a:tr>
              <a:tr h="615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SDO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196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295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5CAF3D-AD44-B380-CF1F-3CED0A6B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C19EE6-9283-B583-E2A0-D4EE8DC5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기압 센서 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96166F-4F47-EA2A-84A9-9E2317330EDE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70D76921-F048-7C68-5E98-27E58F872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4807226" cy="4627124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ko-KR" altLang="en-US" dirty="0"/>
              <a:t>라이브러리 추가</a:t>
            </a:r>
            <a:endParaRPr lang="en-US" altLang="ko-KR" dirty="0"/>
          </a:p>
          <a:p>
            <a:pPr lvl="1"/>
            <a:r>
              <a:rPr lang="en-US" altLang="ko-KR" dirty="0"/>
              <a:t>Arduino</a:t>
            </a:r>
            <a:r>
              <a:rPr lang="ko-KR" altLang="en-US" dirty="0"/>
              <a:t> </a:t>
            </a:r>
            <a:r>
              <a:rPr lang="en-US" altLang="ko-KR" dirty="0"/>
              <a:t>IDE</a:t>
            </a:r>
            <a:r>
              <a:rPr lang="ko-KR" altLang="en-US" dirty="0"/>
              <a:t> → 스케치 → 라이브러리 포함 → 라이브러리 관리</a:t>
            </a:r>
            <a:endParaRPr lang="en-US" altLang="ko-KR" dirty="0"/>
          </a:p>
          <a:p>
            <a:pPr lvl="1"/>
            <a:r>
              <a:rPr lang="ko-KR" altLang="en-US" dirty="0"/>
              <a:t>라이브러리 매니저 → </a:t>
            </a:r>
            <a:r>
              <a:rPr lang="en-US" altLang="ko-KR" dirty="0"/>
              <a:t>‘Adafruit bmp280’ </a:t>
            </a:r>
            <a:r>
              <a:rPr lang="ko-KR" altLang="en-US" dirty="0"/>
              <a:t>검색 후 설치 버튼 클릭 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F35106E-60C8-F97D-FAB2-428D555A7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565" y="887057"/>
            <a:ext cx="5514975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316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6B12E8C-4792-7F31-94A5-429F35020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49F2EA-FF2C-C127-697D-FBFC5CDC1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기압 센서 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F6F6D-3919-9DEB-3295-00148D96678C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2CEC6E12-9F94-39EC-7B3C-BFC1C5FEB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4807226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회로 연결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2A74CC-A2A3-4337-D68E-A39C60601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112" y="1265466"/>
            <a:ext cx="6928610" cy="486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2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0588D-A98E-3FAA-F980-AD0D4046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84C8C2-4759-CE78-61CF-AB4DEFEEE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초음파 센서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D76C04-70A7-4809-5AF3-7CD385FFD4C8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7ABD1E7-6A54-BDB4-F686-4E758CB56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사람이 들을 수 없는 </a:t>
            </a:r>
            <a:r>
              <a:rPr lang="en-US" altLang="ko-KR" sz="2000" dirty="0"/>
              <a:t>20kHz </a:t>
            </a:r>
            <a:r>
              <a:rPr lang="ko-KR" altLang="en-US" sz="2000" dirty="0"/>
              <a:t>이상의 주파수를 가진 소리인 초음파를 이용해서 앞쪽에 위치한 물체와의 거리를 인식하는 센서</a:t>
            </a:r>
            <a:endParaRPr lang="en-US" altLang="ko-KR" sz="2000" dirty="0"/>
          </a:p>
          <a:p>
            <a:r>
              <a:rPr lang="ko-KR" altLang="en-US" sz="2000" dirty="0" err="1"/>
              <a:t>송신부</a:t>
            </a:r>
            <a:r>
              <a:rPr lang="en-US" altLang="ko-KR" sz="2000" dirty="0"/>
              <a:t>(Trig)</a:t>
            </a:r>
            <a:r>
              <a:rPr lang="ko-KR" altLang="en-US" sz="2000" dirty="0"/>
              <a:t>에서 내보내는 초음파가 물체와 부딪혀서 돌아오게 되고 이때 반사된 초음파를 </a:t>
            </a:r>
            <a:r>
              <a:rPr lang="ko-KR" altLang="en-US" sz="2000" dirty="0" err="1"/>
              <a:t>수신부</a:t>
            </a:r>
            <a:r>
              <a:rPr lang="en-US" altLang="ko-KR" sz="2000" dirty="0"/>
              <a:t>(Echo)</a:t>
            </a:r>
            <a:r>
              <a:rPr lang="ko-KR" altLang="en-US" sz="2000" dirty="0"/>
              <a:t>가 인식하는 원리</a:t>
            </a:r>
            <a:endParaRPr lang="en-US" altLang="ko-KR" sz="2000" dirty="0"/>
          </a:p>
        </p:txBody>
      </p:sp>
      <p:pic>
        <p:nvPicPr>
          <p:cNvPr id="3074" name="Picture 2" descr="아두이노 중급] 16. 초음파 센서(거리 측정 센서) : 네이버 블로그">
            <a:extLst>
              <a:ext uri="{FF2B5EF4-FFF2-40B4-BE49-F238E27FC236}">
                <a16:creationId xmlns:a16="http://schemas.microsoft.com/office/drawing/2014/main" id="{F17EEF69-B436-E1CD-945E-B25E76B94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60" y="2534064"/>
            <a:ext cx="4515326" cy="2718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중학교 1학년 일차방정식 활용 문제: 거속시 관련 몇 가지 예제 풀이 : 네이버 블로그">
            <a:extLst>
              <a:ext uri="{FF2B5EF4-FFF2-40B4-BE49-F238E27FC236}">
                <a16:creationId xmlns:a16="http://schemas.microsoft.com/office/drawing/2014/main" id="{37BF367F-5ED0-DBBA-199F-29FA80908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449" y="4309659"/>
            <a:ext cx="19240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4962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AC127-E478-F28C-1039-D3CD24758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AE016-5451-76E2-AE79-94BDCFDC5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초음파 센서 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FB4402-45D1-2728-5713-9F6E2594B6EA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58531C-4B19-2191-5072-9F494A096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E66E4B-BE78-BB44-8462-EC3617DDE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746" y="1341514"/>
            <a:ext cx="4843027" cy="504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74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EB7E4-56D3-191F-958D-DA7A616EC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02254B-11DE-AEF9-585F-53B683B53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초음파 센서 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FFA076-3E47-ACB6-82A0-D50E65EC80AF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EF7929E-B09B-8E23-2E13-A71938432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48653"/>
          <a:stretch>
            <a:fillRect/>
          </a:stretch>
        </p:blipFill>
        <p:spPr>
          <a:xfrm>
            <a:off x="908595" y="1391824"/>
            <a:ext cx="4685808" cy="298139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EB47CB7-5C71-3EA4-229C-28C7F8BB3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537" y="1187311"/>
            <a:ext cx="5218297" cy="519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70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AC403-510B-BE9C-B1F3-EE4F2434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81F832-041A-DA3A-5A26-F7B4A23D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초음파 센서</a:t>
            </a:r>
            <a:r>
              <a:rPr lang="en-US" altLang="ko-KR" dirty="0"/>
              <a:t> </a:t>
            </a:r>
            <a:r>
              <a:rPr lang="ko-KR" altLang="en-US" dirty="0"/>
              <a:t>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4538F2DD-2840-B570-FA70-BE07ED48F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초음파 센서를 통해 가까운 물체가 감지될 시</a:t>
            </a:r>
            <a:r>
              <a:rPr lang="en-US" altLang="ko-KR" dirty="0"/>
              <a:t>, </a:t>
            </a:r>
            <a:r>
              <a:rPr lang="ko-KR" altLang="en-US" dirty="0"/>
              <a:t>빨간 </a:t>
            </a:r>
            <a:r>
              <a:rPr lang="en-US" altLang="ko-KR" dirty="0"/>
              <a:t>LED</a:t>
            </a:r>
            <a:r>
              <a:rPr lang="ko-KR" altLang="en-US" dirty="0"/>
              <a:t>의 불을 켜고 </a:t>
            </a:r>
            <a:r>
              <a:rPr lang="ko-KR" altLang="en-US" dirty="0" err="1"/>
              <a:t>피에조</a:t>
            </a:r>
            <a:r>
              <a:rPr lang="ko-KR" altLang="en-US" dirty="0"/>
              <a:t> </a:t>
            </a:r>
            <a:r>
              <a:rPr lang="ko-KR" altLang="en-US" dirty="0" err="1"/>
              <a:t>부저를</a:t>
            </a:r>
            <a:r>
              <a:rPr lang="ko-KR" altLang="en-US" dirty="0"/>
              <a:t> 통해 경고음을 </a:t>
            </a:r>
            <a:r>
              <a:rPr lang="ko-KR" altLang="en-US" dirty="0" err="1"/>
              <a:t>울리시오</a:t>
            </a:r>
            <a:r>
              <a:rPr lang="en-US" altLang="ko-KR" dirty="0"/>
              <a:t>.</a:t>
            </a:r>
          </a:p>
        </p:txBody>
      </p:sp>
      <p:pic>
        <p:nvPicPr>
          <p:cNvPr id="4" name="Picture 2" descr="아두이노]Breadboard Jumper Cables(20P-SET) 점퍼 케이블 (M1000006992)">
            <a:extLst>
              <a:ext uri="{FF2B5EF4-FFF2-40B4-BE49-F238E27FC236}">
                <a16:creationId xmlns:a16="http://schemas.microsoft.com/office/drawing/2014/main" id="{7C334408-BC2C-74DD-0A9B-848CA5407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165" y="4324888"/>
            <a:ext cx="1940813" cy="19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D54D7F-F36C-2708-957C-49E139DB9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902" y="2704225"/>
            <a:ext cx="1619476" cy="109552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2F320F-B20D-258F-6BA0-60B157243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578" y="2672215"/>
            <a:ext cx="2522922" cy="9590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E3A299-C3E7-DF93-563E-5F69B3576D1C}"/>
              </a:ext>
            </a:extLst>
          </p:cNvPr>
          <p:cNvSpPr txBox="1"/>
          <p:nvPr/>
        </p:nvSpPr>
        <p:spPr>
          <a:xfrm>
            <a:off x="7846273" y="3955556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브레드</a:t>
            </a:r>
            <a:r>
              <a:rPr lang="ko-KR" altLang="en-US" dirty="0"/>
              <a:t> 보드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1962C1-EB2E-14E9-C60A-A5A480E3B2E2}"/>
              </a:ext>
            </a:extLst>
          </p:cNvPr>
          <p:cNvSpPr txBox="1"/>
          <p:nvPr/>
        </p:nvSpPr>
        <p:spPr>
          <a:xfrm>
            <a:off x="4937805" y="6092354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점퍼 케이블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7703DE-5A17-3BD5-0288-73243A0F4066}"/>
              </a:ext>
            </a:extLst>
          </p:cNvPr>
          <p:cNvSpPr txBox="1"/>
          <p:nvPr/>
        </p:nvSpPr>
        <p:spPr>
          <a:xfrm>
            <a:off x="2042044" y="3959685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아두이노</a:t>
            </a:r>
            <a:r>
              <a:rPr lang="ko-KR" altLang="en-US" dirty="0"/>
              <a:t> 호환보드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893316-F962-F9E4-AD21-8A32405D0025}"/>
              </a:ext>
            </a:extLst>
          </p:cNvPr>
          <p:cNvSpPr txBox="1"/>
          <p:nvPr/>
        </p:nvSpPr>
        <p:spPr>
          <a:xfrm>
            <a:off x="2218081" y="6088580"/>
            <a:ext cx="161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LED</a:t>
            </a:r>
            <a:endParaRPr lang="ko-KR" altLang="en-US" dirty="0"/>
          </a:p>
        </p:txBody>
      </p:sp>
      <p:pic>
        <p:nvPicPr>
          <p:cNvPr id="16" name="Picture 2" descr="4 LED 5개 색상랜덤 아두이노 베스트 부품">
            <a:extLst>
              <a:ext uri="{FF2B5EF4-FFF2-40B4-BE49-F238E27FC236}">
                <a16:creationId xmlns:a16="http://schemas.microsoft.com/office/drawing/2014/main" id="{3A866A88-898D-FE34-877A-4C53B71A20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3" t="25571" r="71768" b="12666"/>
          <a:stretch>
            <a:fillRect/>
          </a:stretch>
        </p:blipFill>
        <p:spPr bwMode="auto">
          <a:xfrm>
            <a:off x="2775492" y="4644051"/>
            <a:ext cx="431534" cy="1436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아두이노 중급] 16. 초음파 센서(거리 측정 센서) : 네이버 블로그">
            <a:extLst>
              <a:ext uri="{FF2B5EF4-FFF2-40B4-BE49-F238E27FC236}">
                <a16:creationId xmlns:a16="http://schemas.microsoft.com/office/drawing/2014/main" id="{2BF2A8C8-EC91-FEE4-653A-BDD05AFAB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148" y="2772486"/>
            <a:ext cx="1592830" cy="95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F71DDB0-BB1A-F7C6-C213-3E63FE4EA180}"/>
              </a:ext>
            </a:extLst>
          </p:cNvPr>
          <p:cNvSpPr txBox="1"/>
          <p:nvPr/>
        </p:nvSpPr>
        <p:spPr>
          <a:xfrm>
            <a:off x="4798165" y="3951278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초음파 센서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7865C0-384E-7A0C-E611-FB74F0171928}"/>
              </a:ext>
            </a:extLst>
          </p:cNvPr>
          <p:cNvSpPr txBox="1"/>
          <p:nvPr/>
        </p:nvSpPr>
        <p:spPr>
          <a:xfrm>
            <a:off x="7699585" y="6088580"/>
            <a:ext cx="161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능동 </a:t>
            </a:r>
            <a:r>
              <a:rPr lang="ko-KR" altLang="en-US" dirty="0" err="1"/>
              <a:t>부저</a:t>
            </a:r>
            <a:endParaRPr lang="ko-KR" altLang="en-US" dirty="0"/>
          </a:p>
        </p:txBody>
      </p:sp>
      <p:pic>
        <p:nvPicPr>
          <p:cNvPr id="20" name="Picture 4" descr="5V 능동 부저 [FQ-011] / 디바이스마트">
            <a:extLst>
              <a:ext uri="{FF2B5EF4-FFF2-40B4-BE49-F238E27FC236}">
                <a16:creationId xmlns:a16="http://schemas.microsoft.com/office/drawing/2014/main" id="{8E2EF01C-AE31-6E4F-4697-7E84B77676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064" t="17235" r="24650" b="20598"/>
          <a:stretch/>
        </p:blipFill>
        <p:spPr bwMode="auto">
          <a:xfrm>
            <a:off x="7891848" y="4521069"/>
            <a:ext cx="1318124" cy="132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217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E8465-4DA8-DDB3-0C9D-DB52B429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6C1410-4E0B-B3FC-E849-BD18BCB74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9D9BDC-91F8-E380-D4DB-6E662173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8399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B5720-C557-465F-2009-0AF3D2E8C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C799C-04FF-6B3B-F251-FDC35696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BF9C36-8BB4-B885-A5F2-4746FC492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74133C7-9FB9-58D3-9F51-8EFA55BE9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103147"/>
              </p:ext>
            </p:extLst>
          </p:nvPr>
        </p:nvGraphicFramePr>
        <p:xfrm>
          <a:off x="1851684" y="1873405"/>
          <a:ext cx="3424664" cy="378524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712332">
                  <a:extLst>
                    <a:ext uri="{9D8B030D-6E8A-4147-A177-3AD203B41FA5}">
                      <a16:colId xmlns:a16="http://schemas.microsoft.com/office/drawing/2014/main" val="730627021"/>
                    </a:ext>
                  </a:extLst>
                </a:gridCol>
                <a:gridCol w="1712332">
                  <a:extLst>
                    <a:ext uri="{9D8B030D-6E8A-4147-A177-3AD203B41FA5}">
                      <a16:colId xmlns:a16="http://schemas.microsoft.com/office/drawing/2014/main" val="2960328077"/>
                    </a:ext>
                  </a:extLst>
                </a:gridCol>
              </a:tblGrid>
              <a:tr h="7374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아두이노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LED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756950"/>
                  </a:ext>
                </a:extLst>
              </a:tr>
              <a:tr h="786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빨간색 </a:t>
                      </a:r>
                      <a:r>
                        <a:rPr lang="en-US" altLang="ko-KR" dirty="0"/>
                        <a:t>+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긴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576924"/>
                  </a:ext>
                </a:extLst>
              </a:tr>
              <a:tr h="7374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초록색 </a:t>
                      </a:r>
                      <a:r>
                        <a:rPr lang="en-US" altLang="ko-KR" dirty="0"/>
                        <a:t>+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긴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387090"/>
                  </a:ext>
                </a:extLst>
              </a:tr>
              <a:tr h="7374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파란색 </a:t>
                      </a:r>
                      <a:r>
                        <a:rPr lang="en-US" altLang="ko-KR" dirty="0"/>
                        <a:t>+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긴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347028"/>
                  </a:ext>
                </a:extLst>
              </a:tr>
              <a:tr h="786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GND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짧은 다리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3148876"/>
                  </a:ext>
                </a:extLst>
              </a:tr>
            </a:tbl>
          </a:graphicData>
        </a:graphic>
      </p:graphicFrame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3544D-0152-5951-3245-98E2EA948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6293" y="2265451"/>
            <a:ext cx="3781850" cy="23270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3</a:t>
            </a:r>
            <a:r>
              <a:rPr lang="ko-KR" altLang="en-US" sz="2000" dirty="0"/>
              <a:t>개의 </a:t>
            </a:r>
            <a:r>
              <a:rPr lang="en-US" altLang="ko-KR" sz="2000" dirty="0"/>
              <a:t>LED</a:t>
            </a:r>
            <a:r>
              <a:rPr lang="ko-KR" altLang="en-US" sz="2000" dirty="0"/>
              <a:t>가 </a:t>
            </a:r>
            <a:r>
              <a:rPr lang="en-US" altLang="ko-KR" sz="2000" dirty="0"/>
              <a:t>0.5</a:t>
            </a:r>
            <a:r>
              <a:rPr lang="ko-KR" altLang="en-US" sz="2000" dirty="0"/>
              <a:t>초 간격으로 켜지고 꺼지기를 반복하세요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1154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A02A0-533E-C1EF-852D-95840FC06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BC684-1D02-1EFD-B9C6-D0810538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LED </a:t>
            </a:r>
            <a:r>
              <a:rPr lang="ko-KR" altLang="en-US" dirty="0"/>
              <a:t>실습 </a:t>
            </a:r>
            <a:r>
              <a:rPr lang="en-US" altLang="ko-KR" dirty="0"/>
              <a:t>Quiz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A8178B-863B-D753-C325-8AC9B8A1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8448B8-B69D-C15F-9800-B43EB692E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387" y="1305529"/>
            <a:ext cx="7082345" cy="5013796"/>
          </a:xfrm>
          <a:prstGeom prst="rect">
            <a:avLst/>
          </a:prstGeom>
        </p:spPr>
      </p:pic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E0570D5-16F7-CDA8-A189-48237909E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정답</a:t>
            </a:r>
            <a:endParaRPr lang="en-US" altLang="ko-KR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74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EF3BB-9F30-2E68-CA75-9D6C3BF3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8363E-576A-819C-6096-928A4D1B5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펄스 폭 변조 </a:t>
            </a:r>
            <a:r>
              <a:rPr lang="en-US" altLang="ko-KR" sz="3600" dirty="0"/>
              <a:t>(PWM)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7ACB65-8F48-63AB-7701-66F2CDA27D4F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A25166C-B646-F1A4-E603-01E433A4E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PWM : Pulse Width Modulation</a:t>
            </a:r>
          </a:p>
          <a:p>
            <a:r>
              <a:rPr lang="ko-KR" altLang="en-US" sz="2000" dirty="0"/>
              <a:t>디지털 신호를 사용하여 아날로그 신호로 출력하는 방법</a:t>
            </a:r>
            <a:endParaRPr lang="en-US" altLang="ko-KR" sz="2000" dirty="0"/>
          </a:p>
          <a:p>
            <a:r>
              <a:rPr lang="ko-KR" altLang="en-US" sz="2000" dirty="0" err="1"/>
              <a:t>아두이노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우노</a:t>
            </a:r>
            <a:r>
              <a:rPr lang="ko-KR" altLang="en-US" sz="2000" dirty="0"/>
              <a:t> 보드의 경우</a:t>
            </a:r>
            <a:r>
              <a:rPr lang="en-US" altLang="ko-KR" sz="2000" dirty="0"/>
              <a:t>,</a:t>
            </a:r>
            <a:r>
              <a:rPr lang="ko-KR" altLang="en-US" sz="2000" dirty="0"/>
              <a:t> 핀 앞에 물결 표시가 있는 </a:t>
            </a:r>
            <a:r>
              <a:rPr lang="en-US" altLang="ko-KR" sz="2000" dirty="0"/>
              <a:t>3, 4, 5, 6, 9, 10, 11</a:t>
            </a:r>
            <a:r>
              <a:rPr lang="ko-KR" altLang="en-US" sz="2000" dirty="0"/>
              <a:t>번 핀에서 사용 가능하다</a:t>
            </a:r>
            <a:r>
              <a:rPr lang="en-US" altLang="ko-KR" sz="200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8DFDC6-6C9A-CE88-C6CB-75E67D096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940" y="1337646"/>
            <a:ext cx="3991532" cy="43154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E6D5DE-3FDC-B8E7-1E0C-89DC33541210}"/>
              </a:ext>
            </a:extLst>
          </p:cNvPr>
          <p:cNvSpPr txBox="1"/>
          <p:nvPr/>
        </p:nvSpPr>
        <p:spPr>
          <a:xfrm>
            <a:off x="1139940" y="5837739"/>
            <a:ext cx="5296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400" b="0" i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출처</a:t>
            </a:r>
            <a:r>
              <a:rPr lang="en-US" altLang="ko-KR" sz="1400" b="0" i="0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: </a:t>
            </a:r>
            <a:r>
              <a:rPr lang="en-US" altLang="ko-KR" sz="1400" b="0" i="0" u="sng" dirty="0">
                <a:solidFill>
                  <a:srgbClr val="0563C1"/>
                </a:solidFill>
                <a:effectLst/>
                <a:highlight>
                  <a:srgbClr val="FFFFFF"/>
                </a:highlight>
                <a:latin typeface="나눔고딕" pitchFamily="2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https://www.arduino.cc/en/Tutorial/</a:t>
            </a:r>
            <a:r>
              <a:rPr lang="en-US" altLang="ko-KR" sz="1400" b="0" i="0" u="sng" dirty="0">
                <a:solidFill>
                  <a:schemeClr val="accent3"/>
                </a:solidFill>
                <a:effectLst/>
                <a:highlight>
                  <a:srgbClr val="FFFFFF"/>
                </a:highlight>
                <a:latin typeface="나눔고딕" pitchFamily="2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PWM</a:t>
            </a:r>
            <a:br>
              <a:rPr lang="ko-KR" altLang="en-US" sz="1400" dirty="0">
                <a:solidFill>
                  <a:schemeClr val="accent3"/>
                </a:solidFill>
              </a:rPr>
            </a:br>
            <a:endParaRPr lang="ko-KR" altLang="en-US"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718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122AA-650D-BEF1-6A91-A2424F4C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70764-CAFA-E94E-6221-8F2A98B4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풀업</a:t>
            </a:r>
            <a:r>
              <a:rPr lang="ko-KR" altLang="en-US" dirty="0"/>
              <a:t> 저항과 </a:t>
            </a:r>
            <a:r>
              <a:rPr lang="ko-KR" altLang="en-US" dirty="0" err="1"/>
              <a:t>풀다운</a:t>
            </a:r>
            <a:r>
              <a:rPr lang="ko-KR" altLang="en-US" dirty="0"/>
              <a:t> 저항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99210-EBA7-5A3B-3EDE-366E7E868D7B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C1EED6C-C7E2-37ED-7684-3D15A806EE7A}"/>
              </a:ext>
            </a:extLst>
          </p:cNvPr>
          <p:cNvSpPr txBox="1">
            <a:spLocks/>
          </p:cNvSpPr>
          <p:nvPr/>
        </p:nvSpPr>
        <p:spPr>
          <a:xfrm>
            <a:off x="838199" y="1562978"/>
            <a:ext cx="5752171" cy="4627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풀업</a:t>
            </a:r>
            <a:r>
              <a:rPr lang="en-US" altLang="ko-KR" dirty="0"/>
              <a:t>(Pull-Up) </a:t>
            </a:r>
            <a:r>
              <a:rPr lang="ko-KR" altLang="en-US" dirty="0"/>
              <a:t>저항</a:t>
            </a:r>
            <a:endParaRPr lang="en-US" altLang="ko-KR" dirty="0"/>
          </a:p>
          <a:p>
            <a:pPr lvl="1"/>
            <a:r>
              <a:rPr lang="ko-KR" altLang="en-US" dirty="0"/>
              <a:t>스위치 제어 핀에 연결된 라인과 전원 라인 사이에 저항을 연결해주는 방법</a:t>
            </a:r>
            <a:endParaRPr lang="en-US" altLang="ko-KR" dirty="0"/>
          </a:p>
          <a:p>
            <a:pPr lvl="1"/>
            <a:r>
              <a:rPr lang="ko-KR" altLang="en-US" dirty="0"/>
              <a:t>버튼을 누르지 않았을 때 스위치 제어 핀이 전원 라인과 연결되어 </a:t>
            </a:r>
            <a:r>
              <a:rPr lang="en-US" altLang="ko-KR" dirty="0"/>
              <a:t>HIGH(1)</a:t>
            </a:r>
            <a:r>
              <a:rPr lang="ko-KR" altLang="en-US" dirty="0"/>
              <a:t>의 신호를 출력하고</a:t>
            </a:r>
            <a:r>
              <a:rPr lang="en-US" altLang="ko-KR" dirty="0"/>
              <a:t>, </a:t>
            </a:r>
            <a:r>
              <a:rPr lang="ko-KR" altLang="en-US" dirty="0" err="1"/>
              <a:t>눌를</a:t>
            </a:r>
            <a:r>
              <a:rPr lang="ko-KR" altLang="en-US" dirty="0"/>
              <a:t> 때 스위치 제어 핀이 </a:t>
            </a:r>
            <a:r>
              <a:rPr lang="en-US" altLang="ko-KR" dirty="0"/>
              <a:t>GND </a:t>
            </a:r>
            <a:r>
              <a:rPr lang="ko-KR" altLang="en-US" dirty="0"/>
              <a:t>라인과 연결되어 </a:t>
            </a:r>
            <a:r>
              <a:rPr lang="en-US" altLang="ko-KR" dirty="0"/>
              <a:t>LOW(0)</a:t>
            </a:r>
            <a:r>
              <a:rPr lang="ko-KR" altLang="en-US" dirty="0"/>
              <a:t>의 신호를 출력한다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45A76FF-25FF-041B-2993-9F1F1A60401B}"/>
              </a:ext>
            </a:extLst>
          </p:cNvPr>
          <p:cNvGrpSpPr/>
          <p:nvPr/>
        </p:nvGrpSpPr>
        <p:grpSpPr>
          <a:xfrm rot="16200000">
            <a:off x="6698173" y="2302102"/>
            <a:ext cx="5472760" cy="2920380"/>
            <a:chOff x="821778" y="1742663"/>
            <a:chExt cx="6781764" cy="361889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F04DCD7-A3F8-4CC0-CFBE-FBC77A60DC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1" t="587" r="59765" b="4306"/>
            <a:stretch>
              <a:fillRect/>
            </a:stretch>
          </p:blipFill>
          <p:spPr>
            <a:xfrm>
              <a:off x="5594733" y="1742663"/>
              <a:ext cx="2008809" cy="360615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1E5C3A8-F3B0-1A71-F1CA-8EC5856359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411"/>
            <a:stretch/>
          </p:blipFill>
          <p:spPr>
            <a:xfrm>
              <a:off x="821778" y="1750741"/>
              <a:ext cx="5602618" cy="36108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2910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1D56-9005-7A5A-D7FB-BF56C07A2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639DE-853D-5F4A-63E2-BE816CB1B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택트</a:t>
            </a:r>
            <a:r>
              <a:rPr lang="ko-KR" altLang="en-US" dirty="0"/>
              <a:t> 스위치 실습 </a:t>
            </a:r>
            <a:r>
              <a:rPr lang="en-US" altLang="ko-KR" dirty="0"/>
              <a:t>Quiz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7FCCC8-E649-5E80-74ED-D9187A80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7CD3716E-6ED5-4782-E8C8-352AA1C43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10515600" cy="4627124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ko-KR" altLang="en-US" dirty="0" err="1"/>
              <a:t>택트</a:t>
            </a:r>
            <a:r>
              <a:rPr lang="ko-KR" altLang="en-US" dirty="0"/>
              <a:t> 스위치와 </a:t>
            </a:r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en-US" altLang="ko-KR" dirty="0"/>
              <a:t>LED</a:t>
            </a:r>
            <a:r>
              <a:rPr lang="ko-KR" altLang="en-US" dirty="0"/>
              <a:t>가 있을 때</a:t>
            </a:r>
            <a:r>
              <a:rPr lang="en-US" altLang="ko-KR" dirty="0"/>
              <a:t>, </a:t>
            </a:r>
            <a:r>
              <a:rPr lang="ko-KR" altLang="en-US" dirty="0"/>
              <a:t>각각의 스위치를 눌렀을 때 </a:t>
            </a:r>
            <a:r>
              <a:rPr lang="en-US" altLang="ko-KR" dirty="0"/>
              <a:t>LED</a:t>
            </a:r>
            <a:r>
              <a:rPr lang="ko-KR" altLang="en-US" dirty="0"/>
              <a:t>가 켜지게 </a:t>
            </a:r>
            <a:r>
              <a:rPr lang="ko-KR" altLang="en-US" dirty="0" err="1"/>
              <a:t>하시오</a:t>
            </a:r>
            <a:r>
              <a:rPr lang="en-US" altLang="ko-KR" dirty="0"/>
              <a:t>.</a:t>
            </a:r>
          </a:p>
        </p:txBody>
      </p:sp>
      <p:pic>
        <p:nvPicPr>
          <p:cNvPr id="8" name="Picture 2" descr="아두이노]Breadboard Jumper Cables(20P-SET) 점퍼 케이블 (M1000006992)">
            <a:extLst>
              <a:ext uri="{FF2B5EF4-FFF2-40B4-BE49-F238E27FC236}">
                <a16:creationId xmlns:a16="http://schemas.microsoft.com/office/drawing/2014/main" id="{6F884DCB-E575-A2BD-1A83-3E28C8FE0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165" y="4324888"/>
            <a:ext cx="1940813" cy="194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F4343FA-03C8-2F5D-6494-23AFABE2F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902" y="2704225"/>
            <a:ext cx="1619476" cy="10955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D603D64-A79F-E783-398A-74492927E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578" y="2672215"/>
            <a:ext cx="2522922" cy="95900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C540E92-6CC3-419C-BA51-736020B8F1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1229" y="2704225"/>
            <a:ext cx="1514686" cy="8954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5C8ADED-4305-8559-3456-BA608BAD54C8}"/>
              </a:ext>
            </a:extLst>
          </p:cNvPr>
          <p:cNvSpPr txBox="1"/>
          <p:nvPr/>
        </p:nvSpPr>
        <p:spPr>
          <a:xfrm>
            <a:off x="7846273" y="3955556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브레드</a:t>
            </a:r>
            <a:r>
              <a:rPr lang="ko-KR" altLang="en-US" dirty="0"/>
              <a:t> 보드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92219F-0E47-25FC-6FC8-CE276F71B084}"/>
              </a:ext>
            </a:extLst>
          </p:cNvPr>
          <p:cNvSpPr txBox="1"/>
          <p:nvPr/>
        </p:nvSpPr>
        <p:spPr>
          <a:xfrm>
            <a:off x="4937805" y="6092354"/>
            <a:ext cx="166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점퍼 케이블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321DDB-302A-F062-701D-93C3CB73F7D8}"/>
              </a:ext>
            </a:extLst>
          </p:cNvPr>
          <p:cNvSpPr txBox="1"/>
          <p:nvPr/>
        </p:nvSpPr>
        <p:spPr>
          <a:xfrm>
            <a:off x="4717115" y="3959685"/>
            <a:ext cx="2102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330</a:t>
            </a:r>
            <a:r>
              <a:rPr lang="ko-KR" altLang="en-US" dirty="0"/>
              <a:t>옴 저항 </a:t>
            </a:r>
            <a:r>
              <a:rPr lang="en-US" altLang="ko-KR" dirty="0"/>
              <a:t>x 2</a:t>
            </a:r>
            <a:r>
              <a:rPr lang="ko-KR" altLang="en-US" dirty="0"/>
              <a:t>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C16719-7CDE-4CD4-CB95-6E9EEBD8DDE6}"/>
              </a:ext>
            </a:extLst>
          </p:cNvPr>
          <p:cNvSpPr txBox="1"/>
          <p:nvPr/>
        </p:nvSpPr>
        <p:spPr>
          <a:xfrm>
            <a:off x="2042044" y="3959685"/>
            <a:ext cx="222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아두이노</a:t>
            </a:r>
            <a:r>
              <a:rPr lang="ko-KR" altLang="en-US" dirty="0"/>
              <a:t> 호환보드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28518E-98DB-1937-541A-40F1923E80E0}"/>
              </a:ext>
            </a:extLst>
          </p:cNvPr>
          <p:cNvSpPr txBox="1"/>
          <p:nvPr/>
        </p:nvSpPr>
        <p:spPr>
          <a:xfrm>
            <a:off x="2361902" y="6088580"/>
            <a:ext cx="161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LED x 2</a:t>
            </a:r>
            <a:r>
              <a:rPr lang="ko-KR" altLang="en-US" dirty="0"/>
              <a:t>개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9" name="Picture 2" descr="택트 스위치 [NW3-TS-G008] H:7.3mm / 디바이스마트">
            <a:extLst>
              <a:ext uri="{FF2B5EF4-FFF2-40B4-BE49-F238E27FC236}">
                <a16:creationId xmlns:a16="http://schemas.microsoft.com/office/drawing/2014/main" id="{C15DC65D-12BB-8C0A-FC10-E61C68709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925" y="4756776"/>
            <a:ext cx="1424228" cy="106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5EE532C-6A1B-26C5-C443-5559935DE87D}"/>
              </a:ext>
            </a:extLst>
          </p:cNvPr>
          <p:cNvSpPr txBox="1"/>
          <p:nvPr/>
        </p:nvSpPr>
        <p:spPr>
          <a:xfrm>
            <a:off x="7518634" y="6088580"/>
            <a:ext cx="217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택트</a:t>
            </a:r>
            <a:r>
              <a:rPr lang="ko-KR" altLang="en-US" dirty="0"/>
              <a:t> 스위치 </a:t>
            </a:r>
            <a:r>
              <a:rPr lang="en-US" altLang="ko-KR" dirty="0"/>
              <a:t>x 2</a:t>
            </a:r>
            <a:r>
              <a:rPr lang="ko-KR" altLang="en-US" dirty="0"/>
              <a:t>개</a:t>
            </a:r>
          </a:p>
        </p:txBody>
      </p:sp>
      <p:pic>
        <p:nvPicPr>
          <p:cNvPr id="10242" name="Picture 2" descr="4 LED 5개 색상랜덤 아두이노 베스트 부품">
            <a:extLst>
              <a:ext uri="{FF2B5EF4-FFF2-40B4-BE49-F238E27FC236}">
                <a16:creationId xmlns:a16="http://schemas.microsoft.com/office/drawing/2014/main" id="{8B49523E-F2C4-4D95-E794-A75CA3251E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3" t="25571" r="56062" b="12666"/>
          <a:stretch>
            <a:fillRect/>
          </a:stretch>
        </p:blipFill>
        <p:spPr bwMode="auto">
          <a:xfrm>
            <a:off x="2775492" y="4644051"/>
            <a:ext cx="796726" cy="1436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9092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G마켓 산스 TTF Bold"/>
        <a:ea typeface="G마켓 산스 TTF Bold"/>
        <a:cs typeface=""/>
      </a:majorFont>
      <a:minorFont>
        <a:latin typeface="G마켓 산스 TTF Medium"/>
        <a:ea typeface="G마켓 산스 TTF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15596</TotalTime>
  <Words>1329</Words>
  <Application>Microsoft Office PowerPoint</Application>
  <PresentationFormat>와이드스크린</PresentationFormat>
  <Paragraphs>213</Paragraphs>
  <Slides>27</Slides>
  <Notes>26</Notes>
  <HiddenSlides>4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G마켓 산스 TTF Bold</vt:lpstr>
      <vt:lpstr>G마켓 산스 TTF Medium</vt:lpstr>
      <vt:lpstr>Noto Sans KR</vt:lpstr>
      <vt:lpstr>나눔고딕</vt:lpstr>
      <vt:lpstr>맑은 고딕</vt:lpstr>
      <vt:lpstr>메이플스토리</vt:lpstr>
      <vt:lpstr>Arial</vt:lpstr>
      <vt:lpstr>1_Office 테마</vt:lpstr>
      <vt:lpstr>PowerPoint 프레젠테이션</vt:lpstr>
      <vt:lpstr>온습도 센서</vt:lpstr>
      <vt:lpstr>온습도 센서 동작 원리</vt:lpstr>
      <vt:lpstr>온습도 센서 종류</vt:lpstr>
      <vt:lpstr>DHT11 실습</vt:lpstr>
      <vt:lpstr>DHT11 실습</vt:lpstr>
      <vt:lpstr>DHT11 실습</vt:lpstr>
      <vt:lpstr>DHT11 실습</vt:lpstr>
      <vt:lpstr>DHT11 실습</vt:lpstr>
      <vt:lpstr>DHT11 실습</vt:lpstr>
      <vt:lpstr>DHT11 실습</vt:lpstr>
      <vt:lpstr>DHT11 실습</vt:lpstr>
      <vt:lpstr>DHT22 실습 Quiz</vt:lpstr>
      <vt:lpstr>기압 센서</vt:lpstr>
      <vt:lpstr>기압 센서</vt:lpstr>
      <vt:lpstr>기압 센서 실습</vt:lpstr>
      <vt:lpstr>기압 센서 실습</vt:lpstr>
      <vt:lpstr>초음파 센서</vt:lpstr>
      <vt:lpstr>초음파 센서 실습</vt:lpstr>
      <vt:lpstr>초음파 센서 실습</vt:lpstr>
      <vt:lpstr>초음파 센서 실습 Quiz</vt:lpstr>
      <vt:lpstr>PowerPoint 프레젠테이션</vt:lpstr>
      <vt:lpstr>LED 실습 Quiz</vt:lpstr>
      <vt:lpstr>LED 실습 Quiz</vt:lpstr>
      <vt:lpstr>펄스 폭 변조 (PWM)</vt:lpstr>
      <vt:lpstr>풀업 저항과 풀다운 저항</vt:lpstr>
      <vt:lpstr>택트 스위치 실습 Quiz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660</cp:revision>
  <dcterms:created xsi:type="dcterms:W3CDTF">2024-10-23T01:56:35Z</dcterms:created>
  <dcterms:modified xsi:type="dcterms:W3CDTF">2025-10-24T00:26:52Z</dcterms:modified>
</cp:coreProperties>
</file>