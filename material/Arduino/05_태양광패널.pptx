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1004" r:id="rId2"/>
    <p:sldId id="1103" r:id="rId3"/>
    <p:sldId id="1102" r:id="rId4"/>
    <p:sldId id="996" r:id="rId5"/>
    <p:sldId id="1060" r:id="rId6"/>
    <p:sldId id="1066" r:id="rId7"/>
    <p:sldId id="1080" r:id="rId8"/>
    <p:sldId id="1085" r:id="rId9"/>
    <p:sldId id="1086" r:id="rId10"/>
    <p:sldId id="110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E35"/>
    <a:srgbClr val="FFFFFF"/>
    <a:srgbClr val="FF9900"/>
    <a:srgbClr val="005C5F"/>
    <a:srgbClr val="00F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9" autoAdjust="0"/>
    <p:restoredTop sz="81019" autoAdjust="0"/>
  </p:normalViewPr>
  <p:slideViewPr>
    <p:cSldViewPr snapToGrid="0">
      <p:cViewPr varScale="1">
        <p:scale>
          <a:sx n="81" d="100"/>
          <a:sy n="81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736D4-020C-3A90-092A-499F1E5F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A6FB9-864D-AE44-449A-83A50909C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3B35A5-5224-FEB7-6F03-FDD186648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7AB6C-F21A-D8AC-6B63-C78ACA698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714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8277-0718-E14B-8080-F1743842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175E1-F880-85B0-EE66-12E944A95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823E11-8398-7F5F-57BF-040C26FC6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56015D-BD35-9A59-FC37-90C608D76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19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11AD-6C54-2AD8-ABD2-5DDAED27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0CFA06-BCCD-B994-FF83-9A3B56D7A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6714D3-A268-EC14-C136-A9326F00D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89B0F9-03A0-14E8-65E6-E58D40B04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31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E1A-B652-42C3-13FA-70CBE90E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CDDD0-A29F-8C3E-145B-9F4CFA33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F55AC-C71F-B317-5EFD-E3E8AE182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A01C6-497B-67F6-1476-628008B43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66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2017-792E-C7BF-616B-BDDF4F41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87B1C8-06AD-E32E-B52B-5EB547E9B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7551DA-FD80-0FEA-FB6D-DCEB89A57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ACB60-5A17-9BBE-0646-C1ED636A2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67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673E-74C7-AFDE-69D1-1F9A80E1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B32E6E-43F8-8BD2-C8C2-6B6F2FAE9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1C0786-4D55-0285-6958-E7763FEBE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69716-A6AE-AAB7-8211-8994FAAD6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634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F50A-47EC-D589-2C0F-BBED5628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F1374C-FB94-51A8-47BA-15418AD7B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AAB358-4486-D0D2-1363-794A407F4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CA441B-8868-8B8C-ACA6-C5B3ADAB3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527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2C6696-EE0A-BC2D-7063-70F28936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F3BE842-C521-0C8F-A4B5-11422EB6C247}"/>
              </a:ext>
            </a:extLst>
          </p:cNvPr>
          <p:cNvSpPr txBox="1">
            <a:spLocks/>
          </p:cNvSpPr>
          <p:nvPr userDrawn="1"/>
        </p:nvSpPr>
        <p:spPr>
          <a:xfrm>
            <a:off x="10555576" y="218354"/>
            <a:ext cx="293806" cy="3218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en-US" altLang="ko-KR" sz="2400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sz="2400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DCCE0A-8512-9AD3-FCFE-854EDADA9794}"/>
              </a:ext>
            </a:extLst>
          </p:cNvPr>
          <p:cNvGrpSpPr/>
          <p:nvPr userDrawn="1"/>
        </p:nvGrpSpPr>
        <p:grpSpPr>
          <a:xfrm>
            <a:off x="9299385" y="287928"/>
            <a:ext cx="2646947" cy="325258"/>
            <a:chOff x="22849643" y="-4470425"/>
            <a:chExt cx="7688784" cy="9448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B111EE-FD1E-BC5A-5D1E-AC40300B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41510" y="-4460662"/>
              <a:ext cx="2996917" cy="935038"/>
            </a:xfrm>
            <a:prstGeom prst="rect">
              <a:avLst/>
            </a:prstGeom>
          </p:spPr>
        </p:pic>
        <p:pic>
          <p:nvPicPr>
            <p:cNvPr id="9" name="그림 8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1F583FB-0B92-1510-CF5E-6C92F790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9643" y="-4470425"/>
              <a:ext cx="3459479" cy="7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fruit/DHT-sensor-libra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049" y="3037564"/>
            <a:ext cx="10243899" cy="2028316"/>
          </a:xfrm>
        </p:spPr>
        <p:txBody>
          <a:bodyPr wrap="square">
            <a:noAutofit/>
          </a:bodyPr>
          <a:lstStyle/>
          <a:p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endParaRPr lang="en-US" altLang="ko-KR" sz="4800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4" y="1985210"/>
            <a:ext cx="4069351" cy="6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4918-0770-70C9-77E4-1DC637E6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82005-66EF-CFFC-AE74-BB96987C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태양광 패널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5F5FF-BA61-4715-5439-EFE2A97979B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E00FF03-7862-5E1C-8F96-8762AB6C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햇빛을 받아 직류</a:t>
            </a:r>
            <a:r>
              <a:rPr lang="en-US" altLang="ko-KR" sz="2000" dirty="0"/>
              <a:t>(DC) </a:t>
            </a:r>
            <a:r>
              <a:rPr lang="ko-KR" altLang="en-US" sz="2000" dirty="0"/>
              <a:t>전기로 변환하는 부품</a:t>
            </a:r>
            <a:endParaRPr lang="en-US" altLang="ko-KR" sz="2000" dirty="0"/>
          </a:p>
          <a:p>
            <a:r>
              <a:rPr lang="ko-KR" altLang="en-US" sz="2000" dirty="0" err="1"/>
              <a:t>광전</a:t>
            </a:r>
            <a:r>
              <a:rPr lang="ko-KR" altLang="en-US" sz="2000" dirty="0"/>
              <a:t> 효과를 이용하며</a:t>
            </a:r>
            <a:r>
              <a:rPr lang="en-US" altLang="ko-KR" sz="2000" dirty="0"/>
              <a:t>, </a:t>
            </a:r>
            <a:r>
              <a:rPr lang="ko-KR" altLang="en-US" sz="2000" dirty="0"/>
              <a:t>여러 개의 태양 전지로 이루어져 있다</a:t>
            </a:r>
            <a:r>
              <a:rPr lang="en-US" altLang="ko-KR" sz="2000" dirty="0"/>
              <a:t>.</a:t>
            </a:r>
          </a:p>
        </p:txBody>
      </p:sp>
      <p:pic>
        <p:nvPicPr>
          <p:cNvPr id="1026" name="Picture 2" descr="G52 5V 200mA 1W 태양전지판 아두이노 실험 교재 키트 - 싸이피아">
            <a:extLst>
              <a:ext uri="{FF2B5EF4-FFF2-40B4-BE49-F238E27FC236}">
                <a16:creationId xmlns:a16="http://schemas.microsoft.com/office/drawing/2014/main" id="{A0EEEF27-C872-102B-48A3-FD6DE5230F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25"/>
          <a:stretch>
            <a:fillRect/>
          </a:stretch>
        </p:blipFill>
        <p:spPr bwMode="auto">
          <a:xfrm>
            <a:off x="536460" y="1549839"/>
            <a:ext cx="4762500" cy="397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75660-9DED-4AEC-4149-83315C59C421}"/>
              </a:ext>
            </a:extLst>
          </p:cNvPr>
          <p:cNvSpPr txBox="1">
            <a:spLocks/>
          </p:cNvSpPr>
          <p:nvPr/>
        </p:nvSpPr>
        <p:spPr>
          <a:xfrm>
            <a:off x="7364681" y="3628754"/>
            <a:ext cx="4100359" cy="804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 err="1"/>
              <a:t>광전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효과란</a:t>
            </a:r>
            <a:r>
              <a:rPr lang="en-US" altLang="ko-KR" sz="1400" dirty="0"/>
              <a:t>?</a:t>
            </a:r>
          </a:p>
          <a:p>
            <a:pPr marL="0" indent="0">
              <a:buNone/>
            </a:pPr>
            <a:r>
              <a:rPr lang="ko-KR" altLang="en-US" sz="1400" dirty="0"/>
              <a:t>금속 등의 물질이 빛에 쪼이면 전자를 내놓는 현상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7213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05646-5EB3-CECB-110A-29B75A0D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7" name="Picture 2" descr="G52 5V 200mA 1W 태양전지판 아두이노 실험 교재 키트 - 싸이피아">
            <a:extLst>
              <a:ext uri="{FF2B5EF4-FFF2-40B4-BE49-F238E27FC236}">
                <a16:creationId xmlns:a16="http://schemas.microsoft.com/office/drawing/2014/main" id="{7463FFB5-D7F2-9152-0361-5EDEC8C86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25"/>
          <a:stretch>
            <a:fillRect/>
          </a:stretch>
        </p:blipFill>
        <p:spPr bwMode="auto">
          <a:xfrm>
            <a:off x="1261489" y="2730526"/>
            <a:ext cx="3612113" cy="301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D6111F-6F19-424C-A224-6B8965F7C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497749">
            <a:off x="4189217" y="3900420"/>
            <a:ext cx="3029495" cy="2049364"/>
          </a:xfrm>
          <a:prstGeom prst="rect">
            <a:avLst/>
          </a:prstGeom>
        </p:spPr>
      </p:pic>
      <p:pic>
        <p:nvPicPr>
          <p:cNvPr id="1026" name="Picture 2" descr="해 - 무료 날씨개 아이콘">
            <a:extLst>
              <a:ext uri="{FF2B5EF4-FFF2-40B4-BE49-F238E27FC236}">
                <a16:creationId xmlns:a16="http://schemas.microsoft.com/office/drawing/2014/main" id="{48B0AD7F-00EC-9C1E-2D39-632C1037E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02" y="1386444"/>
            <a:ext cx="2042556" cy="204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F797560-9384-D8EC-9BA1-95A325EC5817}"/>
              </a:ext>
            </a:extLst>
          </p:cNvPr>
          <p:cNvSpPr/>
          <p:nvPr/>
        </p:nvSpPr>
        <p:spPr>
          <a:xfrm rot="4347590">
            <a:off x="3450119" y="2064685"/>
            <a:ext cx="585597" cy="2210963"/>
          </a:xfrm>
          <a:prstGeom prst="downArrow">
            <a:avLst/>
          </a:prstGeom>
          <a:solidFill>
            <a:srgbClr val="FFAE35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1EAF56-F1DC-E66E-B422-CB892528A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106" y="1928275"/>
            <a:ext cx="3672123" cy="3708481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AF6C8C08-4D42-3E83-B11A-BBEF1108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/>
          <a:lstStyle/>
          <a:p>
            <a:r>
              <a:rPr lang="ko-KR" altLang="en-US" dirty="0"/>
              <a:t>태양광 패널 실습</a:t>
            </a:r>
          </a:p>
        </p:txBody>
      </p:sp>
    </p:spTree>
    <p:extLst>
      <p:ext uri="{BB962C8B-B14F-4D97-AF65-F5344CB8AC3E}">
        <p14:creationId xmlns:p14="http://schemas.microsoft.com/office/powerpoint/2010/main" val="167612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3048-0E7C-81F4-EDB2-C26A68B6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CA3F3-BC8A-9ED6-91C7-E8F88E10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79" y="195305"/>
            <a:ext cx="10515600" cy="1325563"/>
          </a:xfrm>
        </p:spPr>
        <p:txBody>
          <a:bodyPr/>
          <a:lstStyle/>
          <a:p>
            <a:r>
              <a:rPr lang="ko-KR" altLang="en-US" dirty="0"/>
              <a:t>태양광 패널로 베터리 충전하기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53B4-2E10-EFC9-242E-AE22A0A9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6F5F1D67-538B-EC24-96FC-E3C038EE0911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2054" name="Picture 6" descr="아두이노 태양광패널 (5.5V 160mA)-모바일 11번가">
            <a:extLst>
              <a:ext uri="{FF2B5EF4-FFF2-40B4-BE49-F238E27FC236}">
                <a16:creationId xmlns:a16="http://schemas.microsoft.com/office/drawing/2014/main" id="{A28B7158-23FD-9FC4-0296-6863DE13D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36460" y="1345847"/>
            <a:ext cx="3960681" cy="396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A65235-A4DB-15B3-AD4D-DB1F2439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100403" y="2476739"/>
            <a:ext cx="2204949" cy="1698895"/>
          </a:xfrm>
          <a:prstGeom prst="rect">
            <a:avLst/>
          </a:prstGeom>
        </p:spPr>
      </p:pic>
      <p:pic>
        <p:nvPicPr>
          <p:cNvPr id="2056" name="Picture 8" descr="리튬폴리머 배터리 3.7V, 3000mAh, KC인증 : 리튬전지 &gt; 파워/전원">
            <a:extLst>
              <a:ext uri="{FF2B5EF4-FFF2-40B4-BE49-F238E27FC236}">
                <a16:creationId xmlns:a16="http://schemas.microsoft.com/office/drawing/2014/main" id="{960413FD-9749-A63D-91F0-AD839FA8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794" y="2036922"/>
            <a:ext cx="2395137" cy="239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8638A65-4463-3CB1-CAAC-DBEA4E867FA2}"/>
              </a:ext>
            </a:extLst>
          </p:cNvPr>
          <p:cNvCxnSpPr>
            <a:cxnSpLocks/>
          </p:cNvCxnSpPr>
          <p:nvPr/>
        </p:nvCxnSpPr>
        <p:spPr>
          <a:xfrm>
            <a:off x="3650620" y="2819982"/>
            <a:ext cx="1619395" cy="25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64B1D86-6C1B-D1F4-D722-1B5156B3E732}"/>
              </a:ext>
            </a:extLst>
          </p:cNvPr>
          <p:cNvCxnSpPr>
            <a:cxnSpLocks/>
          </p:cNvCxnSpPr>
          <p:nvPr/>
        </p:nvCxnSpPr>
        <p:spPr>
          <a:xfrm>
            <a:off x="7029014" y="2819982"/>
            <a:ext cx="1717117" cy="1108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C36E5C-41C7-641F-3809-127B67DFAB2A}"/>
              </a:ext>
            </a:extLst>
          </p:cNvPr>
          <p:cNvCxnSpPr/>
          <p:nvPr/>
        </p:nvCxnSpPr>
        <p:spPr>
          <a:xfrm flipV="1">
            <a:off x="3601203" y="3797203"/>
            <a:ext cx="1857276" cy="837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E972B3D-1A34-421A-1E93-CCDE31B6EF8C}"/>
              </a:ext>
            </a:extLst>
          </p:cNvPr>
          <p:cNvCxnSpPr>
            <a:cxnSpLocks/>
          </p:cNvCxnSpPr>
          <p:nvPr/>
        </p:nvCxnSpPr>
        <p:spPr>
          <a:xfrm flipV="1">
            <a:off x="6973173" y="3749404"/>
            <a:ext cx="1717117" cy="1315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1D25B0-94D5-C998-4DDA-FC691C0B650A}"/>
              </a:ext>
            </a:extLst>
          </p:cNvPr>
          <p:cNvSpPr txBox="1"/>
          <p:nvPr/>
        </p:nvSpPr>
        <p:spPr>
          <a:xfrm>
            <a:off x="4322893" y="225576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+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FD14A-73E6-7520-CB2A-8A8DE0B3950F}"/>
              </a:ext>
            </a:extLst>
          </p:cNvPr>
          <p:cNvSpPr txBox="1"/>
          <p:nvPr/>
        </p:nvSpPr>
        <p:spPr>
          <a:xfrm>
            <a:off x="4395928" y="3245343"/>
            <a:ext cx="572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</a:t>
            </a:r>
            <a:endParaRPr lang="ko-KR" altLang="en-US" sz="3600" dirty="0"/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D020AE58-9AC1-7326-1424-C8D492329294}"/>
              </a:ext>
            </a:extLst>
          </p:cNvPr>
          <p:cNvSpPr txBox="1">
            <a:spLocks/>
          </p:cNvSpPr>
          <p:nvPr/>
        </p:nvSpPr>
        <p:spPr>
          <a:xfrm>
            <a:off x="990600" y="56006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 err="1"/>
              <a:t>납뗌</a:t>
            </a:r>
            <a:r>
              <a:rPr lang="ko-KR" altLang="en-US" dirty="0"/>
              <a:t> 후 결선</a:t>
            </a:r>
            <a:r>
              <a:rPr lang="en-US" altLang="ko-KR" dirty="0"/>
              <a:t>(+, - </a:t>
            </a:r>
            <a:r>
              <a:rPr lang="ko-KR" altLang="en-US" dirty="0"/>
              <a:t>극성 주의</a:t>
            </a:r>
            <a:r>
              <a:rPr lang="en-US" altLang="ko-KR" dirty="0"/>
              <a:t>, </a:t>
            </a:r>
            <a:r>
              <a:rPr lang="ko-KR" altLang="en-US" dirty="0"/>
              <a:t>전압 확인</a:t>
            </a:r>
            <a:r>
              <a:rPr lang="en-US" altLang="ko-KR" dirty="0"/>
              <a:t>!!)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48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7157-F89F-3863-BDEC-EEAC44D1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F7929-03E1-AE29-D141-5B75C22D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B2ED-95B9-BC22-1DC5-C2ED1FCCABC3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3ED7274-2594-9B74-39C9-09E22BA19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온도 센서와 습도 센서가 하나의 전자 부품으로 구성된 장치</a:t>
            </a:r>
            <a:endParaRPr lang="en-US" altLang="ko-KR" sz="2000" dirty="0"/>
          </a:p>
          <a:p>
            <a:r>
              <a:rPr lang="ko-KR" altLang="en-US" sz="2000" dirty="0" err="1"/>
              <a:t>온습도</a:t>
            </a:r>
            <a:r>
              <a:rPr lang="ko-KR" altLang="en-US" sz="2000" dirty="0"/>
              <a:t> 측정 범위와 정확도에 따라 </a:t>
            </a:r>
            <a:r>
              <a:rPr lang="en-US" altLang="ko-KR" sz="2000" dirty="0"/>
              <a:t>DHT11 </a:t>
            </a:r>
            <a:r>
              <a:rPr lang="ko-KR" altLang="en-US" sz="2000" dirty="0"/>
              <a:t>모델과 </a:t>
            </a:r>
            <a:r>
              <a:rPr lang="en-US" altLang="ko-KR" sz="2000" dirty="0"/>
              <a:t>DHT22 </a:t>
            </a:r>
            <a:r>
              <a:rPr lang="ko-KR" altLang="en-US" sz="2000" dirty="0"/>
              <a:t>모델로 나뉘며</a:t>
            </a:r>
            <a:r>
              <a:rPr lang="en-US" altLang="ko-KR" sz="2000" dirty="0"/>
              <a:t>, </a:t>
            </a:r>
            <a:r>
              <a:rPr lang="ko-KR" altLang="en-US" sz="2000" dirty="0"/>
              <a:t>두 모델은 동작 전압과 소비 전류가 동일하지만 온도와 습도 측정 범위와 샘플링 주기가 다르다</a:t>
            </a:r>
            <a:r>
              <a:rPr lang="en-US" altLang="ko-KR" sz="2000" dirty="0"/>
              <a:t>.</a:t>
            </a:r>
          </a:p>
        </p:txBody>
      </p:sp>
      <p:pic>
        <p:nvPicPr>
          <p:cNvPr id="63492" name="Picture 4" descr="Grove - Temperature &amp; Humidity Sensor Pro (DHT22/AM2302) - The Pi Hut">
            <a:extLst>
              <a:ext uri="{FF2B5EF4-FFF2-40B4-BE49-F238E27FC236}">
                <a16:creationId xmlns:a16="http://schemas.microsoft.com/office/drawing/2014/main" id="{97A7A104-B75B-B88E-9DF4-8E0A95DFBF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9931" b="9931"/>
          <a:stretch>
            <a:fillRect/>
          </a:stretch>
        </p:blipFill>
        <p:spPr bwMode="auto">
          <a:xfrm>
            <a:off x="2058683" y="3248434"/>
            <a:ext cx="3155455" cy="264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0" name="Picture 2" descr="아두이노 온습도 센서(DHT11) - 주식회사 씽크타운">
            <a:extLst>
              <a:ext uri="{FF2B5EF4-FFF2-40B4-BE49-F238E27FC236}">
                <a16:creationId xmlns:a16="http://schemas.microsoft.com/office/drawing/2014/main" id="{37D90426-86AE-04A6-7530-D80E9E2045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10670" r="13255" b="9581"/>
          <a:stretch>
            <a:fillRect/>
          </a:stretch>
        </p:blipFill>
        <p:spPr bwMode="auto">
          <a:xfrm>
            <a:off x="726960" y="1549839"/>
            <a:ext cx="227024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83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A3AE-3384-15DF-2897-C5C78126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73D3B-82B6-E618-761D-DF4F0EE4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BEA64-87BD-E1B9-E598-36CAC7E0D937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566C8DD8-A5DC-72EA-96B3-B7E5C52C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DHT11 </a:t>
            </a:r>
            <a:r>
              <a:rPr lang="ko-KR" altLang="en-US" dirty="0"/>
              <a:t>라이브러리 다운로드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https://github.com/adafruit/DHT-sensor-library</a:t>
            </a:r>
            <a:r>
              <a:rPr lang="en-US" altLang="ko-KR" dirty="0"/>
              <a:t> </a:t>
            </a:r>
            <a:r>
              <a:rPr lang="ko-KR" altLang="en-US" dirty="0"/>
              <a:t>접속 또는 구글에 </a:t>
            </a:r>
            <a:r>
              <a:rPr lang="en-US" altLang="ko-KR" dirty="0"/>
              <a:t>‘DHT sensor library by Adafruit’ </a:t>
            </a:r>
            <a:r>
              <a:rPr lang="ko-KR" altLang="en-US" dirty="0"/>
              <a:t>검색</a:t>
            </a:r>
            <a:endParaRPr lang="en-US" altLang="ko-KR" dirty="0"/>
          </a:p>
          <a:p>
            <a:pPr lvl="1"/>
            <a:r>
              <a:rPr lang="en-US" altLang="ko-KR" dirty="0"/>
              <a:t>Zip </a:t>
            </a:r>
            <a:r>
              <a:rPr lang="ko-KR" altLang="en-US" dirty="0"/>
              <a:t>파일 다운로드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67C93E2-A59A-E7BA-0EB5-2E32EBF59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2981465"/>
            <a:ext cx="6726237" cy="3195498"/>
          </a:xfrm>
          <a:prstGeom prst="rect">
            <a:avLst/>
          </a:prstGeom>
        </p:spPr>
      </p:pic>
      <p:pic>
        <p:nvPicPr>
          <p:cNvPr id="3074" name="Picture 2" descr="QR">
            <a:extLst>
              <a:ext uri="{FF2B5EF4-FFF2-40B4-BE49-F238E27FC236}">
                <a16:creationId xmlns:a16="http://schemas.microsoft.com/office/drawing/2014/main" id="{3FE2C69C-3896-FE41-12EF-6F9DDC661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31" y="4369129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240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C403-510B-BE9C-B1F3-EE4F2434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1F832-041A-DA3A-5A26-F7B4A23D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538F2DD-2840-B570-FA70-BE07ED48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초음파 센서를 통해 가까운 물체가 감지될 시</a:t>
            </a:r>
            <a:r>
              <a:rPr lang="en-US" altLang="ko-KR" dirty="0"/>
              <a:t>, </a:t>
            </a:r>
            <a:r>
              <a:rPr lang="ko-KR" altLang="en-US" dirty="0"/>
              <a:t>빨간 </a:t>
            </a:r>
            <a:r>
              <a:rPr lang="en-US" altLang="ko-KR" dirty="0"/>
              <a:t>LED</a:t>
            </a:r>
            <a:r>
              <a:rPr lang="ko-KR" altLang="en-US" dirty="0"/>
              <a:t>의 불을 켜고 </a:t>
            </a:r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부저를</a:t>
            </a:r>
            <a:r>
              <a:rPr lang="ko-KR" altLang="en-US" dirty="0"/>
              <a:t> 통해 경고음을 </a:t>
            </a:r>
            <a:r>
              <a:rPr lang="ko-KR" altLang="en-US" dirty="0" err="1"/>
              <a:t>울리시오</a:t>
            </a:r>
            <a:r>
              <a:rPr lang="en-US" altLang="ko-KR" dirty="0"/>
              <a:t>.</a:t>
            </a:r>
          </a:p>
        </p:txBody>
      </p:sp>
      <p:pic>
        <p:nvPicPr>
          <p:cNvPr id="4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7C334408-BC2C-74DD-0A9B-848CA5407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32488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D54D7F-F36C-2708-957C-49E139DB9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02" y="2704225"/>
            <a:ext cx="1619476" cy="10955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2F320F-B20D-258F-6BA0-60B157243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578" y="2672215"/>
            <a:ext cx="2522922" cy="959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E3A299-C3E7-DF93-563E-5F69B3576D1C}"/>
              </a:ext>
            </a:extLst>
          </p:cNvPr>
          <p:cNvSpPr txBox="1"/>
          <p:nvPr/>
        </p:nvSpPr>
        <p:spPr>
          <a:xfrm>
            <a:off x="7846273" y="395555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962C1-EB2E-14E9-C60A-A5A480E3B2E2}"/>
              </a:ext>
            </a:extLst>
          </p:cNvPr>
          <p:cNvSpPr txBox="1"/>
          <p:nvPr/>
        </p:nvSpPr>
        <p:spPr>
          <a:xfrm>
            <a:off x="4937805" y="609235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703DE-5A17-3BD5-0288-73243A0F4066}"/>
              </a:ext>
            </a:extLst>
          </p:cNvPr>
          <p:cNvSpPr txBox="1"/>
          <p:nvPr/>
        </p:nvSpPr>
        <p:spPr>
          <a:xfrm>
            <a:off x="2042044" y="395968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893316-F962-F9E4-AD21-8A32405D0025}"/>
              </a:ext>
            </a:extLst>
          </p:cNvPr>
          <p:cNvSpPr txBox="1"/>
          <p:nvPr/>
        </p:nvSpPr>
        <p:spPr>
          <a:xfrm>
            <a:off x="2218081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</a:t>
            </a:r>
            <a:endParaRPr lang="ko-KR" altLang="en-US" dirty="0"/>
          </a:p>
        </p:txBody>
      </p:sp>
      <p:pic>
        <p:nvPicPr>
          <p:cNvPr id="16" name="Picture 2" descr="4 LED 5개 색상랜덤 아두이노 베스트 부품">
            <a:extLst>
              <a:ext uri="{FF2B5EF4-FFF2-40B4-BE49-F238E27FC236}">
                <a16:creationId xmlns:a16="http://schemas.microsoft.com/office/drawing/2014/main" id="{3A866A88-898D-FE34-877A-4C53B71A2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t="25571" r="71768" b="12666"/>
          <a:stretch>
            <a:fillRect/>
          </a:stretch>
        </p:blipFill>
        <p:spPr bwMode="auto">
          <a:xfrm>
            <a:off x="2775492" y="4644051"/>
            <a:ext cx="431534" cy="14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아두이노 중급] 16. 초음파 센서(거리 측정 센서) : 네이버 블로그">
            <a:extLst>
              <a:ext uri="{FF2B5EF4-FFF2-40B4-BE49-F238E27FC236}">
                <a16:creationId xmlns:a16="http://schemas.microsoft.com/office/drawing/2014/main" id="{2BF2A8C8-EC91-FEE4-653A-BDD05AFAB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148" y="2772486"/>
            <a:ext cx="1592830" cy="95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71DDB0-BB1A-F7C6-C213-3E63FE4EA180}"/>
              </a:ext>
            </a:extLst>
          </p:cNvPr>
          <p:cNvSpPr txBox="1"/>
          <p:nvPr/>
        </p:nvSpPr>
        <p:spPr>
          <a:xfrm>
            <a:off x="4798165" y="395127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초음파 센서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865C0-384E-7A0C-E611-FB74F0171928}"/>
              </a:ext>
            </a:extLst>
          </p:cNvPr>
          <p:cNvSpPr txBox="1"/>
          <p:nvPr/>
        </p:nvSpPr>
        <p:spPr>
          <a:xfrm>
            <a:off x="7699585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pic>
        <p:nvPicPr>
          <p:cNvPr id="20" name="Picture 4" descr="5V 능동 부저 [FQ-011] / 디바이스마트">
            <a:extLst>
              <a:ext uri="{FF2B5EF4-FFF2-40B4-BE49-F238E27FC236}">
                <a16:creationId xmlns:a16="http://schemas.microsoft.com/office/drawing/2014/main" id="{8E2EF01C-AE31-6E4F-4697-7E84B7767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64" t="17235" r="24650" b="20598"/>
          <a:stretch/>
        </p:blipFill>
        <p:spPr bwMode="auto">
          <a:xfrm>
            <a:off x="7891848" y="4521069"/>
            <a:ext cx="1318124" cy="132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21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0736-3A39-AE75-39E4-8408EDB4B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6332D-49D3-02F8-A177-0E811BF5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50EAB8-9911-3459-181E-97D28F92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79" y="1325563"/>
            <a:ext cx="5384289" cy="5308161"/>
          </a:xfrm>
          <a:prstGeom prst="rect">
            <a:avLst/>
          </a:prstGeom>
        </p:spPr>
      </p:pic>
      <p:sp>
        <p:nvSpPr>
          <p:cNvPr id="14" name="내용 개체 틀 5">
            <a:extLst>
              <a:ext uri="{FF2B5EF4-FFF2-40B4-BE49-F238E27FC236}">
                <a16:creationId xmlns:a16="http://schemas.microsoft.com/office/drawing/2014/main" id="{BA9AB3DC-7D5E-A350-1677-1988E3B77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353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95EE-189E-424D-3543-269651CDF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03870-1342-522F-3739-18B439FA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14" name="내용 개체 틀 5">
            <a:extLst>
              <a:ext uri="{FF2B5EF4-FFF2-40B4-BE49-F238E27FC236}">
                <a16:creationId xmlns:a16="http://schemas.microsoft.com/office/drawing/2014/main" id="{9A868864-A509-C3E9-5A7C-C55344671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5F3326-0AF3-038C-04EF-A78B0E233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5563"/>
            <a:ext cx="5086350" cy="3581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F066CB9-1291-242C-12A3-57EF6BBA6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872" y="1284818"/>
            <a:ext cx="5762928" cy="515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D5D4-1F8B-C9DF-91AA-641948A1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0A4FC-CD51-416B-1293-A0056185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LCD </a:t>
            </a:r>
            <a:r>
              <a:rPr lang="ko-KR" altLang="en-US" dirty="0"/>
              <a:t>사용 함수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1456E-9FE4-6E72-FE8C-521C9347F0FB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3BE0895-9CC5-CA4E-0455-1FDCB1215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50871"/>
              </p:ext>
            </p:extLst>
          </p:nvPr>
        </p:nvGraphicFramePr>
        <p:xfrm>
          <a:off x="944657" y="1418166"/>
          <a:ext cx="10302686" cy="483164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343430">
                  <a:extLst>
                    <a:ext uri="{9D8B030D-6E8A-4147-A177-3AD203B41FA5}">
                      <a16:colId xmlns:a16="http://schemas.microsoft.com/office/drawing/2014/main" val="778410855"/>
                    </a:ext>
                  </a:extLst>
                </a:gridCol>
                <a:gridCol w="6959256">
                  <a:extLst>
                    <a:ext uri="{9D8B030D-6E8A-4147-A177-3AD203B41FA5}">
                      <a16:colId xmlns:a16="http://schemas.microsoft.com/office/drawing/2014/main" val="2844750320"/>
                    </a:ext>
                  </a:extLst>
                </a:gridCol>
              </a:tblGrid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514045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begin()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LCD</a:t>
                      </a:r>
                      <a:r>
                        <a:rPr lang="ko-KR" altLang="en-US" dirty="0"/>
                        <a:t>를 시작한다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567233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clear()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내용을 초기화한다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88941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setCursor</a:t>
                      </a:r>
                      <a:r>
                        <a:rPr lang="en-US" altLang="ko-KR" dirty="0"/>
                        <a:t>(col, row)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col, row</a:t>
                      </a:r>
                      <a:r>
                        <a:rPr lang="ko-KR" altLang="en-US" dirty="0"/>
                        <a:t>로 커서를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744543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print(“</a:t>
                      </a:r>
                      <a:r>
                        <a:rPr lang="ko-KR" altLang="en-US" dirty="0"/>
                        <a:t>내용</a:t>
                      </a:r>
                      <a:r>
                        <a:rPr lang="en-US" altLang="ko-KR" dirty="0"/>
                        <a:t>”)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내용</a:t>
                      </a:r>
                      <a:r>
                        <a:rPr lang="en-US" altLang="ko-KR" dirty="0"/>
                        <a:t>” </a:t>
                      </a:r>
                      <a:r>
                        <a:rPr lang="ko-KR" altLang="en-US" dirty="0"/>
                        <a:t>글자를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45815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home()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커서를 </a:t>
                      </a:r>
                      <a:r>
                        <a:rPr lang="en-US" altLang="ko-KR" dirty="0"/>
                        <a:t>(0,0)</a:t>
                      </a:r>
                      <a:r>
                        <a:rPr lang="ko-KR" altLang="en-US" dirty="0"/>
                        <a:t>으로 이동한다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991345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display()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내용을 표시한다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412217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noDisplay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내용을 숨긴다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59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5726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G마켓 산스 TTF Bold"/>
        <a:ea typeface="G마켓 산스 TTF Bold"/>
        <a:cs typeface=""/>
      </a:majorFont>
      <a:minorFont>
        <a:latin typeface="G마켓 산스 TTF Medium"/>
        <a:ea typeface="G마켓 산스 TTF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16781</TotalTime>
  <Words>445</Words>
  <Application>Microsoft Office PowerPoint</Application>
  <PresentationFormat>와이드스크린</PresentationFormat>
  <Paragraphs>72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PowerPoint 프레젠테이션</vt:lpstr>
      <vt:lpstr>태양광 패널</vt:lpstr>
      <vt:lpstr>태양광 패널 실습</vt:lpstr>
      <vt:lpstr>태양광 패널로 베터리 충전하기</vt:lpstr>
      <vt:lpstr>온습도 센서</vt:lpstr>
      <vt:lpstr>DHT11 실습</vt:lpstr>
      <vt:lpstr>초음파 센서 실습 Quiz</vt:lpstr>
      <vt:lpstr>초음파 센서 실습 Quiz</vt:lpstr>
      <vt:lpstr>초음파 센서 실습 Quiz</vt:lpstr>
      <vt:lpstr>LCD 사용 함수(1)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761</cp:revision>
  <dcterms:created xsi:type="dcterms:W3CDTF">2024-10-23T01:56:35Z</dcterms:created>
  <dcterms:modified xsi:type="dcterms:W3CDTF">2025-10-28T07:17:05Z</dcterms:modified>
</cp:coreProperties>
</file>