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10"/>
  </p:notesMasterIdLst>
  <p:sldIdLst>
    <p:sldId id="1004" r:id="rId2"/>
    <p:sldId id="1102" r:id="rId3"/>
    <p:sldId id="1060" r:id="rId4"/>
    <p:sldId id="1066" r:id="rId5"/>
    <p:sldId id="1080" r:id="rId6"/>
    <p:sldId id="1085" r:id="rId7"/>
    <p:sldId id="1086" r:id="rId8"/>
    <p:sldId id="1101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005C5F"/>
    <a:srgbClr val="00FA3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A111915-BE36-4E01-A7E5-04B1672EAD32}" styleName="밝은 스타일 2 - 강조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2838BEF-8BB2-4498-84A7-C5851F593DF1}" styleName="보통 스타일 4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69012ECD-51FC-41F1-AA8D-1B2483CD663E}" styleName="밝은 스타일 2 - 강조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609" autoAdjust="0"/>
    <p:restoredTop sz="81019" autoAdjust="0"/>
  </p:normalViewPr>
  <p:slideViewPr>
    <p:cSldViewPr snapToGrid="0">
      <p:cViewPr varScale="1">
        <p:scale>
          <a:sx n="81" d="100"/>
          <a:sy n="81" d="100"/>
        </p:scale>
        <p:origin x="4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00" d="100"/>
          <a:sy n="100" d="100"/>
        </p:scale>
        <p:origin x="355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A4D7BB-9D09-4DB4-979A-1857C46342D6}" type="datetimeFigureOut">
              <a:rPr lang="ko-KR" altLang="en-US" smtClean="0"/>
              <a:t>2025-10-27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99D024-DE68-44ED-822F-D827F84FBD4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41595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naver.com/lagrange0115/222345576071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blog.naver.com/mathesis_time" TargetMode="External"/><Relationship Id="rId5" Type="http://schemas.openxmlformats.org/officeDocument/2006/relationships/hyperlink" Target="https://blog.naver.com/mathesis_time/221136759652" TargetMode="External"/><Relationship Id="rId4" Type="http://schemas.openxmlformats.org/officeDocument/2006/relationships/hyperlink" Target="https://blog.naver.com/lagrange0115" TargetMode="Externa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F8277-0718-E14B-8080-F17438423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F8175E1-F880-85B0-EE66-12E944A951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5823E11-8398-7F5F-57BF-040C26FC6F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Pulse : </a:t>
            </a:r>
            <a:r>
              <a:rPr lang="ko-KR" altLang="en-US" b="1" i="0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사각파</a:t>
            </a:r>
            <a:endParaRPr lang="ko-KR" altLang="en-US" b="0" i="0" dirty="0">
              <a:solidFill>
                <a:srgbClr val="666666"/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Width : 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폭</a:t>
            </a:r>
            <a:endParaRPr lang="ko-KR" altLang="en-US" b="0" i="0" dirty="0">
              <a:solidFill>
                <a:srgbClr val="666666"/>
              </a:solidFill>
              <a:effectLst/>
              <a:highlight>
                <a:srgbClr val="FFFFFF"/>
              </a:highlight>
              <a:latin typeface="+mn-lt"/>
            </a:endParaRPr>
          </a:p>
          <a:p>
            <a:pPr algn="l" fontAlgn="base"/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Modulation : 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</a:rPr>
              <a:t>변조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[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출처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]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 </a:t>
            </a:r>
            <a:r>
              <a:rPr lang="en-US" altLang="ko-KR" b="0" i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3"/>
              </a:rPr>
              <a:t>PWM </a:t>
            </a:r>
            <a:r>
              <a:rPr lang="ko-KR" altLang="en-US" b="0" i="0" u="none" strike="noStrike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3"/>
              </a:rPr>
              <a:t>제어란</a:t>
            </a:r>
            <a:r>
              <a:rPr lang="en-US" altLang="ko-KR" b="0" i="0" u="none" strike="noStrike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3"/>
              </a:rPr>
              <a:t>? (Pulse Width Modulation)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|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작성자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</a:rPr>
              <a:t> </a:t>
            </a:r>
            <a:r>
              <a:rPr lang="ko-KR" altLang="en-US" b="0" i="0" u="none" strike="noStrike" dirty="0" err="1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Dotum" panose="020B0600000101010101" pitchFamily="50" charset="-127"/>
                <a:hlinkClick r:id="rId4"/>
              </a:rPr>
              <a:t>엠에스리</a:t>
            </a:r>
            <a:endParaRPr lang="ko-KR" altLang="en-US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Dotum" panose="020B0600000101010101" pitchFamily="50" charset="-127"/>
            </a:endParaRPr>
          </a:p>
          <a:p>
            <a:pPr algn="l"/>
            <a:endParaRPr lang="en-US" altLang="ko-KR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나눔고딕" pitchFamily="2" charset="-127"/>
            </a:endParaRPr>
          </a:p>
          <a:p>
            <a:pPr algn="l"/>
            <a:r>
              <a:rPr lang="ko-KR" altLang="en-US" dirty="0"/>
              <a:t>디지털 신호 </a:t>
            </a:r>
            <a:r>
              <a:rPr lang="en-US" altLang="ko-KR" dirty="0"/>
              <a:t>0,1</a:t>
            </a:r>
            <a:r>
              <a:rPr lang="ko-KR" altLang="en-US" dirty="0"/>
              <a:t>을 빠르게 반복해서 평균값을 내는 것처럼 보이게 하는 것</a:t>
            </a:r>
            <a:endParaRPr lang="en-US" altLang="ko-KR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나눔고딕" pitchFamily="2" charset="-127"/>
            </a:endParaRPr>
          </a:p>
          <a:p>
            <a:pPr algn="l"/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아래 그림과 같이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5v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의 폭을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25%, 50%, 75% 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등으로 다양하게 바꾸어 아날로그 신호를 나타냅니다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. 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즉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0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부터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255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까지의 숫자를 표현할 수 있게 되는 것입니다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.</a:t>
            </a:r>
            <a:b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</a:b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폭이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25%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일 때는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64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라는 값을 나타내고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, 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폭이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50%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일 때는 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127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이라는 값을 나타내는 방식입니다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.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[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출처</a:t>
            </a:r>
            <a:r>
              <a:rPr lang="en-US" altLang="ko-KR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]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 </a:t>
            </a:r>
            <a:r>
              <a:rPr lang="en-US" altLang="ko-KR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[</a:t>
            </a:r>
            <a:r>
              <a:rPr lang="ko-KR" altLang="en-US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가장 쉬운 </a:t>
            </a:r>
            <a:r>
              <a:rPr lang="ko-KR" altLang="en-US" b="0" i="0" u="sng" dirty="0" err="1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아두이노</a:t>
            </a:r>
            <a:r>
              <a:rPr lang="ko-KR" altLang="en-US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 강의</a:t>
            </a:r>
            <a:r>
              <a:rPr lang="en-US" altLang="ko-KR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5"/>
              </a:rPr>
              <a:t>] (33) PWM</a:t>
            </a:r>
            <a:r>
              <a:rPr lang="en-US" altLang="ko-KR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|</a:t>
            </a:r>
            <a:r>
              <a:rPr lang="ko-KR" altLang="en-US" b="1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작성자</a:t>
            </a:r>
            <a:r>
              <a:rPr lang="ko-KR" alt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</a:rPr>
              <a:t> </a:t>
            </a:r>
            <a:r>
              <a:rPr lang="ko-KR" altLang="en-US" b="0" i="0" u="sng" dirty="0">
                <a:solidFill>
                  <a:srgbClr val="608CBA"/>
                </a:solidFill>
                <a:effectLst/>
                <a:highlight>
                  <a:srgbClr val="FFFFFF"/>
                </a:highlight>
                <a:latin typeface="+mn-lt"/>
                <a:ea typeface="나눔고딕" pitchFamily="2" charset="-127"/>
                <a:hlinkClick r:id="rId6"/>
              </a:rPr>
              <a:t>코딩타임</a:t>
            </a:r>
            <a:endParaRPr lang="ko-KR" altLang="en-US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+mn-lt"/>
              <a:ea typeface="나눔고딕" pitchFamily="2" charset="-127"/>
            </a:endParaRPr>
          </a:p>
          <a:p>
            <a:br>
              <a:rPr lang="ko-KR" altLang="en-US" dirty="0">
                <a:latin typeface="+mn-lt"/>
              </a:rPr>
            </a:br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56015D-BD35-9A59-FC37-90C608D762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01988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411AD-6C54-2AD8-ABD2-5DDAED277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80CFA06-BCCD-B994-FF83-9A3B56D7A3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46714D3-A268-EC14-C136-A9326F00D0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89B0F9-03A0-14E8-65E6-E58D40B046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07317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3FE1A-B652-42C3-13FA-70CBE90ED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4BCDDD0-A29F-8C3E-145B-9F4CFA3319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4F55AC-C71F-B317-5EFD-E3E8AE1821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3A01C6-497B-67F6-1476-628008B438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87661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92017-792E-C7BF-616B-BDDF4F419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A87B1C8-06AD-E32E-B52B-5EB547E9B0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7551DA-FD80-0FEA-FB6D-DCEB89A570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2ACB60-5A17-9BBE-0646-C1ED636A29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65670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7673E-74C7-AFDE-69D1-1F9A80E1C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3B32E6E-43F8-8BD2-C8C2-6B6F2FAE98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A1C0786-4D55-0285-6958-E7763FEBEB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C69716-A6AE-AAB7-8211-8994FAAD62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46343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5F50A-47EC-D589-2C0F-BBED56284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DF1374C-FB94-51A8-47BA-15418AD7B8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AAB358-4486-D0D2-1363-794A407F4B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fontAlgn="base"/>
            <a:endParaRPr lang="en-US" altLang="ko-KR" dirty="0">
              <a:latin typeface="+mn-lt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CA441B-8868-8B8C-ACA6-C5B3ADAB3E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99D024-DE68-44ED-822F-D827F84FBD4A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15271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363AF495-5D7E-D543-8293-A330C0279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F0A9264D-0D91-1C47-F467-5413B437A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36EBF2-68F7-4F19-A749-6831437CAE65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F32C6696-EE0A-BC2D-7063-70F289365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5889133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6460" y="224276"/>
            <a:ext cx="10515600" cy="1325563"/>
          </a:xfrm>
        </p:spPr>
        <p:txBody>
          <a:bodyPr>
            <a:normAutofit/>
          </a:bodyPr>
          <a:lstStyle>
            <a:lvl1pPr>
              <a:defRPr sz="4800"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851400"/>
          </a:xfrm>
        </p:spPr>
        <p:txBody>
          <a:bodyPr/>
          <a:lstStyle>
            <a:lvl1pPr>
              <a:lnSpc>
                <a:spcPct val="120000"/>
              </a:lnSpc>
              <a:defRPr sz="2400"/>
            </a:lvl1pPr>
            <a:lvl2pPr>
              <a:lnSpc>
                <a:spcPct val="120000"/>
              </a:lnSpc>
              <a:defRPr sz="2000"/>
            </a:lvl2pPr>
            <a:lvl3pPr>
              <a:lnSpc>
                <a:spcPct val="120000"/>
              </a:lnSpc>
              <a:defRPr sz="1800"/>
            </a:lvl3pPr>
            <a:lvl4pPr>
              <a:lnSpc>
                <a:spcPct val="120000"/>
              </a:lnSpc>
              <a:defRPr sz="1600"/>
            </a:lvl4pPr>
            <a:lvl5pPr>
              <a:lnSpc>
                <a:spcPct val="120000"/>
              </a:lnSpc>
              <a:defRPr sz="16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03132" y="646168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fld id="{083A2CE0-18CD-4102-B738-4ACFF9E68BA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2800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0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>
          <a:xfrm>
            <a:off x="9203132" y="6460503"/>
            <a:ext cx="2743200" cy="365125"/>
          </a:xfrm>
          <a:prstGeom prst="rect">
            <a:avLst/>
          </a:prstGeom>
        </p:spPr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26523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F06F24-622A-4AA1-9EE9-61C4C87F1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D00FB5B-CBB9-D05F-2D4C-35F2E2778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CFD3D05-2043-7424-C7F9-3D759F9AA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665429-C731-4E12-954F-54C9E5190FA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03615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A4579422-9426-9FEC-70F2-16B5A9ADED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0E2B5B01-93B1-9ADC-F3DF-2B340E54EC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3132" y="645994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36EBF2-68F7-4F19-A749-6831437CAE65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F3BE842-C521-0C8F-A4B5-11422EB6C247}"/>
              </a:ext>
            </a:extLst>
          </p:cNvPr>
          <p:cNvSpPr txBox="1">
            <a:spLocks/>
          </p:cNvSpPr>
          <p:nvPr userDrawn="1"/>
        </p:nvSpPr>
        <p:spPr>
          <a:xfrm>
            <a:off x="10555576" y="218354"/>
            <a:ext cx="293806" cy="321897"/>
          </a:xfrm>
          <a:prstGeom prst="rect">
            <a:avLst/>
          </a:prstGeom>
        </p:spPr>
        <p:txBody>
          <a:bodyPr/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defRPr>
            </a:lvl1pPr>
          </a:lstStyle>
          <a:p>
            <a:r>
              <a:rPr lang="en-US" altLang="ko-KR" sz="2400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sz="2400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2BDCCE0A-8512-9AD3-FCFE-854EDADA9794}"/>
              </a:ext>
            </a:extLst>
          </p:cNvPr>
          <p:cNvGrpSpPr/>
          <p:nvPr userDrawn="1"/>
        </p:nvGrpSpPr>
        <p:grpSpPr>
          <a:xfrm>
            <a:off x="9299385" y="287928"/>
            <a:ext cx="2646947" cy="325258"/>
            <a:chOff x="22849643" y="-4470425"/>
            <a:chExt cx="7688784" cy="944801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2AB111EE-FD1E-BC5A-5D1E-AC40300BC5A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541510" y="-4460662"/>
              <a:ext cx="2996917" cy="935038"/>
            </a:xfrm>
            <a:prstGeom prst="rect">
              <a:avLst/>
            </a:prstGeom>
          </p:spPr>
        </p:pic>
        <p:pic>
          <p:nvPicPr>
            <p:cNvPr id="9" name="그림 8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71F583FB-0B92-1510-CF5E-6C92F79050E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849643" y="-4470425"/>
              <a:ext cx="3459479" cy="74490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55190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G마켓 산스 TTF Medium" panose="02000000000000000000" pitchFamily="2" charset="-127"/>
          <a:ea typeface="G마켓 산스 TTF Medium" panose="020000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dafruit/DHT-sensor-library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jpeg"/><Relationship Id="rId7" Type="http://schemas.openxmlformats.org/officeDocument/2006/relationships/image" Target="../media/image1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jpe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부제목 2">
            <a:extLst>
              <a:ext uri="{FF2B5EF4-FFF2-40B4-BE49-F238E27FC236}">
                <a16:creationId xmlns:a16="http://schemas.microsoft.com/office/drawing/2014/main" id="{5F9E2036-8D3D-3C48-304C-6615D19E47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4049" y="3037564"/>
            <a:ext cx="10243899" cy="2028316"/>
          </a:xfrm>
        </p:spPr>
        <p:txBody>
          <a:bodyPr wrap="square">
            <a:noAutofit/>
          </a:bodyPr>
          <a:lstStyle/>
          <a:p>
            <a:r>
              <a:rPr lang="ko-KR" altLang="en-US" sz="4800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endParaRPr lang="en-US" altLang="ko-KR" sz="4800" b="1" dirty="0">
              <a:solidFill>
                <a:srgbClr val="2B2B2B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SemiBold" panose="02000703000000020004" pitchFamily="2" charset="-127"/>
            </a:endParaRPr>
          </a:p>
          <a:p>
            <a:r>
              <a:rPr lang="en-US" altLang="ko-KR" sz="4800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sz="4800" b="1" dirty="0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 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3AD1B1D-CD7D-EE4E-41B0-87A1CCAAD4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1324" y="1985210"/>
            <a:ext cx="4069351" cy="614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912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2CA950-7C15-8757-9706-C37D4E431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DF40A6C-655C-8074-8582-0781B4CBD5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705646-5EB3-CECB-110A-29B75A0DA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pPr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1284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17157-F89F-3863-BDEC-EEAC44D15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3F7929-03E1-AE29-D141-5B75C22D8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온습도</a:t>
            </a:r>
            <a:r>
              <a:rPr lang="ko-KR" altLang="en-US" dirty="0"/>
              <a:t> 센서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09B2ED-95B9-BC22-1DC5-C2ED1FCCABC3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C3ED7274-2594-9B74-39C9-09E22BA19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3760" y="1884556"/>
            <a:ext cx="5861280" cy="4292406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온도 센서와 습도 센서가 하나의 전자 부품으로 구성된 장치</a:t>
            </a:r>
            <a:endParaRPr lang="en-US" altLang="ko-KR" sz="2000" dirty="0"/>
          </a:p>
          <a:p>
            <a:r>
              <a:rPr lang="ko-KR" altLang="en-US" sz="2000" dirty="0" err="1"/>
              <a:t>온습도</a:t>
            </a:r>
            <a:r>
              <a:rPr lang="ko-KR" altLang="en-US" sz="2000" dirty="0"/>
              <a:t> 측정 범위와 정확도에 따라 </a:t>
            </a:r>
            <a:r>
              <a:rPr lang="en-US" altLang="ko-KR" sz="2000" dirty="0"/>
              <a:t>DHT11 </a:t>
            </a:r>
            <a:r>
              <a:rPr lang="ko-KR" altLang="en-US" sz="2000" dirty="0"/>
              <a:t>모델과 </a:t>
            </a:r>
            <a:r>
              <a:rPr lang="en-US" altLang="ko-KR" sz="2000" dirty="0"/>
              <a:t>DHT22 </a:t>
            </a:r>
            <a:r>
              <a:rPr lang="ko-KR" altLang="en-US" sz="2000" dirty="0"/>
              <a:t>모델로 나뉘며</a:t>
            </a:r>
            <a:r>
              <a:rPr lang="en-US" altLang="ko-KR" sz="2000" dirty="0"/>
              <a:t>, </a:t>
            </a:r>
            <a:r>
              <a:rPr lang="ko-KR" altLang="en-US" sz="2000" dirty="0"/>
              <a:t>두 모델은 동작 전압과 소비 전류가 동일하지만 온도와 습도 측정 범위와 샘플링 주기가 다르다</a:t>
            </a:r>
            <a:r>
              <a:rPr lang="en-US" altLang="ko-KR" sz="2000" dirty="0"/>
              <a:t>.</a:t>
            </a:r>
          </a:p>
        </p:txBody>
      </p:sp>
      <p:pic>
        <p:nvPicPr>
          <p:cNvPr id="63492" name="Picture 4" descr="Grove - Temperature &amp; Humidity Sensor Pro (DHT22/AM2302) - The Pi Hut">
            <a:extLst>
              <a:ext uri="{FF2B5EF4-FFF2-40B4-BE49-F238E27FC236}">
                <a16:creationId xmlns:a16="http://schemas.microsoft.com/office/drawing/2014/main" id="{97A7A104-B75B-B88E-9DF4-8E0A95DFBF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45" t="9931" b="9931"/>
          <a:stretch>
            <a:fillRect/>
          </a:stretch>
        </p:blipFill>
        <p:spPr bwMode="auto">
          <a:xfrm>
            <a:off x="2058683" y="3248434"/>
            <a:ext cx="3155455" cy="2646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3490" name="Picture 2" descr="아두이노 온습도 센서(DHT11) - 주식회사 씽크타운">
            <a:extLst>
              <a:ext uri="{FF2B5EF4-FFF2-40B4-BE49-F238E27FC236}">
                <a16:creationId xmlns:a16="http://schemas.microsoft.com/office/drawing/2014/main" id="{37D90426-86AE-04A6-7530-D80E9E2045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07" t="10670" r="13255" b="9581"/>
          <a:stretch>
            <a:fillRect/>
          </a:stretch>
        </p:blipFill>
        <p:spPr bwMode="auto">
          <a:xfrm>
            <a:off x="726960" y="1549839"/>
            <a:ext cx="2270240" cy="2425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18326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6A3AE-3384-15DF-2897-C5C78126B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973D3B-82B6-E618-761D-DF4F0EE47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DHT11 </a:t>
            </a:r>
            <a:r>
              <a:rPr lang="ko-KR" altLang="en-US" dirty="0"/>
              <a:t>실습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2BEA64-87BD-E1B9-E598-36CAC7E0D937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566C8DD8-A5DC-72EA-96B3-B7E5C52C4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457200" indent="-457200">
              <a:buAutoNum type="arabicPeriod"/>
            </a:pPr>
            <a:r>
              <a:rPr lang="en-US" altLang="ko-KR" dirty="0"/>
              <a:t>DHT11 </a:t>
            </a:r>
            <a:r>
              <a:rPr lang="ko-KR" altLang="en-US" dirty="0"/>
              <a:t>라이브러리 다운로드</a:t>
            </a:r>
            <a:endParaRPr lang="en-US" altLang="ko-KR" dirty="0"/>
          </a:p>
          <a:p>
            <a:pPr lvl="1"/>
            <a:r>
              <a:rPr lang="en-US" altLang="ko-KR" dirty="0">
                <a:hlinkClick r:id="rId3"/>
              </a:rPr>
              <a:t>https://github.com/adafruit/DHT-sensor-library</a:t>
            </a:r>
            <a:r>
              <a:rPr lang="en-US" altLang="ko-KR" dirty="0"/>
              <a:t> </a:t>
            </a:r>
            <a:r>
              <a:rPr lang="ko-KR" altLang="en-US" dirty="0"/>
              <a:t>접속 또는 구글에 </a:t>
            </a:r>
            <a:r>
              <a:rPr lang="en-US" altLang="ko-KR" dirty="0"/>
              <a:t>‘DHT sensor library by Adafruit’ </a:t>
            </a:r>
            <a:r>
              <a:rPr lang="ko-KR" altLang="en-US" dirty="0"/>
              <a:t>검색</a:t>
            </a:r>
            <a:endParaRPr lang="en-US" altLang="ko-KR" dirty="0"/>
          </a:p>
          <a:p>
            <a:pPr lvl="1"/>
            <a:r>
              <a:rPr lang="en-US" altLang="ko-KR" dirty="0"/>
              <a:t>Zip </a:t>
            </a:r>
            <a:r>
              <a:rPr lang="ko-KR" altLang="en-US" dirty="0"/>
              <a:t>파일 다운로드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67C93E2-A59A-E7BA-0EB5-2E32EBF595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3700" y="2981465"/>
            <a:ext cx="6726237" cy="3195498"/>
          </a:xfrm>
          <a:prstGeom prst="rect">
            <a:avLst/>
          </a:prstGeom>
        </p:spPr>
      </p:pic>
      <p:pic>
        <p:nvPicPr>
          <p:cNvPr id="3074" name="Picture 2" descr="QR">
            <a:extLst>
              <a:ext uri="{FF2B5EF4-FFF2-40B4-BE49-F238E27FC236}">
                <a16:creationId xmlns:a16="http://schemas.microsoft.com/office/drawing/2014/main" id="{3FE2C69C-3896-FE41-12EF-6F9DDC661C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831" y="4369129"/>
            <a:ext cx="2133600" cy="213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0240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AC403-510B-BE9C-B1F3-EE4F24345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81F832-041A-DA3A-5A26-F7B4A23D1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</a:t>
            </a:r>
            <a:r>
              <a:rPr lang="en-US" altLang="ko-KR" dirty="0"/>
              <a:t>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sp>
        <p:nvSpPr>
          <p:cNvPr id="5" name="내용 개체 틀 5">
            <a:extLst>
              <a:ext uri="{FF2B5EF4-FFF2-40B4-BE49-F238E27FC236}">
                <a16:creationId xmlns:a16="http://schemas.microsoft.com/office/drawing/2014/main" id="{4538F2DD-2840-B570-FA70-BE07ED48F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초음파 센서를 통해 가까운 물체가 감지될 시</a:t>
            </a:r>
            <a:r>
              <a:rPr lang="en-US" altLang="ko-KR" dirty="0"/>
              <a:t>, </a:t>
            </a:r>
            <a:r>
              <a:rPr lang="ko-KR" altLang="en-US" dirty="0"/>
              <a:t>빨간 </a:t>
            </a:r>
            <a:r>
              <a:rPr lang="en-US" altLang="ko-KR" dirty="0"/>
              <a:t>LED</a:t>
            </a:r>
            <a:r>
              <a:rPr lang="ko-KR" altLang="en-US" dirty="0"/>
              <a:t>의 불을 켜고 </a:t>
            </a:r>
            <a:r>
              <a:rPr lang="ko-KR" altLang="en-US" dirty="0" err="1"/>
              <a:t>피에조</a:t>
            </a:r>
            <a:r>
              <a:rPr lang="ko-KR" altLang="en-US" dirty="0"/>
              <a:t> </a:t>
            </a:r>
            <a:r>
              <a:rPr lang="ko-KR" altLang="en-US" dirty="0" err="1"/>
              <a:t>부저를</a:t>
            </a:r>
            <a:r>
              <a:rPr lang="ko-KR" altLang="en-US" dirty="0"/>
              <a:t> 통해 경고음을 </a:t>
            </a:r>
            <a:r>
              <a:rPr lang="ko-KR" altLang="en-US" dirty="0" err="1"/>
              <a:t>울리시오</a:t>
            </a:r>
            <a:r>
              <a:rPr lang="en-US" altLang="ko-KR" dirty="0"/>
              <a:t>.</a:t>
            </a:r>
          </a:p>
        </p:txBody>
      </p:sp>
      <p:pic>
        <p:nvPicPr>
          <p:cNvPr id="4" name="Picture 2" descr="아두이노]Breadboard Jumper Cables(20P-SET) 점퍼 케이블 (M1000006992)">
            <a:extLst>
              <a:ext uri="{FF2B5EF4-FFF2-40B4-BE49-F238E27FC236}">
                <a16:creationId xmlns:a16="http://schemas.microsoft.com/office/drawing/2014/main" id="{7C334408-BC2C-74DD-0A9B-848CA54070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8165" y="4324888"/>
            <a:ext cx="1940813" cy="1940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ED54D7F-F36C-2708-957C-49E139DB91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1902" y="2704225"/>
            <a:ext cx="1619476" cy="109552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72F320F-B20D-258F-6BA0-60B157243C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5578" y="2672215"/>
            <a:ext cx="2522922" cy="9590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7E3A299-C3E7-DF93-563E-5F69B3576D1C}"/>
              </a:ext>
            </a:extLst>
          </p:cNvPr>
          <p:cNvSpPr txBox="1"/>
          <p:nvPr/>
        </p:nvSpPr>
        <p:spPr>
          <a:xfrm>
            <a:off x="7846273" y="3955556"/>
            <a:ext cx="1661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브레드</a:t>
            </a:r>
            <a:r>
              <a:rPr lang="ko-KR" altLang="en-US" dirty="0"/>
              <a:t> 보드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962C1-EB2E-14E9-C60A-A5A480E3B2E2}"/>
              </a:ext>
            </a:extLst>
          </p:cNvPr>
          <p:cNvSpPr txBox="1"/>
          <p:nvPr/>
        </p:nvSpPr>
        <p:spPr>
          <a:xfrm>
            <a:off x="4937805" y="6092354"/>
            <a:ext cx="16615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점퍼 케이블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7703DE-5A17-3BD5-0288-73243A0F4066}"/>
              </a:ext>
            </a:extLst>
          </p:cNvPr>
          <p:cNvSpPr txBox="1"/>
          <p:nvPr/>
        </p:nvSpPr>
        <p:spPr>
          <a:xfrm>
            <a:off x="2042044" y="3959685"/>
            <a:ext cx="2222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/>
              <a:t>아두이노</a:t>
            </a:r>
            <a:r>
              <a:rPr lang="ko-KR" altLang="en-US" dirty="0"/>
              <a:t> 호환보드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893316-F962-F9E4-AD21-8A32405D0025}"/>
              </a:ext>
            </a:extLst>
          </p:cNvPr>
          <p:cNvSpPr txBox="1"/>
          <p:nvPr/>
        </p:nvSpPr>
        <p:spPr>
          <a:xfrm>
            <a:off x="2218081" y="6088580"/>
            <a:ext cx="1619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LED</a:t>
            </a:r>
            <a:endParaRPr lang="ko-KR" altLang="en-US" dirty="0"/>
          </a:p>
        </p:txBody>
      </p:sp>
      <p:pic>
        <p:nvPicPr>
          <p:cNvPr id="16" name="Picture 2" descr="4 LED 5개 색상랜덤 아두이노 베스트 부품">
            <a:extLst>
              <a:ext uri="{FF2B5EF4-FFF2-40B4-BE49-F238E27FC236}">
                <a16:creationId xmlns:a16="http://schemas.microsoft.com/office/drawing/2014/main" id="{3A866A88-898D-FE34-877A-4C53B71A20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73" t="25571" r="71768" b="12666"/>
          <a:stretch>
            <a:fillRect/>
          </a:stretch>
        </p:blipFill>
        <p:spPr bwMode="auto">
          <a:xfrm>
            <a:off x="2775492" y="4644051"/>
            <a:ext cx="431534" cy="14361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아두이노 중급] 16. 초음파 센서(거리 측정 센서) : 네이버 블로그">
            <a:extLst>
              <a:ext uri="{FF2B5EF4-FFF2-40B4-BE49-F238E27FC236}">
                <a16:creationId xmlns:a16="http://schemas.microsoft.com/office/drawing/2014/main" id="{2BF2A8C8-EC91-FEE4-653A-BDD05AFABF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6148" y="2772486"/>
            <a:ext cx="1592830" cy="959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F71DDB0-BB1A-F7C6-C213-3E63FE4EA180}"/>
              </a:ext>
            </a:extLst>
          </p:cNvPr>
          <p:cNvSpPr txBox="1"/>
          <p:nvPr/>
        </p:nvSpPr>
        <p:spPr>
          <a:xfrm>
            <a:off x="4798165" y="3951278"/>
            <a:ext cx="22224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초음파 센서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7865C0-384E-7A0C-E611-FB74F0171928}"/>
              </a:ext>
            </a:extLst>
          </p:cNvPr>
          <p:cNvSpPr txBox="1"/>
          <p:nvPr/>
        </p:nvSpPr>
        <p:spPr>
          <a:xfrm>
            <a:off x="7699585" y="6088580"/>
            <a:ext cx="1619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능동 </a:t>
            </a:r>
            <a:r>
              <a:rPr lang="ko-KR" altLang="en-US" dirty="0" err="1"/>
              <a:t>부저</a:t>
            </a:r>
            <a:endParaRPr lang="ko-KR" altLang="en-US" dirty="0"/>
          </a:p>
        </p:txBody>
      </p:sp>
      <p:pic>
        <p:nvPicPr>
          <p:cNvPr id="20" name="Picture 4" descr="5V 능동 부저 [FQ-011] / 디바이스마트">
            <a:extLst>
              <a:ext uri="{FF2B5EF4-FFF2-40B4-BE49-F238E27FC236}">
                <a16:creationId xmlns:a16="http://schemas.microsoft.com/office/drawing/2014/main" id="{8E2EF01C-AE31-6E4F-4697-7E84B77676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064" t="17235" r="24650" b="20598"/>
          <a:stretch/>
        </p:blipFill>
        <p:spPr bwMode="auto">
          <a:xfrm>
            <a:off x="7891848" y="4521069"/>
            <a:ext cx="1318124" cy="1327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32174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B0736-3A39-AE75-39E4-8408EDB4B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06332D-49D3-02F8-A177-0E811BF53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</a:t>
            </a:r>
            <a:r>
              <a:rPr lang="en-US" altLang="ko-KR" dirty="0"/>
              <a:t>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450EAB8-9911-3459-181E-97D28F9200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79" y="1325563"/>
            <a:ext cx="5384289" cy="5308161"/>
          </a:xfrm>
          <a:prstGeom prst="rect">
            <a:avLst/>
          </a:prstGeom>
        </p:spPr>
      </p:pic>
      <p:sp>
        <p:nvSpPr>
          <p:cNvPr id="14" name="내용 개체 틀 5">
            <a:extLst>
              <a:ext uri="{FF2B5EF4-FFF2-40B4-BE49-F238E27FC236}">
                <a16:creationId xmlns:a16="http://schemas.microsoft.com/office/drawing/2014/main" id="{BA9AB3DC-7D5E-A350-1677-1988E3B776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4000" b="1" dirty="0">
                <a:solidFill>
                  <a:srgbClr val="FF0000"/>
                </a:solidFill>
              </a:rPr>
              <a:t>정답</a:t>
            </a:r>
            <a:endParaRPr lang="en-US" altLang="ko-KR" sz="4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93538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E95EE-189E-424D-3543-269651CDF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403870-1342-522F-3739-18B439FA8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초음파 센서</a:t>
            </a:r>
            <a:r>
              <a:rPr lang="en-US" altLang="ko-KR" dirty="0"/>
              <a:t> </a:t>
            </a:r>
            <a:r>
              <a:rPr lang="ko-KR" altLang="en-US" dirty="0"/>
              <a:t>실습 </a:t>
            </a:r>
            <a:r>
              <a:rPr lang="en-US" altLang="ko-KR" dirty="0"/>
              <a:t>Quiz</a:t>
            </a:r>
            <a:endParaRPr lang="ko-KR" altLang="en-US" dirty="0"/>
          </a:p>
        </p:txBody>
      </p:sp>
      <p:sp>
        <p:nvSpPr>
          <p:cNvPr id="14" name="내용 개체 틀 5">
            <a:extLst>
              <a:ext uri="{FF2B5EF4-FFF2-40B4-BE49-F238E27FC236}">
                <a16:creationId xmlns:a16="http://schemas.microsoft.com/office/drawing/2014/main" id="{9A868864-A509-C3E9-5A7C-C55344671A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9839"/>
            <a:ext cx="10515600" cy="46271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4000" b="1" dirty="0">
                <a:solidFill>
                  <a:srgbClr val="FF0000"/>
                </a:solidFill>
              </a:rPr>
              <a:t>정답</a:t>
            </a:r>
            <a:endParaRPr lang="en-US" altLang="ko-KR" sz="4000" b="1" dirty="0">
              <a:solidFill>
                <a:srgbClr val="FF0000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C5F3326-0AF3-038C-04EF-A78B0E233D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595563"/>
            <a:ext cx="5086350" cy="3581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EF066CB9-1291-242C-12A3-57EF6BBA64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0872" y="1284818"/>
            <a:ext cx="5762928" cy="5157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5778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AD5D4-1F8B-C9DF-91AA-641948A10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00A4FC-CD51-416B-1293-A00561858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LCD </a:t>
            </a:r>
            <a:r>
              <a:rPr lang="ko-KR" altLang="en-US" dirty="0"/>
              <a:t>사용 함수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01456E-9FE4-6E72-FE8C-521C9347F0FB}"/>
              </a:ext>
            </a:extLst>
          </p:cNvPr>
          <p:cNvSpPr txBox="1"/>
          <p:nvPr/>
        </p:nvSpPr>
        <p:spPr>
          <a:xfrm>
            <a:off x="6096000" y="1730405"/>
            <a:ext cx="42164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3BE0895-9CC5-CA4E-0455-1FDCB1215E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050871"/>
              </p:ext>
            </p:extLst>
          </p:nvPr>
        </p:nvGraphicFramePr>
        <p:xfrm>
          <a:off x="944657" y="1418166"/>
          <a:ext cx="10302686" cy="4831648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3343430">
                  <a:extLst>
                    <a:ext uri="{9D8B030D-6E8A-4147-A177-3AD203B41FA5}">
                      <a16:colId xmlns:a16="http://schemas.microsoft.com/office/drawing/2014/main" val="778410855"/>
                    </a:ext>
                  </a:extLst>
                </a:gridCol>
                <a:gridCol w="6959256">
                  <a:extLst>
                    <a:ext uri="{9D8B030D-6E8A-4147-A177-3AD203B41FA5}">
                      <a16:colId xmlns:a16="http://schemas.microsoft.com/office/drawing/2014/main" val="2844750320"/>
                    </a:ext>
                  </a:extLst>
                </a:gridCol>
              </a:tblGrid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함수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3514045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begin()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LCD</a:t>
                      </a:r>
                      <a:r>
                        <a:rPr lang="ko-KR" altLang="en-US" dirty="0"/>
                        <a:t>를 시작한다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3567233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clear()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내용을 초기화한다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1988941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setCursor</a:t>
                      </a:r>
                      <a:r>
                        <a:rPr lang="en-US" altLang="ko-KR" dirty="0"/>
                        <a:t>(col, row)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col, row</a:t>
                      </a:r>
                      <a:r>
                        <a:rPr lang="ko-KR" altLang="en-US" dirty="0"/>
                        <a:t>로 커서를 이동한다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6744543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print(“</a:t>
                      </a:r>
                      <a:r>
                        <a:rPr lang="ko-KR" altLang="en-US" dirty="0"/>
                        <a:t>내용</a:t>
                      </a:r>
                      <a:r>
                        <a:rPr lang="en-US" altLang="ko-KR" dirty="0"/>
                        <a:t>”)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“</a:t>
                      </a:r>
                      <a:r>
                        <a:rPr lang="ko-KR" altLang="en-US" dirty="0"/>
                        <a:t>내용</a:t>
                      </a:r>
                      <a:r>
                        <a:rPr lang="en-US" altLang="ko-KR" dirty="0"/>
                        <a:t>” </a:t>
                      </a:r>
                      <a:r>
                        <a:rPr lang="ko-KR" altLang="en-US" dirty="0"/>
                        <a:t>글자를 출력한다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645815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home()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커서를 </a:t>
                      </a:r>
                      <a:r>
                        <a:rPr lang="en-US" altLang="ko-KR" dirty="0"/>
                        <a:t>(0,0)</a:t>
                      </a:r>
                      <a:r>
                        <a:rPr lang="ko-KR" altLang="en-US" dirty="0"/>
                        <a:t>으로 이동한다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97991345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display()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내용을 표시한다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0412217"/>
                  </a:ext>
                </a:extLst>
              </a:tr>
              <a:tr h="603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err="1"/>
                        <a:t>noDisplay</a:t>
                      </a:r>
                      <a:r>
                        <a:rPr lang="en-US" altLang="ko-KR" dirty="0"/>
                        <a:t>()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내용을 숨긴다</a:t>
                      </a:r>
                      <a:r>
                        <a:rPr lang="en-US" altLang="ko-KR" dirty="0"/>
                        <a:t>.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48592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7572651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3">
      <a:majorFont>
        <a:latin typeface="G마켓 산스 TTF Bold"/>
        <a:ea typeface="G마켓 산스 TTF Bold"/>
        <a:cs typeface=""/>
      </a:majorFont>
      <a:minorFont>
        <a:latin typeface="G마켓 산스 TTF Medium"/>
        <a:ea typeface="G마켓 산스 TTF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16461</TotalTime>
  <Words>286</Words>
  <Application>Microsoft Office PowerPoint</Application>
  <PresentationFormat>와이드스크린</PresentationFormat>
  <Paragraphs>53</Paragraphs>
  <Slides>8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4" baseType="lpstr">
      <vt:lpstr>G마켓 산스 TTF Bold</vt:lpstr>
      <vt:lpstr>G마켓 산스 TTF Medium</vt:lpstr>
      <vt:lpstr>맑은 고딕</vt:lpstr>
      <vt:lpstr>메이플스토리</vt:lpstr>
      <vt:lpstr>Arial</vt:lpstr>
      <vt:lpstr>1_Office 테마</vt:lpstr>
      <vt:lpstr>PowerPoint 프레젠테이션</vt:lpstr>
      <vt:lpstr>PowerPoint 프레젠테이션</vt:lpstr>
      <vt:lpstr>온습도 센서</vt:lpstr>
      <vt:lpstr>DHT11 실습</vt:lpstr>
      <vt:lpstr>초음파 센서 실습 Quiz</vt:lpstr>
      <vt:lpstr>초음파 센서 실습 Quiz</vt:lpstr>
      <vt:lpstr>초음파 센서 실습 Quiz</vt:lpstr>
      <vt:lpstr>LCD 사용 함수(1)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 Coding</dc:creator>
  <cp:lastModifiedBy>On Coding</cp:lastModifiedBy>
  <cp:revision>755</cp:revision>
  <dcterms:created xsi:type="dcterms:W3CDTF">2024-10-23T01:56:35Z</dcterms:created>
  <dcterms:modified xsi:type="dcterms:W3CDTF">2025-10-27T08:27:34Z</dcterms:modified>
</cp:coreProperties>
</file>