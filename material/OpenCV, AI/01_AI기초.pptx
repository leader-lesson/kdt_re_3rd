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24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64" r:id="rId2"/>
  </p:sldMasterIdLst>
  <p:notesMasterIdLst>
    <p:notesMasterId r:id="rId34"/>
  </p:notesMasterIdLst>
  <p:sldIdLst>
    <p:sldId id="1004" r:id="rId3"/>
    <p:sldId id="792" r:id="rId4"/>
    <p:sldId id="752" r:id="rId5"/>
    <p:sldId id="791" r:id="rId6"/>
    <p:sldId id="793" r:id="rId7"/>
    <p:sldId id="599" r:id="rId8"/>
    <p:sldId id="543" r:id="rId9"/>
    <p:sldId id="694" r:id="rId10"/>
    <p:sldId id="544" r:id="rId11"/>
    <p:sldId id="256" r:id="rId12"/>
    <p:sldId id="542" r:id="rId13"/>
    <p:sldId id="600" r:id="rId14"/>
    <p:sldId id="794" r:id="rId15"/>
    <p:sldId id="673" r:id="rId16"/>
    <p:sldId id="686" r:id="rId17"/>
    <p:sldId id="674" r:id="rId18"/>
    <p:sldId id="670" r:id="rId19"/>
    <p:sldId id="704" r:id="rId20"/>
    <p:sldId id="705" r:id="rId21"/>
    <p:sldId id="763" r:id="rId22"/>
    <p:sldId id="706" r:id="rId23"/>
    <p:sldId id="710" r:id="rId24"/>
    <p:sldId id="711" r:id="rId25"/>
    <p:sldId id="712" r:id="rId26"/>
    <p:sldId id="713" r:id="rId27"/>
    <p:sldId id="714" r:id="rId28"/>
    <p:sldId id="715" r:id="rId29"/>
    <p:sldId id="717" r:id="rId30"/>
    <p:sldId id="722" r:id="rId31"/>
    <p:sldId id="707" r:id="rId32"/>
    <p:sldId id="750" r:id="rId33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5"/>
    </p:embeddedFont>
    <p:embeddedFont>
      <p:font typeface="G마켓 산스 TTF Medium" panose="02000000000000000000" pitchFamily="2" charset="-127"/>
      <p:regular r:id="rId36"/>
    </p:embeddedFont>
    <p:embeddedFont>
      <p:font typeface="Pretendard Black" panose="02000A03000000020004" pitchFamily="2" charset="-127"/>
      <p:bold r:id="rId37"/>
    </p:embeddedFont>
    <p:embeddedFont>
      <p:font typeface="Pretendard ExtraBold" panose="02000903000000020004" pitchFamily="2" charset="-127"/>
      <p:bold r:id="rId38"/>
    </p:embeddedFont>
    <p:embeddedFont>
      <p:font typeface="Pretendard Light" panose="02000403000000020004" pitchFamily="2" charset="-127"/>
      <p:regular r:id="rId39"/>
    </p:embeddedFont>
    <p:embeddedFont>
      <p:font typeface="Pretendard Medium" panose="02000603000000020004" pitchFamily="2" charset="-127"/>
      <p:regular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메이플스토리" panose="02000300000000000000" pitchFamily="2" charset="-127"/>
      <p:regular r:id="rId43"/>
      <p:bold r:id="rId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00B050"/>
    <a:srgbClr val="2B2B2B"/>
    <a:srgbClr val="2A2A2A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33" autoAdjust="0"/>
    <p:restoredTop sz="84219" autoAdjust="0"/>
  </p:normalViewPr>
  <p:slideViewPr>
    <p:cSldViewPr snapToGrid="0">
      <p:cViewPr varScale="1">
        <p:scale>
          <a:sx n="89" d="100"/>
          <a:sy n="89" d="100"/>
        </p:scale>
        <p:origin x="34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0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4BD0B-4716-41E6-8D0C-2D47388A80FB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E10D320A-EE07-4DF8-B07B-533252CB89EE}">
      <dgm:prSet phldrT="[텍스트]"/>
      <dgm:spPr/>
      <dgm:t>
        <a:bodyPr/>
        <a:lstStyle/>
        <a:p>
          <a:pPr latinLnBrk="1"/>
          <a:r>
            <a:rPr lang="ko-KR" altLang="en-US"/>
            <a:t>입력 데이터</a:t>
          </a:r>
        </a:p>
      </dgm:t>
    </dgm:pt>
    <dgm:pt modelId="{0AC28518-225C-474A-86B9-0BD60409627F}" type="parTrans" cxnId="{208A6677-1D28-40F9-8A67-87EA27C326E3}">
      <dgm:prSet/>
      <dgm:spPr/>
      <dgm:t>
        <a:bodyPr/>
        <a:lstStyle/>
        <a:p>
          <a:pPr latinLnBrk="1"/>
          <a:endParaRPr lang="ko-KR" altLang="en-US"/>
        </a:p>
      </dgm:t>
    </dgm:pt>
    <dgm:pt modelId="{3058F944-4EAC-40F7-ABEE-9F1ED0EE39B1}" type="sibTrans" cxnId="{208A6677-1D28-40F9-8A67-87EA27C326E3}">
      <dgm:prSet/>
      <dgm:spPr/>
      <dgm:t>
        <a:bodyPr/>
        <a:lstStyle/>
        <a:p>
          <a:pPr latinLnBrk="1"/>
          <a:endParaRPr lang="ko-KR" altLang="en-US"/>
        </a:p>
      </dgm:t>
    </dgm:pt>
    <dgm:pt modelId="{9C2A3461-1C8A-4567-A849-F24D36A805C3}">
      <dgm:prSet phldrT="[텍스트]"/>
      <dgm:spPr/>
      <dgm:t>
        <a:bodyPr/>
        <a:lstStyle/>
        <a:p>
          <a:pPr latinLnBrk="1"/>
          <a:r>
            <a:rPr lang="ko-KR" altLang="en-US"/>
            <a:t>특징 검출</a:t>
          </a:r>
        </a:p>
      </dgm:t>
    </dgm:pt>
    <dgm:pt modelId="{CFA34710-9AB6-4A58-A9FB-E4E898E6B85C}" type="parTrans" cxnId="{1301E55E-E7CF-4011-B4D2-3B9E3EC539CA}">
      <dgm:prSet/>
      <dgm:spPr/>
      <dgm:t>
        <a:bodyPr/>
        <a:lstStyle/>
        <a:p>
          <a:pPr latinLnBrk="1"/>
          <a:endParaRPr lang="ko-KR" altLang="en-US"/>
        </a:p>
      </dgm:t>
    </dgm:pt>
    <dgm:pt modelId="{626508A4-931E-4C21-964C-D388D9B805E4}" type="sibTrans" cxnId="{1301E55E-E7CF-4011-B4D2-3B9E3EC539CA}">
      <dgm:prSet/>
      <dgm:spPr/>
      <dgm:t>
        <a:bodyPr/>
        <a:lstStyle/>
        <a:p>
          <a:pPr latinLnBrk="1"/>
          <a:endParaRPr lang="ko-KR" altLang="en-US"/>
        </a:p>
      </dgm:t>
    </dgm:pt>
    <dgm:pt modelId="{8B506A68-1923-422D-B1DD-981208DF0E24}">
      <dgm:prSet phldrT="[텍스트]"/>
      <dgm:spPr/>
      <dgm:t>
        <a:bodyPr/>
        <a:lstStyle/>
        <a:p>
          <a:pPr latinLnBrk="1"/>
          <a:r>
            <a:rPr lang="ko-KR" altLang="en-US"/>
            <a:t>데이터 해석</a:t>
          </a:r>
        </a:p>
      </dgm:t>
    </dgm:pt>
    <dgm:pt modelId="{24E3CFD4-45D5-4AB1-80C9-1F4E32E611E0}" type="parTrans" cxnId="{B0ACE19E-4B6B-4FBB-B13C-879FA25B5633}">
      <dgm:prSet/>
      <dgm:spPr/>
      <dgm:t>
        <a:bodyPr/>
        <a:lstStyle/>
        <a:p>
          <a:pPr latinLnBrk="1"/>
          <a:endParaRPr lang="ko-KR" altLang="en-US"/>
        </a:p>
      </dgm:t>
    </dgm:pt>
    <dgm:pt modelId="{99BD143F-9E24-431E-A043-89DC1325C995}" type="sibTrans" cxnId="{B0ACE19E-4B6B-4FBB-B13C-879FA25B5633}">
      <dgm:prSet/>
      <dgm:spPr/>
      <dgm:t>
        <a:bodyPr/>
        <a:lstStyle/>
        <a:p>
          <a:pPr latinLnBrk="1"/>
          <a:endParaRPr lang="ko-KR" altLang="en-US"/>
        </a:p>
      </dgm:t>
    </dgm:pt>
    <dgm:pt modelId="{59FAF939-BCA4-465B-AE15-8ED546D7A8B6}">
      <dgm:prSet phldrT="[텍스트]"/>
      <dgm:spPr/>
      <dgm:t>
        <a:bodyPr/>
        <a:lstStyle/>
        <a:p>
          <a:pPr latinLnBrk="1"/>
          <a:r>
            <a:rPr lang="ko-KR" altLang="en-US"/>
            <a:t>전처리 과정</a:t>
          </a:r>
        </a:p>
      </dgm:t>
    </dgm:pt>
    <dgm:pt modelId="{B9F3EC6F-9B16-4FE2-914D-9116CF523DC8}" type="parTrans" cxnId="{3D69ABA8-3B3D-49EA-9F6F-CD70D80A6178}">
      <dgm:prSet/>
      <dgm:spPr/>
      <dgm:t>
        <a:bodyPr/>
        <a:lstStyle/>
        <a:p>
          <a:pPr latinLnBrk="1"/>
          <a:endParaRPr lang="ko-KR" altLang="en-US"/>
        </a:p>
      </dgm:t>
    </dgm:pt>
    <dgm:pt modelId="{8FBB7AB5-6062-4B29-A7D9-306623DBF4EB}" type="sibTrans" cxnId="{3D69ABA8-3B3D-49EA-9F6F-CD70D80A6178}">
      <dgm:prSet/>
      <dgm:spPr/>
      <dgm:t>
        <a:bodyPr/>
        <a:lstStyle/>
        <a:p>
          <a:pPr latinLnBrk="1"/>
          <a:endParaRPr lang="ko-KR" altLang="en-US"/>
        </a:p>
      </dgm:t>
    </dgm:pt>
    <dgm:pt modelId="{146148FE-2AAF-40F2-8005-FEE91D5569D9}">
      <dgm:prSet phldrT="[텍스트]"/>
      <dgm:spPr/>
      <dgm:t>
        <a:bodyPr/>
        <a:lstStyle/>
        <a:p>
          <a:pPr latinLnBrk="1"/>
          <a:r>
            <a:rPr lang="ko-KR" altLang="en-US"/>
            <a:t>출력 데이터</a:t>
          </a:r>
        </a:p>
      </dgm:t>
    </dgm:pt>
    <dgm:pt modelId="{54973DC3-BE6B-4148-801F-450CFEDB70D2}" type="parTrans" cxnId="{A5973AD7-2485-4C59-A87B-9B112B577669}">
      <dgm:prSet/>
      <dgm:spPr/>
      <dgm:t>
        <a:bodyPr/>
        <a:lstStyle/>
        <a:p>
          <a:pPr latinLnBrk="1"/>
          <a:endParaRPr lang="ko-KR" altLang="en-US"/>
        </a:p>
      </dgm:t>
    </dgm:pt>
    <dgm:pt modelId="{04472681-E06D-44B6-A61F-5DACCB1C55C3}" type="sibTrans" cxnId="{A5973AD7-2485-4C59-A87B-9B112B577669}">
      <dgm:prSet/>
      <dgm:spPr/>
      <dgm:t>
        <a:bodyPr/>
        <a:lstStyle/>
        <a:p>
          <a:pPr latinLnBrk="1"/>
          <a:endParaRPr lang="ko-KR" altLang="en-US"/>
        </a:p>
      </dgm:t>
    </dgm:pt>
    <dgm:pt modelId="{9B85CC50-AC1E-4BE0-B7D2-CE1930128038}" type="pres">
      <dgm:prSet presAssocID="{A554BD0B-4716-41E6-8D0C-2D47388A80FB}" presName="Name0" presStyleCnt="0">
        <dgm:presLayoutVars>
          <dgm:dir/>
          <dgm:resizeHandles val="exact"/>
        </dgm:presLayoutVars>
      </dgm:prSet>
      <dgm:spPr/>
    </dgm:pt>
    <dgm:pt modelId="{DE5606C5-3BE9-4A08-8A5E-B4A855369C28}" type="pres">
      <dgm:prSet presAssocID="{E10D320A-EE07-4DF8-B07B-533252CB89EE}" presName="node" presStyleLbl="node1" presStyleIdx="0" presStyleCnt="5">
        <dgm:presLayoutVars>
          <dgm:bulletEnabled val="1"/>
        </dgm:presLayoutVars>
      </dgm:prSet>
      <dgm:spPr/>
    </dgm:pt>
    <dgm:pt modelId="{69C513B2-69EB-4B14-B9C4-DA81710922BB}" type="pres">
      <dgm:prSet presAssocID="{3058F944-4EAC-40F7-ABEE-9F1ED0EE39B1}" presName="sibTrans" presStyleLbl="sibTrans2D1" presStyleIdx="0" presStyleCnt="4"/>
      <dgm:spPr/>
    </dgm:pt>
    <dgm:pt modelId="{296C361A-6A90-42A1-A0BE-17D348D9C5DE}" type="pres">
      <dgm:prSet presAssocID="{3058F944-4EAC-40F7-ABEE-9F1ED0EE39B1}" presName="connectorText" presStyleLbl="sibTrans2D1" presStyleIdx="0" presStyleCnt="4"/>
      <dgm:spPr/>
    </dgm:pt>
    <dgm:pt modelId="{3CE21ABC-A456-457D-BCE1-4609917839AB}" type="pres">
      <dgm:prSet presAssocID="{59FAF939-BCA4-465B-AE15-8ED546D7A8B6}" presName="node" presStyleLbl="node1" presStyleIdx="1" presStyleCnt="5">
        <dgm:presLayoutVars>
          <dgm:bulletEnabled val="1"/>
        </dgm:presLayoutVars>
      </dgm:prSet>
      <dgm:spPr/>
    </dgm:pt>
    <dgm:pt modelId="{86DC12DC-F072-4F6D-9F86-E36C4F4095ED}" type="pres">
      <dgm:prSet presAssocID="{8FBB7AB5-6062-4B29-A7D9-306623DBF4EB}" presName="sibTrans" presStyleLbl="sibTrans2D1" presStyleIdx="1" presStyleCnt="4"/>
      <dgm:spPr/>
    </dgm:pt>
    <dgm:pt modelId="{278E50A7-0DF9-46BE-A84A-B9A27C65112D}" type="pres">
      <dgm:prSet presAssocID="{8FBB7AB5-6062-4B29-A7D9-306623DBF4EB}" presName="connectorText" presStyleLbl="sibTrans2D1" presStyleIdx="1" presStyleCnt="4"/>
      <dgm:spPr/>
    </dgm:pt>
    <dgm:pt modelId="{C46C5C24-E26B-4B18-8B7B-86BABA73B093}" type="pres">
      <dgm:prSet presAssocID="{9C2A3461-1C8A-4567-A849-F24D36A805C3}" presName="node" presStyleLbl="node1" presStyleIdx="2" presStyleCnt="5">
        <dgm:presLayoutVars>
          <dgm:bulletEnabled val="1"/>
        </dgm:presLayoutVars>
      </dgm:prSet>
      <dgm:spPr/>
    </dgm:pt>
    <dgm:pt modelId="{14A98893-0D5C-499C-8633-D90698C1BF5E}" type="pres">
      <dgm:prSet presAssocID="{626508A4-931E-4C21-964C-D388D9B805E4}" presName="sibTrans" presStyleLbl="sibTrans2D1" presStyleIdx="2" presStyleCnt="4"/>
      <dgm:spPr/>
    </dgm:pt>
    <dgm:pt modelId="{E84C2593-957A-4B95-A03B-989BD0F04297}" type="pres">
      <dgm:prSet presAssocID="{626508A4-931E-4C21-964C-D388D9B805E4}" presName="connectorText" presStyleLbl="sibTrans2D1" presStyleIdx="2" presStyleCnt="4"/>
      <dgm:spPr/>
    </dgm:pt>
    <dgm:pt modelId="{E278EE43-197E-487E-B874-F6C6FCA7C874}" type="pres">
      <dgm:prSet presAssocID="{8B506A68-1923-422D-B1DD-981208DF0E24}" presName="node" presStyleLbl="node1" presStyleIdx="3" presStyleCnt="5">
        <dgm:presLayoutVars>
          <dgm:bulletEnabled val="1"/>
        </dgm:presLayoutVars>
      </dgm:prSet>
      <dgm:spPr/>
    </dgm:pt>
    <dgm:pt modelId="{6E1EB39C-5557-4743-9753-D66B8177AAEC}" type="pres">
      <dgm:prSet presAssocID="{99BD143F-9E24-431E-A043-89DC1325C995}" presName="sibTrans" presStyleLbl="sibTrans2D1" presStyleIdx="3" presStyleCnt="4"/>
      <dgm:spPr/>
    </dgm:pt>
    <dgm:pt modelId="{D0F482FC-17A5-45AB-9D36-7DB8FFF5084C}" type="pres">
      <dgm:prSet presAssocID="{99BD143F-9E24-431E-A043-89DC1325C995}" presName="connectorText" presStyleLbl="sibTrans2D1" presStyleIdx="3" presStyleCnt="4"/>
      <dgm:spPr/>
    </dgm:pt>
    <dgm:pt modelId="{D8FE5004-E299-4B78-B0B4-7A4433F066E7}" type="pres">
      <dgm:prSet presAssocID="{146148FE-2AAF-40F2-8005-FEE91D5569D9}" presName="node" presStyleLbl="node1" presStyleIdx="4" presStyleCnt="5">
        <dgm:presLayoutVars>
          <dgm:bulletEnabled val="1"/>
        </dgm:presLayoutVars>
      </dgm:prSet>
      <dgm:spPr/>
    </dgm:pt>
  </dgm:ptLst>
  <dgm:cxnLst>
    <dgm:cxn modelId="{4213941D-6BC2-45C8-B46D-9F363350FE7E}" type="presOf" srcId="{626508A4-931E-4C21-964C-D388D9B805E4}" destId="{14A98893-0D5C-499C-8633-D90698C1BF5E}" srcOrd="0" destOrd="0" presId="urn:microsoft.com/office/officeart/2005/8/layout/process1"/>
    <dgm:cxn modelId="{CB026B27-FF9B-4BAD-BD5F-FC98651E2D5A}" type="presOf" srcId="{99BD143F-9E24-431E-A043-89DC1325C995}" destId="{6E1EB39C-5557-4743-9753-D66B8177AAEC}" srcOrd="0" destOrd="0" presId="urn:microsoft.com/office/officeart/2005/8/layout/process1"/>
    <dgm:cxn modelId="{FDA9FD2C-3D61-408A-9A08-95EB4190C4B8}" type="presOf" srcId="{8FBB7AB5-6062-4B29-A7D9-306623DBF4EB}" destId="{278E50A7-0DF9-46BE-A84A-B9A27C65112D}" srcOrd="1" destOrd="0" presId="urn:microsoft.com/office/officeart/2005/8/layout/process1"/>
    <dgm:cxn modelId="{9D4F793E-9756-473A-98FE-A27CB366DF72}" type="presOf" srcId="{A554BD0B-4716-41E6-8D0C-2D47388A80FB}" destId="{9B85CC50-AC1E-4BE0-B7D2-CE1930128038}" srcOrd="0" destOrd="0" presId="urn:microsoft.com/office/officeart/2005/8/layout/process1"/>
    <dgm:cxn modelId="{1301E55E-E7CF-4011-B4D2-3B9E3EC539CA}" srcId="{A554BD0B-4716-41E6-8D0C-2D47388A80FB}" destId="{9C2A3461-1C8A-4567-A849-F24D36A805C3}" srcOrd="2" destOrd="0" parTransId="{CFA34710-9AB6-4A58-A9FB-E4E898E6B85C}" sibTransId="{626508A4-931E-4C21-964C-D388D9B805E4}"/>
    <dgm:cxn modelId="{208A6677-1D28-40F9-8A67-87EA27C326E3}" srcId="{A554BD0B-4716-41E6-8D0C-2D47388A80FB}" destId="{E10D320A-EE07-4DF8-B07B-533252CB89EE}" srcOrd="0" destOrd="0" parTransId="{0AC28518-225C-474A-86B9-0BD60409627F}" sibTransId="{3058F944-4EAC-40F7-ABEE-9F1ED0EE39B1}"/>
    <dgm:cxn modelId="{54DCEB59-D79C-4158-AAAC-C2CFA9AAD385}" type="presOf" srcId="{3058F944-4EAC-40F7-ABEE-9F1ED0EE39B1}" destId="{296C361A-6A90-42A1-A0BE-17D348D9C5DE}" srcOrd="1" destOrd="0" presId="urn:microsoft.com/office/officeart/2005/8/layout/process1"/>
    <dgm:cxn modelId="{BE2D9684-DADF-4D03-89A2-6A7D303E1700}" type="presOf" srcId="{626508A4-931E-4C21-964C-D388D9B805E4}" destId="{E84C2593-957A-4B95-A03B-989BD0F04297}" srcOrd="1" destOrd="0" presId="urn:microsoft.com/office/officeart/2005/8/layout/process1"/>
    <dgm:cxn modelId="{65E78D91-39E7-4366-BB2E-BBE711A90FD7}" type="presOf" srcId="{146148FE-2AAF-40F2-8005-FEE91D5569D9}" destId="{D8FE5004-E299-4B78-B0B4-7A4433F066E7}" srcOrd="0" destOrd="0" presId="urn:microsoft.com/office/officeart/2005/8/layout/process1"/>
    <dgm:cxn modelId="{B0ACE19E-4B6B-4FBB-B13C-879FA25B5633}" srcId="{A554BD0B-4716-41E6-8D0C-2D47388A80FB}" destId="{8B506A68-1923-422D-B1DD-981208DF0E24}" srcOrd="3" destOrd="0" parTransId="{24E3CFD4-45D5-4AB1-80C9-1F4E32E611E0}" sibTransId="{99BD143F-9E24-431E-A043-89DC1325C995}"/>
    <dgm:cxn modelId="{3D69ABA8-3B3D-49EA-9F6F-CD70D80A6178}" srcId="{A554BD0B-4716-41E6-8D0C-2D47388A80FB}" destId="{59FAF939-BCA4-465B-AE15-8ED546D7A8B6}" srcOrd="1" destOrd="0" parTransId="{B9F3EC6F-9B16-4FE2-914D-9116CF523DC8}" sibTransId="{8FBB7AB5-6062-4B29-A7D9-306623DBF4EB}"/>
    <dgm:cxn modelId="{CAAA4FAA-6F00-4E1F-85DA-53B23C1A1BFE}" type="presOf" srcId="{E10D320A-EE07-4DF8-B07B-533252CB89EE}" destId="{DE5606C5-3BE9-4A08-8A5E-B4A855369C28}" srcOrd="0" destOrd="0" presId="urn:microsoft.com/office/officeart/2005/8/layout/process1"/>
    <dgm:cxn modelId="{FB0C7CB0-F32B-485B-9F29-83F4950B9325}" type="presOf" srcId="{9C2A3461-1C8A-4567-A849-F24D36A805C3}" destId="{C46C5C24-E26B-4B18-8B7B-86BABA73B093}" srcOrd="0" destOrd="0" presId="urn:microsoft.com/office/officeart/2005/8/layout/process1"/>
    <dgm:cxn modelId="{58F029C6-A47D-48A0-A51A-C8BFEC39A6A2}" type="presOf" srcId="{59FAF939-BCA4-465B-AE15-8ED546D7A8B6}" destId="{3CE21ABC-A456-457D-BCE1-4609917839AB}" srcOrd="0" destOrd="0" presId="urn:microsoft.com/office/officeart/2005/8/layout/process1"/>
    <dgm:cxn modelId="{95C917CB-FBA7-462A-AEE7-570A5F021D48}" type="presOf" srcId="{3058F944-4EAC-40F7-ABEE-9F1ED0EE39B1}" destId="{69C513B2-69EB-4B14-B9C4-DA81710922BB}" srcOrd="0" destOrd="0" presId="urn:microsoft.com/office/officeart/2005/8/layout/process1"/>
    <dgm:cxn modelId="{309A36D6-9029-4343-86C1-35036CD1DB72}" type="presOf" srcId="{99BD143F-9E24-431E-A043-89DC1325C995}" destId="{D0F482FC-17A5-45AB-9D36-7DB8FFF5084C}" srcOrd="1" destOrd="0" presId="urn:microsoft.com/office/officeart/2005/8/layout/process1"/>
    <dgm:cxn modelId="{A5973AD7-2485-4C59-A87B-9B112B577669}" srcId="{A554BD0B-4716-41E6-8D0C-2D47388A80FB}" destId="{146148FE-2AAF-40F2-8005-FEE91D5569D9}" srcOrd="4" destOrd="0" parTransId="{54973DC3-BE6B-4148-801F-450CFEDB70D2}" sibTransId="{04472681-E06D-44B6-A61F-5DACCB1C55C3}"/>
    <dgm:cxn modelId="{F3E830F3-4BF6-49C3-8448-7EEDC4A7DE87}" type="presOf" srcId="{8FBB7AB5-6062-4B29-A7D9-306623DBF4EB}" destId="{86DC12DC-F072-4F6D-9F86-E36C4F4095ED}" srcOrd="0" destOrd="0" presId="urn:microsoft.com/office/officeart/2005/8/layout/process1"/>
    <dgm:cxn modelId="{18D83CF4-DAAA-4A4B-84DD-B032707B64C9}" type="presOf" srcId="{8B506A68-1923-422D-B1DD-981208DF0E24}" destId="{E278EE43-197E-487E-B874-F6C6FCA7C874}" srcOrd="0" destOrd="0" presId="urn:microsoft.com/office/officeart/2005/8/layout/process1"/>
    <dgm:cxn modelId="{FA1DC0EB-E48C-40F1-B5A3-8DBED009A840}" type="presParOf" srcId="{9B85CC50-AC1E-4BE0-B7D2-CE1930128038}" destId="{DE5606C5-3BE9-4A08-8A5E-B4A855369C28}" srcOrd="0" destOrd="0" presId="urn:microsoft.com/office/officeart/2005/8/layout/process1"/>
    <dgm:cxn modelId="{1633AF90-9A86-4485-8BA8-D17DB9F5C4B3}" type="presParOf" srcId="{9B85CC50-AC1E-4BE0-B7D2-CE1930128038}" destId="{69C513B2-69EB-4B14-B9C4-DA81710922BB}" srcOrd="1" destOrd="0" presId="urn:microsoft.com/office/officeart/2005/8/layout/process1"/>
    <dgm:cxn modelId="{16AD30C7-8FC7-4ADE-AB3C-A49126313884}" type="presParOf" srcId="{69C513B2-69EB-4B14-B9C4-DA81710922BB}" destId="{296C361A-6A90-42A1-A0BE-17D348D9C5DE}" srcOrd="0" destOrd="0" presId="urn:microsoft.com/office/officeart/2005/8/layout/process1"/>
    <dgm:cxn modelId="{BDD989DF-C644-4E86-AB52-504CBEF95367}" type="presParOf" srcId="{9B85CC50-AC1E-4BE0-B7D2-CE1930128038}" destId="{3CE21ABC-A456-457D-BCE1-4609917839AB}" srcOrd="2" destOrd="0" presId="urn:microsoft.com/office/officeart/2005/8/layout/process1"/>
    <dgm:cxn modelId="{9E19C1A0-0960-4356-BFA4-77BA0971BFD4}" type="presParOf" srcId="{9B85CC50-AC1E-4BE0-B7D2-CE1930128038}" destId="{86DC12DC-F072-4F6D-9F86-E36C4F4095ED}" srcOrd="3" destOrd="0" presId="urn:microsoft.com/office/officeart/2005/8/layout/process1"/>
    <dgm:cxn modelId="{0E96803D-CF3B-4504-B57F-95EAC6FD7EC2}" type="presParOf" srcId="{86DC12DC-F072-4F6D-9F86-E36C4F4095ED}" destId="{278E50A7-0DF9-46BE-A84A-B9A27C65112D}" srcOrd="0" destOrd="0" presId="urn:microsoft.com/office/officeart/2005/8/layout/process1"/>
    <dgm:cxn modelId="{2625900B-56CA-4E44-AD16-58112DEFFB11}" type="presParOf" srcId="{9B85CC50-AC1E-4BE0-B7D2-CE1930128038}" destId="{C46C5C24-E26B-4B18-8B7B-86BABA73B093}" srcOrd="4" destOrd="0" presId="urn:microsoft.com/office/officeart/2005/8/layout/process1"/>
    <dgm:cxn modelId="{A8418BEC-3BA7-47AE-907C-62094A3CC6BB}" type="presParOf" srcId="{9B85CC50-AC1E-4BE0-B7D2-CE1930128038}" destId="{14A98893-0D5C-499C-8633-D90698C1BF5E}" srcOrd="5" destOrd="0" presId="urn:microsoft.com/office/officeart/2005/8/layout/process1"/>
    <dgm:cxn modelId="{4569AD9A-B718-41A8-8969-DC58D1C860D5}" type="presParOf" srcId="{14A98893-0D5C-499C-8633-D90698C1BF5E}" destId="{E84C2593-957A-4B95-A03B-989BD0F04297}" srcOrd="0" destOrd="0" presId="urn:microsoft.com/office/officeart/2005/8/layout/process1"/>
    <dgm:cxn modelId="{73F058D1-DD92-4549-86CA-6A9ABCDD66BD}" type="presParOf" srcId="{9B85CC50-AC1E-4BE0-B7D2-CE1930128038}" destId="{E278EE43-197E-487E-B874-F6C6FCA7C874}" srcOrd="6" destOrd="0" presId="urn:microsoft.com/office/officeart/2005/8/layout/process1"/>
    <dgm:cxn modelId="{F631645F-3927-4A5E-A92E-72358E9917F2}" type="presParOf" srcId="{9B85CC50-AC1E-4BE0-B7D2-CE1930128038}" destId="{6E1EB39C-5557-4743-9753-D66B8177AAEC}" srcOrd="7" destOrd="0" presId="urn:microsoft.com/office/officeart/2005/8/layout/process1"/>
    <dgm:cxn modelId="{C0CD89DC-CF82-4106-80E2-792841D15AF7}" type="presParOf" srcId="{6E1EB39C-5557-4743-9753-D66B8177AAEC}" destId="{D0F482FC-17A5-45AB-9D36-7DB8FFF5084C}" srcOrd="0" destOrd="0" presId="urn:microsoft.com/office/officeart/2005/8/layout/process1"/>
    <dgm:cxn modelId="{35A24540-9987-4F46-8BFB-C9972384B61A}" type="presParOf" srcId="{9B85CC50-AC1E-4BE0-B7D2-CE1930128038}" destId="{D8FE5004-E299-4B78-B0B4-7A4433F066E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606C5-3BE9-4A08-8A5E-B4A855369C28}">
      <dsp:nvSpPr>
        <dsp:cNvPr id="0" name=""/>
        <dsp:cNvSpPr/>
      </dsp:nvSpPr>
      <dsp:spPr>
        <a:xfrm>
          <a:off x="538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입력 데이터</a:t>
          </a:r>
        </a:p>
      </dsp:txBody>
      <dsp:txXfrm>
        <a:off x="34743" y="1014982"/>
        <a:ext cx="1611740" cy="943560"/>
      </dsp:txXfrm>
    </dsp:sp>
    <dsp:sp modelId="{69C513B2-69EB-4B14-B9C4-DA81710922BB}">
      <dsp:nvSpPr>
        <dsp:cNvPr id="0" name=""/>
        <dsp:cNvSpPr/>
      </dsp:nvSpPr>
      <dsp:spPr>
        <a:xfrm>
          <a:off x="1842883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1842883" y="1362480"/>
        <a:ext cx="247895" cy="248563"/>
      </dsp:txXfrm>
    </dsp:sp>
    <dsp:sp modelId="{3CE21ABC-A456-457D-BCE1-4609917839AB}">
      <dsp:nvSpPr>
        <dsp:cNvPr id="0" name=""/>
        <dsp:cNvSpPr/>
      </dsp:nvSpPr>
      <dsp:spPr>
        <a:xfrm>
          <a:off x="234401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전처리 과정</a:t>
          </a:r>
        </a:p>
      </dsp:txBody>
      <dsp:txXfrm>
        <a:off x="2373373" y="1014982"/>
        <a:ext cx="1611740" cy="943560"/>
      </dsp:txXfrm>
    </dsp:sp>
    <dsp:sp modelId="{86DC12DC-F072-4F6D-9F86-E36C4F4095ED}">
      <dsp:nvSpPr>
        <dsp:cNvPr id="0" name=""/>
        <dsp:cNvSpPr/>
      </dsp:nvSpPr>
      <dsp:spPr>
        <a:xfrm>
          <a:off x="4181513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4181513" y="1362480"/>
        <a:ext cx="247895" cy="248563"/>
      </dsp:txXfrm>
    </dsp:sp>
    <dsp:sp modelId="{C46C5C24-E26B-4B18-8B7B-86BABA73B093}">
      <dsp:nvSpPr>
        <dsp:cNvPr id="0" name=""/>
        <dsp:cNvSpPr/>
      </dsp:nvSpPr>
      <dsp:spPr>
        <a:xfrm>
          <a:off x="4682648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특징 검출</a:t>
          </a:r>
        </a:p>
      </dsp:txBody>
      <dsp:txXfrm>
        <a:off x="4712003" y="1014982"/>
        <a:ext cx="1611740" cy="943560"/>
      </dsp:txXfrm>
    </dsp:sp>
    <dsp:sp modelId="{14A98893-0D5C-499C-8633-D90698C1BF5E}">
      <dsp:nvSpPr>
        <dsp:cNvPr id="0" name=""/>
        <dsp:cNvSpPr/>
      </dsp:nvSpPr>
      <dsp:spPr>
        <a:xfrm>
          <a:off x="6520144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6520144" y="1362480"/>
        <a:ext cx="247895" cy="248563"/>
      </dsp:txXfrm>
    </dsp:sp>
    <dsp:sp modelId="{E278EE43-197E-487E-B874-F6C6FCA7C874}">
      <dsp:nvSpPr>
        <dsp:cNvPr id="0" name=""/>
        <dsp:cNvSpPr/>
      </dsp:nvSpPr>
      <dsp:spPr>
        <a:xfrm>
          <a:off x="7021279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데이터 해석</a:t>
          </a:r>
        </a:p>
      </dsp:txBody>
      <dsp:txXfrm>
        <a:off x="7050634" y="1014982"/>
        <a:ext cx="1611740" cy="943560"/>
      </dsp:txXfrm>
    </dsp:sp>
    <dsp:sp modelId="{6E1EB39C-5557-4743-9753-D66B8177AAEC}">
      <dsp:nvSpPr>
        <dsp:cNvPr id="0" name=""/>
        <dsp:cNvSpPr/>
      </dsp:nvSpPr>
      <dsp:spPr>
        <a:xfrm>
          <a:off x="8858774" y="1279626"/>
          <a:ext cx="354135" cy="4142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300" kern="1200"/>
        </a:p>
      </dsp:txBody>
      <dsp:txXfrm>
        <a:off x="8858774" y="1362480"/>
        <a:ext cx="247895" cy="248563"/>
      </dsp:txXfrm>
    </dsp:sp>
    <dsp:sp modelId="{D8FE5004-E299-4B78-B0B4-7A4433F066E7}">
      <dsp:nvSpPr>
        <dsp:cNvPr id="0" name=""/>
        <dsp:cNvSpPr/>
      </dsp:nvSpPr>
      <dsp:spPr>
        <a:xfrm>
          <a:off x="9359909" y="985627"/>
          <a:ext cx="1670450" cy="100227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/>
            <a:t>출력 데이터</a:t>
          </a:r>
        </a:p>
      </dsp:txBody>
      <dsp:txXfrm>
        <a:off x="9389264" y="1014982"/>
        <a:ext cx="1611740" cy="943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4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114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404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72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521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521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68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720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825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497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539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194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325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20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35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2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2025-09-08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25874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23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728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2025-09-08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184632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2025-09-08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C6AD9-4778-56CA-F759-7A32EFD840E2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8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2025-09-08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933C66-A987-35DC-6C51-368D59E3B2DD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162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draw.withgoogle.com/?locale=ko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6" Type="http://schemas.openxmlformats.org/officeDocument/2006/relationships/hyperlink" Target="https://news.skhynix.co.kr/post/cmos-image-sensor-innovation-led-by-sk-hynix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1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6" Type="http://schemas.openxmlformats.org/officeDocument/2006/relationships/image" Target="../media/image28.jpe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3858848" y="2600493"/>
            <a:ext cx="44743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10495181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에 대한 기초 개념을 이해한다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OpenCV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를 활용한 영상처리에 대해 이해한다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AI, OpenCV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를 이용한 머신 비전에 대해 학습한다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458946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29D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AI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이론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OpenCV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학습과 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머신 비전 학습과 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머신 비전 프로젝트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5834-3AA6-53FD-B5DF-B879363D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DFC0D1-715C-194E-B690-2E2272D4445B}"/>
              </a:ext>
            </a:extLst>
          </p:cNvPr>
          <p:cNvSpPr txBox="1"/>
          <p:nvPr/>
        </p:nvSpPr>
        <p:spPr>
          <a:xfrm>
            <a:off x="4706841" y="2600493"/>
            <a:ext cx="27783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092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49C79-8DE4-4842-D1E6-927CDD6D4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395" y="1788609"/>
            <a:ext cx="5364605" cy="3048690"/>
          </a:xfrm>
        </p:spPr>
        <p:txBody>
          <a:bodyPr anchor="ctr">
            <a:noAutofit/>
          </a:bodyPr>
          <a:lstStyle/>
          <a:p>
            <a:pPr algn="l"/>
            <a:r>
              <a:rPr lang="ko-KR" altLang="en-US" sz="80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인공지능</a:t>
            </a:r>
            <a:br>
              <a:rPr lang="en-US" altLang="ko-KR" sz="80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</a:br>
            <a:r>
              <a:rPr lang="en-US" altLang="ko-KR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rtificial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ntelligence</a:t>
            </a:r>
            <a:endParaRPr lang="ko-KR" altLang="en-US" sz="80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4197"/>
            <a:ext cx="2743200" cy="365125"/>
          </a:xfrm>
        </p:spPr>
        <p:txBody>
          <a:bodyPr/>
          <a:lstStyle/>
          <a:p>
            <a:fld id="{2E2BEDFA-D8AA-4914-9440-7DF713C99FA9}" type="datetime1">
              <a:rPr lang="ko-KR" altLang="en-US" smtClean="0"/>
              <a:t>2025-09-08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 descr="텍스트, 스크린샷, 디스플레이, 직사각형이(가) 표시된 사진&#10;&#10;자동 생성된 설명">
            <a:extLst>
              <a:ext uri="{FF2B5EF4-FFF2-40B4-BE49-F238E27FC236}">
                <a16:creationId xmlns:a16="http://schemas.microsoft.com/office/drawing/2014/main" id="{A5842D4A-5217-6495-5D0F-6D2565100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73" y="1602244"/>
            <a:ext cx="5134132" cy="3421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3612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E6F586-B6DA-4B2C-BA4E-A0EADE68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500090"/>
            <a:ext cx="11714018" cy="38578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32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인간의 지능을 모방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한 기능을 갖춘 컴퓨터 시스템이며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인간의 지능을 </a:t>
            </a: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    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기계 등에 인공적으로 시연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(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구현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)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한 것이다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32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인간의 학습능력</a:t>
            </a:r>
            <a:r>
              <a:rPr lang="en-US" altLang="ko-KR" sz="3200" b="1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추론능력</a:t>
            </a:r>
            <a:r>
              <a:rPr lang="en-US" altLang="ko-KR" sz="3200" b="1" dirty="0">
                <a:solidFill>
                  <a:srgbClr val="2A2A2A"/>
                </a:solidFill>
                <a:latin typeface="+mn-ea"/>
                <a:ea typeface="+mn-ea"/>
              </a:rPr>
              <a:t>, </a:t>
            </a:r>
            <a:r>
              <a:rPr lang="ko-KR" altLang="en-US" sz="3200" b="1" dirty="0">
                <a:solidFill>
                  <a:srgbClr val="2A2A2A"/>
                </a:solidFill>
                <a:latin typeface="+mn-ea"/>
                <a:ea typeface="+mn-ea"/>
              </a:rPr>
              <a:t>지각능력을 인공적으로 구현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하려는 </a:t>
            </a:r>
            <a:endParaRPr lang="en-US" altLang="ko-KR" sz="32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     </a:t>
            </a:r>
            <a:r>
              <a:rPr lang="ko-KR" altLang="en-US" sz="3200" dirty="0">
                <a:solidFill>
                  <a:srgbClr val="2A2A2A"/>
                </a:solidFill>
                <a:latin typeface="+mn-ea"/>
                <a:ea typeface="+mn-ea"/>
              </a:rPr>
              <a:t>컴퓨터 과학의 세부 분야 중 하나이다</a:t>
            </a:r>
            <a:r>
              <a:rPr lang="en-US" altLang="ko-KR" sz="3200" dirty="0">
                <a:solidFill>
                  <a:srgbClr val="2A2A2A"/>
                </a:solidFill>
                <a:latin typeface="+mn-ea"/>
                <a:ea typeface="+mn-ea"/>
              </a:rPr>
              <a:t>. </a:t>
            </a:r>
            <a:endParaRPr lang="en-US" altLang="ko-KR" sz="3200" baseline="300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baseline="30000" dirty="0">
              <a:solidFill>
                <a:srgbClr val="2A2A2A"/>
              </a:solidFill>
              <a:latin typeface="+mn-ea"/>
              <a:ea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 </a:t>
            </a:r>
            <a:r>
              <a:rPr lang="ko-KR" altLang="en-US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Wikidepia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위키백과</a:t>
            </a:r>
            <a:r>
              <a:rPr lang="en-US" altLang="ko-KR" sz="2000" dirty="0">
                <a:solidFill>
                  <a:srgbClr val="2A2A2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]</a:t>
            </a:r>
            <a:endParaRPr lang="en-US" altLang="ko-KR" sz="2000" b="0" i="0" dirty="0">
              <a:solidFill>
                <a:srgbClr val="2A2A2A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00713-EB88-4AFD-A9B8-D7780DBA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6D6FB9-6606-4FB2-9C5C-965B7D94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5" y="110919"/>
            <a:ext cx="5980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(AI)</a:t>
            </a:r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2015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3074" name="Picture 2" descr="All Around AI 1편] AI의 시작과 발전 과정, 미래 전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309999"/>
            <a:ext cx="7810500" cy="4393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5004195" y="5837812"/>
            <a:ext cx="21836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SK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하이닉스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뉴스룸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5288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인공지능의 발전</a:t>
            </a:r>
          </a:p>
        </p:txBody>
      </p:sp>
    </p:spTree>
    <p:extLst>
      <p:ext uri="{BB962C8B-B14F-4D97-AF65-F5344CB8AC3E}">
        <p14:creationId xmlns:p14="http://schemas.microsoft.com/office/powerpoint/2010/main" val="319829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8F564-E23E-4347-BBDC-B594F145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41" y="1022028"/>
            <a:ext cx="11733068" cy="51882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대화형 인공지능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 : Chat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GPT, Gemini, Claude …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사람과 자연스럽게 대화할 수 있도록 설계된 인공지능 시스템</a:t>
            </a:r>
            <a:r>
              <a:rPr lang="en-US" altLang="ko-KR" dirty="0">
                <a:solidFill>
                  <a:srgbClr val="2A2A2A"/>
                </a:solidFill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주로 음성이나 텍스트를 통해 질문에 답하거나 명령을 수행하며</a:t>
            </a:r>
            <a:r>
              <a:rPr lang="en-US" altLang="ko-KR" dirty="0">
                <a:solidFill>
                  <a:srgbClr val="2A2A2A"/>
                </a:solidFill>
              </a:rPr>
              <a:t>, </a:t>
            </a:r>
            <a:r>
              <a:rPr lang="ko-KR" altLang="en-US" dirty="0">
                <a:solidFill>
                  <a:srgbClr val="2A2A2A"/>
                </a:solidFill>
              </a:rPr>
              <a:t>사용자의 의도를 이해하고 적절한 반응을 제공함</a:t>
            </a:r>
            <a:r>
              <a:rPr lang="en-US" altLang="ko-KR" dirty="0">
                <a:solidFill>
                  <a:srgbClr val="2A2A2A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</a:rPr>
              <a:t>생성형 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</a:rPr>
              <a:t>AI (Generative AI)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이미지 생성</a:t>
            </a:r>
            <a:r>
              <a:rPr lang="en-US" altLang="ko-KR" dirty="0">
                <a:solidFill>
                  <a:srgbClr val="2A2A2A"/>
                </a:solidFill>
              </a:rPr>
              <a:t> : DALL·E, Midjourney, Nano Banana </a:t>
            </a:r>
            <a:r>
              <a:rPr lang="ko-KR" altLang="en-US" dirty="0">
                <a:solidFill>
                  <a:srgbClr val="2A2A2A"/>
                </a:solidFill>
              </a:rPr>
              <a:t>등</a:t>
            </a:r>
            <a:endParaRPr lang="en-US" altLang="ko-KR" dirty="0">
              <a:solidFill>
                <a:srgbClr val="2A2A2A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2A2A2A"/>
                </a:solidFill>
              </a:rPr>
              <a:t>영상 생성</a:t>
            </a:r>
            <a:r>
              <a:rPr lang="en-US" altLang="ko-KR" dirty="0">
                <a:solidFill>
                  <a:srgbClr val="2A2A2A"/>
                </a:solidFill>
              </a:rPr>
              <a:t> : Sora, Veo3 </a:t>
            </a:r>
            <a:r>
              <a:rPr lang="ko-KR" altLang="en-US" dirty="0">
                <a:solidFill>
                  <a:srgbClr val="2A2A2A"/>
                </a:solidFill>
              </a:rPr>
              <a:t>등</a:t>
            </a:r>
            <a:endParaRPr lang="en-US" altLang="ko-KR" dirty="0">
              <a:solidFill>
                <a:srgbClr val="2A2A2A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800" b="1" dirty="0" err="1">
                <a:solidFill>
                  <a:srgbClr val="2A2A2A"/>
                </a:solidFill>
                <a:latin typeface="+mj-ea"/>
                <a:ea typeface="+mj-ea"/>
              </a:rPr>
              <a:t>휴머노이드</a:t>
            </a:r>
            <a:r>
              <a:rPr lang="ko-KR" altLang="en-US" sz="2800" b="1" dirty="0">
                <a:solidFill>
                  <a:srgbClr val="2A2A2A"/>
                </a:solidFill>
                <a:latin typeface="+mj-ea"/>
                <a:ea typeface="+mj-ea"/>
              </a:rPr>
              <a:t> 로봇</a:t>
            </a:r>
            <a:endParaRPr lang="en-US" altLang="ko-KR" sz="2800" b="1" dirty="0">
              <a:solidFill>
                <a:srgbClr val="2A2A2A"/>
              </a:solidFill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solidFill>
                <a:srgbClr val="2A2A2A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3747E-0B4B-4E6D-A218-A22C7330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2BAE4-E7DA-4F07-83D5-86A2A039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9CBC2-0526-CD9D-1E9E-D76777D6B0AC}"/>
              </a:ext>
            </a:extLst>
          </p:cNvPr>
          <p:cNvSpPr txBox="1"/>
          <p:nvPr/>
        </p:nvSpPr>
        <p:spPr>
          <a:xfrm>
            <a:off x="201697" y="98698"/>
            <a:ext cx="4477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인공지능의 활용</a:t>
            </a:r>
          </a:p>
        </p:txBody>
      </p:sp>
    </p:spTree>
    <p:extLst>
      <p:ext uri="{BB962C8B-B14F-4D97-AF65-F5344CB8AC3E}">
        <p14:creationId xmlns:p14="http://schemas.microsoft.com/office/powerpoint/2010/main" val="343894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4197"/>
            <a:ext cx="2743200" cy="365125"/>
          </a:xfrm>
        </p:spPr>
        <p:txBody>
          <a:bodyPr/>
          <a:lstStyle/>
          <a:p>
            <a:fld id="{2E2BEDFA-D8AA-4914-9440-7DF713C99FA9}" type="datetime1">
              <a:rPr lang="ko-KR" altLang="en-US" smtClean="0"/>
              <a:t>2025-09-08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4CC986-CBFD-ECAA-9DB4-E0FF11629E7A}"/>
              </a:ext>
            </a:extLst>
          </p:cNvPr>
          <p:cNvSpPr txBox="1">
            <a:spLocks/>
          </p:cNvSpPr>
          <p:nvPr/>
        </p:nvSpPr>
        <p:spPr>
          <a:xfrm>
            <a:off x="1544195" y="1788609"/>
            <a:ext cx="3777105" cy="3048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sz="8000" dirty="0" err="1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머신러닝</a:t>
            </a:r>
            <a:endParaRPr lang="en-US" altLang="ko-KR" sz="8000" dirty="0">
              <a:solidFill>
                <a:srgbClr val="2A2A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algn="l"/>
            <a:r>
              <a:rPr lang="en-US" altLang="ko-KR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기계학습</a:t>
            </a:r>
            <a:r>
              <a:rPr lang="en-US" altLang="ko-KR" sz="6400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)</a:t>
            </a:r>
            <a:endParaRPr lang="ko-KR" altLang="en-US" sz="6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pic>
        <p:nvPicPr>
          <p:cNvPr id="1026" name="Picture 2" descr="AI의 심장” 머신러닝 알고리즘의 이해">
            <a:extLst>
              <a:ext uri="{FF2B5EF4-FFF2-40B4-BE49-F238E27FC236}">
                <a16:creationId xmlns:a16="http://schemas.microsoft.com/office/drawing/2014/main" id="{EB0E9A6E-C0FC-5663-5581-C43D2C0E6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7" t="24511" r="20316"/>
          <a:stretch/>
        </p:blipFill>
        <p:spPr bwMode="auto">
          <a:xfrm>
            <a:off x="6342504" y="1788609"/>
            <a:ext cx="4584701" cy="3048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65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30135"/>
            <a:ext cx="4445000" cy="1028698"/>
          </a:xfrm>
        </p:spPr>
        <p:txBody>
          <a:bodyPr>
            <a:noAutofit/>
          </a:bodyPr>
          <a:lstStyle/>
          <a:p>
            <a:r>
              <a:rPr lang="ko-KR" altLang="en-US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머신러닝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58833"/>
            <a:ext cx="11714018" cy="31845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 err="1"/>
              <a:t>머신러닝은</a:t>
            </a:r>
            <a:r>
              <a:rPr lang="ko-KR" altLang="en-US" dirty="0"/>
              <a:t> 인공지능의 한 분야로 </a:t>
            </a:r>
            <a:r>
              <a:rPr lang="ko-KR" altLang="en-US" i="0" dirty="0">
                <a:effectLst/>
              </a:rPr>
              <a:t>컴퓨터 </a:t>
            </a:r>
            <a:r>
              <a:rPr lang="ko-KR" altLang="en-US" dirty="0"/>
              <a:t>또는 기계</a:t>
            </a:r>
            <a:r>
              <a:rPr lang="ko-KR" altLang="en-US" i="0" dirty="0">
                <a:effectLst/>
              </a:rPr>
              <a:t>가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데이터</a:t>
            </a:r>
            <a:r>
              <a:rPr lang="ko-KR" altLang="en-US" i="0" dirty="0">
                <a:effectLst/>
              </a:rPr>
              <a:t>를 이용하여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직접 </a:t>
            </a:r>
            <a:endParaRPr lang="en-US" altLang="ko-KR" i="0" dirty="0">
              <a:solidFill>
                <a:srgbClr val="19B861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19B861"/>
                </a:solidFill>
              </a:rPr>
              <a:t>     </a:t>
            </a:r>
            <a:r>
              <a:rPr lang="ko-KR" altLang="en-US" i="0" dirty="0">
                <a:solidFill>
                  <a:srgbClr val="19B861"/>
                </a:solidFill>
                <a:effectLst/>
              </a:rPr>
              <a:t>학습</a:t>
            </a:r>
            <a:r>
              <a:rPr lang="ko-KR" altLang="en-US" i="0" dirty="0">
                <a:effectLst/>
              </a:rPr>
              <a:t>하는 알고리즘을 뜻함</a:t>
            </a:r>
            <a:endParaRPr lang="en-US" altLang="ko-KR" i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사람이 직접 프로그램을 만들어서 기계에 넣어 주는 것이 아니라</a:t>
            </a:r>
            <a:r>
              <a:rPr lang="en-US" altLang="ko-KR" dirty="0"/>
              <a:t>, </a:t>
            </a:r>
            <a:r>
              <a:rPr lang="ko-KR" altLang="en-US" dirty="0"/>
              <a:t>기계가 스스로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문제를 해결하는 방법을 학습하는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47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C51788FA-41EA-4A3F-4447-8ECCFE68C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2356" y="1384401"/>
            <a:ext cx="3739744" cy="3878990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AutoShape 6" descr="AI와 머신러닝을 비교하는 다이어그램">
            <a:extLst>
              <a:ext uri="{FF2B5EF4-FFF2-40B4-BE49-F238E27FC236}">
                <a16:creationId xmlns:a16="http://schemas.microsoft.com/office/drawing/2014/main" id="{9F39BC97-B194-DCAF-89F6-7E1F84434C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92679" cy="32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AutoShape 10" descr="AI와 머신러닝을 비교하는 다이어그램">
            <a:extLst>
              <a:ext uri="{FF2B5EF4-FFF2-40B4-BE49-F238E27FC236}">
                <a16:creationId xmlns:a16="http://schemas.microsoft.com/office/drawing/2014/main" id="{DC26A0A8-8DE9-1000-B810-D2466E5F5D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AutoShape 12" descr="AI와 머신러닝을 비교하는 다이어그램">
            <a:extLst>
              <a:ext uri="{FF2B5EF4-FFF2-40B4-BE49-F238E27FC236}">
                <a16:creationId xmlns:a16="http://schemas.microsoft.com/office/drawing/2014/main" id="{C160F05E-C830-355A-B0A2-091FECC3A3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C310FF1-436A-DD7D-ACCD-B48F10DE2E78}"/>
              </a:ext>
            </a:extLst>
          </p:cNvPr>
          <p:cNvSpPr txBox="1">
            <a:spLocks/>
          </p:cNvSpPr>
          <p:nvPr/>
        </p:nvSpPr>
        <p:spPr>
          <a:xfrm>
            <a:off x="239493" y="1990753"/>
            <a:ext cx="7299934" cy="3181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딥 러닝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</a:rPr>
              <a:t>Deep</a:t>
            </a:r>
            <a:r>
              <a:rPr lang="ko-KR" altLang="en-US" sz="24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+mj-ea"/>
                <a:ea typeface="+mj-ea"/>
              </a:rPr>
              <a:t>learning)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이란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사람의 뇌를 모방한 구조인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 신경망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사용하여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학습하고 문제를 해결하는 기술</a:t>
            </a:r>
            <a:endParaRPr lang="en-US" altLang="ko-KR" sz="2000" b="1" i="0" dirty="0">
              <a:solidFill>
                <a:srgbClr val="00B05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3C3C3C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‘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</a:t>
            </a:r>
            <a:r>
              <a:rPr lang="en-US" altLang="ko-KR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 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러닝이라고 하는 이유는 수 많은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층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(Layers)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이루어진 신경망 구조를 사용해 데이터를 처리하고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복잡하고 이질적인 대량의 데이터를 포함하기 때문</a:t>
            </a:r>
            <a:r>
              <a:rPr lang="en-US" altLang="ko-KR" sz="200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endParaRPr lang="en-US" altLang="ko-KR" sz="2000" b="1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32CF6-2435-D8B7-FECC-0D404D50EB0D}"/>
              </a:ext>
            </a:extLst>
          </p:cNvPr>
          <p:cNvSpPr txBox="1"/>
          <p:nvPr/>
        </p:nvSpPr>
        <p:spPr>
          <a:xfrm>
            <a:off x="8775232" y="5880313"/>
            <a:ext cx="21539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https://www.sap.com/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3B965-1707-7D33-E1C7-AA0F69B9329C}"/>
              </a:ext>
            </a:extLst>
          </p:cNvPr>
          <p:cNvSpPr txBox="1"/>
          <p:nvPr/>
        </p:nvSpPr>
        <p:spPr>
          <a:xfrm>
            <a:off x="8017078" y="5361118"/>
            <a:ext cx="367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AI &gt; </a:t>
            </a:r>
            <a:r>
              <a:rPr lang="ko-KR" altLang="en-US" sz="2000" b="1" i="0" dirty="0" err="1">
                <a:solidFill>
                  <a:srgbClr val="3C3C3C"/>
                </a:solidFill>
                <a:effectLst/>
                <a:latin typeface="+mj-ea"/>
                <a:ea typeface="+mj-ea"/>
              </a:rPr>
              <a:t>머신러닝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딥러닝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신경망</a:t>
            </a:r>
            <a:endParaRPr lang="en-US" altLang="ko-KR" sz="2000" b="1" i="0" dirty="0">
              <a:solidFill>
                <a:srgbClr val="3C3C3C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54362BB-CA6A-1D12-2E53-63398D9E18B6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딥 러닝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, 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608DC9-5640-A7AA-59D8-B089E513A9A2}"/>
              </a:ext>
            </a:extLst>
          </p:cNvPr>
          <p:cNvSpPr/>
          <p:nvPr/>
        </p:nvSpPr>
        <p:spPr>
          <a:xfrm>
            <a:off x="9388678" y="3074668"/>
            <a:ext cx="698751" cy="50673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52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261EFD-3060-BEB5-A622-4AA3BCDA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F95C9A4C-4E13-BBD9-8ED5-B31DCFAE8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2356" y="1384401"/>
            <a:ext cx="3739744" cy="3878990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BCF45-384F-F656-22A1-344DA6C5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E626A9-0B61-15AB-525C-1EC22C7D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AutoShape 6" descr="AI와 머신러닝을 비교하는 다이어그램">
            <a:extLst>
              <a:ext uri="{FF2B5EF4-FFF2-40B4-BE49-F238E27FC236}">
                <a16:creationId xmlns:a16="http://schemas.microsoft.com/office/drawing/2014/main" id="{FF009053-7D41-CE6D-8CC7-598A571BF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92679" cy="32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AutoShape 10" descr="AI와 머신러닝을 비교하는 다이어그램">
            <a:extLst>
              <a:ext uri="{FF2B5EF4-FFF2-40B4-BE49-F238E27FC236}">
                <a16:creationId xmlns:a16="http://schemas.microsoft.com/office/drawing/2014/main" id="{3B8578FB-A4F6-9F72-8C68-DB5DCA3DFD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AutoShape 12" descr="AI와 머신러닝을 비교하는 다이어그램">
            <a:extLst>
              <a:ext uri="{FF2B5EF4-FFF2-40B4-BE49-F238E27FC236}">
                <a16:creationId xmlns:a16="http://schemas.microsoft.com/office/drawing/2014/main" id="{2B9DB33D-56D7-E910-FDFE-25B1498CF5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806B135F-68A4-2488-1FCC-39B03A03DA2A}"/>
              </a:ext>
            </a:extLst>
          </p:cNvPr>
          <p:cNvSpPr txBox="1">
            <a:spLocks/>
          </p:cNvSpPr>
          <p:nvPr/>
        </p:nvSpPr>
        <p:spPr>
          <a:xfrm>
            <a:off x="290004" y="2471540"/>
            <a:ext cx="7299934" cy="2219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인공 신경망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(Artificial Neural Network)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이란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두뇌의 뉴런을 기반으로 모델링 된 네트워크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 뉴런은 노드라고 하며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여러 레이어로 클러스터화 되고 병렬로 작동</a:t>
            </a:r>
            <a:r>
              <a:rPr lang="en-US" altLang="ko-KR" sz="2000" b="0" i="0" dirty="0">
                <a:solidFill>
                  <a:srgbClr val="3C3C3C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BA6EC0-5375-E052-284C-884400297ADC}"/>
              </a:ext>
            </a:extLst>
          </p:cNvPr>
          <p:cNvSpPr txBox="1"/>
          <p:nvPr/>
        </p:nvSpPr>
        <p:spPr>
          <a:xfrm>
            <a:off x="8775232" y="5880313"/>
            <a:ext cx="21539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https://www.sap.com/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00090-4FBA-2D09-EC79-6745D0C01833}"/>
              </a:ext>
            </a:extLst>
          </p:cNvPr>
          <p:cNvSpPr txBox="1"/>
          <p:nvPr/>
        </p:nvSpPr>
        <p:spPr>
          <a:xfrm>
            <a:off x="8017078" y="5361118"/>
            <a:ext cx="3670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AI &gt; </a:t>
            </a:r>
            <a:r>
              <a:rPr lang="ko-KR" altLang="en-US" sz="2000" b="1" i="0" dirty="0" err="1">
                <a:solidFill>
                  <a:srgbClr val="3C3C3C"/>
                </a:solidFill>
                <a:effectLst/>
                <a:latin typeface="+mj-ea"/>
                <a:ea typeface="+mj-ea"/>
              </a:rPr>
              <a:t>머신러닝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딥러닝 </a:t>
            </a:r>
            <a:r>
              <a:rPr lang="en-US" altLang="ko-KR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&gt; </a:t>
            </a:r>
            <a:r>
              <a:rPr lang="ko-KR" altLang="en-US" sz="2000" b="1" i="0" dirty="0">
                <a:solidFill>
                  <a:srgbClr val="3C3C3C"/>
                </a:solidFill>
                <a:effectLst/>
                <a:latin typeface="+mj-ea"/>
                <a:ea typeface="+mj-ea"/>
              </a:rPr>
              <a:t>신경망</a:t>
            </a:r>
            <a:endParaRPr lang="en-US" altLang="ko-KR" sz="2000" b="1" i="0" dirty="0">
              <a:solidFill>
                <a:srgbClr val="3C3C3C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D757131-6B6F-CA1C-CBD9-E0E623E2A0D5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딥 러닝</a:t>
            </a:r>
            <a:r>
              <a:rPr lang="en-US" altLang="ko-KR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, </a:t>
            </a:r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46A102-5A13-6259-76DF-A89B6D3FA93D}"/>
              </a:ext>
            </a:extLst>
          </p:cNvPr>
          <p:cNvSpPr/>
          <p:nvPr/>
        </p:nvSpPr>
        <p:spPr>
          <a:xfrm>
            <a:off x="8689927" y="3074668"/>
            <a:ext cx="698751" cy="50673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712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093EF9-9895-74CB-9718-F011F1648368}"/>
              </a:ext>
            </a:extLst>
          </p:cNvPr>
          <p:cNvGrpSpPr/>
          <p:nvPr/>
        </p:nvGrpSpPr>
        <p:grpSpPr>
          <a:xfrm>
            <a:off x="482371" y="1314858"/>
            <a:ext cx="6208007" cy="4507238"/>
            <a:chOff x="482371" y="1314858"/>
            <a:chExt cx="6208007" cy="45072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4EA6D1-A619-4766-4A24-9DA76D9C93B1}"/>
                </a:ext>
              </a:extLst>
            </p:cNvPr>
            <p:cNvSpPr txBox="1"/>
            <p:nvPr/>
          </p:nvSpPr>
          <p:spPr>
            <a:xfrm>
              <a:off x="961805" y="1321917"/>
              <a:ext cx="18072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입력층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(input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2F884B-8D99-1EB2-D534-A539B2A72F0A}"/>
                </a:ext>
              </a:extLst>
            </p:cNvPr>
            <p:cNvSpPr txBox="1"/>
            <p:nvPr/>
          </p:nvSpPr>
          <p:spPr>
            <a:xfrm>
              <a:off x="2769064" y="1314858"/>
              <a:ext cx="18993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은닉층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(hidden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EFC032-E4A5-850A-888D-BF3388F3E4DD}"/>
                </a:ext>
              </a:extLst>
            </p:cNvPr>
            <p:cNvSpPr txBox="1"/>
            <p:nvPr/>
          </p:nvSpPr>
          <p:spPr>
            <a:xfrm>
              <a:off x="4683279" y="1319906"/>
              <a:ext cx="2007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출력층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(output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297482E-E092-FF63-BC5B-009340F4F056}"/>
                </a:ext>
              </a:extLst>
            </p:cNvPr>
            <p:cNvSpPr/>
            <p:nvPr/>
          </p:nvSpPr>
          <p:spPr>
            <a:xfrm>
              <a:off x="1407789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E12CE99-5544-D716-29EE-47A6EBDEC793}"/>
                </a:ext>
              </a:extLst>
            </p:cNvPr>
            <p:cNvSpPr/>
            <p:nvPr/>
          </p:nvSpPr>
          <p:spPr>
            <a:xfrm>
              <a:off x="1562025" y="240365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DE26810-4C43-343D-183B-CDC50CDFEA1D}"/>
                </a:ext>
              </a:extLst>
            </p:cNvPr>
            <p:cNvSpPr/>
            <p:nvPr/>
          </p:nvSpPr>
          <p:spPr>
            <a:xfrm>
              <a:off x="1562025" y="320504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15A5CBF-38A6-E1BB-FC88-423ECAD45F4C}"/>
                </a:ext>
              </a:extLst>
            </p:cNvPr>
            <p:cNvSpPr/>
            <p:nvPr/>
          </p:nvSpPr>
          <p:spPr>
            <a:xfrm>
              <a:off x="1562025" y="3951709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B07D232-BDD6-2D1D-C401-600750ADFB63}"/>
                </a:ext>
              </a:extLst>
            </p:cNvPr>
            <p:cNvSpPr/>
            <p:nvPr/>
          </p:nvSpPr>
          <p:spPr>
            <a:xfrm>
              <a:off x="1562025" y="4731612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3323918-7FB2-9120-D664-DAC619137947}"/>
                </a:ext>
              </a:extLst>
            </p:cNvPr>
            <p:cNvSpPr/>
            <p:nvPr/>
          </p:nvSpPr>
          <p:spPr>
            <a:xfrm>
              <a:off x="3291674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0680C56-73A5-005C-77B3-CE2C132778F1}"/>
                </a:ext>
              </a:extLst>
            </p:cNvPr>
            <p:cNvSpPr/>
            <p:nvPr/>
          </p:nvSpPr>
          <p:spPr>
            <a:xfrm>
              <a:off x="3445910" y="240365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0800258-1B44-8A18-C882-60D4AF2B29DB}"/>
                </a:ext>
              </a:extLst>
            </p:cNvPr>
            <p:cNvSpPr/>
            <p:nvPr/>
          </p:nvSpPr>
          <p:spPr>
            <a:xfrm>
              <a:off x="3445910" y="320504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C97F78B-8A48-6FB1-2992-FB29F06B65AD}"/>
                </a:ext>
              </a:extLst>
            </p:cNvPr>
            <p:cNvSpPr/>
            <p:nvPr/>
          </p:nvSpPr>
          <p:spPr>
            <a:xfrm>
              <a:off x="3445910" y="3951709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04D0FB0-7CC8-7F5D-D36F-EF5CFECC861F}"/>
                </a:ext>
              </a:extLst>
            </p:cNvPr>
            <p:cNvSpPr/>
            <p:nvPr/>
          </p:nvSpPr>
          <p:spPr>
            <a:xfrm>
              <a:off x="3445910" y="4731612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A57780C-5580-0A53-75ED-2C714028B615}"/>
                </a:ext>
              </a:extLst>
            </p:cNvPr>
            <p:cNvSpPr/>
            <p:nvPr/>
          </p:nvSpPr>
          <p:spPr>
            <a:xfrm>
              <a:off x="5201267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1BA6E30-2534-CCC4-A3ED-76088802BD36}"/>
                </a:ext>
              </a:extLst>
            </p:cNvPr>
            <p:cNvSpPr/>
            <p:nvPr/>
          </p:nvSpPr>
          <p:spPr>
            <a:xfrm>
              <a:off x="5355503" y="3205043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55C1B8E-6675-BE1A-CA5D-3C8B8007421F}"/>
                </a:ext>
              </a:extLst>
            </p:cNvPr>
            <p:cNvSpPr/>
            <p:nvPr/>
          </p:nvSpPr>
          <p:spPr>
            <a:xfrm>
              <a:off x="5355503" y="3951709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2E6E3A3-0D41-0E5D-F29A-7C2C5068DCA1}"/>
                </a:ext>
              </a:extLst>
            </p:cNvPr>
            <p:cNvCxnSpPr/>
            <p:nvPr/>
          </p:nvCxnSpPr>
          <p:spPr>
            <a:xfrm>
              <a:off x="482371" y="2683786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6677948F-2955-5F72-86A4-67C0147396CF}"/>
                </a:ext>
              </a:extLst>
            </p:cNvPr>
            <p:cNvCxnSpPr/>
            <p:nvPr/>
          </p:nvCxnSpPr>
          <p:spPr>
            <a:xfrm>
              <a:off x="482371" y="3465984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797E1055-0184-67DE-208D-FCCF72DA53AC}"/>
                </a:ext>
              </a:extLst>
            </p:cNvPr>
            <p:cNvCxnSpPr/>
            <p:nvPr/>
          </p:nvCxnSpPr>
          <p:spPr>
            <a:xfrm>
              <a:off x="482371" y="4248182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F017238C-24BD-AD45-95C3-D43CC2D2F319}"/>
                </a:ext>
              </a:extLst>
            </p:cNvPr>
            <p:cNvCxnSpPr/>
            <p:nvPr/>
          </p:nvCxnSpPr>
          <p:spPr>
            <a:xfrm>
              <a:off x="482371" y="5019363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981EEBB0-3E6C-FAB5-CBAE-7A124109990C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131231" y="2683786"/>
              <a:ext cx="1314679" cy="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0F1B506A-D17B-2E18-1099-A70EEFB0B06B}"/>
                </a:ext>
              </a:extLst>
            </p:cNvPr>
            <p:cNvCxnSpPr>
              <a:stCxn id="9" idx="6"/>
              <a:endCxn id="16" idx="2"/>
            </p:cNvCxnSpPr>
            <p:nvPr/>
          </p:nvCxnSpPr>
          <p:spPr>
            <a:xfrm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A6805A16-D61A-5C4E-6700-6F9432493E11}"/>
                </a:ext>
              </a:extLst>
            </p:cNvPr>
            <p:cNvCxnSpPr>
              <a:stCxn id="9" idx="6"/>
              <a:endCxn id="17" idx="2"/>
            </p:cNvCxnSpPr>
            <p:nvPr/>
          </p:nvCxnSpPr>
          <p:spPr>
            <a:xfrm>
              <a:off x="2101852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35647C8-71C9-71A3-A098-078614B32E7D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2101852" y="2684583"/>
              <a:ext cx="1377109" cy="2292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017F2E41-4015-14FB-3F8D-9B3460D2345C}"/>
                </a:ext>
              </a:extLst>
            </p:cNvPr>
            <p:cNvCxnSpPr>
              <a:stCxn id="10" idx="6"/>
              <a:endCxn id="15" idx="2"/>
            </p:cNvCxnSpPr>
            <p:nvPr/>
          </p:nvCxnSpPr>
          <p:spPr>
            <a:xfrm flipV="1"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E52F9347-C215-D73F-087E-7966182E5236}"/>
                </a:ext>
              </a:extLst>
            </p:cNvPr>
            <p:cNvCxnSpPr>
              <a:cxnSpLocks/>
              <a:stCxn id="10" idx="6"/>
              <a:endCxn id="16" idx="2"/>
            </p:cNvCxnSpPr>
            <p:nvPr/>
          </p:nvCxnSpPr>
          <p:spPr>
            <a:xfrm>
              <a:off x="2101852" y="3485973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F3FF14C-606E-2706-935A-ED6C48B84D9A}"/>
                </a:ext>
              </a:extLst>
            </p:cNvPr>
            <p:cNvCxnSpPr>
              <a:cxnSpLocks/>
              <a:stCxn id="10" idx="6"/>
              <a:endCxn id="17" idx="2"/>
            </p:cNvCxnSpPr>
            <p:nvPr/>
          </p:nvCxnSpPr>
          <p:spPr>
            <a:xfrm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33809E7-E45B-DE07-04B7-E6BC0A18B5FC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2101852" y="3485973"/>
              <a:ext cx="1421176" cy="15746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476E1A02-53D3-D8B6-03DC-922EE0465381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V="1">
              <a:off x="2101852" y="2706070"/>
              <a:ext cx="1281630" cy="15265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5770AB34-4565-93D0-E2FC-DA0F3573AC0C}"/>
                </a:ext>
              </a:extLst>
            </p:cNvPr>
            <p:cNvCxnSpPr>
              <a:cxnSpLocks/>
              <a:stCxn id="11" idx="6"/>
              <a:endCxn id="16" idx="2"/>
            </p:cNvCxnSpPr>
            <p:nvPr/>
          </p:nvCxnSpPr>
          <p:spPr>
            <a:xfrm flipV="1"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F37CAE02-51B5-FB5F-22BA-E759DE2338E3}"/>
                </a:ext>
              </a:extLst>
            </p:cNvPr>
            <p:cNvCxnSpPr>
              <a:cxnSpLocks/>
              <a:stCxn id="11" idx="6"/>
              <a:endCxn id="17" idx="2"/>
            </p:cNvCxnSpPr>
            <p:nvPr/>
          </p:nvCxnSpPr>
          <p:spPr>
            <a:xfrm>
              <a:off x="2101852" y="4232639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B6AB8760-E959-4E1D-6D71-64AE131C0316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>
              <a:off x="2101852" y="4232639"/>
              <a:ext cx="1344058" cy="77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1C0DE950-5A87-6139-6737-ED599DAD3588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2109197" y="2684583"/>
              <a:ext cx="1336713" cy="2325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D9986485-0A84-3373-FE85-550CE0F089F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2081654" y="3485973"/>
              <a:ext cx="1364256" cy="1580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CF68F2DC-F49F-F819-77DA-70646340C391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2088082" y="4232639"/>
              <a:ext cx="1357828" cy="822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17BE724E-D441-6C5F-1960-3B6D16E665BC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2256088" y="5012542"/>
              <a:ext cx="1189822" cy="21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302FD57F-3D92-5164-3D88-F01DFE82C180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3963703" y="3442357"/>
              <a:ext cx="1391800" cy="43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081FC196-038A-19F7-4379-B0433387D702}"/>
                </a:ext>
              </a:extLst>
            </p:cNvPr>
            <p:cNvCxnSpPr/>
            <p:nvPr/>
          </p:nvCxnSpPr>
          <p:spPr>
            <a:xfrm>
              <a:off x="3994919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0605DD96-1F8A-2EC7-8660-702193628B7B}"/>
                </a:ext>
              </a:extLst>
            </p:cNvPr>
            <p:cNvCxnSpPr/>
            <p:nvPr/>
          </p:nvCxnSpPr>
          <p:spPr>
            <a:xfrm>
              <a:off x="3994919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AA546478-F063-ED3E-E839-11E3547A090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3994919" y="3446559"/>
              <a:ext cx="1360584" cy="7860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62003A84-0D2A-8EB2-F99B-FB33F1FCCD11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952230" y="3485973"/>
              <a:ext cx="1403273" cy="704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F2C5C483-B413-A820-FD02-1F2A813E797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3964396" y="4201862"/>
              <a:ext cx="1391107" cy="3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FC2CD62A-6AE5-119F-33B0-EE1EEBE94796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3994919" y="3485973"/>
              <a:ext cx="1360584" cy="149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89BFC2C5-0EF3-F08C-4000-6AFF4DA7748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3978393" y="4232639"/>
              <a:ext cx="1377110" cy="755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B9FCAF58-E2F7-A1A5-799C-B92220220093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3524102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6635721A-6369-E73E-8AED-6DA2E14D7E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4249727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742095D-1E02-5251-6D79-D6815C4FE550}"/>
              </a:ext>
            </a:extLst>
          </p:cNvPr>
          <p:cNvSpPr txBox="1"/>
          <p:nvPr/>
        </p:nvSpPr>
        <p:spPr>
          <a:xfrm>
            <a:off x="7144357" y="1477249"/>
            <a:ext cx="4698695" cy="452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입력층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데이터를 받아들이는 역할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식재료</a:t>
            </a:r>
            <a:endParaRPr lang="en-US" altLang="ko-KR" sz="16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은닉층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입력층에서 들어온 데이터를 처리하고 패턴을 학습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여러 신호로 바뀌어서 출력층까지 전달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주방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조리과정</a:t>
            </a:r>
            <a:endParaRPr lang="en-US" altLang="ko-KR" sz="16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출력층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: 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최종 결과를 출력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예측 값 생성</a:t>
            </a:r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). </a:t>
            </a:r>
            <a:r>
              <a:rPr lang="ko-KR" altLang="en-US" sz="20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출력층에</a:t>
            </a:r>
            <a:r>
              <a:rPr lang="ko-KR" altLang="en-US" sz="2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어떤 값이 전달되었느냐에 따라서 예측 값이 결정됨</a:t>
            </a:r>
            <a:endParaRPr lang="en-US" altLang="ko-KR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ex)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완성된 요리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</p:spTree>
    <p:extLst>
      <p:ext uri="{BB962C8B-B14F-4D97-AF65-F5344CB8AC3E}">
        <p14:creationId xmlns:p14="http://schemas.microsoft.com/office/powerpoint/2010/main" val="1435776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3500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20520" y="2363912"/>
            <a:ext cx="2770310" cy="22576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키</a:t>
            </a:r>
            <a:r>
              <a:rPr lang="en-US" altLang="ko-KR" sz="2400" dirty="0">
                <a:latin typeface="+mj-ea"/>
                <a:ea typeface="+mj-ea"/>
              </a:rPr>
              <a:t>: 175cm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얼굴 길이</a:t>
            </a:r>
            <a:r>
              <a:rPr lang="en-US" altLang="ko-KR" sz="2400" dirty="0">
                <a:latin typeface="+mj-ea"/>
                <a:ea typeface="+mj-ea"/>
              </a:rPr>
              <a:t>: 30cm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머리카락 길이</a:t>
            </a:r>
            <a:r>
              <a:rPr lang="en-US" altLang="ko-KR" sz="2400" dirty="0">
                <a:latin typeface="+mj-ea"/>
                <a:ea typeface="+mj-ea"/>
              </a:rPr>
              <a:t>: 15cm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+mj-ea"/>
                <a:ea typeface="+mj-ea"/>
              </a:rPr>
              <a:t>…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0581409" y="3172917"/>
            <a:ext cx="726481" cy="595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j-ea"/>
                <a:ea typeface="+mj-ea"/>
              </a:rPr>
              <a:t>남자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840317" y="5552715"/>
            <a:ext cx="4746812" cy="800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000" dirty="0">
                <a:latin typeface="+mj-ea"/>
                <a:ea typeface="+mj-ea"/>
              </a:rPr>
              <a:t>데이터에 가중치를 곱하고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여러 층을 거치면서</a:t>
            </a:r>
            <a:endParaRPr lang="en-US" altLang="ko-KR" sz="2000" dirty="0">
              <a:latin typeface="+mj-ea"/>
              <a:ea typeface="+mj-ea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000" dirty="0">
                <a:latin typeface="+mj-ea"/>
                <a:ea typeface="+mj-ea"/>
              </a:rPr>
              <a:t>계산된 값을 변환하여 </a:t>
            </a:r>
            <a:r>
              <a:rPr lang="ko-KR" altLang="en-US" sz="2000" dirty="0" err="1">
                <a:latin typeface="+mj-ea"/>
                <a:ea typeface="+mj-ea"/>
              </a:rPr>
              <a:t>최총</a:t>
            </a:r>
            <a:r>
              <a:rPr lang="ko-KR" altLang="en-US" sz="2000" dirty="0">
                <a:latin typeface="+mj-ea"/>
                <a:ea typeface="+mj-ea"/>
              </a:rPr>
              <a:t> 출력 값을 만듦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92C35AA-7723-E4C8-8E08-E93906CC79CE}"/>
              </a:ext>
            </a:extLst>
          </p:cNvPr>
          <p:cNvGrpSpPr/>
          <p:nvPr/>
        </p:nvGrpSpPr>
        <p:grpSpPr>
          <a:xfrm>
            <a:off x="3980271" y="938054"/>
            <a:ext cx="6208007" cy="4507238"/>
            <a:chOff x="482371" y="1314858"/>
            <a:chExt cx="6208007" cy="45072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339972-6DDC-05FD-FD41-4A95E2C5BBEA}"/>
                </a:ext>
              </a:extLst>
            </p:cNvPr>
            <p:cNvSpPr txBox="1"/>
            <p:nvPr/>
          </p:nvSpPr>
          <p:spPr>
            <a:xfrm>
              <a:off x="961805" y="1321917"/>
              <a:ext cx="18072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입력층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(input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02E85B-5154-70D8-E917-67D952469D80}"/>
                </a:ext>
              </a:extLst>
            </p:cNvPr>
            <p:cNvSpPr txBox="1"/>
            <p:nvPr/>
          </p:nvSpPr>
          <p:spPr>
            <a:xfrm>
              <a:off x="2769064" y="1314858"/>
              <a:ext cx="18993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은닉층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(hidden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89FF32-F0D9-1B31-2C5A-B75611897FD0}"/>
                </a:ext>
              </a:extLst>
            </p:cNvPr>
            <p:cNvSpPr txBox="1"/>
            <p:nvPr/>
          </p:nvSpPr>
          <p:spPr>
            <a:xfrm>
              <a:off x="4683279" y="1319906"/>
              <a:ext cx="2007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 err="1">
                  <a:ea typeface="+mj-ea"/>
                </a:rPr>
                <a:t>출력층</a:t>
              </a:r>
              <a:endParaRPr lang="en-US" altLang="ko-KR" sz="2000" dirty="0">
                <a:ea typeface="+mj-ea"/>
              </a:endParaRPr>
            </a:p>
            <a:p>
              <a:pPr algn="ctr"/>
              <a:r>
                <a:rPr lang="en-US" altLang="ko-KR" sz="1600" dirty="0">
                  <a:ea typeface="+mj-ea"/>
                </a:rPr>
                <a:t>(output layer)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CA57A71-10DA-AD41-E3EF-4E4B83972C2C}"/>
                </a:ext>
              </a:extLst>
            </p:cNvPr>
            <p:cNvSpPr/>
            <p:nvPr/>
          </p:nvSpPr>
          <p:spPr>
            <a:xfrm>
              <a:off x="1407789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F8C8336-3730-FB48-55AD-DE985210E872}"/>
                </a:ext>
              </a:extLst>
            </p:cNvPr>
            <p:cNvSpPr/>
            <p:nvPr/>
          </p:nvSpPr>
          <p:spPr>
            <a:xfrm>
              <a:off x="1562025" y="240365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1BD8972-F0D7-A19D-92D2-D387CF5D7BA1}"/>
                </a:ext>
              </a:extLst>
            </p:cNvPr>
            <p:cNvSpPr/>
            <p:nvPr/>
          </p:nvSpPr>
          <p:spPr>
            <a:xfrm>
              <a:off x="1562025" y="3205043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54D99D5-3F5E-DF3C-D2E4-E661BAB913B3}"/>
                </a:ext>
              </a:extLst>
            </p:cNvPr>
            <p:cNvSpPr/>
            <p:nvPr/>
          </p:nvSpPr>
          <p:spPr>
            <a:xfrm>
              <a:off x="1562025" y="3951709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6CCC8DC-1A23-6C02-8469-2B34D2EB19C4}"/>
                </a:ext>
              </a:extLst>
            </p:cNvPr>
            <p:cNvSpPr/>
            <p:nvPr/>
          </p:nvSpPr>
          <p:spPr>
            <a:xfrm>
              <a:off x="1562025" y="4731612"/>
              <a:ext cx="539827" cy="5618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586EFFF-7049-20D2-E9D6-F5878A603E22}"/>
                </a:ext>
              </a:extLst>
            </p:cNvPr>
            <p:cNvSpPr/>
            <p:nvPr/>
          </p:nvSpPr>
          <p:spPr>
            <a:xfrm>
              <a:off x="3291674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1BCB0DD-CAEC-9C46-B6BB-B54F05D951B7}"/>
                </a:ext>
              </a:extLst>
            </p:cNvPr>
            <p:cNvSpPr/>
            <p:nvPr/>
          </p:nvSpPr>
          <p:spPr>
            <a:xfrm>
              <a:off x="3445910" y="240365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1EF2FCD5-BEF6-0D1B-6A12-FB0ACBBB387D}"/>
                </a:ext>
              </a:extLst>
            </p:cNvPr>
            <p:cNvSpPr/>
            <p:nvPr/>
          </p:nvSpPr>
          <p:spPr>
            <a:xfrm>
              <a:off x="3445910" y="3205043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D3CDD30E-FDB9-1197-029E-3BAAEA817D3C}"/>
                </a:ext>
              </a:extLst>
            </p:cNvPr>
            <p:cNvSpPr/>
            <p:nvPr/>
          </p:nvSpPr>
          <p:spPr>
            <a:xfrm>
              <a:off x="3445910" y="3951709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C663B87-AF07-BF14-BFDF-7D044A40E278}"/>
                </a:ext>
              </a:extLst>
            </p:cNvPr>
            <p:cNvSpPr/>
            <p:nvPr/>
          </p:nvSpPr>
          <p:spPr>
            <a:xfrm>
              <a:off x="3445910" y="4731612"/>
              <a:ext cx="539827" cy="5618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FBB95FA-829A-44DC-4B12-5DD8FBF3F1B9}"/>
                </a:ext>
              </a:extLst>
            </p:cNvPr>
            <p:cNvSpPr/>
            <p:nvPr/>
          </p:nvSpPr>
          <p:spPr>
            <a:xfrm>
              <a:off x="5201267" y="2117214"/>
              <a:ext cx="848299" cy="37048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C15BE9-3CB6-D5E9-5105-A12BC7FA21BE}"/>
                </a:ext>
              </a:extLst>
            </p:cNvPr>
            <p:cNvSpPr/>
            <p:nvPr/>
          </p:nvSpPr>
          <p:spPr>
            <a:xfrm>
              <a:off x="5355503" y="3205043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A8B43CA-953C-DD6A-5071-DD1171851DA8}"/>
                </a:ext>
              </a:extLst>
            </p:cNvPr>
            <p:cNvSpPr/>
            <p:nvPr/>
          </p:nvSpPr>
          <p:spPr>
            <a:xfrm>
              <a:off x="5355503" y="3951709"/>
              <a:ext cx="539827" cy="5618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0A915131-0EB1-2421-785B-416988D7EC69}"/>
                </a:ext>
              </a:extLst>
            </p:cNvPr>
            <p:cNvCxnSpPr/>
            <p:nvPr/>
          </p:nvCxnSpPr>
          <p:spPr>
            <a:xfrm>
              <a:off x="482371" y="2683786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C18D0FF9-C9E3-2C1E-A678-501BA037DFEF}"/>
                </a:ext>
              </a:extLst>
            </p:cNvPr>
            <p:cNvCxnSpPr/>
            <p:nvPr/>
          </p:nvCxnSpPr>
          <p:spPr>
            <a:xfrm>
              <a:off x="482371" y="3465984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011882F-43F1-5818-1B1E-1B6F58D13AB4}"/>
                </a:ext>
              </a:extLst>
            </p:cNvPr>
            <p:cNvCxnSpPr/>
            <p:nvPr/>
          </p:nvCxnSpPr>
          <p:spPr>
            <a:xfrm>
              <a:off x="482371" y="4248182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51269696-769F-ECF0-CFF7-4B2DFCAA68BE}"/>
                </a:ext>
              </a:extLst>
            </p:cNvPr>
            <p:cNvCxnSpPr/>
            <p:nvPr/>
          </p:nvCxnSpPr>
          <p:spPr>
            <a:xfrm>
              <a:off x="482371" y="5019363"/>
              <a:ext cx="10796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AD1CE073-B72D-351A-6B62-BB9A5314D4BE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2131231" y="2683786"/>
              <a:ext cx="1314679" cy="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E3B67450-FC8C-8153-4274-3E16EE23C63D}"/>
                </a:ext>
              </a:extLst>
            </p:cNvPr>
            <p:cNvCxnSpPr>
              <a:stCxn id="22" idx="6"/>
              <a:endCxn id="33" idx="2"/>
            </p:cNvCxnSpPr>
            <p:nvPr/>
          </p:nvCxnSpPr>
          <p:spPr>
            <a:xfrm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C4C9B6A7-3D27-243C-8DF2-69252EAC9249}"/>
                </a:ext>
              </a:extLst>
            </p:cNvPr>
            <p:cNvCxnSpPr>
              <a:stCxn id="22" idx="6"/>
              <a:endCxn id="34" idx="2"/>
            </p:cNvCxnSpPr>
            <p:nvPr/>
          </p:nvCxnSpPr>
          <p:spPr>
            <a:xfrm>
              <a:off x="2101852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67F30D5C-5403-2665-D528-BE84B9EDB839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101852" y="2684583"/>
              <a:ext cx="1377109" cy="2292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BC6B659F-8E04-A42A-F64A-8EA34466CFC0}"/>
                </a:ext>
              </a:extLst>
            </p:cNvPr>
            <p:cNvCxnSpPr>
              <a:stCxn id="23" idx="6"/>
              <a:endCxn id="32" idx="2"/>
            </p:cNvCxnSpPr>
            <p:nvPr/>
          </p:nvCxnSpPr>
          <p:spPr>
            <a:xfrm flipV="1">
              <a:off x="2101852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81F1D268-54B0-40AC-4994-FE71933B9FF1}"/>
                </a:ext>
              </a:extLst>
            </p:cNvPr>
            <p:cNvCxnSpPr>
              <a:cxnSpLocks/>
              <a:stCxn id="23" idx="6"/>
              <a:endCxn id="33" idx="2"/>
            </p:cNvCxnSpPr>
            <p:nvPr/>
          </p:nvCxnSpPr>
          <p:spPr>
            <a:xfrm>
              <a:off x="2101852" y="3485973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78CA3BF9-ACA1-E8C8-EA6D-81934A50F2F1}"/>
                </a:ext>
              </a:extLst>
            </p:cNvPr>
            <p:cNvCxnSpPr>
              <a:cxnSpLocks/>
              <a:stCxn id="23" idx="6"/>
              <a:endCxn id="34" idx="2"/>
            </p:cNvCxnSpPr>
            <p:nvPr/>
          </p:nvCxnSpPr>
          <p:spPr>
            <a:xfrm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6CE0E5B0-90E8-6655-C6E7-7C3CE8D8F0F7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2101852" y="3485973"/>
              <a:ext cx="1421176" cy="15746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9C92FC0B-D792-0669-F01F-4D34F61FF3B9}"/>
                </a:ext>
              </a:extLst>
            </p:cNvPr>
            <p:cNvCxnSpPr>
              <a:cxnSpLocks/>
              <a:stCxn id="25" idx="6"/>
            </p:cNvCxnSpPr>
            <p:nvPr/>
          </p:nvCxnSpPr>
          <p:spPr>
            <a:xfrm flipV="1">
              <a:off x="2101852" y="2706070"/>
              <a:ext cx="1281630" cy="15265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356B4FCE-969E-0CD8-E696-DD4B9AA41924}"/>
                </a:ext>
              </a:extLst>
            </p:cNvPr>
            <p:cNvCxnSpPr>
              <a:cxnSpLocks/>
              <a:stCxn id="25" idx="6"/>
              <a:endCxn id="33" idx="2"/>
            </p:cNvCxnSpPr>
            <p:nvPr/>
          </p:nvCxnSpPr>
          <p:spPr>
            <a:xfrm flipV="1">
              <a:off x="2101852" y="3485973"/>
              <a:ext cx="1344058" cy="746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3E536CC3-EE99-57E2-699A-CA5B9E8B77B1}"/>
                </a:ext>
              </a:extLst>
            </p:cNvPr>
            <p:cNvCxnSpPr>
              <a:cxnSpLocks/>
              <a:stCxn id="25" idx="6"/>
              <a:endCxn id="34" idx="2"/>
            </p:cNvCxnSpPr>
            <p:nvPr/>
          </p:nvCxnSpPr>
          <p:spPr>
            <a:xfrm>
              <a:off x="2101852" y="4232639"/>
              <a:ext cx="13440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3D406C24-1875-20CC-1B45-9B9610743F53}"/>
                </a:ext>
              </a:extLst>
            </p:cNvPr>
            <p:cNvCxnSpPr>
              <a:cxnSpLocks/>
              <a:stCxn id="25" idx="6"/>
              <a:endCxn id="40" idx="2"/>
            </p:cNvCxnSpPr>
            <p:nvPr/>
          </p:nvCxnSpPr>
          <p:spPr>
            <a:xfrm>
              <a:off x="2101852" y="4232639"/>
              <a:ext cx="1344058" cy="779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C6D06C94-70A6-1852-0686-358D6848A413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2109197" y="2684583"/>
              <a:ext cx="1336713" cy="23258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EA1675D9-6C6B-883A-4E67-C4A31EEC0D7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2081654" y="3485973"/>
              <a:ext cx="1364256" cy="1580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212D6D05-36A2-56F4-BAF9-50E8972C81DE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2088082" y="4232639"/>
              <a:ext cx="1357828" cy="822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1866FEBA-F862-8491-B86A-5ABE0EDBF4DE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flipV="1">
              <a:off x="2256088" y="5012542"/>
              <a:ext cx="1189822" cy="21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EAF5B1E8-665D-B3D8-7B39-64D4743C1C52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>
              <a:off x="3963703" y="3442357"/>
              <a:ext cx="1391800" cy="43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6ABFBFB2-DAA3-8C19-35AE-D1487FCEC401}"/>
                </a:ext>
              </a:extLst>
            </p:cNvPr>
            <p:cNvCxnSpPr/>
            <p:nvPr/>
          </p:nvCxnSpPr>
          <p:spPr>
            <a:xfrm>
              <a:off x="3994919" y="2684583"/>
              <a:ext cx="1344058" cy="8013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F494BE1-DA7F-F908-6B8D-7E17A635724F}"/>
                </a:ext>
              </a:extLst>
            </p:cNvPr>
            <p:cNvCxnSpPr/>
            <p:nvPr/>
          </p:nvCxnSpPr>
          <p:spPr>
            <a:xfrm>
              <a:off x="3994919" y="2684583"/>
              <a:ext cx="1344058" cy="154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60E48268-2A0C-0B11-1CED-7D42E376EF8E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>
              <a:off x="3994919" y="3446559"/>
              <a:ext cx="1360584" cy="7860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A4982AE3-7E13-AAEB-61FA-0EEE802D45DC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3952230" y="3485973"/>
              <a:ext cx="1403273" cy="704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9A91C17A-8AFD-2F80-7155-29E720ABD02D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>
              <a:off x="3964396" y="4201862"/>
              <a:ext cx="1391107" cy="3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7C5C2B62-A387-6060-2036-FA70C4FFFA83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3994919" y="3485973"/>
              <a:ext cx="1360584" cy="149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E4ABE523-8821-C714-CF2F-905A579DD647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V="1">
              <a:off x="3978393" y="4232639"/>
              <a:ext cx="1377110" cy="755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7BF2E56A-59B8-2D66-9CF0-3B71D49223D4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3524102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1EA71B9B-AC74-49ED-26BD-73567BDA07AA}"/>
                </a:ext>
              </a:extLst>
            </p:cNvPr>
            <p:cNvCxnSpPr>
              <a:cxnSpLocks/>
            </p:cNvCxnSpPr>
            <p:nvPr/>
          </p:nvCxnSpPr>
          <p:spPr>
            <a:xfrm>
              <a:off x="5895330" y="4249727"/>
              <a:ext cx="7950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6063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42095D-1E02-5251-6D79-D6815C4FE550}"/>
              </a:ext>
            </a:extLst>
          </p:cNvPr>
          <p:cNvSpPr txBox="1"/>
          <p:nvPr/>
        </p:nvSpPr>
        <p:spPr>
          <a:xfrm>
            <a:off x="238991" y="1158833"/>
            <a:ext cx="7286650" cy="233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sz="2800" b="1" dirty="0">
                <a:latin typeface="+mj-ea"/>
              </a:rPr>
              <a:t>인공신경망과 데이터</a:t>
            </a:r>
            <a:endParaRPr lang="en-US" altLang="ko-KR" sz="2800" b="1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인공지능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(AI)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만들기 위해서는 데이터가 필수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데이터에 여러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특징이 많을수록 정확성 향상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수가 많을수록 정확성 증가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7DB9812-0638-5BD7-72FB-5F35D0EC327A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38481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신경망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38991" y="3761038"/>
            <a:ext cx="8693577" cy="66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➡️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많은 양의 데이터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와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고성능의 하드웨어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 필요함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38991" y="4524389"/>
            <a:ext cx="9077711" cy="6630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+mj-ea"/>
              </a:rPr>
              <a:t>➡️ 데이터를 바탕으로 결과를 생성하기 위한 </a:t>
            </a:r>
            <a:r>
              <a:rPr lang="ko-KR" altLang="en-US" sz="2800" b="1" dirty="0">
                <a:latin typeface="+mj-ea"/>
              </a:rPr>
              <a:t>학습 과정</a:t>
            </a:r>
            <a:r>
              <a:rPr lang="ko-KR" altLang="en-US" sz="2800" dirty="0">
                <a:latin typeface="+mj-ea"/>
              </a:rPr>
              <a:t>이 필요함</a:t>
            </a:r>
            <a:endParaRPr lang="en-US" altLang="ko-KR" sz="28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4298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90" y="2294255"/>
            <a:ext cx="6931066" cy="24239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j-ea"/>
                <a:ea typeface="+mj-ea"/>
              </a:rPr>
              <a:t>🚀</a:t>
            </a:r>
            <a:r>
              <a:rPr lang="ko-KR" altLang="en-US" sz="2400" b="1" dirty="0" err="1">
                <a:latin typeface="+mj-ea"/>
                <a:ea typeface="+mj-ea"/>
              </a:rPr>
              <a:t>퀵</a:t>
            </a:r>
            <a:r>
              <a:rPr lang="ko-KR" altLang="en-US" sz="2400" b="1" dirty="0">
                <a:latin typeface="+mj-ea"/>
                <a:ea typeface="+mj-ea"/>
              </a:rPr>
              <a:t> 드로우</a:t>
            </a:r>
            <a:r>
              <a:rPr lang="en-US" altLang="ko-KR" sz="2400" b="1" dirty="0">
                <a:latin typeface="+mj-ea"/>
                <a:ea typeface="+mj-ea"/>
              </a:rPr>
              <a:t>(Quick Draw)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낙서를 인식할 수 있는 인공지능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구글에서 인공지능을 재미있게 체험할 수 있도록 만든 사이트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hlinkClick r:id="rId3"/>
              </a:rPr>
              <a:t>https://quickdraw.withgoogle.com/?locale=ko</a:t>
            </a:r>
            <a:endParaRPr lang="en-US" altLang="ko-KR" sz="20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975F4DD-A8D6-37A8-38B2-6E724E19D1CB}"/>
              </a:ext>
            </a:extLst>
          </p:cNvPr>
          <p:cNvGrpSpPr/>
          <p:nvPr/>
        </p:nvGrpSpPr>
        <p:grpSpPr>
          <a:xfrm>
            <a:off x="7788412" y="589295"/>
            <a:ext cx="3583857" cy="5679410"/>
            <a:chOff x="7802926" y="627202"/>
            <a:chExt cx="3583857" cy="567941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730E2A0-D8BE-27FD-6DA8-88983F7BE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926" y="627202"/>
              <a:ext cx="3583857" cy="276248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21FC548-530C-A23D-2252-11C8F924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25812" y="3544132"/>
              <a:ext cx="3138083" cy="2762480"/>
            </a:xfrm>
            <a:prstGeom prst="rect">
              <a:avLst/>
            </a:prstGeom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B053AD99-7D72-BD08-7BA3-000422A38224}"/>
              </a:ext>
            </a:extLst>
          </p:cNvPr>
          <p:cNvSpPr txBox="1">
            <a:spLocks/>
          </p:cNvSpPr>
          <p:nvPr/>
        </p:nvSpPr>
        <p:spPr>
          <a:xfrm>
            <a:off x="165100" y="130135"/>
            <a:ext cx="6807200" cy="1028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인공 지능 체험하기</a:t>
            </a:r>
          </a:p>
        </p:txBody>
      </p:sp>
    </p:spTree>
    <p:extLst>
      <p:ext uri="{BB962C8B-B14F-4D97-AF65-F5344CB8AC3E}">
        <p14:creationId xmlns:p14="http://schemas.microsoft.com/office/powerpoint/2010/main" val="361140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626510"/>
            <a:ext cx="9144000" cy="1318542"/>
          </a:xfrm>
        </p:spPr>
        <p:txBody>
          <a:bodyPr>
            <a:noAutofit/>
          </a:bodyPr>
          <a:lstStyle/>
          <a:p>
            <a:r>
              <a:rPr lang="ko-KR" altLang="en-US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머신 비전 기초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245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975118"/>
            <a:ext cx="5996923" cy="30642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인공지능의 한 분야로 인간의 시각적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능력을 모방하여 컴퓨터나 기계가 </a:t>
            </a:r>
            <a:r>
              <a:rPr lang="ko-KR" altLang="en-US" b="1" dirty="0">
                <a:solidFill>
                  <a:srgbClr val="19B861"/>
                </a:solidFill>
              </a:rPr>
              <a:t>시각</a:t>
            </a:r>
            <a:endParaRPr lang="en-US" altLang="ko-KR" b="1" dirty="0">
              <a:solidFill>
                <a:srgbClr val="19B86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solidFill>
                  <a:srgbClr val="19B861"/>
                </a:solidFill>
              </a:rPr>
              <a:t>     </a:t>
            </a:r>
            <a:r>
              <a:rPr lang="ko-KR" altLang="en-US" b="1" dirty="0">
                <a:solidFill>
                  <a:srgbClr val="19B861"/>
                </a:solidFill>
              </a:rPr>
              <a:t>적인 역할</a:t>
            </a:r>
            <a:r>
              <a:rPr lang="ko-KR" altLang="en-US" dirty="0"/>
              <a:t>을 처리할 수 있도록 연구하는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분야</a:t>
            </a: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40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EFE08E-8344-4D11-0C1C-E78C86B78DDF}"/>
              </a:ext>
            </a:extLst>
          </p:cNvPr>
          <p:cNvGrpSpPr/>
          <p:nvPr/>
        </p:nvGrpSpPr>
        <p:grpSpPr>
          <a:xfrm>
            <a:off x="6607821" y="1798075"/>
            <a:ext cx="5203975" cy="3766207"/>
            <a:chOff x="6195152" y="1647622"/>
            <a:chExt cx="5423894" cy="3925366"/>
          </a:xfrm>
        </p:grpSpPr>
        <p:pic>
          <p:nvPicPr>
            <p:cNvPr id="1026" name="Picture 2" descr="The Four Basic Functions of Machine Vision - Vicoimaging™ Machine Vision  Provid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5152" y="1647622"/>
              <a:ext cx="5423894" cy="35627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6610637" y="5326767"/>
              <a:ext cx="45929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 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https://vicoimaging.com/the-four-basic-functions-of-machine-vision/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9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480" y="5072636"/>
            <a:ext cx="8695039" cy="12486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📌인간이 시각정보를 보고 판단하듯</a:t>
            </a:r>
            <a:r>
              <a:rPr lang="en-US" altLang="ko-KR" sz="2400" dirty="0"/>
              <a:t>, </a:t>
            </a:r>
            <a:r>
              <a:rPr lang="ko-KR" altLang="en-US" sz="2400" dirty="0"/>
              <a:t>컴퓨터는 </a:t>
            </a:r>
            <a:r>
              <a:rPr lang="ko-KR" altLang="en-US" sz="2400" dirty="0">
                <a:solidFill>
                  <a:srgbClr val="19B861"/>
                </a:solidFill>
              </a:rPr>
              <a:t>영상 데이터</a:t>
            </a:r>
            <a:r>
              <a:rPr lang="ko-KR" altLang="en-US" sz="2400" dirty="0"/>
              <a:t>를 보고 판단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획득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센서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 이미지 분석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·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이해 → 특정 작업 수행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37A311-5AB0-5CF9-B056-F0B9FB222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27" y="1296034"/>
            <a:ext cx="5428344" cy="3525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40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머신비전이란</a:t>
            </a:r>
            <a:r>
              <a:rPr lang="en-US" altLang="ko-KR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?</a:t>
            </a:r>
            <a:endParaRPr lang="ko-KR" altLang="en-US" sz="54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10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451B9-5B29-34A0-F0D0-09A5C82C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885" y="1429439"/>
            <a:ext cx="7515972" cy="11617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📌이미지 센서가 빛의 양</a:t>
            </a:r>
            <a:r>
              <a:rPr lang="en-US" altLang="ko-KR" sz="2400" dirty="0"/>
              <a:t>(Intensity)</a:t>
            </a:r>
            <a:r>
              <a:rPr lang="ko-KR" altLang="en-US" sz="2400" dirty="0"/>
              <a:t>을 감지하여 숫자로 변환</a:t>
            </a:r>
            <a:endParaRPr lang="en-US" altLang="ko-KR" sz="2400" dirty="0"/>
          </a:p>
          <a:p>
            <a:pPr lvl="1"/>
            <a:r>
              <a:rPr lang="ko-KR" altLang="en-US" sz="2000" dirty="0"/>
              <a:t>빛의 양 감지 → 전기 신호로 변환 → 디지털화</a:t>
            </a:r>
            <a:r>
              <a:rPr lang="en-US" altLang="ko-KR" sz="2000" dirty="0"/>
              <a:t>(</a:t>
            </a:r>
            <a:r>
              <a:rPr lang="ko-KR" altLang="en-US" sz="2000" dirty="0"/>
              <a:t>숫자로 변환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026" name="Picture 2" descr="CIS_CMOS센서의구조(수정)">
            <a:extLst>
              <a:ext uri="{FF2B5EF4-FFF2-40B4-BE49-F238E27FC236}">
                <a16:creationId xmlns:a16="http://schemas.microsoft.com/office/drawing/2014/main" id="{A87E87D7-C3DD-6A58-441E-03708FF9C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85" y="2722315"/>
            <a:ext cx="5159390" cy="293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ED7DD4-3F18-41AF-1594-B59787AB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169" y="2742153"/>
            <a:ext cx="4954708" cy="2892168"/>
          </a:xfrm>
          <a:prstGeom prst="rect">
            <a:avLst/>
          </a:prstGeom>
        </p:spPr>
      </p:pic>
      <p:sp>
        <p:nvSpPr>
          <p:cNvPr id="6" name="TextBox 5">
            <a:hlinkClick r:id="rId6"/>
            <a:extLst>
              <a:ext uri="{FF2B5EF4-FFF2-40B4-BE49-F238E27FC236}">
                <a16:creationId xmlns:a16="http://schemas.microsoft.com/office/drawing/2014/main" id="{901C0A21-D4C9-19A9-02A9-EC52476BBFE0}"/>
              </a:ext>
            </a:extLst>
          </p:cNvPr>
          <p:cNvSpPr txBox="1"/>
          <p:nvPr/>
        </p:nvSpPr>
        <p:spPr>
          <a:xfrm>
            <a:off x="3584735" y="5785313"/>
            <a:ext cx="50225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https://news.skhynix.co.kr/post/cmos-image-sensor-innovation-led-by-sk-hynix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8409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파일이 만들어지는 과정</a:t>
            </a:r>
          </a:p>
        </p:txBody>
      </p:sp>
    </p:spTree>
    <p:extLst>
      <p:ext uri="{BB962C8B-B14F-4D97-AF65-F5344CB8AC3E}">
        <p14:creationId xmlns:p14="http://schemas.microsoft.com/office/powerpoint/2010/main" val="365614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92B1-7B23-79F6-FA41-BAC572F8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42" y="1123987"/>
            <a:ext cx="7986439" cy="595648"/>
          </a:xfrm>
        </p:spPr>
        <p:txBody>
          <a:bodyPr>
            <a:noAutofit/>
          </a:bodyPr>
          <a:lstStyle/>
          <a:p>
            <a:pPr marL="131400" indent="0">
              <a:buNone/>
            </a:pPr>
            <a:r>
              <a:rPr lang="ko-KR" altLang="en-US" sz="2400" dirty="0"/>
              <a:t>📌비디오 파일</a:t>
            </a:r>
            <a:r>
              <a:rPr lang="en-US" altLang="ko-KR" sz="2400" dirty="0"/>
              <a:t>: </a:t>
            </a:r>
            <a:r>
              <a:rPr lang="ko-KR" altLang="en-US" sz="2400" dirty="0"/>
              <a:t>카메라를 통해 빛이 데이터로 변환된 것</a:t>
            </a:r>
            <a:endParaRPr lang="en-US" altLang="ko-KR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27" name="그래픽 26" descr="비디오 카메라 윤곽선">
            <a:extLst>
              <a:ext uri="{FF2B5EF4-FFF2-40B4-BE49-F238E27FC236}">
                <a16:creationId xmlns:a16="http://schemas.microsoft.com/office/drawing/2014/main" id="{1EA43A32-6E16-C8DE-2BCF-4735920FE1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71198" y="2562717"/>
            <a:ext cx="1596980" cy="1600737"/>
          </a:xfrm>
          <a:prstGeom prst="rect">
            <a:avLst/>
          </a:prstGeom>
        </p:spPr>
      </p:pic>
      <p:pic>
        <p:nvPicPr>
          <p:cNvPr id="29" name="그래픽 28" descr="사과 윤곽선">
            <a:extLst>
              <a:ext uri="{FF2B5EF4-FFF2-40B4-BE49-F238E27FC236}">
                <a16:creationId xmlns:a16="http://schemas.microsoft.com/office/drawing/2014/main" id="{77F81919-5CAF-9E8C-8F03-65A68B63B0F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981" y="3055736"/>
            <a:ext cx="914400" cy="914400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9A70ECE-EB77-5035-2E58-1A5EF7867039}"/>
              </a:ext>
            </a:extLst>
          </p:cNvPr>
          <p:cNvCxnSpPr/>
          <p:nvPr/>
        </p:nvCxnSpPr>
        <p:spPr>
          <a:xfrm flipH="1" flipV="1">
            <a:off x="1171978" y="2728801"/>
            <a:ext cx="2009104" cy="595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41F2B8A-EC16-AA16-50FB-33B892029A12}"/>
              </a:ext>
            </a:extLst>
          </p:cNvPr>
          <p:cNvCxnSpPr>
            <a:cxnSpLocks/>
          </p:cNvCxnSpPr>
          <p:nvPr/>
        </p:nvCxnSpPr>
        <p:spPr>
          <a:xfrm flipH="1">
            <a:off x="1171978" y="3852751"/>
            <a:ext cx="2009104" cy="595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1C858F8-D0A5-0062-A6E5-5441351DF10C}"/>
              </a:ext>
            </a:extLst>
          </p:cNvPr>
          <p:cNvSpPr txBox="1"/>
          <p:nvPr/>
        </p:nvSpPr>
        <p:spPr>
          <a:xfrm>
            <a:off x="2176530" y="4217566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촬영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014528-69E7-DFB5-36F5-38729E75C75C}"/>
              </a:ext>
            </a:extLst>
          </p:cNvPr>
          <p:cNvSpPr/>
          <p:nvPr/>
        </p:nvSpPr>
        <p:spPr>
          <a:xfrm>
            <a:off x="3834601" y="3412455"/>
            <a:ext cx="386201" cy="3208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F5B10B9-8957-8C88-C243-3DE5E9F17732}"/>
              </a:ext>
            </a:extLst>
          </p:cNvPr>
          <p:cNvCxnSpPr>
            <a:cxnSpLocks/>
          </p:cNvCxnSpPr>
          <p:nvPr/>
        </p:nvCxnSpPr>
        <p:spPr>
          <a:xfrm flipH="1">
            <a:off x="4234467" y="1862411"/>
            <a:ext cx="1569528" cy="1550044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2AB0FCD-CDA8-1832-0531-458DF93294DA}"/>
              </a:ext>
            </a:extLst>
          </p:cNvPr>
          <p:cNvCxnSpPr>
            <a:cxnSpLocks/>
          </p:cNvCxnSpPr>
          <p:nvPr/>
        </p:nvCxnSpPr>
        <p:spPr>
          <a:xfrm flipH="1" flipV="1">
            <a:off x="4233436" y="3733353"/>
            <a:ext cx="1596980" cy="232843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1692A0B-E81D-4594-4D42-FBCE8C6AE03B}"/>
              </a:ext>
            </a:extLst>
          </p:cNvPr>
          <p:cNvSpPr/>
          <p:nvPr/>
        </p:nvSpPr>
        <p:spPr>
          <a:xfrm>
            <a:off x="5817660" y="1862411"/>
            <a:ext cx="5386960" cy="41993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DA160B4-467B-A93E-1547-51E1E3B79402}"/>
              </a:ext>
            </a:extLst>
          </p:cNvPr>
          <p:cNvSpPr/>
          <p:nvPr/>
        </p:nvSpPr>
        <p:spPr>
          <a:xfrm>
            <a:off x="8378494" y="2325506"/>
            <a:ext cx="347730" cy="29621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34B6DA-E17F-488B-19F6-B919828ED042}"/>
              </a:ext>
            </a:extLst>
          </p:cNvPr>
          <p:cNvSpPr txBox="1"/>
          <p:nvPr/>
        </p:nvSpPr>
        <p:spPr>
          <a:xfrm>
            <a:off x="7757109" y="5332307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이미지 센서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0CB1228-7921-A140-97B7-C74A72F52EF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6960" r="17604"/>
          <a:stretch/>
        </p:blipFill>
        <p:spPr>
          <a:xfrm>
            <a:off x="5839921" y="3161532"/>
            <a:ext cx="2540770" cy="140989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A45528D-F186-E7F0-04EE-4CE12C05E9BA}"/>
              </a:ext>
            </a:extLst>
          </p:cNvPr>
          <p:cNvSpPr txBox="1"/>
          <p:nvPr/>
        </p:nvSpPr>
        <p:spPr>
          <a:xfrm>
            <a:off x="6261980" y="2643937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빛의 파장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673A8F2-68AA-4B02-D069-62C2C8D4DB0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5250"/>
          <a:stretch/>
        </p:blipFill>
        <p:spPr>
          <a:xfrm>
            <a:off x="8751982" y="3324449"/>
            <a:ext cx="2414002" cy="80973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EA2129F-2C69-0A12-408D-E02D5BE60E90}"/>
              </a:ext>
            </a:extLst>
          </p:cNvPr>
          <p:cNvSpPr txBox="1"/>
          <p:nvPr/>
        </p:nvSpPr>
        <p:spPr>
          <a:xfrm>
            <a:off x="8941753" y="2637433"/>
            <a:ext cx="2122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수치화된 데이터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1B63D1-C9C5-BB18-79C4-2E4FDF266A91}"/>
              </a:ext>
            </a:extLst>
          </p:cNvPr>
          <p:cNvSpPr txBox="1"/>
          <p:nvPr/>
        </p:nvSpPr>
        <p:spPr>
          <a:xfrm>
            <a:off x="6488222" y="4627359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0B0F0"/>
                </a:solidFill>
              </a:rPr>
              <a:t>아날로그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565A7F-A61D-3522-34F9-9439D57B4DE9}"/>
              </a:ext>
            </a:extLst>
          </p:cNvPr>
          <p:cNvSpPr txBox="1"/>
          <p:nvPr/>
        </p:nvSpPr>
        <p:spPr>
          <a:xfrm>
            <a:off x="9473941" y="4627358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00B050"/>
                </a:solidFill>
              </a:rPr>
              <a:t>디지털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BA65370-EA7B-880E-9ABD-95ADC390FE8C}"/>
              </a:ext>
            </a:extLst>
          </p:cNvPr>
          <p:cNvCxnSpPr/>
          <p:nvPr/>
        </p:nvCxnSpPr>
        <p:spPr>
          <a:xfrm>
            <a:off x="7946266" y="4858190"/>
            <a:ext cx="13651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560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파일이 만들어지는 과정</a:t>
            </a:r>
          </a:p>
        </p:txBody>
      </p:sp>
    </p:spTree>
    <p:extLst>
      <p:ext uri="{BB962C8B-B14F-4D97-AF65-F5344CB8AC3E}">
        <p14:creationId xmlns:p14="http://schemas.microsoft.com/office/powerpoint/2010/main" val="382290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조용히, 하지만 확실히 시작된 '아날로그의 반격' – Samsung Newsroom Korea">
            <a:extLst>
              <a:ext uri="{FF2B5EF4-FFF2-40B4-BE49-F238E27FC236}">
                <a16:creationId xmlns:a16="http://schemas.microsoft.com/office/drawing/2014/main" id="{D6366D7D-8A54-61AF-3942-8DCDACF7F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289" y="1530338"/>
            <a:ext cx="7693421" cy="4327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55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60" y="1185368"/>
            <a:ext cx="10515600" cy="290491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>
                <a:solidFill>
                  <a:srgbClr val="00B0F0"/>
                </a:solidFill>
              </a:rPr>
              <a:t>아날로그</a:t>
            </a:r>
            <a:endParaRPr lang="en-US" altLang="ko-KR" b="1" dirty="0">
              <a:solidFill>
                <a:srgbClr val="00B0F0"/>
              </a:solidFill>
            </a:endParaRPr>
          </a:p>
          <a:p>
            <a:pPr lvl="1"/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연속적으로 변화하는 </a:t>
            </a:r>
            <a:r>
              <a:rPr lang="ko-KR" altLang="en-US" b="0" i="0" dirty="0" err="1">
                <a:effectLst/>
                <a:latin typeface="G마켓 산스 TTF Bold" panose="02000000000000000000" pitchFamily="2" charset="-127"/>
              </a:rPr>
              <a:t>물리량을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 표현하는 데 사용하는 용어</a:t>
            </a:r>
            <a:br>
              <a:rPr lang="en-US" altLang="ko-KR" dirty="0">
                <a:latin typeface="G마켓 산스 TTF Bold" panose="02000000000000000000" pitchFamily="2" charset="-127"/>
              </a:rPr>
            </a:br>
            <a:endParaRPr lang="en-US" altLang="ko-KR" dirty="0">
              <a:latin typeface="G마켓 산스 TTF Bold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>
                <a:solidFill>
                  <a:srgbClr val="00B050"/>
                </a:solidFill>
                <a:latin typeface="G마켓 산스 TTF Bold" panose="02000000000000000000" pitchFamily="2" charset="-127"/>
              </a:rPr>
              <a:t>디지털</a:t>
            </a:r>
            <a:endParaRPr lang="en-US" altLang="ko-KR" b="1" dirty="0">
              <a:solidFill>
                <a:srgbClr val="00B050"/>
              </a:solidFill>
              <a:latin typeface="G마켓 산스 TTF Bold" panose="02000000000000000000" pitchFamily="2" charset="-127"/>
            </a:endParaRPr>
          </a:p>
          <a:p>
            <a:pPr lvl="1"/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데이터나 물리적인 양을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0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과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1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이라는 </a:t>
            </a:r>
            <a:r>
              <a:rPr lang="en-US" altLang="ko-KR" b="0" i="0" dirty="0">
                <a:effectLst/>
                <a:latin typeface="G마켓 산스 TTF Bold" panose="02000000000000000000" pitchFamily="2" charset="-127"/>
              </a:rPr>
              <a:t>2</a:t>
            </a:r>
            <a:r>
              <a:rPr lang="ko-KR" altLang="en-US" b="0" i="0" dirty="0">
                <a:effectLst/>
                <a:latin typeface="G마켓 산스 TTF Bold" panose="02000000000000000000" pitchFamily="2" charset="-127"/>
              </a:rPr>
              <a:t>진 부호의 숫자로 표현하는 것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4098" name="Picture 2" descr="물음표 - 뽐뿌:짤방갤러리">
            <a:extLst>
              <a:ext uri="{FF2B5EF4-FFF2-40B4-BE49-F238E27FC236}">
                <a16:creationId xmlns:a16="http://schemas.microsoft.com/office/drawing/2014/main" id="{736EF0C5-DB67-3885-B800-7D35C502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634" y="1185368"/>
            <a:ext cx="2946689" cy="184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21304" y="3967171"/>
            <a:ext cx="20986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한국정보통신기술협회 용어사전</a:t>
            </a:r>
          </a:p>
        </p:txBody>
      </p:sp>
    </p:spTree>
    <p:extLst>
      <p:ext uri="{BB962C8B-B14F-4D97-AF65-F5344CB8AC3E}">
        <p14:creationId xmlns:p14="http://schemas.microsoft.com/office/powerpoint/2010/main" val="3164296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시계 윤곽선">
            <a:extLst>
              <a:ext uri="{FF2B5EF4-FFF2-40B4-BE49-F238E27FC236}">
                <a16:creationId xmlns:a16="http://schemas.microsoft.com/office/drawing/2014/main" id="{DDC06881-D1FD-3F76-597D-07DE0E91C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85761" y="2396662"/>
            <a:ext cx="3370118" cy="3370118"/>
          </a:xfrm>
          <a:prstGeom prst="rect">
            <a:avLst/>
          </a:prstGeom>
        </p:spPr>
      </p:pic>
      <p:sp>
        <p:nvSpPr>
          <p:cNvPr id="6" name="원호 5">
            <a:extLst>
              <a:ext uri="{FF2B5EF4-FFF2-40B4-BE49-F238E27FC236}">
                <a16:creationId xmlns:a16="http://schemas.microsoft.com/office/drawing/2014/main" id="{7E1F4F9D-716C-37B3-7AD3-BFE261FA529A}"/>
              </a:ext>
            </a:extLst>
          </p:cNvPr>
          <p:cNvSpPr/>
          <p:nvPr/>
        </p:nvSpPr>
        <p:spPr>
          <a:xfrm rot="1800000">
            <a:off x="1838682" y="3368253"/>
            <a:ext cx="1094846" cy="1094846"/>
          </a:xfrm>
          <a:prstGeom prst="arc">
            <a:avLst>
              <a:gd name="adj1" fmla="val 8720627"/>
              <a:gd name="adj2" fmla="val 17593568"/>
            </a:avLst>
          </a:prstGeom>
          <a:ln w="412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6D004A1-B57A-904C-D8D1-D1854EF40107}"/>
              </a:ext>
            </a:extLst>
          </p:cNvPr>
          <p:cNvCxnSpPr/>
          <p:nvPr/>
        </p:nvCxnSpPr>
        <p:spPr>
          <a:xfrm>
            <a:off x="577625" y="2242275"/>
            <a:ext cx="378638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C458D0-674A-504F-E01E-A3831F772543}"/>
              </a:ext>
            </a:extLst>
          </p:cNvPr>
          <p:cNvSpPr txBox="1"/>
          <p:nvPr/>
        </p:nvSpPr>
        <p:spPr>
          <a:xfrm>
            <a:off x="957423" y="1739879"/>
            <a:ext cx="3026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시계 바늘이 </a:t>
            </a:r>
            <a:r>
              <a:rPr lang="ko-KR" altLang="en-US" sz="2000" b="1" dirty="0">
                <a:solidFill>
                  <a:srgbClr val="00B0F0"/>
                </a:solidFill>
              </a:rPr>
              <a:t>연속적</a:t>
            </a:r>
            <a:r>
              <a:rPr lang="ko-KR" altLang="en-US" sz="2000" dirty="0"/>
              <a:t>으로 이동</a:t>
            </a:r>
          </a:p>
        </p:txBody>
      </p:sp>
      <p:pic>
        <p:nvPicPr>
          <p:cNvPr id="5122" name="Picture 2" descr="쉽게 수정하거나 편집할 수 있는 디지털 시계 로열티 무료 사진, 그림, 이미지 그리고 스톡포토그래피. Image 196014739">
            <a:extLst>
              <a:ext uri="{FF2B5EF4-FFF2-40B4-BE49-F238E27FC236}">
                <a16:creationId xmlns:a16="http://schemas.microsoft.com/office/drawing/2014/main" id="{EC71A280-45D3-D443-4303-9563EB865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86" b="20760"/>
          <a:stretch/>
        </p:blipFill>
        <p:spPr bwMode="auto">
          <a:xfrm>
            <a:off x="7565116" y="3028271"/>
            <a:ext cx="4049259" cy="231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4CB25C-3D32-2F36-3869-23F2C1F0BFF6}"/>
              </a:ext>
            </a:extLst>
          </p:cNvPr>
          <p:cNvSpPr txBox="1"/>
          <p:nvPr/>
        </p:nvSpPr>
        <p:spPr>
          <a:xfrm>
            <a:off x="577625" y="231431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09:00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65367-FD47-48CA-F7DF-1C84F91EFF50}"/>
              </a:ext>
            </a:extLst>
          </p:cNvPr>
          <p:cNvSpPr txBox="1"/>
          <p:nvPr/>
        </p:nvSpPr>
        <p:spPr>
          <a:xfrm>
            <a:off x="3517906" y="231431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14:00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F3FB2-E66C-0A0F-6EB0-E13ECB67AD3C}"/>
              </a:ext>
            </a:extLst>
          </p:cNvPr>
          <p:cNvSpPr txBox="1"/>
          <p:nvPr/>
        </p:nvSpPr>
        <p:spPr>
          <a:xfrm>
            <a:off x="8021010" y="24666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09:00</a:t>
            </a:r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72AF8ED-5D4E-A9E3-BF98-FF3ED97325A5}"/>
              </a:ext>
            </a:extLst>
          </p:cNvPr>
          <p:cNvSpPr/>
          <p:nvPr/>
        </p:nvSpPr>
        <p:spPr>
          <a:xfrm>
            <a:off x="8378274" y="2255451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528808-B121-9BEB-3DDA-EF8941634246}"/>
              </a:ext>
            </a:extLst>
          </p:cNvPr>
          <p:cNvSpPr txBox="1"/>
          <p:nvPr/>
        </p:nvSpPr>
        <p:spPr>
          <a:xfrm>
            <a:off x="9136410" y="246661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09:01</a:t>
            </a:r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2DA0D4B-7CF5-A8EF-2CCD-94E37A77DB17}"/>
              </a:ext>
            </a:extLst>
          </p:cNvPr>
          <p:cNvSpPr/>
          <p:nvPr/>
        </p:nvSpPr>
        <p:spPr>
          <a:xfrm>
            <a:off x="9493674" y="2255451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CF69E-9A4F-C671-613D-8046884B53F8}"/>
              </a:ext>
            </a:extLst>
          </p:cNvPr>
          <p:cNvSpPr txBox="1"/>
          <p:nvPr/>
        </p:nvSpPr>
        <p:spPr>
          <a:xfrm>
            <a:off x="10251810" y="2468606"/>
            <a:ext cx="995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09:02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0FF4BAF-5353-61BE-6E82-91264F7478C7}"/>
              </a:ext>
            </a:extLst>
          </p:cNvPr>
          <p:cNvSpPr/>
          <p:nvPr/>
        </p:nvSpPr>
        <p:spPr>
          <a:xfrm>
            <a:off x="10609074" y="2257440"/>
            <a:ext cx="96072" cy="960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EAF449-5D72-163C-4A44-7A67A9D8EB25}"/>
              </a:ext>
            </a:extLst>
          </p:cNvPr>
          <p:cNvSpPr txBox="1"/>
          <p:nvPr/>
        </p:nvSpPr>
        <p:spPr>
          <a:xfrm>
            <a:off x="7902097" y="1770291"/>
            <a:ext cx="3248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시계 숫자가 </a:t>
            </a:r>
            <a:r>
              <a:rPr lang="ko-KR" altLang="en-US" sz="2000" b="1" dirty="0">
                <a:solidFill>
                  <a:srgbClr val="00B050"/>
                </a:solidFill>
              </a:rPr>
              <a:t>불연속적</a:t>
            </a:r>
            <a:r>
              <a:rPr lang="ko-KR" altLang="en-US" sz="2000" dirty="0"/>
              <a:t>으로 변화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9CE3E00-B9AB-C41D-34CF-EF9658729346}"/>
              </a:ext>
            </a:extLst>
          </p:cNvPr>
          <p:cNvCxnSpPr>
            <a:cxnSpLocks/>
          </p:cNvCxnSpPr>
          <p:nvPr/>
        </p:nvCxnSpPr>
        <p:spPr>
          <a:xfrm>
            <a:off x="4537793" y="3326086"/>
            <a:ext cx="316969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211E0C1-9C57-57C9-FEBA-146906FFF0E7}"/>
              </a:ext>
            </a:extLst>
          </p:cNvPr>
          <p:cNvSpPr txBox="1"/>
          <p:nvPr/>
        </p:nvSpPr>
        <p:spPr>
          <a:xfrm>
            <a:off x="4677375" y="3444828"/>
            <a:ext cx="2890535" cy="13370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Analogue to Digital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변환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샘플링</a:t>
            </a:r>
            <a:r>
              <a:rPr lang="en-US" altLang="ko-KR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Sampling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양자화</a:t>
            </a:r>
            <a:r>
              <a:rPr lang="en-US" altLang="ko-KR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Quantization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054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아날로그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/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27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774" y="4602687"/>
            <a:ext cx="8234163" cy="1649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lt"/>
              </a:rPr>
              <a:t>특정 주기</a:t>
            </a:r>
            <a:r>
              <a:rPr lang="en-US" altLang="ko-KR" sz="2400" dirty="0">
                <a:latin typeface="+mn-lt"/>
              </a:rPr>
              <a:t>(Frequency, </a:t>
            </a:r>
            <a:r>
              <a:rPr lang="ko-KR" altLang="en-US" sz="2400" dirty="0">
                <a:latin typeface="+mn-lt"/>
              </a:rPr>
              <a:t>가로축</a:t>
            </a:r>
            <a:r>
              <a:rPr lang="en-US" altLang="ko-KR" sz="2400" dirty="0">
                <a:latin typeface="+mn-lt"/>
              </a:rPr>
              <a:t>)</a:t>
            </a:r>
            <a:r>
              <a:rPr lang="ko-KR" altLang="en-US" sz="2400" dirty="0">
                <a:latin typeface="+mn-lt"/>
              </a:rPr>
              <a:t>로 아날로그 데이터의 값을 기록</a:t>
            </a:r>
            <a:endParaRPr lang="en-US" altLang="ko-KR" sz="2400" dirty="0"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초에 </a:t>
            </a:r>
            <a:r>
              <a:rPr lang="en-US" altLang="ko-KR" sz="2000" dirty="0">
                <a:latin typeface="+mn-lt"/>
              </a:rPr>
              <a:t>60</a:t>
            </a:r>
            <a:r>
              <a:rPr lang="ko-KR" altLang="en-US" sz="2000" dirty="0">
                <a:latin typeface="+mn-lt"/>
              </a:rPr>
              <a:t>번 샘플링</a:t>
            </a:r>
            <a:r>
              <a:rPr lang="en-US" altLang="ko-KR" sz="2000" dirty="0">
                <a:latin typeface="+mn-lt"/>
              </a:rPr>
              <a:t>(Sample rate)</a:t>
            </a:r>
            <a:r>
              <a:rPr lang="ko-KR" altLang="en-US" sz="2000" dirty="0">
                <a:latin typeface="+mn-lt"/>
              </a:rPr>
              <a:t> </a:t>
            </a:r>
            <a:r>
              <a:rPr lang="en-US" altLang="ko-KR" sz="2000" dirty="0">
                <a:latin typeface="+mn-lt"/>
              </a:rPr>
              <a:t>: </a:t>
            </a:r>
            <a:r>
              <a:rPr lang="en-US" altLang="ko-KR" sz="2000" b="1" dirty="0">
                <a:solidFill>
                  <a:srgbClr val="00B050"/>
                </a:solidFill>
                <a:latin typeface="+mn-lt"/>
              </a:rPr>
              <a:t>60Hz (FPS)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샘플링을 더 촘촘하게 할 수록 실제 장면과 </a:t>
            </a:r>
            <a:r>
              <a:rPr lang="ko-KR" altLang="en-US" sz="2000" dirty="0" err="1">
                <a:latin typeface="+mn-lt"/>
              </a:rPr>
              <a:t>가까워짐</a:t>
            </a:r>
            <a:endParaRPr lang="en-US" altLang="ko-KR" sz="2000" dirty="0">
              <a:latin typeface="+mn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9BFE09-2F0C-BC50-F6A0-BE6752335F63}"/>
              </a:ext>
            </a:extLst>
          </p:cNvPr>
          <p:cNvGrpSpPr/>
          <p:nvPr/>
        </p:nvGrpSpPr>
        <p:grpSpPr>
          <a:xfrm>
            <a:off x="2952563" y="989528"/>
            <a:ext cx="7047780" cy="3438051"/>
            <a:chOff x="2964576" y="3024796"/>
            <a:chExt cx="7432471" cy="362571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B77544A-2A62-076B-786E-762557AEA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675"/>
            <a:stretch/>
          </p:blipFill>
          <p:spPr>
            <a:xfrm>
              <a:off x="2964576" y="3024796"/>
              <a:ext cx="6192771" cy="3625711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195FCAB-5DEA-9114-8BB8-3B7C730B522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6299477" y="3267308"/>
              <a:ext cx="1186582" cy="382421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9C6817-F9AA-59BE-4C8E-C3BDA78B4D87}"/>
                </a:ext>
              </a:extLst>
            </p:cNvPr>
            <p:cNvSpPr txBox="1"/>
            <p:nvPr/>
          </p:nvSpPr>
          <p:spPr>
            <a:xfrm>
              <a:off x="7486059" y="3082642"/>
              <a:ext cx="1430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(7, 126.123)</a:t>
              </a:r>
              <a:endParaRPr lang="ko-KR" altLang="en-US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C1789E9-5603-7E65-3326-DFFC1F0EC1C9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6685843" y="3636640"/>
              <a:ext cx="2232798" cy="740998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BCDEF6-1912-77A5-2F40-48080DD60893}"/>
                </a:ext>
              </a:extLst>
            </p:cNvPr>
            <p:cNvSpPr txBox="1"/>
            <p:nvPr/>
          </p:nvSpPr>
          <p:spPr>
            <a:xfrm>
              <a:off x="8918641" y="345197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(8, 87.654)</a:t>
              </a:r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C6FD594-C388-2C12-8DC6-488084F8D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228" y="4408057"/>
              <a:ext cx="2000181" cy="732103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CCFFA0-F67E-86AA-3AD6-0C50C702C1CA}"/>
                </a:ext>
              </a:extLst>
            </p:cNvPr>
            <p:cNvSpPr txBox="1"/>
            <p:nvPr/>
          </p:nvSpPr>
          <p:spPr>
            <a:xfrm>
              <a:off x="9053409" y="416340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(9, 52.614)</a:t>
              </a:r>
              <a:endParaRPr lang="ko-KR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545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: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샘플링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(Sampling)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717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479" y="4600386"/>
            <a:ext cx="8137041" cy="18019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>
                <a:latin typeface="+mn-lt"/>
              </a:rPr>
              <a:t>특정 단위</a:t>
            </a:r>
            <a:r>
              <a:rPr lang="en-US" altLang="ko-KR" sz="2400" dirty="0">
                <a:latin typeface="+mn-lt"/>
              </a:rPr>
              <a:t>(Bit, </a:t>
            </a:r>
            <a:r>
              <a:rPr lang="ko-KR" altLang="en-US" sz="2400" dirty="0">
                <a:latin typeface="+mn-lt"/>
              </a:rPr>
              <a:t>세로축</a:t>
            </a:r>
            <a:r>
              <a:rPr lang="en-US" altLang="ko-KR" sz="2400" dirty="0">
                <a:latin typeface="+mn-lt"/>
              </a:rPr>
              <a:t>)</a:t>
            </a:r>
            <a:r>
              <a:rPr lang="ko-KR" altLang="en-US" sz="2400" dirty="0">
                <a:latin typeface="+mn-lt"/>
              </a:rPr>
              <a:t>로 아날로그 데이터의 값을 수정</a:t>
            </a:r>
            <a:endParaRPr lang="en-US" altLang="ko-KR" sz="2400" dirty="0"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rgbClr val="00B0F0"/>
                </a:solidFill>
                <a:latin typeface="+mn-lt"/>
              </a:rPr>
              <a:t>8bit</a:t>
            </a:r>
            <a:r>
              <a:rPr lang="ko-KR" altLang="en-US" sz="2000" dirty="0">
                <a:latin typeface="+mn-lt"/>
              </a:rPr>
              <a:t> 컬러 </a:t>
            </a:r>
            <a:r>
              <a:rPr lang="en-US" altLang="ko-KR" sz="2000" dirty="0">
                <a:latin typeface="+mn-lt"/>
              </a:rPr>
              <a:t>= 2</a:t>
            </a:r>
            <a:r>
              <a:rPr lang="ko-KR" altLang="en-US" sz="2000" dirty="0">
                <a:latin typeface="+mn-lt"/>
              </a:rPr>
              <a:t>의 </a:t>
            </a:r>
            <a:r>
              <a:rPr lang="en-US" altLang="ko-KR" sz="2000" dirty="0">
                <a:latin typeface="+mn-lt"/>
              </a:rPr>
              <a:t>8</a:t>
            </a:r>
            <a:r>
              <a:rPr lang="ko-KR" altLang="en-US" sz="2000" dirty="0">
                <a:latin typeface="+mn-lt"/>
              </a:rPr>
              <a:t>승 →</a:t>
            </a:r>
            <a:r>
              <a:rPr lang="en-US" altLang="ko-KR" sz="2000" dirty="0">
                <a:latin typeface="+mn-lt"/>
              </a:rPr>
              <a:t> </a:t>
            </a:r>
            <a:r>
              <a:rPr lang="en-US" altLang="ko-KR" sz="2000" dirty="0">
                <a:solidFill>
                  <a:srgbClr val="00B0F0"/>
                </a:solidFill>
                <a:latin typeface="+mn-lt"/>
              </a:rPr>
              <a:t>256</a:t>
            </a:r>
            <a:r>
              <a:rPr lang="en-US" altLang="ko-KR" sz="2000" dirty="0">
                <a:latin typeface="+mn-lt"/>
              </a:rPr>
              <a:t>, </a:t>
            </a:r>
            <a:r>
              <a:rPr lang="en-US" altLang="ko-KR" sz="2000" dirty="0">
                <a:solidFill>
                  <a:srgbClr val="00B050"/>
                </a:solidFill>
                <a:latin typeface="+mn-lt"/>
              </a:rPr>
              <a:t>24bit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dirty="0">
                <a:latin typeface="+mn-lt"/>
              </a:rPr>
              <a:t>컬러 </a:t>
            </a:r>
            <a:r>
              <a:rPr lang="en-US" altLang="ko-KR" sz="2000" dirty="0">
                <a:latin typeface="+mn-lt"/>
              </a:rPr>
              <a:t>= 2</a:t>
            </a:r>
            <a:r>
              <a:rPr lang="ko-KR" altLang="en-US" sz="2000" dirty="0">
                <a:latin typeface="+mn-lt"/>
              </a:rPr>
              <a:t>의 </a:t>
            </a:r>
            <a:r>
              <a:rPr lang="en-US" altLang="ko-KR" sz="2000" dirty="0">
                <a:latin typeface="+mn-lt"/>
              </a:rPr>
              <a:t>24</a:t>
            </a:r>
            <a:r>
              <a:rPr lang="ko-KR" altLang="en-US" sz="2000" dirty="0">
                <a:latin typeface="+mn-lt"/>
              </a:rPr>
              <a:t>승 →</a:t>
            </a:r>
            <a:r>
              <a:rPr lang="en-US" altLang="ko-KR" sz="2000" dirty="0">
                <a:latin typeface="+mn-lt"/>
              </a:rPr>
              <a:t> </a:t>
            </a:r>
            <a:r>
              <a:rPr lang="ko-KR" altLang="en-US" sz="2000" b="1" dirty="0">
                <a:solidFill>
                  <a:srgbClr val="00B050"/>
                </a:solidFill>
                <a:latin typeface="+mn-lt"/>
              </a:rPr>
              <a:t>더 자연스러움</a:t>
            </a:r>
            <a:endParaRPr lang="en-US" altLang="ko-KR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>
                <a:latin typeface="+mn-lt"/>
              </a:rPr>
              <a:t>양자화를 더 촘촘히 할 수록 실제 장면과 더 </a:t>
            </a:r>
            <a:r>
              <a:rPr lang="ko-KR" altLang="en-US" sz="2000" dirty="0" err="1">
                <a:latin typeface="+mn-lt"/>
              </a:rPr>
              <a:t>비슷해짐</a:t>
            </a:r>
            <a:endParaRPr lang="en-US" altLang="ko-KR" sz="2000" dirty="0">
              <a:latin typeface="+mn-lt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37F35A-BFD3-0165-1CA9-6F98A7E5E131}"/>
              </a:ext>
            </a:extLst>
          </p:cNvPr>
          <p:cNvGrpSpPr/>
          <p:nvPr/>
        </p:nvGrpSpPr>
        <p:grpSpPr>
          <a:xfrm>
            <a:off x="2794670" y="1029643"/>
            <a:ext cx="6915385" cy="3575580"/>
            <a:chOff x="2635015" y="2963156"/>
            <a:chExt cx="7295331" cy="377203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7DF86DE-726A-EC70-9D42-887B8F2D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35015" y="2999696"/>
              <a:ext cx="6586259" cy="3735490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195FCAB-5DEA-9114-8BB8-3B7C730B522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6096000" y="3147822"/>
              <a:ext cx="1344466" cy="221206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9C6817-F9AA-59BE-4C8E-C3BDA78B4D87}"/>
                </a:ext>
              </a:extLst>
            </p:cNvPr>
            <p:cNvSpPr txBox="1"/>
            <p:nvPr/>
          </p:nvSpPr>
          <p:spPr>
            <a:xfrm>
              <a:off x="7440466" y="2963156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(7, </a:t>
              </a:r>
              <a:r>
                <a:rPr lang="en-US" altLang="ko-KR" b="1"/>
                <a:t>130</a:t>
              </a:r>
              <a:r>
                <a:rPr lang="en-US" altLang="ko-KR"/>
                <a:t>)</a:t>
              </a:r>
              <a:endParaRPr lang="ko-KR" altLang="en-US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C1789E9-5603-7E65-3326-DFFC1F0EC1C9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6581104" y="3389309"/>
              <a:ext cx="2294359" cy="746043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BCDEF6-1912-77A5-2F40-48080DD60893}"/>
                </a:ext>
              </a:extLst>
            </p:cNvPr>
            <p:cNvSpPr txBox="1"/>
            <p:nvPr/>
          </p:nvSpPr>
          <p:spPr>
            <a:xfrm>
              <a:off x="8875463" y="3204643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(8, </a:t>
              </a:r>
              <a:r>
                <a:rPr lang="en-US" altLang="ko-KR" b="1" dirty="0"/>
                <a:t>80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C6FD594-C388-2C12-8DC6-488084F8D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6107" y="4096722"/>
              <a:ext cx="2031046" cy="849999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CCFFA0-F67E-86AA-3AD6-0C50C702C1CA}"/>
                </a:ext>
              </a:extLst>
            </p:cNvPr>
            <p:cNvSpPr txBox="1"/>
            <p:nvPr/>
          </p:nvSpPr>
          <p:spPr>
            <a:xfrm>
              <a:off x="9037153" y="3926076"/>
              <a:ext cx="893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(9, </a:t>
              </a:r>
              <a:r>
                <a:rPr lang="en-US" altLang="ko-KR" b="1"/>
                <a:t>50</a:t>
              </a:r>
              <a:r>
                <a:rPr lang="en-US" altLang="ko-KR"/>
                <a:t>)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8669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: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양자화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en-US" altLang="ko-KR" sz="4000" b="1" dirty="0"/>
              <a:t>Quantization</a:t>
            </a:r>
            <a:r>
              <a:rPr lang="en-US" altLang="ko-KR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09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74C1C-4727-38D8-D6F5-8EA30F8E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190" y="4896064"/>
            <a:ext cx="9347620" cy="12854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lt"/>
              </a:rPr>
              <a:t>🚀샘플링</a:t>
            </a:r>
            <a:r>
              <a:rPr lang="en-US" altLang="ko-KR" sz="2400" dirty="0">
                <a:latin typeface="+mn-lt"/>
              </a:rPr>
              <a:t>, </a:t>
            </a:r>
            <a:r>
              <a:rPr lang="ko-KR" altLang="en-US" sz="2400" dirty="0">
                <a:latin typeface="+mn-lt"/>
              </a:rPr>
              <a:t>양자화를 거쳐 실제 장면이 </a:t>
            </a:r>
            <a:r>
              <a:rPr lang="ko-KR" altLang="en-US" sz="2400" b="1" dirty="0">
                <a:solidFill>
                  <a:srgbClr val="00B050"/>
                </a:solidFill>
                <a:latin typeface="+mn-lt"/>
              </a:rPr>
              <a:t>픽셀</a:t>
            </a:r>
            <a:r>
              <a:rPr lang="en-US" altLang="ko-KR" sz="2400" b="1" dirty="0">
                <a:solidFill>
                  <a:srgbClr val="00B050"/>
                </a:solidFill>
                <a:latin typeface="+mn-lt"/>
              </a:rPr>
              <a:t>(Pixel) </a:t>
            </a:r>
            <a:r>
              <a:rPr lang="ko-KR" altLang="en-US" sz="2400" dirty="0">
                <a:latin typeface="+mn-lt"/>
              </a:rPr>
              <a:t>단위의 </a:t>
            </a:r>
            <a:r>
              <a:rPr lang="ko-KR" altLang="en-US" sz="2400" u="sng" dirty="0">
                <a:latin typeface="+mn-lt"/>
              </a:rPr>
              <a:t>숫자로만 이루어진</a:t>
            </a:r>
            <a:endParaRPr lang="en-US" altLang="ko-KR" sz="2400" u="sng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lt"/>
              </a:rPr>
              <a:t>      영상 데이터</a:t>
            </a:r>
            <a:r>
              <a:rPr lang="en-US" altLang="ko-KR" sz="2400" dirty="0">
                <a:latin typeface="+mn-lt"/>
              </a:rPr>
              <a:t>(2</a:t>
            </a:r>
            <a:r>
              <a:rPr lang="ko-KR" altLang="en-US" sz="2400" dirty="0">
                <a:latin typeface="+mn-lt"/>
              </a:rPr>
              <a:t>차원 배열</a:t>
            </a:r>
            <a:r>
              <a:rPr lang="en-US" altLang="ko-KR" sz="2400" dirty="0"/>
              <a:t>)</a:t>
            </a:r>
            <a:r>
              <a:rPr lang="ko-KR" altLang="en-US" sz="2400" dirty="0">
                <a:latin typeface="+mn-lt"/>
              </a:rPr>
              <a:t>로 변환됨</a:t>
            </a:r>
            <a:endParaRPr lang="en-US" altLang="ko-KR" sz="2400" dirty="0">
              <a:latin typeface="+mn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BE7104-AFA7-550E-31B2-B6B84E0B0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320" y="1319201"/>
            <a:ext cx="7155360" cy="3344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디지털 변환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5827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32E5F61-619F-B370-7596-B4DA247CAB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8126" y="1293675"/>
          <a:ext cx="11035748" cy="2973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DADD9-32F0-D323-3E39-AB2062674947}"/>
              </a:ext>
            </a:extLst>
          </p:cNvPr>
          <p:cNvSpPr txBox="1"/>
          <p:nvPr/>
        </p:nvSpPr>
        <p:spPr>
          <a:xfrm>
            <a:off x="97096" y="3485322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해결하기 원하는 문제에 대한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또는 영상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E01EF-6469-7172-02F4-93888C64EB6F}"/>
              </a:ext>
            </a:extLst>
          </p:cNvPr>
          <p:cNvSpPr txBox="1"/>
          <p:nvPr/>
        </p:nvSpPr>
        <p:spPr>
          <a:xfrm>
            <a:off x="2464316" y="4262568"/>
            <a:ext cx="265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각종 필터 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마스킹을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통한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영상 노이즈 제거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EF90F-2F69-9F6C-2DA1-53DA07A7CE9E}"/>
              </a:ext>
            </a:extLst>
          </p:cNvPr>
          <p:cNvSpPr txBox="1"/>
          <p:nvPr/>
        </p:nvSpPr>
        <p:spPr>
          <a:xfrm>
            <a:off x="4906412" y="3485322"/>
            <a:ext cx="237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윤곽선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코너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특정 색 등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목표한 특징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E95D4-0DE1-E76C-146B-BF665B6660B9}"/>
              </a:ext>
            </a:extLst>
          </p:cNvPr>
          <p:cNvSpPr txBox="1"/>
          <p:nvPr/>
        </p:nvSpPr>
        <p:spPr>
          <a:xfrm>
            <a:off x="7148704" y="4262567"/>
            <a:ext cx="2539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검출된 데이터를 기반으로 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해석 및 문제 해결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9828D-26E2-7C72-D5A6-9071D5164B8C}"/>
              </a:ext>
            </a:extLst>
          </p:cNvPr>
          <p:cNvSpPr txBox="1"/>
          <p:nvPr/>
        </p:nvSpPr>
        <p:spPr>
          <a:xfrm>
            <a:off x="9688181" y="3485322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목표한 최종 데이터 출력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14107F-699E-DC41-18F2-DF7B7E7B0ACE}"/>
              </a:ext>
            </a:extLst>
          </p:cNvPr>
          <p:cNvCxnSpPr/>
          <p:nvPr/>
        </p:nvCxnSpPr>
        <p:spPr>
          <a:xfrm>
            <a:off x="3723861" y="3299791"/>
            <a:ext cx="0" cy="962776"/>
          </a:xfrm>
          <a:prstGeom prst="line">
            <a:avLst/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67E084C-F5E1-794E-569F-D2670A1DA22D}"/>
              </a:ext>
            </a:extLst>
          </p:cNvPr>
          <p:cNvCxnSpPr/>
          <p:nvPr/>
        </p:nvCxnSpPr>
        <p:spPr>
          <a:xfrm>
            <a:off x="8408505" y="3286539"/>
            <a:ext cx="0" cy="962776"/>
          </a:xfrm>
          <a:prstGeom prst="line">
            <a:avLst/>
          </a:prstGeom>
          <a:ln w="381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9664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일반적인 영상처리 과정</a:t>
            </a:r>
          </a:p>
        </p:txBody>
      </p:sp>
    </p:spTree>
    <p:extLst>
      <p:ext uri="{BB962C8B-B14F-4D97-AF65-F5344CB8AC3E}">
        <p14:creationId xmlns:p14="http://schemas.microsoft.com/office/powerpoint/2010/main" val="2267473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3C91B7-51E0-F147-D0F9-6786D296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29962"/>
              </p:ext>
            </p:extLst>
          </p:nvPr>
        </p:nvGraphicFramePr>
        <p:xfrm>
          <a:off x="1963304" y="3485043"/>
          <a:ext cx="8265391" cy="239695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22896">
                  <a:extLst>
                    <a:ext uri="{9D8B030D-6E8A-4147-A177-3AD203B41FA5}">
                      <a16:colId xmlns:a16="http://schemas.microsoft.com/office/drawing/2014/main" val="2378633315"/>
                    </a:ext>
                  </a:extLst>
                </a:gridCol>
                <a:gridCol w="6342495">
                  <a:extLst>
                    <a:ext uri="{9D8B030D-6E8A-4147-A177-3AD203B41FA5}">
                      <a16:colId xmlns:a16="http://schemas.microsoft.com/office/drawing/2014/main" val="2591240531"/>
                    </a:ext>
                  </a:extLst>
                </a:gridCol>
              </a:tblGrid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          </a:t>
                      </a:r>
                      <a:r>
                        <a:rPr lang="ko-KR" altLang="en-US" dirty="0" err="1"/>
                        <a:t>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                      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59870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rgbClr val="19B861"/>
                          </a:solidFill>
                        </a:rPr>
                        <a:t>OpenCV</a:t>
                      </a:r>
                      <a:endParaRPr lang="ko-KR" altLang="en-US" b="1" dirty="0">
                        <a:solidFill>
                          <a:srgbClr val="19B86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무료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BSD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라이센스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코드 공개 의무 없음</a:t>
                      </a:r>
                      <a:r>
                        <a:rPr lang="en-US" altLang="ko-KR" b="1" dirty="0">
                          <a:solidFill>
                            <a:srgbClr val="19B861"/>
                          </a:solidFill>
                        </a:rPr>
                        <a:t>, </a:t>
                      </a:r>
                      <a:r>
                        <a:rPr lang="ko-KR" altLang="en-US" b="1" dirty="0">
                          <a:solidFill>
                            <a:srgbClr val="19B861"/>
                          </a:solidFill>
                        </a:rPr>
                        <a:t>상업적 이용 가능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87438060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Halcon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강력한 성능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다양한 기능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전문가 우대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0441185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MIL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적당히 비쌈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국내에서 많이 사용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81765129"/>
                  </a:ext>
                </a:extLst>
              </a:tr>
              <a:tr h="47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Vision Pro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코드 리딩 또는 패턴 매칭에 많이 사용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9A1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19043208"/>
                  </a:ext>
                </a:extLst>
              </a:tr>
            </a:tbl>
          </a:graphicData>
        </a:graphic>
      </p:graphicFrame>
      <p:pic>
        <p:nvPicPr>
          <p:cNvPr id="1026" name="Picture 2" descr="OpenCV - Wikipedia">
            <a:extLst>
              <a:ext uri="{FF2B5EF4-FFF2-40B4-BE49-F238E27FC236}">
                <a16:creationId xmlns:a16="http://schemas.microsoft.com/office/drawing/2014/main" id="{5B79FB78-0D56-3A9C-F06E-680C10A69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256" y="1845796"/>
            <a:ext cx="869299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LCON 12 is coming! - Multipix Imaging">
            <a:extLst>
              <a:ext uri="{FF2B5EF4-FFF2-40B4-BE49-F238E27FC236}">
                <a16:creationId xmlns:a16="http://schemas.microsoft.com/office/drawing/2014/main" id="{7B99F57B-CA32-64E1-09C3-672F46218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221" y="2201881"/>
            <a:ext cx="1553007" cy="45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trox Imaging · GitHub">
            <a:extLst>
              <a:ext uri="{FF2B5EF4-FFF2-40B4-BE49-F238E27FC236}">
                <a16:creationId xmlns:a16="http://schemas.microsoft.com/office/drawing/2014/main" id="{2E449543-E055-0EC2-BE4A-A1811F06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543" y="1871513"/>
            <a:ext cx="1111370" cy="111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gnex VisionPro Software Expands Image Acquistion Options">
            <a:extLst>
              <a:ext uri="{FF2B5EF4-FFF2-40B4-BE49-F238E27FC236}">
                <a16:creationId xmlns:a16="http://schemas.microsoft.com/office/drawing/2014/main" id="{4FEBD313-8560-AB31-343B-F0B39FA365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6582" r="6946" b="6800"/>
          <a:stretch/>
        </p:blipFill>
        <p:spPr bwMode="auto">
          <a:xfrm>
            <a:off x="9039228" y="1809739"/>
            <a:ext cx="1160789" cy="11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5716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머신비전</a:t>
            </a:r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라이브러리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0E880A-2344-33B5-62B5-5303AACFF1C0}"/>
              </a:ext>
            </a:extLst>
          </p:cNvPr>
          <p:cNvSpPr/>
          <p:nvPr/>
        </p:nvSpPr>
        <p:spPr>
          <a:xfrm>
            <a:off x="1963304" y="1742623"/>
            <a:ext cx="1111370" cy="12779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28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6420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5916</TotalTime>
  <Words>1030</Words>
  <Application>Microsoft Office PowerPoint</Application>
  <PresentationFormat>와이드스크린</PresentationFormat>
  <Paragraphs>231</Paragraphs>
  <Slides>31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3" baseType="lpstr">
      <vt:lpstr>Pretendard Medium</vt:lpstr>
      <vt:lpstr>G마켓 산스 TTF Medium</vt:lpstr>
      <vt:lpstr>Arial</vt:lpstr>
      <vt:lpstr>메이플스토리</vt:lpstr>
      <vt:lpstr>Pretendard Black</vt:lpstr>
      <vt:lpstr>Pretendard Light</vt:lpstr>
      <vt:lpstr>맑은 고딕</vt:lpstr>
      <vt:lpstr>Wingdings</vt:lpstr>
      <vt:lpstr>G마켓 산스 TTF Bold</vt:lpstr>
      <vt:lpstr>Pretendard ExtraBold</vt:lpstr>
      <vt:lpstr>1_Office 테마</vt:lpstr>
      <vt:lpstr>2_Office 테마</vt:lpstr>
      <vt:lpstr>x</vt:lpstr>
      <vt:lpstr>PowerPoint 프레젠테이션</vt:lpstr>
      <vt:lpstr>학습목표🎓</vt:lpstr>
      <vt:lpstr>커리큘럼</vt:lpstr>
      <vt:lpstr>PowerPoint 프레젠테이션</vt:lpstr>
      <vt:lpstr>인공지능 Artificial Intelligence</vt:lpstr>
      <vt:lpstr>PowerPoint 프레젠테이션</vt:lpstr>
      <vt:lpstr>PowerPoint 프레젠테이션</vt:lpstr>
      <vt:lpstr>PowerPoint 프레젠테이션</vt:lpstr>
      <vt:lpstr>PowerPoint 프레젠테이션</vt:lpstr>
      <vt:lpstr>머신러닝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머신 비전 기초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997</cp:revision>
  <dcterms:created xsi:type="dcterms:W3CDTF">2022-06-26T11:10:22Z</dcterms:created>
  <dcterms:modified xsi:type="dcterms:W3CDTF">2025-09-08T01:11:41Z</dcterms:modified>
</cp:coreProperties>
</file>