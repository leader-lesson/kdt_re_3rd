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37"/>
  </p:notesMasterIdLst>
  <p:sldIdLst>
    <p:sldId id="1004" r:id="rId2"/>
    <p:sldId id="1447" r:id="rId3"/>
    <p:sldId id="1448" r:id="rId4"/>
    <p:sldId id="1449" r:id="rId5"/>
    <p:sldId id="768" r:id="rId6"/>
    <p:sldId id="1446" r:id="rId7"/>
    <p:sldId id="769" r:id="rId8"/>
    <p:sldId id="770" r:id="rId9"/>
    <p:sldId id="771" r:id="rId10"/>
    <p:sldId id="772" r:id="rId11"/>
    <p:sldId id="776" r:id="rId12"/>
    <p:sldId id="777" r:id="rId13"/>
    <p:sldId id="773" r:id="rId14"/>
    <p:sldId id="774" r:id="rId15"/>
    <p:sldId id="775" r:id="rId16"/>
    <p:sldId id="1445" r:id="rId17"/>
    <p:sldId id="1450" r:id="rId18"/>
    <p:sldId id="1451" r:id="rId19"/>
    <p:sldId id="1452" r:id="rId20"/>
    <p:sldId id="1453" r:id="rId21"/>
    <p:sldId id="1454" r:id="rId22"/>
    <p:sldId id="1455" r:id="rId23"/>
    <p:sldId id="1456" r:id="rId24"/>
    <p:sldId id="1457" r:id="rId25"/>
    <p:sldId id="1458" r:id="rId26"/>
    <p:sldId id="1459" r:id="rId27"/>
    <p:sldId id="1460" r:id="rId28"/>
    <p:sldId id="1461" r:id="rId29"/>
    <p:sldId id="1462" r:id="rId30"/>
    <p:sldId id="1463" r:id="rId31"/>
    <p:sldId id="420" r:id="rId32"/>
    <p:sldId id="765" r:id="rId33"/>
    <p:sldId id="766" r:id="rId34"/>
    <p:sldId id="767" r:id="rId35"/>
    <p:sldId id="813" r:id="rId36"/>
  </p:sldIdLst>
  <p:sldSz cx="12192000" cy="6858000"/>
  <p:notesSz cx="6858000" cy="9144000"/>
  <p:embeddedFontLst>
    <p:embeddedFont>
      <p:font typeface="G마켓 산스 TTF Bold" panose="02000000000000000000" pitchFamily="2" charset="-127"/>
      <p:bold r:id="rId38"/>
    </p:embeddedFont>
    <p:embeddedFont>
      <p:font typeface="Noto Sans KR" panose="020B0200000000000000" pitchFamily="50" charset="-127"/>
      <p:regular r:id="rId39"/>
      <p:bold r:id="rId40"/>
    </p:embeddedFont>
    <p:embeddedFont>
      <p:font typeface="Pretendard Black" panose="02000A03000000020004" pitchFamily="2" charset="-127"/>
      <p:bold r:id="rId41"/>
    </p:embeddedFont>
    <p:embeddedFont>
      <p:font typeface="Pretendard ExtraBold" panose="02000903000000020004" pitchFamily="2" charset="-127"/>
      <p:bold r:id="rId42"/>
    </p:embeddedFont>
    <p:embeddedFont>
      <p:font typeface="Pretendard Light" panose="02000403000000020004" pitchFamily="2" charset="-127"/>
      <p:regular r:id="rId43"/>
    </p:embeddedFont>
    <p:embeddedFont>
      <p:font typeface="Pretendard Medium" panose="02000603000000020004" pitchFamily="2" charset="-127"/>
      <p:regular r:id="rId44"/>
    </p:embeddedFont>
    <p:embeddedFont>
      <p:font typeface="맑은 고딕" panose="020B0503020000020004" pitchFamily="50" charset="-127"/>
      <p:regular r:id="rId45"/>
      <p:bold r:id="rId46"/>
    </p:embeddedFont>
    <p:embeddedFont>
      <p:font typeface="맑은 고딕 Semilight" panose="020B0502040204020203" pitchFamily="50" charset="-127"/>
      <p:regular r:id="rId47"/>
    </p:embeddedFont>
    <p:embeddedFont>
      <p:font typeface="메이플스토리" panose="02000300000000000000" pitchFamily="2" charset="-127"/>
      <p:regular r:id="rId48"/>
      <p:bold r:id="rId49"/>
    </p:embeddedFont>
    <p:embeddedFont>
      <p:font typeface="세방고딕 Bold" panose="00000800000000000000" pitchFamily="2" charset="-127"/>
      <p:bold r:id="rId50"/>
    </p:embeddedFont>
    <p:embeddedFont>
      <p:font typeface="세방고딕 Regular" panose="00000500000000000000" pitchFamily="2" charset="-127"/>
      <p:regular r:id="rId51"/>
    </p:embeddedFont>
    <p:embeddedFont>
      <p:font typeface="휴먼둥근헤드라인" panose="02030504000101010101" pitchFamily="18" charset="-127"/>
      <p:regular r:id="rId5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FF5050"/>
    <a:srgbClr val="00FF99"/>
    <a:srgbClr val="FF7C80"/>
    <a:srgbClr val="2B2B2B"/>
    <a:srgbClr val="00B050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90" autoAdjust="0"/>
    <p:restoredTop sz="91676" autoAdjust="0"/>
  </p:normalViewPr>
  <p:slideViewPr>
    <p:cSldViewPr snapToGrid="0">
      <p:cViewPr varScale="1">
        <p:scale>
          <a:sx n="98" d="100"/>
          <a:sy n="98" d="100"/>
        </p:scale>
        <p:origin x="588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2025-09-24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509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0662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79C8F-73A5-B4E6-CC99-1D479C14B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770559-AB11-AC90-7E50-52F2801E9E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8DA2ED-400D-1F7B-EBED-18D86167F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78C7D1-F0C8-2A4B-CE19-5AEF54B931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93011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2639B-48F9-441F-3367-E71DF98A3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3BFEBC-39DA-C926-756D-A939DD66CB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7D80D3-B02B-EAEE-97AA-CC29DF63BD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A3935D-2A54-B41E-E6BC-3E697E575C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1945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FEB5-5F88-4F49-9108-1795E314F09F}" type="datetime1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0293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5009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9B500-2C20-2E20-BCCA-C065E5EFCB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>
            <a:lvl1pPr algn="ctr">
              <a:defRPr sz="8000">
                <a:solidFill>
                  <a:srgbClr val="2F5597"/>
                </a:solidFill>
              </a:defRPr>
            </a:lvl1pPr>
          </a:lstStyle>
          <a:p>
            <a:r>
              <a:rPr lang="ko-KR" altLang="en-US" dirty="0"/>
              <a:t>마스터 제목 스타일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B0E78A-BA2B-B66C-15B0-9F59EAACE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7833B2-537B-197A-F661-700C9B768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C143F0-023C-627A-F2CB-AF224F78A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4933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kosis.kr/index/index.do" TargetMode="External"/><Relationship Id="rId7" Type="http://schemas.openxmlformats.org/officeDocument/2006/relationships/hyperlink" Target="https://archive.ics.uci.edu/" TargetMode="External"/><Relationship Id="rId2" Type="http://schemas.openxmlformats.org/officeDocument/2006/relationships/hyperlink" Target="https://aihub.or.kr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ata.go.kr/index.do" TargetMode="External"/><Relationship Id="rId5" Type="http://schemas.openxmlformats.org/officeDocument/2006/relationships/hyperlink" Target="https://www.kaggle.com/datasets" TargetMode="External"/><Relationship Id="rId4" Type="http://schemas.openxmlformats.org/officeDocument/2006/relationships/hyperlink" Target="https://public.roboflow.com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miro.com/ko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pp.diagrams.net/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18" Type="http://schemas.openxmlformats.org/officeDocument/2006/relationships/image" Target="../media/image23.svg"/><Relationship Id="rId3" Type="http://schemas.openxmlformats.org/officeDocument/2006/relationships/image" Target="../media/image8.svg"/><Relationship Id="rId21" Type="http://schemas.openxmlformats.org/officeDocument/2006/relationships/image" Target="../media/image26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17" Type="http://schemas.openxmlformats.org/officeDocument/2006/relationships/image" Target="../media/image22.png"/><Relationship Id="rId25" Type="http://schemas.openxmlformats.org/officeDocument/2006/relationships/hyperlink" Target="https://youtu.be/AzQ6RnzUnpE" TargetMode="External"/><Relationship Id="rId2" Type="http://schemas.openxmlformats.org/officeDocument/2006/relationships/image" Target="../media/image7.png"/><Relationship Id="rId16" Type="http://schemas.openxmlformats.org/officeDocument/2006/relationships/image" Target="../media/image21.svg"/><Relationship Id="rId20" Type="http://schemas.openxmlformats.org/officeDocument/2006/relationships/image" Target="../media/image2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24" Type="http://schemas.openxmlformats.org/officeDocument/2006/relationships/image" Target="../media/image29.svg"/><Relationship Id="rId5" Type="http://schemas.openxmlformats.org/officeDocument/2006/relationships/image" Target="../media/image10.sv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10" Type="http://schemas.openxmlformats.org/officeDocument/2006/relationships/image" Target="../media/image15.sv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svg"/><Relationship Id="rId22" Type="http://schemas.openxmlformats.org/officeDocument/2006/relationships/image" Target="../media/image27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sv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13" Type="http://schemas.openxmlformats.org/officeDocument/2006/relationships/image" Target="../media/image48.png"/><Relationship Id="rId18" Type="http://schemas.openxmlformats.org/officeDocument/2006/relationships/image" Target="../media/image53.svg"/><Relationship Id="rId3" Type="http://schemas.openxmlformats.org/officeDocument/2006/relationships/image" Target="../media/image38.svg"/><Relationship Id="rId7" Type="http://schemas.openxmlformats.org/officeDocument/2006/relationships/image" Target="../media/image42.png"/><Relationship Id="rId12" Type="http://schemas.openxmlformats.org/officeDocument/2006/relationships/image" Target="../media/image47.svg"/><Relationship Id="rId17" Type="http://schemas.openxmlformats.org/officeDocument/2006/relationships/image" Target="../media/image52.png"/><Relationship Id="rId2" Type="http://schemas.openxmlformats.org/officeDocument/2006/relationships/image" Target="../media/image37.png"/><Relationship Id="rId16" Type="http://schemas.openxmlformats.org/officeDocument/2006/relationships/image" Target="../media/image51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svg"/><Relationship Id="rId15" Type="http://schemas.openxmlformats.org/officeDocument/2006/relationships/image" Target="../media/image50.png"/><Relationship Id="rId10" Type="http://schemas.openxmlformats.org/officeDocument/2006/relationships/image" Target="../media/image45.sv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svg"/><Relationship Id="rId18" Type="http://schemas.openxmlformats.org/officeDocument/2006/relationships/image" Target="../media/image18.png"/><Relationship Id="rId3" Type="http://schemas.openxmlformats.org/officeDocument/2006/relationships/image" Target="../media/image38.svg"/><Relationship Id="rId21" Type="http://schemas.openxmlformats.org/officeDocument/2006/relationships/image" Target="../media/image65.svg"/><Relationship Id="rId7" Type="http://schemas.openxmlformats.org/officeDocument/2006/relationships/image" Target="../media/image57.svg"/><Relationship Id="rId12" Type="http://schemas.openxmlformats.org/officeDocument/2006/relationships/image" Target="../media/image62.png"/><Relationship Id="rId17" Type="http://schemas.openxmlformats.org/officeDocument/2006/relationships/image" Target="../media/image17.svg"/><Relationship Id="rId2" Type="http://schemas.openxmlformats.org/officeDocument/2006/relationships/image" Target="../media/image37.png"/><Relationship Id="rId16" Type="http://schemas.openxmlformats.org/officeDocument/2006/relationships/image" Target="../media/image16.pn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6.png"/><Relationship Id="rId11" Type="http://schemas.openxmlformats.org/officeDocument/2006/relationships/image" Target="../media/image61.svg"/><Relationship Id="rId5" Type="http://schemas.openxmlformats.org/officeDocument/2006/relationships/image" Target="../media/image55.svg"/><Relationship Id="rId15" Type="http://schemas.openxmlformats.org/officeDocument/2006/relationships/image" Target="../media/image15.svg"/><Relationship Id="rId10" Type="http://schemas.openxmlformats.org/officeDocument/2006/relationships/image" Target="../media/image60.png"/><Relationship Id="rId19" Type="http://schemas.openxmlformats.org/officeDocument/2006/relationships/image" Target="../media/image19.svg"/><Relationship Id="rId4" Type="http://schemas.openxmlformats.org/officeDocument/2006/relationships/image" Target="../media/image54.png"/><Relationship Id="rId9" Type="http://schemas.openxmlformats.org/officeDocument/2006/relationships/image" Target="../media/image59.svg"/><Relationship Id="rId1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svg"/><Relationship Id="rId13" Type="http://schemas.openxmlformats.org/officeDocument/2006/relationships/image" Target="../media/image77.png"/><Relationship Id="rId18" Type="http://schemas.openxmlformats.org/officeDocument/2006/relationships/image" Target="../media/image38.svg"/><Relationship Id="rId3" Type="http://schemas.openxmlformats.org/officeDocument/2006/relationships/image" Target="../media/image67.svg"/><Relationship Id="rId21" Type="http://schemas.openxmlformats.org/officeDocument/2006/relationships/image" Target="../media/image83.png"/><Relationship Id="rId7" Type="http://schemas.openxmlformats.org/officeDocument/2006/relationships/image" Target="../media/image71.png"/><Relationship Id="rId12" Type="http://schemas.openxmlformats.org/officeDocument/2006/relationships/image" Target="../media/image76.svg"/><Relationship Id="rId17" Type="http://schemas.openxmlformats.org/officeDocument/2006/relationships/image" Target="../media/image37.png"/><Relationship Id="rId2" Type="http://schemas.openxmlformats.org/officeDocument/2006/relationships/image" Target="../media/image66.png"/><Relationship Id="rId16" Type="http://schemas.openxmlformats.org/officeDocument/2006/relationships/image" Target="../media/image80.svg"/><Relationship Id="rId20" Type="http://schemas.openxmlformats.org/officeDocument/2006/relationships/image" Target="../media/image82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0.sv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5" Type="http://schemas.openxmlformats.org/officeDocument/2006/relationships/image" Target="../media/image79.png"/><Relationship Id="rId23" Type="http://schemas.openxmlformats.org/officeDocument/2006/relationships/image" Target="../media/image43.svg"/><Relationship Id="rId10" Type="http://schemas.openxmlformats.org/officeDocument/2006/relationships/image" Target="../media/image74.svg"/><Relationship Id="rId19" Type="http://schemas.openxmlformats.org/officeDocument/2006/relationships/image" Target="../media/image81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Relationship Id="rId14" Type="http://schemas.openxmlformats.org/officeDocument/2006/relationships/image" Target="../media/image78.svg"/><Relationship Id="rId22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svg"/><Relationship Id="rId13" Type="http://schemas.openxmlformats.org/officeDocument/2006/relationships/image" Target="../media/image90.png"/><Relationship Id="rId18" Type="http://schemas.openxmlformats.org/officeDocument/2006/relationships/image" Target="../media/image95.svg"/><Relationship Id="rId26" Type="http://schemas.openxmlformats.org/officeDocument/2006/relationships/image" Target="../media/image71.png"/><Relationship Id="rId3" Type="http://schemas.openxmlformats.org/officeDocument/2006/relationships/image" Target="../media/image67.svg"/><Relationship Id="rId21" Type="http://schemas.openxmlformats.org/officeDocument/2006/relationships/image" Target="../media/image98.png"/><Relationship Id="rId7" Type="http://schemas.openxmlformats.org/officeDocument/2006/relationships/image" Target="../media/image84.png"/><Relationship Id="rId12" Type="http://schemas.openxmlformats.org/officeDocument/2006/relationships/image" Target="../media/image89.svg"/><Relationship Id="rId17" Type="http://schemas.openxmlformats.org/officeDocument/2006/relationships/image" Target="../media/image94.png"/><Relationship Id="rId25" Type="http://schemas.openxmlformats.org/officeDocument/2006/relationships/image" Target="../media/image43.svg"/><Relationship Id="rId2" Type="http://schemas.openxmlformats.org/officeDocument/2006/relationships/image" Target="../media/image66.png"/><Relationship Id="rId16" Type="http://schemas.openxmlformats.org/officeDocument/2006/relationships/image" Target="../media/image93.svg"/><Relationship Id="rId20" Type="http://schemas.openxmlformats.org/officeDocument/2006/relationships/image" Target="../media/image97.svg"/><Relationship Id="rId29" Type="http://schemas.openxmlformats.org/officeDocument/2006/relationships/image" Target="../media/image101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0.svg"/><Relationship Id="rId11" Type="http://schemas.openxmlformats.org/officeDocument/2006/relationships/image" Target="../media/image88.png"/><Relationship Id="rId24" Type="http://schemas.openxmlformats.org/officeDocument/2006/relationships/image" Target="../media/image42.png"/><Relationship Id="rId5" Type="http://schemas.openxmlformats.org/officeDocument/2006/relationships/image" Target="../media/image69.png"/><Relationship Id="rId15" Type="http://schemas.openxmlformats.org/officeDocument/2006/relationships/image" Target="../media/image92.png"/><Relationship Id="rId23" Type="http://schemas.openxmlformats.org/officeDocument/2006/relationships/image" Target="../media/image83.png"/><Relationship Id="rId28" Type="http://schemas.openxmlformats.org/officeDocument/2006/relationships/image" Target="../media/image100.png"/><Relationship Id="rId10" Type="http://schemas.openxmlformats.org/officeDocument/2006/relationships/image" Target="../media/image87.svg"/><Relationship Id="rId19" Type="http://schemas.openxmlformats.org/officeDocument/2006/relationships/image" Target="../media/image96.png"/><Relationship Id="rId4" Type="http://schemas.openxmlformats.org/officeDocument/2006/relationships/image" Target="../media/image68.png"/><Relationship Id="rId9" Type="http://schemas.openxmlformats.org/officeDocument/2006/relationships/image" Target="../media/image86.png"/><Relationship Id="rId14" Type="http://schemas.openxmlformats.org/officeDocument/2006/relationships/image" Target="../media/image91.svg"/><Relationship Id="rId22" Type="http://schemas.openxmlformats.org/officeDocument/2006/relationships/image" Target="../media/image99.svg"/><Relationship Id="rId27" Type="http://schemas.openxmlformats.org/officeDocument/2006/relationships/image" Target="../media/image72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106.svg"/><Relationship Id="rId3" Type="http://schemas.openxmlformats.org/officeDocument/2006/relationships/image" Target="../media/image67.svg"/><Relationship Id="rId7" Type="http://schemas.openxmlformats.org/officeDocument/2006/relationships/image" Target="../media/image104.svg"/><Relationship Id="rId12" Type="http://schemas.openxmlformats.org/officeDocument/2006/relationships/image" Target="../media/image105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9.png"/><Relationship Id="rId11" Type="http://schemas.openxmlformats.org/officeDocument/2006/relationships/image" Target="../media/image43.svg"/><Relationship Id="rId5" Type="http://schemas.openxmlformats.org/officeDocument/2006/relationships/image" Target="../media/image103.svg"/><Relationship Id="rId15" Type="http://schemas.openxmlformats.org/officeDocument/2006/relationships/image" Target="../media/image108.svg"/><Relationship Id="rId10" Type="http://schemas.openxmlformats.org/officeDocument/2006/relationships/image" Target="../media/image42.png"/><Relationship Id="rId4" Type="http://schemas.openxmlformats.org/officeDocument/2006/relationships/image" Target="../media/image102.png"/><Relationship Id="rId9" Type="http://schemas.openxmlformats.org/officeDocument/2006/relationships/image" Target="../media/image83.png"/><Relationship Id="rId14" Type="http://schemas.openxmlformats.org/officeDocument/2006/relationships/image" Target="../media/image10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svg"/><Relationship Id="rId13" Type="http://schemas.openxmlformats.org/officeDocument/2006/relationships/image" Target="../media/image114.png"/><Relationship Id="rId3" Type="http://schemas.openxmlformats.org/officeDocument/2006/relationships/image" Target="../media/image67.svg"/><Relationship Id="rId7" Type="http://schemas.openxmlformats.org/officeDocument/2006/relationships/image" Target="../media/image69.png"/><Relationship Id="rId12" Type="http://schemas.openxmlformats.org/officeDocument/2006/relationships/image" Target="../media/image19.svg"/><Relationship Id="rId17" Type="http://schemas.openxmlformats.org/officeDocument/2006/relationships/image" Target="../media/image43.svg"/><Relationship Id="rId2" Type="http://schemas.openxmlformats.org/officeDocument/2006/relationships/image" Target="../media/image66.png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8.png"/><Relationship Id="rId11" Type="http://schemas.openxmlformats.org/officeDocument/2006/relationships/image" Target="../media/image18.png"/><Relationship Id="rId5" Type="http://schemas.openxmlformats.org/officeDocument/2006/relationships/image" Target="../media/image110.svg"/><Relationship Id="rId15" Type="http://schemas.openxmlformats.org/officeDocument/2006/relationships/image" Target="../media/image83.png"/><Relationship Id="rId10" Type="http://schemas.openxmlformats.org/officeDocument/2006/relationships/image" Target="../media/image113.svg"/><Relationship Id="rId4" Type="http://schemas.openxmlformats.org/officeDocument/2006/relationships/image" Target="../media/image109.png"/><Relationship Id="rId9" Type="http://schemas.openxmlformats.org/officeDocument/2006/relationships/image" Target="../media/image112.png"/><Relationship Id="rId14" Type="http://schemas.openxmlformats.org/officeDocument/2006/relationships/image" Target="../media/image115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7" Type="http://schemas.openxmlformats.org/officeDocument/2006/relationships/image" Target="../media/image116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8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7" Type="http://schemas.openxmlformats.org/officeDocument/2006/relationships/image" Target="../media/image11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8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67.svg"/><Relationship Id="rId7" Type="http://schemas.openxmlformats.org/officeDocument/2006/relationships/image" Target="../media/image43.sv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2.png"/><Relationship Id="rId5" Type="http://schemas.openxmlformats.org/officeDocument/2006/relationships/image" Target="../media/image83.png"/><Relationship Id="rId4" Type="http://schemas.openxmlformats.org/officeDocument/2006/relationships/image" Target="../media/image68.png"/><Relationship Id="rId9" Type="http://schemas.openxmlformats.org/officeDocument/2006/relationships/image" Target="../media/image11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67.svg"/><Relationship Id="rId7" Type="http://schemas.openxmlformats.org/officeDocument/2006/relationships/image" Target="../media/image43.sv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2.png"/><Relationship Id="rId5" Type="http://schemas.openxmlformats.org/officeDocument/2006/relationships/image" Target="../media/image83.png"/><Relationship Id="rId4" Type="http://schemas.openxmlformats.org/officeDocument/2006/relationships/image" Target="../media/image6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66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3.png"/><Relationship Id="rId5" Type="http://schemas.openxmlformats.org/officeDocument/2006/relationships/image" Target="../media/image68.png"/><Relationship Id="rId4" Type="http://schemas.openxmlformats.org/officeDocument/2006/relationships/image" Target="../media/image67.svg"/><Relationship Id="rId9" Type="http://schemas.openxmlformats.org/officeDocument/2006/relationships/image" Target="../media/image12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43.svg"/><Relationship Id="rId3" Type="http://schemas.openxmlformats.org/officeDocument/2006/relationships/image" Target="../media/image67.svg"/><Relationship Id="rId7" Type="http://schemas.openxmlformats.org/officeDocument/2006/relationships/image" Target="../media/image125.svg"/><Relationship Id="rId12" Type="http://schemas.openxmlformats.org/officeDocument/2006/relationships/image" Target="../media/image42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4.png"/><Relationship Id="rId11" Type="http://schemas.openxmlformats.org/officeDocument/2006/relationships/image" Target="../media/image83.png"/><Relationship Id="rId5" Type="http://schemas.openxmlformats.org/officeDocument/2006/relationships/image" Target="../media/image123.svg"/><Relationship Id="rId10" Type="http://schemas.openxmlformats.org/officeDocument/2006/relationships/image" Target="../media/image127.svg"/><Relationship Id="rId4" Type="http://schemas.openxmlformats.org/officeDocument/2006/relationships/image" Target="../media/image122.png"/><Relationship Id="rId9" Type="http://schemas.openxmlformats.org/officeDocument/2006/relationships/image" Target="../media/image126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solidFill>
                  <a:srgbClr val="ED7D31"/>
                </a:solidFill>
              </a:rPr>
              <a:t>머신비전</a:t>
            </a:r>
            <a:r>
              <a:rPr lang="en-US" altLang="ko-KR" dirty="0">
                <a:solidFill>
                  <a:srgbClr val="ED7D31"/>
                </a:solidFill>
              </a:rPr>
              <a:t>/</a:t>
            </a:r>
            <a:r>
              <a:rPr lang="ko-KR" altLang="en-US" dirty="0" err="1">
                <a:solidFill>
                  <a:srgbClr val="ED7D31"/>
                </a:solidFill>
              </a:rPr>
              <a:t>머신러닝</a:t>
            </a:r>
            <a:r>
              <a:rPr lang="ko-KR" altLang="en-US" dirty="0">
                <a:solidFill>
                  <a:srgbClr val="ED7D31"/>
                </a:solidFill>
              </a:rPr>
              <a:t> 프로젝트 개요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A1457AD-9C54-164C-1CD7-091B5AA62F0E}"/>
              </a:ext>
            </a:extLst>
          </p:cNvPr>
          <p:cNvSpPr txBox="1">
            <a:spLocks/>
          </p:cNvSpPr>
          <p:nvPr/>
        </p:nvSpPr>
        <p:spPr>
          <a:xfrm>
            <a:off x="285750" y="1041943"/>
            <a:ext cx="11654462" cy="51084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대주제 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: </a:t>
            </a:r>
            <a:r>
              <a:rPr lang="ko-KR" altLang="en-US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재생에너지 관련 </a:t>
            </a:r>
            <a:r>
              <a:rPr lang="ko-KR" altLang="en-US" sz="32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머신비전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/</a:t>
            </a:r>
            <a:r>
              <a:rPr lang="ko-KR" altLang="en-US" sz="32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머신러닝</a:t>
            </a:r>
            <a:r>
              <a:rPr lang="ko-KR" altLang="en-US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프로젝트</a:t>
            </a:r>
            <a:endParaRPr lang="en-US" altLang="ko-KR" sz="32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514350" indent="-514350">
              <a:lnSpc>
                <a:spcPct val="160000"/>
              </a:lnSpc>
              <a:buFont typeface="+mj-lt"/>
              <a:buAutoNum type="arabicPeriod"/>
            </a:pPr>
            <a:r>
              <a:rPr lang="ko-KR" altLang="en-US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세부 주제 선정</a:t>
            </a:r>
            <a:r>
              <a:rPr lang="ko-KR" altLang="en-US" sz="3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3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3200" b="1" dirty="0">
                <a:solidFill>
                  <a:srgbClr val="FF3399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자유 주제</a:t>
            </a:r>
            <a:endParaRPr lang="en-US" altLang="ko-KR" sz="2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목적</a:t>
            </a:r>
            <a:r>
              <a:rPr lang="ko-KR" altLang="en-US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: </a:t>
            </a:r>
            <a:r>
              <a:rPr lang="ko-KR" altLang="en-US" sz="32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머신비전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/</a:t>
            </a:r>
            <a:r>
              <a:rPr lang="ko-KR" altLang="en-US" sz="32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머신러닝</a:t>
            </a:r>
            <a:r>
              <a:rPr lang="ko-KR" altLang="en-US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기술 숙련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, </a:t>
            </a:r>
            <a:r>
              <a:rPr lang="ko-KR" altLang="en-US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프로젝트 경험 향상</a:t>
            </a:r>
            <a:endParaRPr lang="en-US" altLang="ko-KR" sz="32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팀 구성 </a:t>
            </a:r>
            <a:r>
              <a:rPr lang="en-US" altLang="ko-KR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: 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3</a:t>
            </a:r>
            <a:r>
              <a:rPr lang="ko-KR" altLang="en-US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인 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1</a:t>
            </a:r>
            <a:r>
              <a:rPr lang="ko-KR" altLang="en-US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조</a:t>
            </a:r>
            <a:endParaRPr lang="en-US" altLang="ko-KR" sz="32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8705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40B02-DB4D-DF75-7878-491516C19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FC85F5-35B5-29DE-59AC-5035A4A7D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solidFill>
                  <a:srgbClr val="ED7D31"/>
                </a:solidFill>
              </a:rPr>
              <a:t>머신비전</a:t>
            </a:r>
            <a:r>
              <a:rPr lang="en-US" altLang="ko-KR" dirty="0">
                <a:solidFill>
                  <a:srgbClr val="ED7D31"/>
                </a:solidFill>
              </a:rPr>
              <a:t>/</a:t>
            </a:r>
            <a:r>
              <a:rPr lang="ko-KR" altLang="en-US" dirty="0" err="1">
                <a:solidFill>
                  <a:srgbClr val="ED7D31"/>
                </a:solidFill>
              </a:rPr>
              <a:t>머신러닝</a:t>
            </a:r>
            <a:r>
              <a:rPr lang="ko-KR" altLang="en-US" dirty="0">
                <a:solidFill>
                  <a:srgbClr val="ED7D31"/>
                </a:solidFill>
              </a:rPr>
              <a:t> 프로젝트 개요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E256F04-B1E1-A8DE-41A9-CACC01AFCDE7}"/>
              </a:ext>
            </a:extLst>
          </p:cNvPr>
          <p:cNvSpPr txBox="1">
            <a:spLocks/>
          </p:cNvSpPr>
          <p:nvPr/>
        </p:nvSpPr>
        <p:spPr>
          <a:xfrm>
            <a:off x="285750" y="973931"/>
            <a:ext cx="11654462" cy="56300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ko-KR" altLang="en-US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프로젝트 기간 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: 9/24(</a:t>
            </a:r>
            <a:r>
              <a:rPr lang="ko-KR" altLang="en-US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수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) ~ 10/17(</a:t>
            </a:r>
            <a:r>
              <a:rPr lang="ko-KR" altLang="en-US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금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), 12</a:t>
            </a:r>
            <a:r>
              <a:rPr lang="ko-KR" altLang="en-US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일</a:t>
            </a:r>
            <a:endParaRPr lang="en-US" altLang="ko-KR" sz="32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ko-KR" altLang="en-US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프로젝트 계획서 보고 </a:t>
            </a:r>
            <a:r>
              <a:rPr lang="en-US" altLang="ko-KR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: 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9/25(</a:t>
            </a:r>
            <a:r>
              <a:rPr lang="ko-KR" altLang="en-US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목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) 10:00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ko-KR" altLang="en-US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프로젝트 발표 </a:t>
            </a:r>
            <a:r>
              <a:rPr lang="en-US" altLang="ko-KR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: </a:t>
            </a:r>
            <a:r>
              <a:rPr lang="en-US" altLang="ko-KR" sz="3200" b="1" dirty="0">
                <a:solidFill>
                  <a:srgbClr val="FF5050"/>
                </a:solidFill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10/17(</a:t>
            </a:r>
            <a:r>
              <a:rPr lang="ko-KR" altLang="en-US" sz="3200" b="1" dirty="0">
                <a:solidFill>
                  <a:srgbClr val="FF5050"/>
                </a:solidFill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금</a:t>
            </a:r>
            <a:r>
              <a:rPr lang="en-US" altLang="ko-KR" sz="3200" b="1" dirty="0">
                <a:solidFill>
                  <a:srgbClr val="FF5050"/>
                </a:solidFill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) 10:00</a:t>
            </a:r>
          </a:p>
          <a:p>
            <a:pPr marL="514350" indent="-514350">
              <a:lnSpc>
                <a:spcPct val="160000"/>
              </a:lnSpc>
              <a:buFont typeface="+mj-lt"/>
              <a:buAutoNum type="arabicPeriod" startAt="5"/>
            </a:pPr>
            <a:r>
              <a:rPr lang="ko-KR" altLang="en-US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필수 제출 사항</a:t>
            </a:r>
            <a:endParaRPr lang="en-US" altLang="ko-KR" sz="3200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pPr lvl="1">
              <a:lnSpc>
                <a:spcPct val="160000"/>
              </a:lnSpc>
            </a:pP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github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레포지토리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6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PPT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발표 자료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2816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데이터 수집 사이트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CABF6D-2958-2396-3E84-34587C3CE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5903" y="1732860"/>
            <a:ext cx="5257800" cy="3912566"/>
          </a:xfrm>
        </p:spPr>
        <p:txBody>
          <a:bodyPr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ko-KR" sz="2400" dirty="0">
                <a:latin typeface="+mn-ea"/>
              </a:rPr>
              <a:t>[AI </a:t>
            </a:r>
            <a:r>
              <a:rPr lang="ko-KR" altLang="en-US" sz="2400" dirty="0">
                <a:latin typeface="+mn-ea"/>
              </a:rPr>
              <a:t>허브</a:t>
            </a:r>
            <a:r>
              <a:rPr lang="en-US" altLang="ko-KR" sz="2400" dirty="0">
                <a:latin typeface="+mn-ea"/>
              </a:rPr>
              <a:t>]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altLang="ko-KR" sz="2400" dirty="0">
                <a:latin typeface="+mn-ea"/>
                <a:hlinkClick r:id="rId2"/>
              </a:rPr>
              <a:t>https://aihub.or.kr</a:t>
            </a:r>
            <a:endParaRPr lang="en-US" altLang="ko-KR" sz="2400" dirty="0">
              <a:latin typeface="+mn-ea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altLang="ko-KR" sz="2400" dirty="0">
              <a:latin typeface="+mn-ea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altLang="ko-KR" sz="2400" dirty="0">
                <a:latin typeface="+mn-ea"/>
              </a:rPr>
              <a:t>[</a:t>
            </a:r>
            <a:r>
              <a:rPr lang="ko-KR" altLang="en-US" sz="2400" dirty="0">
                <a:latin typeface="+mn-ea"/>
              </a:rPr>
              <a:t>국가 통계 포털</a:t>
            </a:r>
            <a:r>
              <a:rPr lang="en-US" altLang="ko-KR" sz="2400" dirty="0">
                <a:latin typeface="+mn-ea"/>
              </a:rPr>
              <a:t>]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altLang="ko-KR" sz="2400" dirty="0">
                <a:latin typeface="+mn-ea"/>
                <a:hlinkClick r:id="rId3"/>
              </a:rPr>
              <a:t>https://kosis.kr/index/index.do</a:t>
            </a:r>
            <a:endParaRPr lang="en-US" altLang="ko-KR" sz="2400" dirty="0">
              <a:latin typeface="+mn-ea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altLang="ko-KR" sz="2400" dirty="0">
              <a:latin typeface="+mn-ea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altLang="ko-KR" sz="2400" dirty="0">
                <a:latin typeface="+mn-ea"/>
              </a:rPr>
              <a:t>[</a:t>
            </a:r>
            <a:r>
              <a:rPr lang="en-US" altLang="ko-KR" sz="2400" dirty="0" err="1">
                <a:latin typeface="+mn-ea"/>
              </a:rPr>
              <a:t>Roboflow</a:t>
            </a:r>
            <a:r>
              <a:rPr lang="en-US" altLang="ko-KR" sz="2400" dirty="0">
                <a:latin typeface="+mn-ea"/>
              </a:rPr>
              <a:t>]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altLang="ko-KR" sz="2400" dirty="0">
                <a:latin typeface="+mn-ea"/>
                <a:hlinkClick r:id="rId4"/>
              </a:rPr>
              <a:t>https://public.roboflow.com/</a:t>
            </a:r>
            <a:endParaRPr lang="en-US" altLang="ko-KR" sz="2400" dirty="0">
              <a:latin typeface="+mn-ea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altLang="ko-KR" sz="2400" dirty="0">
              <a:latin typeface="+mn-ea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altLang="ko-KR" sz="2400" dirty="0">
              <a:latin typeface="+mn-ea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altLang="ko-KR" sz="2400" dirty="0">
              <a:latin typeface="+mn-ea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A1457AD-9C54-164C-1CD7-091B5AA62F0E}"/>
              </a:ext>
            </a:extLst>
          </p:cNvPr>
          <p:cNvSpPr txBox="1">
            <a:spLocks/>
          </p:cNvSpPr>
          <p:nvPr/>
        </p:nvSpPr>
        <p:spPr>
          <a:xfrm>
            <a:off x="904612" y="1679851"/>
            <a:ext cx="5257800" cy="36677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 dirty="0">
                <a:latin typeface="+mn-ea"/>
              </a:rPr>
              <a:t>[</a:t>
            </a:r>
            <a:r>
              <a:rPr lang="en-US" altLang="ko-KR" sz="2400" dirty="0" err="1">
                <a:latin typeface="+mn-ea"/>
              </a:rPr>
              <a:t>kaggle</a:t>
            </a:r>
            <a:r>
              <a:rPr lang="ko-KR" altLang="en-US" sz="2400" dirty="0">
                <a:latin typeface="+mn-ea"/>
              </a:rPr>
              <a:t>데이터 셋</a:t>
            </a:r>
            <a:r>
              <a:rPr lang="en-US" altLang="ko-KR" sz="2400" dirty="0">
                <a:latin typeface="+mn-ea"/>
              </a:rPr>
              <a:t>]</a:t>
            </a:r>
            <a:endParaRPr lang="en-US" altLang="ko-KR" sz="2400" dirty="0">
              <a:latin typeface="+mn-ea"/>
              <a:hlinkClick r:id="" action="ppaction://noaction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 dirty="0">
                <a:latin typeface="+mn-ea"/>
                <a:hlinkClick r:id="rId5"/>
              </a:rPr>
              <a:t>https://www.kaggle.com/datasets</a:t>
            </a:r>
            <a:endParaRPr lang="en-US" altLang="ko-KR" sz="2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 dirty="0">
                <a:latin typeface="+mn-ea"/>
              </a:rPr>
              <a:t>[</a:t>
            </a:r>
            <a:r>
              <a:rPr lang="ko-KR" altLang="en-US" sz="2400" dirty="0">
                <a:latin typeface="+mn-ea"/>
              </a:rPr>
              <a:t>공공데이터 포털</a:t>
            </a:r>
            <a:r>
              <a:rPr lang="en-US" altLang="ko-KR" sz="2400" dirty="0">
                <a:latin typeface="+mn-ea"/>
              </a:rPr>
              <a:t>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 dirty="0">
                <a:latin typeface="+mn-ea"/>
                <a:hlinkClick r:id="rId6"/>
              </a:rPr>
              <a:t>https://www.data.go.kr/index.do</a:t>
            </a:r>
            <a:endParaRPr lang="en-US" altLang="ko-KR" sz="2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 dirty="0">
                <a:latin typeface="+mn-ea"/>
              </a:rPr>
              <a:t>[UCI </a:t>
            </a:r>
            <a:r>
              <a:rPr lang="ko-KR" altLang="en-US" sz="2400" dirty="0" err="1">
                <a:latin typeface="+mn-ea"/>
              </a:rPr>
              <a:t>머신러닝</a:t>
            </a:r>
            <a:r>
              <a:rPr lang="ko-KR" altLang="en-US" sz="2400" dirty="0">
                <a:latin typeface="+mn-ea"/>
              </a:rPr>
              <a:t> 저장소</a:t>
            </a:r>
            <a:r>
              <a:rPr lang="en-US" altLang="ko-KR" sz="2400" dirty="0">
                <a:latin typeface="+mn-ea"/>
              </a:rPr>
              <a:t>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 dirty="0">
                <a:latin typeface="+mn-ea"/>
                <a:hlinkClick r:id="rId7"/>
              </a:rPr>
              <a:t>https://archive.ics.uci.edu</a:t>
            </a:r>
            <a:endParaRPr lang="en-US" altLang="ko-KR" sz="2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06563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87" y="0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rgbClr val="ED7D31"/>
                </a:solidFill>
              </a:rPr>
              <a:t> </a:t>
            </a:r>
            <a:r>
              <a:rPr lang="ko-KR" altLang="en-US" dirty="0">
                <a:solidFill>
                  <a:srgbClr val="ED7D31"/>
                </a:solidFill>
              </a:rPr>
              <a:t>영상 분석을 위한 데이터 세트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A1457AD-9C54-164C-1CD7-091B5AA62F0E}"/>
              </a:ext>
            </a:extLst>
          </p:cNvPr>
          <p:cNvSpPr txBox="1">
            <a:spLocks/>
          </p:cNvSpPr>
          <p:nvPr/>
        </p:nvSpPr>
        <p:spPr>
          <a:xfrm>
            <a:off x="904612" y="1679851"/>
            <a:ext cx="4031823" cy="36677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 dirty="0">
                <a:latin typeface="+mn-ea"/>
              </a:rPr>
              <a:t>[MNIST]</a:t>
            </a:r>
            <a:endParaRPr lang="en-US" altLang="ko-KR" sz="2400" dirty="0">
              <a:latin typeface="+mn-ea"/>
              <a:hlinkClick r:id="" action="ppaction://noaction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 dirty="0">
                <a:latin typeface="+mn-ea"/>
              </a:rPr>
              <a:t>필기체 숫자</a:t>
            </a:r>
            <a:endParaRPr lang="en-US" altLang="ko-KR" sz="2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 dirty="0">
                <a:latin typeface="+mn-ea"/>
              </a:rPr>
              <a:t>[CIFAR10]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 dirty="0">
                <a:latin typeface="+mn-ea"/>
              </a:rPr>
              <a:t>자연 이미지 데이터 세트</a:t>
            </a:r>
            <a:endParaRPr lang="en-US" altLang="ko-KR" sz="2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 dirty="0">
                <a:latin typeface="+mn-ea"/>
              </a:rPr>
              <a:t>[COCO]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 dirty="0">
                <a:latin typeface="+mn-ea"/>
              </a:rPr>
              <a:t>일반사물 데이터 세트 </a:t>
            </a:r>
            <a:r>
              <a:rPr lang="en-US" altLang="ko-KR" sz="2400" dirty="0">
                <a:latin typeface="+mn-ea"/>
              </a:rPr>
              <a:t>- MS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400" dirty="0">
              <a:latin typeface="+mn-ea"/>
            </a:endParaRP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C51B509F-95A4-7A55-286F-6367712B31CD}"/>
              </a:ext>
            </a:extLst>
          </p:cNvPr>
          <p:cNvSpPr txBox="1">
            <a:spLocks/>
          </p:cNvSpPr>
          <p:nvPr/>
        </p:nvSpPr>
        <p:spPr>
          <a:xfrm>
            <a:off x="6096000" y="1679851"/>
            <a:ext cx="4492487" cy="403183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 dirty="0">
                <a:latin typeface="+mn-ea"/>
              </a:rPr>
              <a:t>[</a:t>
            </a:r>
            <a:r>
              <a:rPr lang="en-US" altLang="ko-KR" sz="2400" dirty="0" err="1">
                <a:latin typeface="+mn-ea"/>
              </a:rPr>
              <a:t>Labelme</a:t>
            </a:r>
            <a:r>
              <a:rPr lang="en-US" altLang="ko-KR" sz="2400" dirty="0">
                <a:latin typeface="+mn-ea"/>
              </a:rPr>
              <a:t>]</a:t>
            </a:r>
            <a:endParaRPr lang="en-US" altLang="ko-KR" sz="2400" dirty="0">
              <a:latin typeface="+mn-ea"/>
              <a:hlinkClick r:id="" action="ppaction://noaction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 dirty="0">
                <a:latin typeface="+mn-ea"/>
              </a:rPr>
              <a:t>레이블이 있는 이미지의 대규모 데이터 세트</a:t>
            </a:r>
            <a:endParaRPr lang="en-US" altLang="ko-KR" sz="2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 dirty="0">
                <a:latin typeface="+mn-ea"/>
              </a:rPr>
              <a:t>[COIL20]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 dirty="0">
                <a:latin typeface="+mn-ea"/>
              </a:rPr>
              <a:t>360</a:t>
            </a:r>
            <a:r>
              <a:rPr lang="ko-KR" altLang="en-US" sz="2400" dirty="0">
                <a:latin typeface="+mn-ea"/>
              </a:rPr>
              <a:t>도 회전으로 모든 각도에서 이미지가 생성되는 다양한 객체</a:t>
            </a:r>
            <a:endParaRPr lang="en-US" altLang="ko-KR" sz="2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 dirty="0">
                <a:latin typeface="+mn-ea"/>
              </a:rPr>
              <a:t>[KITTI Version Benchmark Dataset]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 dirty="0">
                <a:latin typeface="+mn-ea"/>
              </a:rPr>
              <a:t>카메라와 레이저 스캐너를 사용해 다양한 지역의 도시 이미지를 수입한 데이터 세트</a:t>
            </a:r>
            <a:endParaRPr lang="en-US" altLang="ko-KR" sz="2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08099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AC9AE-44BF-A9B4-8B66-4BC619C38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3AC0A6-99C1-1F4D-E6D5-96EDCE93C1A7}"/>
              </a:ext>
            </a:extLst>
          </p:cNvPr>
          <p:cNvSpPr txBox="1"/>
          <p:nvPr/>
        </p:nvSpPr>
        <p:spPr>
          <a:xfrm>
            <a:off x="3304245" y="2600493"/>
            <a:ext cx="558358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프로젝트 계획서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4948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F32AC-D062-F74F-BE36-1F2AF426F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FCADF1-77FB-5BBF-AE7C-EA2ABE5F2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계획서 작성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77FBA2-0D0E-95A1-99CD-47F73202926B}"/>
              </a:ext>
            </a:extLst>
          </p:cNvPr>
          <p:cNvSpPr txBox="1"/>
          <p:nvPr/>
        </p:nvSpPr>
        <p:spPr>
          <a:xfrm>
            <a:off x="251788" y="909496"/>
            <a:ext cx="11635412" cy="5039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ko-KR" altLang="en-US" sz="3200" b="1" dirty="0"/>
              <a:t>💡 프로젝트 계획서 작성의 이유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200" b="1" dirty="0"/>
              <a:t>명확한 목표 설정 </a:t>
            </a:r>
            <a:r>
              <a:rPr lang="en-US" altLang="ko-KR" sz="2200" b="1" dirty="0"/>
              <a:t>:</a:t>
            </a:r>
            <a:r>
              <a:rPr lang="ko-KR" altLang="en-US" sz="2200" b="1" dirty="0"/>
              <a:t> </a:t>
            </a:r>
            <a:r>
              <a:rPr lang="ko-KR" altLang="en-US" sz="2200" dirty="0"/>
              <a:t>프로젝트의 목적</a:t>
            </a:r>
            <a:r>
              <a:rPr lang="en-US" altLang="ko-KR" sz="2200" dirty="0"/>
              <a:t>, </a:t>
            </a:r>
            <a:r>
              <a:rPr lang="ko-KR" altLang="en-US" sz="2200" dirty="0"/>
              <a:t>범위</a:t>
            </a:r>
            <a:r>
              <a:rPr lang="en-US" altLang="ko-KR" sz="2200" dirty="0"/>
              <a:t>, </a:t>
            </a:r>
            <a:r>
              <a:rPr lang="ko-KR" altLang="en-US" sz="2200" dirty="0"/>
              <a:t>목표를 명확히 정의하여 방향성을 확립</a:t>
            </a:r>
            <a:r>
              <a:rPr lang="en-US" altLang="ko-KR" sz="2200" dirty="0"/>
              <a:t>.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200" b="1" dirty="0"/>
              <a:t>효율적인 자원 관리 </a:t>
            </a:r>
            <a:r>
              <a:rPr lang="en-US" altLang="ko-KR" sz="2200" b="1" dirty="0"/>
              <a:t>: </a:t>
            </a:r>
            <a:r>
              <a:rPr lang="ko-KR" altLang="en-US" sz="2200" dirty="0"/>
              <a:t>시간</a:t>
            </a:r>
            <a:r>
              <a:rPr lang="en-US" altLang="ko-KR" sz="2200" dirty="0"/>
              <a:t>, </a:t>
            </a:r>
            <a:r>
              <a:rPr lang="ko-KR" altLang="en-US" sz="2200" dirty="0"/>
              <a:t>인력</a:t>
            </a:r>
            <a:r>
              <a:rPr lang="en-US" altLang="ko-KR" sz="2200" dirty="0"/>
              <a:t>, </a:t>
            </a:r>
            <a:r>
              <a:rPr lang="ko-KR" altLang="en-US" sz="2200" dirty="0"/>
              <a:t>비용 등 필요한 자원을 체계적으로 관리</a:t>
            </a:r>
            <a:r>
              <a:rPr lang="en-US" altLang="ko-KR" sz="2200" dirty="0"/>
              <a:t>.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200" b="1" dirty="0"/>
              <a:t>리스크 관리 </a:t>
            </a:r>
            <a:r>
              <a:rPr lang="en-US" altLang="ko-KR" sz="2200" b="1" dirty="0"/>
              <a:t>: </a:t>
            </a:r>
            <a:r>
              <a:rPr lang="ko-KR" altLang="en-US" sz="2200" dirty="0"/>
              <a:t>잠재적인 문제점을 사전에 예측하고 대응 전략 마련</a:t>
            </a:r>
            <a:r>
              <a:rPr lang="en-US" altLang="ko-KR" sz="2200" dirty="0"/>
              <a:t>.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200" b="1" dirty="0"/>
              <a:t>팀원 간 커뮤니케이션 </a:t>
            </a:r>
            <a:r>
              <a:rPr lang="en-US" altLang="ko-KR" sz="2200" b="1" dirty="0"/>
              <a:t>: </a:t>
            </a:r>
            <a:r>
              <a:rPr lang="ko-KR" altLang="en-US" sz="2200" dirty="0"/>
              <a:t>역할 분담 및 일정 공유를 통해 협업 강화</a:t>
            </a:r>
            <a:r>
              <a:rPr lang="en-US" altLang="ko-KR" sz="2200" dirty="0"/>
              <a:t>.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200" b="1" dirty="0"/>
              <a:t>성과 측정 및 피드백 </a:t>
            </a:r>
            <a:r>
              <a:rPr lang="en-US" altLang="ko-KR" sz="2200" b="1" dirty="0"/>
              <a:t>: </a:t>
            </a:r>
            <a:r>
              <a:rPr lang="ko-KR" altLang="en-US" sz="2200" dirty="0"/>
              <a:t>프로젝트 진행 상태를 체계적으로 모니터링하고 성과를 평가 가능</a:t>
            </a:r>
            <a:r>
              <a:rPr lang="en-US" altLang="ko-KR" sz="2200" dirty="0"/>
              <a:t>.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200" b="1" dirty="0"/>
              <a:t>문서화 및 참고 자료 활용 </a:t>
            </a:r>
            <a:r>
              <a:rPr lang="en-US" altLang="ko-KR" sz="2200" b="1" dirty="0"/>
              <a:t>: </a:t>
            </a:r>
            <a:r>
              <a:rPr lang="ko-KR" altLang="en-US" sz="2200" dirty="0"/>
              <a:t>프로젝트 완료 후 다른 프로젝트에 활용 가능한 기준 및 참고 자료 제공</a:t>
            </a:r>
            <a:r>
              <a:rPr lang="en-US" altLang="ko-KR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8886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23301-E37F-440C-253A-F2E6EEB70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056FCC-7E64-FD97-F250-13632D994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계획서 작성</a:t>
            </a: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CC94EA-C7FC-44CF-5524-DD3EA4304B10}"/>
              </a:ext>
            </a:extLst>
          </p:cNvPr>
          <p:cNvSpPr txBox="1"/>
          <p:nvPr/>
        </p:nvSpPr>
        <p:spPr>
          <a:xfrm>
            <a:off x="399143" y="1325563"/>
            <a:ext cx="11393714" cy="4565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/>
              <a:t>1. </a:t>
            </a:r>
            <a:r>
              <a:rPr lang="ko-KR" altLang="en-US" sz="2800" b="1" dirty="0"/>
              <a:t>프로젝트 개요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1.1 </a:t>
            </a:r>
            <a:r>
              <a:rPr lang="ko-KR" altLang="en-US" sz="2400" b="1" dirty="0"/>
              <a:t>프로젝트 이름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프로젝트의 이름을 명확히 적어주세요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1.2 </a:t>
            </a:r>
            <a:r>
              <a:rPr lang="ko-KR" altLang="en-US" sz="2400" b="1" dirty="0"/>
              <a:t>프로젝트 설명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프로젝트의 목적과 주요 기능</a:t>
            </a:r>
            <a:r>
              <a:rPr lang="en-US" altLang="ko-KR" sz="2400" dirty="0"/>
              <a:t>, </a:t>
            </a:r>
            <a:r>
              <a:rPr lang="ko-KR" altLang="en-US" sz="2400" dirty="0"/>
              <a:t>해결하고자 하는 문제에 대해 간단히 설명해주세요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1.3 </a:t>
            </a:r>
            <a:r>
              <a:rPr lang="ko-KR" altLang="en-US" sz="2400" b="1" dirty="0"/>
              <a:t>주요 기술 스택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프로젝트에서 사용할 언어</a:t>
            </a:r>
            <a:r>
              <a:rPr lang="en-US" altLang="ko-KR" sz="2400" dirty="0"/>
              <a:t>, </a:t>
            </a:r>
            <a:r>
              <a:rPr lang="ko-KR" altLang="en-US" sz="2400" dirty="0"/>
              <a:t>프레임워크</a:t>
            </a:r>
            <a:r>
              <a:rPr lang="en-US" altLang="ko-KR" sz="2400" dirty="0"/>
              <a:t>, </a:t>
            </a:r>
            <a:r>
              <a:rPr lang="ko-KR" altLang="en-US" sz="2400" dirty="0"/>
              <a:t>라이브러리</a:t>
            </a:r>
            <a:r>
              <a:rPr lang="en-US" altLang="ko-KR" sz="2400" dirty="0"/>
              <a:t>, </a:t>
            </a:r>
            <a:r>
              <a:rPr lang="ko-KR" altLang="en-US" sz="2400" dirty="0"/>
              <a:t>데이터베이스 등을 명시해주세요</a:t>
            </a:r>
            <a:r>
              <a:rPr lang="en-US" altLang="ko-KR" sz="2400" dirty="0"/>
              <a:t>.(</a:t>
            </a:r>
            <a:r>
              <a:rPr lang="ko-KR" altLang="en-US" sz="2400" dirty="0"/>
              <a:t>사용 버전 포함</a:t>
            </a:r>
            <a:r>
              <a:rPr lang="en-US" altLang="ko-KR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32314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E3E07-50D6-56B5-03AC-FA5509B87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51520B-E237-636A-81B9-E12D44075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계획서 작성</a:t>
            </a: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58EA8C-1C45-FFEA-762F-EE9FB27E3498}"/>
              </a:ext>
            </a:extLst>
          </p:cNvPr>
          <p:cNvSpPr txBox="1"/>
          <p:nvPr/>
        </p:nvSpPr>
        <p:spPr>
          <a:xfrm>
            <a:off x="399143" y="1151392"/>
            <a:ext cx="11393714" cy="29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/>
              <a:t>2. </a:t>
            </a:r>
            <a:r>
              <a:rPr lang="ko-KR" altLang="en-US" sz="2800" b="1" dirty="0"/>
              <a:t>팀 구성 및 역할 분담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2.1 </a:t>
            </a:r>
            <a:r>
              <a:rPr lang="ko-KR" altLang="en-US" sz="2400" b="1" dirty="0"/>
              <a:t>팀 소개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팀 이름 및 팀에 관한 간단한 소개를 적어주세요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2.2 </a:t>
            </a:r>
            <a:r>
              <a:rPr lang="ko-KR" altLang="en-US" sz="2400" b="1" dirty="0"/>
              <a:t>역할 분담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팀 내 각 개인의 역할과 책임을 명시하세요</a:t>
            </a:r>
            <a:r>
              <a:rPr lang="en-US" altLang="ko-KR" sz="2400" dirty="0"/>
              <a:t>.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31D2E12-4BDA-6388-81BF-AFE44CA94EB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4338040"/>
          <a:ext cx="10515600" cy="1737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52797035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148372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88598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역할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주요 업무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825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홍길동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팀장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전체 일정 관리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진행 상황 점검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0818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김철수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 err="1"/>
                        <a:t>프론트엔드</a:t>
                      </a:r>
                      <a:r>
                        <a:rPr lang="ko-KR" altLang="en-US" dirty="0"/>
                        <a:t> 개발자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UI/UX </a:t>
                      </a:r>
                      <a:r>
                        <a:rPr lang="ko-KR" altLang="en-US"/>
                        <a:t>설계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프론트엔드 기능 구현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6064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이영희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백엔드 개발자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API </a:t>
                      </a:r>
                      <a:r>
                        <a:rPr lang="ko-KR" altLang="en-US" dirty="0"/>
                        <a:t>설계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서버 구축 및 데이터베이스 관리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0934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7144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C33C2-5426-C813-DC45-FFD0729BC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6A2085-8F26-F63F-91F7-E0A0C3356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계획서 작성</a:t>
            </a: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B76CDB-2C59-F402-B483-3B96DC0CB1E9}"/>
              </a:ext>
            </a:extLst>
          </p:cNvPr>
          <p:cNvSpPr txBox="1"/>
          <p:nvPr/>
        </p:nvSpPr>
        <p:spPr>
          <a:xfrm>
            <a:off x="399143" y="917681"/>
            <a:ext cx="11393714" cy="18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/>
              <a:t>3. </a:t>
            </a:r>
            <a:r>
              <a:rPr lang="ko-KR" altLang="en-US" sz="2800" b="1" dirty="0"/>
              <a:t>프로젝트 세부 계획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3.1 </a:t>
            </a:r>
            <a:r>
              <a:rPr lang="ko-KR" altLang="en-US" sz="2400" b="1" dirty="0"/>
              <a:t>일정 및 마일스톤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주요 일정과 마일스톤을 작성하세요</a:t>
            </a:r>
            <a:r>
              <a:rPr lang="en-US" altLang="ko-KR" sz="2800" dirty="0"/>
              <a:t>.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7172C3B-2ADF-66A9-C301-BD7438939857}"/>
              </a:ext>
            </a:extLst>
          </p:cNvPr>
          <p:cNvGraphicFramePr>
            <a:graphicFrameLocks noGrp="1"/>
          </p:cNvGraphicFramePr>
          <p:nvPr/>
        </p:nvGraphicFramePr>
        <p:xfrm>
          <a:off x="460828" y="2815322"/>
          <a:ext cx="11270343" cy="187980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756781">
                  <a:extLst>
                    <a:ext uri="{9D8B030D-6E8A-4147-A177-3AD203B41FA5}">
                      <a16:colId xmlns:a16="http://schemas.microsoft.com/office/drawing/2014/main" val="2123945151"/>
                    </a:ext>
                  </a:extLst>
                </a:gridCol>
                <a:gridCol w="3756781">
                  <a:extLst>
                    <a:ext uri="{9D8B030D-6E8A-4147-A177-3AD203B41FA5}">
                      <a16:colId xmlns:a16="http://schemas.microsoft.com/office/drawing/2014/main" val="3855385467"/>
                    </a:ext>
                  </a:extLst>
                </a:gridCol>
                <a:gridCol w="3756781">
                  <a:extLst>
                    <a:ext uri="{9D8B030D-6E8A-4147-A177-3AD203B41FA5}">
                      <a16:colId xmlns:a16="http://schemas.microsoft.com/office/drawing/2014/main" val="3322725072"/>
                    </a:ext>
                  </a:extLst>
                </a:gridCol>
              </a:tblGrid>
              <a:tr h="469952">
                <a:tc>
                  <a:txBody>
                    <a:bodyPr/>
                    <a:lstStyle/>
                    <a:p>
                      <a:r>
                        <a:rPr lang="ko-KR" altLang="en-US"/>
                        <a:t>마일스톤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목표 날짜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세부 설명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6580736"/>
                  </a:ext>
                </a:extLst>
              </a:tr>
              <a:tr h="469952">
                <a:tc>
                  <a:txBody>
                    <a:bodyPr/>
                    <a:lstStyle/>
                    <a:p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기획 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2025-01-15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기능 명세서 작성 및 기술 스택 확정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9669567"/>
                  </a:ext>
                </a:extLst>
              </a:tr>
              <a:tr h="469952">
                <a:tc>
                  <a:txBody>
                    <a:bodyPr/>
                    <a:lstStyle/>
                    <a:p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</a:t>
                      </a:r>
                      <a:r>
                        <a:rPr lang="en-US"/>
                        <a:t>MVP </a:t>
                      </a:r>
                      <a:r>
                        <a:rPr lang="ko-KR" altLang="en-US"/>
                        <a:t>개발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2025-02-01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핵심 기능이 포함된 최소 제품 개발 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5861539"/>
                  </a:ext>
                </a:extLst>
              </a:tr>
              <a:tr h="469952">
                <a:tc>
                  <a:txBody>
                    <a:bodyPr/>
                    <a:lstStyle/>
                    <a:p>
                      <a:r>
                        <a:rPr lang="ko-KR" altLang="en-US" dirty="0"/>
                        <a:t>예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/>
                        <a:t>최종 발표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2025-02-15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모든 기능 구현 및 발표 자료 준비 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5330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6956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FBD6A-4A94-7570-39EF-647F7C866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73164A-01B2-E962-CC3D-296BD0542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계획서 작성</a:t>
            </a: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F154F8-059B-AFFA-97A3-C02CE01E73C5}"/>
              </a:ext>
            </a:extLst>
          </p:cNvPr>
          <p:cNvSpPr txBox="1"/>
          <p:nvPr/>
        </p:nvSpPr>
        <p:spPr>
          <a:xfrm>
            <a:off x="399143" y="1035351"/>
            <a:ext cx="11393714" cy="1795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/>
              <a:t>3.2 </a:t>
            </a:r>
            <a:r>
              <a:rPr lang="ko-KR" altLang="en-US" sz="2800" b="1" dirty="0"/>
              <a:t>개발 프로세스 및 팀 룰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개발 방식</a:t>
            </a:r>
            <a:r>
              <a:rPr lang="en-US" altLang="ko-KR" sz="2400" dirty="0"/>
              <a:t>(</a:t>
            </a:r>
            <a:r>
              <a:rPr lang="ko-KR" altLang="en-US" sz="2400" dirty="0"/>
              <a:t>예</a:t>
            </a:r>
            <a:r>
              <a:rPr lang="en-US" altLang="ko-KR" sz="2400" dirty="0"/>
              <a:t>: Agile, Scrum)</a:t>
            </a:r>
            <a:r>
              <a:rPr lang="ko-KR" altLang="en-US" sz="2400" dirty="0"/>
              <a:t>과 주요 협업 툴</a:t>
            </a:r>
            <a:r>
              <a:rPr lang="en-US" altLang="ko-KR" sz="2400" dirty="0"/>
              <a:t>(</a:t>
            </a:r>
            <a:r>
              <a:rPr lang="ko-KR" altLang="en-US" sz="2400" dirty="0"/>
              <a:t>예</a:t>
            </a:r>
            <a:r>
              <a:rPr lang="en-US" altLang="ko-KR" sz="2400" dirty="0"/>
              <a:t>: </a:t>
            </a:r>
            <a:r>
              <a:rPr lang="en-US" altLang="ko-KR" sz="2400" dirty="0" err="1"/>
              <a:t>Github</a:t>
            </a:r>
            <a:r>
              <a:rPr lang="en-US" altLang="ko-KR" sz="2400" dirty="0"/>
              <a:t>, Notion, Figma </a:t>
            </a:r>
            <a:r>
              <a:rPr lang="ko-KR" altLang="en-US" sz="2400" dirty="0"/>
              <a:t>등</a:t>
            </a:r>
            <a:r>
              <a:rPr lang="en-US" altLang="ko-KR" sz="2400" dirty="0"/>
              <a:t>)</a:t>
            </a:r>
            <a:r>
              <a:rPr lang="ko-KR" altLang="en-US" sz="2400" dirty="0"/>
              <a:t>을 작성하세요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사전에 합의된 팀 룰이 있다면 적어주세요</a:t>
            </a:r>
            <a:r>
              <a:rPr lang="en-US" altLang="ko-KR" sz="2400" dirty="0"/>
              <a:t>.(Lint </a:t>
            </a:r>
            <a:r>
              <a:rPr lang="ko-KR" altLang="en-US" sz="2400" dirty="0"/>
              <a:t>규칙</a:t>
            </a:r>
            <a:r>
              <a:rPr lang="en-US" altLang="ko-KR" sz="2400" dirty="0"/>
              <a:t>, Commit </a:t>
            </a:r>
            <a:r>
              <a:rPr lang="ko-KR" altLang="en-US" sz="2400" dirty="0"/>
              <a:t>규칙 등</a:t>
            </a:r>
            <a:r>
              <a:rPr lang="en-US" altLang="ko-KR" sz="2400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0BE8D-8E83-727E-C2B0-3D2DEC60EDE3}"/>
              </a:ext>
            </a:extLst>
          </p:cNvPr>
          <p:cNvSpPr txBox="1"/>
          <p:nvPr/>
        </p:nvSpPr>
        <p:spPr>
          <a:xfrm>
            <a:off x="399143" y="2968672"/>
            <a:ext cx="11393714" cy="19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/>
              <a:t>Commit </a:t>
            </a:r>
            <a:r>
              <a:rPr lang="ko-KR" altLang="en-US" sz="2400" b="1" dirty="0"/>
              <a:t>규칙</a:t>
            </a:r>
            <a:r>
              <a:rPr lang="en-US" altLang="ko-KR" sz="2400" b="1" dirty="0"/>
              <a:t>?</a:t>
            </a:r>
            <a:endParaRPr lang="ko-KR" altLang="en-US" sz="24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git </a:t>
            </a:r>
            <a:r>
              <a:rPr lang="en-US" altLang="ko-KR" sz="2000" dirty="0" err="1"/>
              <a:t>commt</a:t>
            </a:r>
            <a:r>
              <a:rPr lang="en-US" altLang="ko-KR" sz="2000" dirty="0"/>
              <a:t> -m</a:t>
            </a:r>
            <a:r>
              <a:rPr lang="ko-KR" altLang="en-US" sz="2000" dirty="0"/>
              <a:t>으로 변경사항을 설명하는 메시지를 작성할 때 일관된 형식과 내용을 따르는 규칙</a:t>
            </a:r>
            <a:endParaRPr lang="en-US" altLang="ko-KR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코드 변경 이력을 더 명확하고 효율적으로 관리할 수 있음</a:t>
            </a:r>
            <a:endParaRPr lang="en-US" altLang="ko-KR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팀원 간의 커뮤니케이션을 원활하게 하고</a:t>
            </a:r>
            <a:r>
              <a:rPr lang="en-US" altLang="ko-KR" sz="2000" dirty="0"/>
              <a:t>, </a:t>
            </a:r>
            <a:r>
              <a:rPr lang="ko-KR" altLang="en-US" sz="2000" dirty="0"/>
              <a:t>리뷰 과정에서 혼선을 줄여 줌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00650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0CFDA-C649-29DD-F91A-7E4DCB81C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17818-B025-4C43-64A8-D7369F0CC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계획서 작성</a:t>
            </a: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98CEFA-FAB2-C68C-075A-07555E7BFFEB}"/>
              </a:ext>
            </a:extLst>
          </p:cNvPr>
          <p:cNvSpPr txBox="1"/>
          <p:nvPr/>
        </p:nvSpPr>
        <p:spPr>
          <a:xfrm>
            <a:off x="251788" y="961751"/>
            <a:ext cx="4834561" cy="5271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 err="1"/>
              <a:t>커밋</a:t>
            </a:r>
            <a:r>
              <a:rPr lang="ko-KR" altLang="en-US" sz="2800" b="1" dirty="0"/>
              <a:t> 메시지 작성 가이드</a:t>
            </a:r>
            <a:endParaRPr lang="en-US" altLang="ko-KR" sz="28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50</a:t>
            </a:r>
            <a:r>
              <a:rPr lang="ko-KR" altLang="en-US" dirty="0"/>
              <a:t>자 이내로 간결하게 작성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명령문 형태 사용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Add, Fix, Update </a:t>
            </a:r>
            <a:r>
              <a:rPr lang="ko-KR" altLang="en-US" dirty="0"/>
              <a:t>등</a:t>
            </a:r>
            <a:r>
              <a:rPr lang="en-US" altLang="ko-KR" dirty="0"/>
              <a:t>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필요 시 본문에서 상세 내용을 서술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타입 예시</a:t>
            </a:r>
            <a:r>
              <a:rPr lang="en-US" altLang="ko-KR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feat: </a:t>
            </a:r>
            <a:r>
              <a:rPr lang="ko-KR" altLang="en-US" dirty="0"/>
              <a:t>새로운 기능 추가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fix: </a:t>
            </a:r>
            <a:r>
              <a:rPr lang="ko-KR" altLang="en-US" dirty="0"/>
              <a:t>버그 수정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docs: </a:t>
            </a:r>
            <a:r>
              <a:rPr lang="ko-KR" altLang="en-US" dirty="0"/>
              <a:t>문서 변경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style: </a:t>
            </a:r>
            <a:r>
              <a:rPr lang="ko-KR" altLang="en-US" dirty="0"/>
              <a:t>비즈니스 로직에 영향 없는 변경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refactor: </a:t>
            </a:r>
            <a:r>
              <a:rPr lang="ko-KR" altLang="en-US" dirty="0"/>
              <a:t>코드 </a:t>
            </a:r>
            <a:r>
              <a:rPr lang="ko-KR" altLang="en-US" dirty="0" err="1"/>
              <a:t>리팩토링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기능 변경 없음</a:t>
            </a:r>
            <a:r>
              <a:rPr lang="en-US" altLang="ko-KR" dirty="0"/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test: </a:t>
            </a:r>
            <a:r>
              <a:rPr lang="ko-KR" altLang="en-US" dirty="0"/>
              <a:t>테스트 코드 추가</a:t>
            </a:r>
            <a:r>
              <a:rPr lang="en-US" altLang="ko-KR" dirty="0"/>
              <a:t>/</a:t>
            </a:r>
            <a:r>
              <a:rPr lang="ko-KR" altLang="en-US" dirty="0"/>
              <a:t>수정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chore: </a:t>
            </a:r>
            <a:r>
              <a:rPr lang="ko-KR" altLang="en-US" dirty="0"/>
              <a:t>기타 변경사항</a:t>
            </a:r>
            <a:endParaRPr lang="en-US" altLang="ko-KR" sz="1600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9CF43CE-4CA6-57D6-1185-8632C42B8EDE}"/>
              </a:ext>
            </a:extLst>
          </p:cNvPr>
          <p:cNvGrpSpPr/>
          <p:nvPr/>
        </p:nvGrpSpPr>
        <p:grpSpPr>
          <a:xfrm>
            <a:off x="5695949" y="1258888"/>
            <a:ext cx="6121173" cy="5201940"/>
            <a:chOff x="5683023" y="1258888"/>
            <a:chExt cx="6134100" cy="5212926"/>
          </a:xfrm>
        </p:grpSpPr>
        <p:pic>
          <p:nvPicPr>
            <p:cNvPr id="5127" name="Picture 7" descr="Make a meaningful git commit message with Semantic Commit Message | by  Martin David Valentino | Dev Genius">
              <a:extLst>
                <a:ext uri="{FF2B5EF4-FFF2-40B4-BE49-F238E27FC236}">
                  <a16:creationId xmlns:a16="http://schemas.microsoft.com/office/drawing/2014/main" id="{470296FF-BD3F-EC2C-2317-9702B01629E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69"/>
            <a:stretch/>
          </p:blipFill>
          <p:spPr bwMode="auto">
            <a:xfrm>
              <a:off x="5763532" y="1258888"/>
              <a:ext cx="5973082" cy="48128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A7B1F56-12F3-3985-B581-4394B303E72B}"/>
                </a:ext>
              </a:extLst>
            </p:cNvPr>
            <p:cNvSpPr txBox="1"/>
            <p:nvPr/>
          </p:nvSpPr>
          <p:spPr>
            <a:xfrm>
              <a:off x="5683023" y="6071704"/>
              <a:ext cx="61341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[</a:t>
              </a:r>
              <a:r>
                <a:rPr lang="ko-KR" altLang="en-US" sz="1000" dirty="0"/>
                <a:t>출처</a:t>
              </a:r>
              <a:r>
                <a:rPr lang="en-US" altLang="ko-KR" sz="1000" dirty="0"/>
                <a:t>] </a:t>
              </a:r>
              <a:r>
                <a:rPr lang="ko-KR" altLang="en-US" sz="1000" dirty="0"/>
                <a:t>https://blog.devgenius.io/make-a-meaningful-git-commit-message-with-semantic-commit-message-b39a79b13aa3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1645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A9AB8-9B14-DF3A-49BC-80BE3BBDD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4FD2D1-3C6D-DF4F-4D23-C52FF5619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계획서 작성</a:t>
            </a: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F87F97-3D78-ED31-5C5D-7DC27A71EA8F}"/>
              </a:ext>
            </a:extLst>
          </p:cNvPr>
          <p:cNvSpPr txBox="1"/>
          <p:nvPr/>
        </p:nvSpPr>
        <p:spPr>
          <a:xfrm>
            <a:off x="399143" y="917681"/>
            <a:ext cx="11393714" cy="1795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/>
              <a:t>4. </a:t>
            </a:r>
            <a:r>
              <a:rPr lang="ko-KR" altLang="en-US" sz="2800" b="1" dirty="0"/>
              <a:t>기능 명세서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4.1 </a:t>
            </a:r>
            <a:r>
              <a:rPr lang="ko-KR" altLang="en-US" sz="2400" b="1" dirty="0"/>
              <a:t>핵심 기능 리스트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프로젝트의 주요 기능들을 목록으로 작성하세요</a:t>
            </a:r>
            <a:r>
              <a:rPr lang="en-US" altLang="ko-KR" sz="2400" dirty="0"/>
              <a:t>.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C1ED4BE-5443-7F42-349A-293007613145}"/>
              </a:ext>
            </a:extLst>
          </p:cNvPr>
          <p:cNvGraphicFramePr>
            <a:graphicFrameLocks noGrp="1"/>
          </p:cNvGraphicFramePr>
          <p:nvPr/>
        </p:nvGraphicFramePr>
        <p:xfrm>
          <a:off x="537033" y="2864219"/>
          <a:ext cx="11255824" cy="2560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813956">
                  <a:extLst>
                    <a:ext uri="{9D8B030D-6E8A-4147-A177-3AD203B41FA5}">
                      <a16:colId xmlns:a16="http://schemas.microsoft.com/office/drawing/2014/main" val="2505894645"/>
                    </a:ext>
                  </a:extLst>
                </a:gridCol>
                <a:gridCol w="2813956">
                  <a:extLst>
                    <a:ext uri="{9D8B030D-6E8A-4147-A177-3AD203B41FA5}">
                      <a16:colId xmlns:a16="http://schemas.microsoft.com/office/drawing/2014/main" val="1404648023"/>
                    </a:ext>
                  </a:extLst>
                </a:gridCol>
                <a:gridCol w="2813956">
                  <a:extLst>
                    <a:ext uri="{9D8B030D-6E8A-4147-A177-3AD203B41FA5}">
                      <a16:colId xmlns:a16="http://schemas.microsoft.com/office/drawing/2014/main" val="477267660"/>
                    </a:ext>
                  </a:extLst>
                </a:gridCol>
                <a:gridCol w="2813956">
                  <a:extLst>
                    <a:ext uri="{9D8B030D-6E8A-4147-A177-3AD203B41FA5}">
                      <a16:colId xmlns:a16="http://schemas.microsoft.com/office/drawing/2014/main" val="17550399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기능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우선순위 </a:t>
                      </a:r>
                      <a:r>
                        <a:rPr lang="en-US" altLang="ko-KR"/>
                        <a:t>(</a:t>
                      </a:r>
                      <a:r>
                        <a:rPr lang="en-US"/>
                        <a:t>High/Medium/Low)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담당자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9462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예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/>
                        <a:t>사용자 로그인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사용자가 이메일과 비밀번호로 로그인할 수 있음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홍길동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2609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게시글 작성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사용자가 게시글을 작성하고 저장할 수 있음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김철수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676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검색 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키워드로 콘텐츠를 검색할 수 있음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이영희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5630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9733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8F54E-0721-1AF4-6053-B5CC07BF0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31A54F-2268-8496-B6E3-7A526276C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계획서 작성</a:t>
            </a: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369ED6-8A6D-0E49-05F0-4D7594E7194A}"/>
              </a:ext>
            </a:extLst>
          </p:cNvPr>
          <p:cNvSpPr txBox="1"/>
          <p:nvPr/>
        </p:nvSpPr>
        <p:spPr>
          <a:xfrm>
            <a:off x="399143" y="1207967"/>
            <a:ext cx="1139371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dirty="0"/>
              <a:t>4.2 </a:t>
            </a:r>
            <a:r>
              <a:rPr lang="ko-KR" altLang="en-US" sz="2800" b="1" dirty="0"/>
              <a:t>플로우 차트</a:t>
            </a:r>
          </a:p>
          <a:p>
            <a:r>
              <a:rPr lang="ko-KR" altLang="en-US" sz="2400" dirty="0"/>
              <a:t>기능 간 데이터 흐름을 간략히 설명하거나 다이어그램으로 표현하세요</a:t>
            </a:r>
            <a:r>
              <a:rPr lang="en-US" altLang="ko-KR" sz="2400" dirty="0"/>
              <a:t>.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A28FBEE4-FEA4-5EDB-E862-75FFCBDDC051}"/>
              </a:ext>
            </a:extLst>
          </p:cNvPr>
          <p:cNvGrpSpPr/>
          <p:nvPr/>
        </p:nvGrpSpPr>
        <p:grpSpPr>
          <a:xfrm>
            <a:off x="399143" y="2420104"/>
            <a:ext cx="6139542" cy="3766206"/>
            <a:chOff x="428172" y="2289476"/>
            <a:chExt cx="6139542" cy="3766206"/>
          </a:xfrm>
        </p:grpSpPr>
        <p:pic>
          <p:nvPicPr>
            <p:cNvPr id="4098" name="Picture 2" descr="좀 더 발전한 '캠핏'의 Flow Chart">
              <a:extLst>
                <a:ext uri="{FF2B5EF4-FFF2-40B4-BE49-F238E27FC236}">
                  <a16:creationId xmlns:a16="http://schemas.microsoft.com/office/drawing/2014/main" id="{AB66E841-F90E-FBCF-5BF3-3F250D8E9F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7029" y="2289476"/>
              <a:ext cx="5921828" cy="333102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0A2EA7-5565-F706-440F-05E5C891A8C4}"/>
                </a:ext>
              </a:extLst>
            </p:cNvPr>
            <p:cNvSpPr txBox="1"/>
            <p:nvPr/>
          </p:nvSpPr>
          <p:spPr>
            <a:xfrm>
              <a:off x="428172" y="5809461"/>
              <a:ext cx="61395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[</a:t>
              </a:r>
              <a:r>
                <a:rPr lang="ko-KR" altLang="en-US" sz="1000" dirty="0"/>
                <a:t>출처</a:t>
              </a:r>
              <a:r>
                <a:rPr lang="en-US" altLang="ko-KR" sz="1000" dirty="0"/>
                <a:t>] </a:t>
              </a:r>
              <a:r>
                <a:rPr lang="ko-KR" altLang="en-US" sz="1000" dirty="0"/>
                <a:t>https://brunch.co.kr/@hyunn2/36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BD19C79-8E52-A46B-9075-AA87958A7B20}"/>
              </a:ext>
            </a:extLst>
          </p:cNvPr>
          <p:cNvSpPr txBox="1"/>
          <p:nvPr/>
        </p:nvSpPr>
        <p:spPr>
          <a:xfrm>
            <a:off x="6763657" y="3110318"/>
            <a:ext cx="5428343" cy="1789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/>
              <a:t>무료 제작 도구</a:t>
            </a:r>
            <a:endParaRPr lang="en-US" altLang="ko-KR" sz="28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b="1" i="0" dirty="0">
                <a:solidFill>
                  <a:srgbClr val="000000"/>
                </a:solidFill>
                <a:effectLst/>
                <a:latin typeface="Noto Sans KR"/>
              </a:rPr>
              <a:t>Miro: 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latin typeface="Noto Sans KR"/>
                <a:hlinkClick r:id="rId3"/>
              </a:rPr>
              <a:t>https://miro.com/ko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latin typeface="Noto Sans KR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b="1" i="0" dirty="0">
                <a:solidFill>
                  <a:srgbClr val="000000"/>
                </a:solidFill>
                <a:effectLst/>
                <a:latin typeface="Noto Sans KR"/>
              </a:rPr>
              <a:t>Draw.io: 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latin typeface="Noto Sans KR"/>
                <a:hlinkClick r:id="rId4"/>
              </a:rPr>
              <a:t>https://app.diagrams.net/</a:t>
            </a:r>
            <a:endParaRPr lang="en-US" altLang="ko-KR" sz="2400" b="1" i="0" dirty="0">
              <a:solidFill>
                <a:srgbClr val="000000"/>
              </a:solidFill>
              <a:effectLst/>
              <a:latin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5375099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A8FB6-DEC6-F2FE-F20C-0069351E4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064FA-BAD3-106B-8D86-A985326FC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계획서 작성</a:t>
            </a: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347AD2-F43B-A913-ADA9-493DF65D07BB}"/>
              </a:ext>
            </a:extLst>
          </p:cNvPr>
          <p:cNvSpPr txBox="1"/>
          <p:nvPr/>
        </p:nvSpPr>
        <p:spPr>
          <a:xfrm>
            <a:off x="399143" y="1325563"/>
            <a:ext cx="11393714" cy="29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/>
              <a:t>5. </a:t>
            </a:r>
            <a:r>
              <a:rPr lang="ko-KR" altLang="en-US" sz="2800" b="1" dirty="0"/>
              <a:t>기타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5.1 </a:t>
            </a:r>
            <a:r>
              <a:rPr lang="ko-KR" altLang="en-US" sz="2400" b="1" dirty="0"/>
              <a:t>참고 자료 및 링크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참고한 자료</a:t>
            </a:r>
            <a:r>
              <a:rPr lang="en-US" altLang="ko-KR" sz="2400" dirty="0"/>
              <a:t>, </a:t>
            </a:r>
            <a:r>
              <a:rPr lang="ko-KR" altLang="en-US" sz="2400" dirty="0"/>
              <a:t>레퍼런스 링크</a:t>
            </a:r>
            <a:r>
              <a:rPr lang="en-US" altLang="ko-KR" sz="2400" dirty="0"/>
              <a:t>, API </a:t>
            </a:r>
            <a:r>
              <a:rPr lang="ko-KR" altLang="en-US" sz="2400" dirty="0"/>
              <a:t>문서 등을 작성하세요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5.2 </a:t>
            </a:r>
            <a:r>
              <a:rPr lang="ko-KR" altLang="en-US" sz="2400" b="1" dirty="0"/>
              <a:t>부가 정보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기타 필요한 정보 작성</a:t>
            </a:r>
          </a:p>
        </p:txBody>
      </p:sp>
    </p:spTree>
    <p:extLst>
      <p:ext uri="{BB962C8B-B14F-4D97-AF65-F5344CB8AC3E}">
        <p14:creationId xmlns:p14="http://schemas.microsoft.com/office/powerpoint/2010/main" val="4167490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AECF0-0546-0575-04D5-B82B7A867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BC792C-9AD9-5444-708A-769514CF8558}"/>
              </a:ext>
            </a:extLst>
          </p:cNvPr>
          <p:cNvSpPr txBox="1"/>
          <p:nvPr/>
        </p:nvSpPr>
        <p:spPr>
          <a:xfrm>
            <a:off x="3674536" y="2600493"/>
            <a:ext cx="48429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발표자료 예시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81190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CE201531-E415-73FA-6C15-A093B272CF02}"/>
              </a:ext>
            </a:extLst>
          </p:cNvPr>
          <p:cNvGrpSpPr/>
          <p:nvPr/>
        </p:nvGrpSpPr>
        <p:grpSpPr>
          <a:xfrm>
            <a:off x="695399" y="305826"/>
            <a:ext cx="10729193" cy="6202052"/>
            <a:chOff x="586740" y="1910223"/>
            <a:chExt cx="3218444" cy="4947777"/>
          </a:xfrm>
        </p:grpSpPr>
        <p:sp>
          <p:nvSpPr>
            <p:cNvPr id="7" name="사각형: 둥근 위쪽 모서리 6">
              <a:extLst>
                <a:ext uri="{FF2B5EF4-FFF2-40B4-BE49-F238E27FC236}">
                  <a16:creationId xmlns:a16="http://schemas.microsoft.com/office/drawing/2014/main" id="{20CEB42D-27A7-01E0-8C72-1940C197DA31}"/>
                </a:ext>
              </a:extLst>
            </p:cNvPr>
            <p:cNvSpPr/>
            <p:nvPr/>
          </p:nvSpPr>
          <p:spPr>
            <a:xfrm>
              <a:off x="586740" y="2032000"/>
              <a:ext cx="3218444" cy="4826000"/>
            </a:xfrm>
            <a:prstGeom prst="round2SameRect">
              <a:avLst>
                <a:gd name="adj1" fmla="val 8239"/>
                <a:gd name="adj2" fmla="val 0"/>
              </a:avLst>
            </a:prstGeom>
            <a:gradFill>
              <a:gsLst>
                <a:gs pos="0">
                  <a:srgbClr val="F7FFFF"/>
                </a:gs>
                <a:gs pos="100000">
                  <a:srgbClr val="B9DAFF">
                    <a:alpha val="50000"/>
                  </a:srgbClr>
                </a:gs>
              </a:gsLst>
              <a:lin ang="16200000" scaled="1"/>
            </a:gradFill>
            <a:ln w="12261" cap="flat">
              <a:noFill/>
              <a:prstDash val="solid"/>
              <a:miter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020429F-1416-5903-8511-22F8E7B515CA}"/>
                </a:ext>
              </a:extLst>
            </p:cNvPr>
            <p:cNvSpPr/>
            <p:nvPr/>
          </p:nvSpPr>
          <p:spPr>
            <a:xfrm>
              <a:off x="586740" y="6741981"/>
              <a:ext cx="3218444" cy="116019"/>
            </a:xfrm>
            <a:prstGeom prst="rect">
              <a:avLst/>
            </a:prstGeom>
            <a:solidFill>
              <a:srgbClr val="1A35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pic>
          <p:nvPicPr>
            <p:cNvPr id="10" name="그래픽 39">
              <a:extLst>
                <a:ext uri="{FF2B5EF4-FFF2-40B4-BE49-F238E27FC236}">
                  <a16:creationId xmlns:a16="http://schemas.microsoft.com/office/drawing/2014/main" id="{941ADA50-64C2-37EE-C27F-C97C25EA3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86777" y="1910223"/>
              <a:ext cx="136552" cy="266700"/>
            </a:xfrm>
            <a:prstGeom prst="rect">
              <a:avLst/>
            </a:prstGeom>
          </p:spPr>
        </p:pic>
        <p:pic>
          <p:nvPicPr>
            <p:cNvPr id="16" name="그래픽 57">
              <a:extLst>
                <a:ext uri="{FF2B5EF4-FFF2-40B4-BE49-F238E27FC236}">
                  <a16:creationId xmlns:a16="http://schemas.microsoft.com/office/drawing/2014/main" id="{5776C62F-FC39-30A5-8C05-0EA4976C7D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78282" y="4699746"/>
              <a:ext cx="513759" cy="513759"/>
            </a:xfrm>
            <a:prstGeom prst="rect">
              <a:avLst/>
            </a:prstGeom>
          </p:spPr>
        </p:pic>
      </p:grpSp>
      <p:pic>
        <p:nvPicPr>
          <p:cNvPr id="5" name="그림 4" descr="노트북, 컴퓨터, 의류, 사람이(가) 표시된 사진&#10;&#10;자동 생성된 설명">
            <a:extLst>
              <a:ext uri="{FF2B5EF4-FFF2-40B4-BE49-F238E27FC236}">
                <a16:creationId xmlns:a16="http://schemas.microsoft.com/office/drawing/2014/main" id="{65866456-3A04-FF02-3B68-1DDA24DD41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3" y="2852936"/>
            <a:ext cx="6272386" cy="3816424"/>
          </a:xfrm>
          <a:prstGeom prst="rect">
            <a:avLst/>
          </a:prstGeom>
        </p:spPr>
      </p:pic>
      <p:pic>
        <p:nvPicPr>
          <p:cNvPr id="28" name="그래픽 67">
            <a:extLst>
              <a:ext uri="{FF2B5EF4-FFF2-40B4-BE49-F238E27FC236}">
                <a16:creationId xmlns:a16="http://schemas.microsoft.com/office/drawing/2014/main" id="{80C07BB0-31E5-6486-268B-B1E3D500D9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32004" y="3739512"/>
            <a:ext cx="104775" cy="762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7BE0201-4E19-4F17-880B-68EB902B69A3}"/>
              </a:ext>
            </a:extLst>
          </p:cNvPr>
          <p:cNvSpPr txBox="1"/>
          <p:nvPr/>
        </p:nvSpPr>
        <p:spPr>
          <a:xfrm>
            <a:off x="5356145" y="2227736"/>
            <a:ext cx="6008376" cy="2190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400" b="1" dirty="0"/>
              <a:t>(PPT </a:t>
            </a:r>
            <a:r>
              <a:rPr lang="ko-KR" altLang="en-US" sz="2400" b="1" dirty="0"/>
              <a:t>작성 시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아래 경로에 등록된 </a:t>
            </a:r>
            <a:endParaRPr lang="en-US" altLang="ko-KR" sz="2400" b="1" dirty="0"/>
          </a:p>
          <a:p>
            <a:pPr>
              <a:lnSpc>
                <a:spcPct val="200000"/>
              </a:lnSpc>
            </a:pPr>
            <a:r>
              <a:rPr lang="en-US" altLang="ko-KR" sz="2400" dirty="0"/>
              <a:t>[</a:t>
            </a:r>
            <a:r>
              <a:rPr lang="ko-KR" altLang="en-US" sz="2400" b="1" dirty="0"/>
              <a:t>작성가이드 </a:t>
            </a:r>
            <a:r>
              <a:rPr lang="en-US" altLang="ko-KR" sz="2400" b="1" dirty="0"/>
              <a:t>2. </a:t>
            </a:r>
            <a:r>
              <a:rPr lang="ko-KR" altLang="en-US" sz="2400" b="1" dirty="0"/>
              <a:t>팀별 프로젝트 결과보고서</a:t>
            </a:r>
            <a:r>
              <a:rPr lang="en-US" altLang="ko-KR" sz="2400" b="1" dirty="0"/>
              <a:t>]</a:t>
            </a:r>
          </a:p>
          <a:p>
            <a:pPr>
              <a:lnSpc>
                <a:spcPct val="200000"/>
              </a:lnSpc>
            </a:pPr>
            <a:r>
              <a:rPr lang="ko-KR" altLang="en-US" sz="2400" b="1" dirty="0"/>
              <a:t>영상을 참고하여 작성하세요</a:t>
            </a:r>
            <a:r>
              <a:rPr lang="en-US" altLang="ko-KR" sz="2400" b="1" dirty="0"/>
              <a:t>!</a:t>
            </a:r>
            <a:r>
              <a:rPr lang="ko-KR" altLang="en-US" sz="2400" b="1" dirty="0"/>
              <a:t>     </a:t>
            </a:r>
            <a:endParaRPr lang="ko-KR" altLang="en-US" sz="2400" dirty="0"/>
          </a:p>
        </p:txBody>
      </p:sp>
      <p:pic>
        <p:nvPicPr>
          <p:cNvPr id="33" name="그래픽 32">
            <a:extLst>
              <a:ext uri="{FF2B5EF4-FFF2-40B4-BE49-F238E27FC236}">
                <a16:creationId xmlns:a16="http://schemas.microsoft.com/office/drawing/2014/main" id="{605BBCBF-7F86-424E-B6F1-1163FB3CA12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87575" y="1114901"/>
            <a:ext cx="231912" cy="231912"/>
          </a:xfrm>
          <a:prstGeom prst="rect">
            <a:avLst/>
          </a:prstGeom>
        </p:spPr>
      </p:pic>
      <p:pic>
        <p:nvPicPr>
          <p:cNvPr id="34" name="그래픽 33">
            <a:extLst>
              <a:ext uri="{FF2B5EF4-FFF2-40B4-BE49-F238E27FC236}">
                <a16:creationId xmlns:a16="http://schemas.microsoft.com/office/drawing/2014/main" id="{1ED7A898-AC55-42A7-BBAA-5FB146DCA9F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31472" y="5970452"/>
            <a:ext cx="106965" cy="106965"/>
          </a:xfrm>
          <a:prstGeom prst="rect">
            <a:avLst/>
          </a:prstGeom>
        </p:spPr>
      </p:pic>
      <p:pic>
        <p:nvPicPr>
          <p:cNvPr id="35" name="그래픽 34">
            <a:extLst>
              <a:ext uri="{FF2B5EF4-FFF2-40B4-BE49-F238E27FC236}">
                <a16:creationId xmlns:a16="http://schemas.microsoft.com/office/drawing/2014/main" id="{63769094-2B28-4CF3-87D3-E86DAFE87CB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70411" y="3333846"/>
            <a:ext cx="320555" cy="320555"/>
          </a:xfrm>
          <a:prstGeom prst="rect">
            <a:avLst/>
          </a:prstGeom>
        </p:spPr>
      </p:pic>
      <p:pic>
        <p:nvPicPr>
          <p:cNvPr id="36" name="그래픽 39">
            <a:extLst>
              <a:ext uri="{FF2B5EF4-FFF2-40B4-BE49-F238E27FC236}">
                <a16:creationId xmlns:a16="http://schemas.microsoft.com/office/drawing/2014/main" id="{941ADA50-64C2-37EE-C27F-C97C25EA3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1657" y="3051749"/>
            <a:ext cx="190500" cy="266700"/>
          </a:xfrm>
          <a:prstGeom prst="rect">
            <a:avLst/>
          </a:prstGeom>
        </p:spPr>
      </p:pic>
      <p:pic>
        <p:nvPicPr>
          <p:cNvPr id="37" name="그래픽 41">
            <a:extLst>
              <a:ext uri="{FF2B5EF4-FFF2-40B4-BE49-F238E27FC236}">
                <a16:creationId xmlns:a16="http://schemas.microsoft.com/office/drawing/2014/main" id="{C059AD3E-9512-40E4-B4F1-8EC2B01947B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935731" y="4683554"/>
            <a:ext cx="459767" cy="437634"/>
          </a:xfrm>
          <a:prstGeom prst="rect">
            <a:avLst/>
          </a:prstGeom>
        </p:spPr>
      </p:pic>
      <p:pic>
        <p:nvPicPr>
          <p:cNvPr id="40" name="그래픽 296">
            <a:extLst>
              <a:ext uri="{FF2B5EF4-FFF2-40B4-BE49-F238E27FC236}">
                <a16:creationId xmlns:a16="http://schemas.microsoft.com/office/drawing/2014/main" id="{0D93E5BE-BF5F-A52F-20A6-B017D69DC82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151618" y="692696"/>
            <a:ext cx="955324" cy="955324"/>
          </a:xfrm>
          <a:prstGeom prst="rect">
            <a:avLst/>
          </a:prstGeom>
        </p:spPr>
      </p:pic>
      <p:pic>
        <p:nvPicPr>
          <p:cNvPr id="41" name="그래픽 298">
            <a:extLst>
              <a:ext uri="{FF2B5EF4-FFF2-40B4-BE49-F238E27FC236}">
                <a16:creationId xmlns:a16="http://schemas.microsoft.com/office/drawing/2014/main" id="{2D3ECE42-9946-304E-ADC9-553BD8A99CD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826450" y="2232252"/>
            <a:ext cx="361822" cy="361822"/>
          </a:xfrm>
          <a:prstGeom prst="rect">
            <a:avLst/>
          </a:prstGeom>
        </p:spPr>
      </p:pic>
      <p:pic>
        <p:nvPicPr>
          <p:cNvPr id="42" name="그래픽 125">
            <a:extLst>
              <a:ext uri="{FF2B5EF4-FFF2-40B4-BE49-F238E27FC236}">
                <a16:creationId xmlns:a16="http://schemas.microsoft.com/office/drawing/2014/main" id="{306708EC-43B1-1FD4-1B3C-80EAE2789232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12553974">
            <a:off x="10881716" y="4218190"/>
            <a:ext cx="190500" cy="428625"/>
          </a:xfrm>
          <a:prstGeom prst="rect">
            <a:avLst/>
          </a:prstGeom>
        </p:spPr>
      </p:pic>
      <p:pic>
        <p:nvPicPr>
          <p:cNvPr id="43" name="그래픽 121">
            <a:extLst>
              <a:ext uri="{FF2B5EF4-FFF2-40B4-BE49-F238E27FC236}">
                <a16:creationId xmlns:a16="http://schemas.microsoft.com/office/drawing/2014/main" id="{888286FF-25C9-3A48-568B-FEE0BC283D7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1069497" y="5648116"/>
            <a:ext cx="190500" cy="180975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26D18CFB-C137-406C-88BD-E6300970EA61}"/>
              </a:ext>
            </a:extLst>
          </p:cNvPr>
          <p:cNvSpPr txBox="1"/>
          <p:nvPr/>
        </p:nvSpPr>
        <p:spPr>
          <a:xfrm>
            <a:off x="6493773" y="4703560"/>
            <a:ext cx="40307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hlinkClick r:id="rId25"/>
              </a:rPr>
              <a:t>https://youtu.be/AzQ6RnzUnpE</a:t>
            </a:r>
            <a:endParaRPr lang="ko-KR" altLang="en-US" sz="2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90BCF08-13F5-457B-911B-0BDD2B874287}"/>
              </a:ext>
            </a:extLst>
          </p:cNvPr>
          <p:cNvSpPr txBox="1"/>
          <p:nvPr/>
        </p:nvSpPr>
        <p:spPr>
          <a:xfrm>
            <a:off x="6571163" y="5184640"/>
            <a:ext cx="3686254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22910" fontAlgn="base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굴림체" panose="020B0609000101010101" pitchFamily="49" charset="-127"/>
                <a:ea typeface="굴림체" panose="020B0609000101010101" pitchFamily="49" charset="-127"/>
              </a:rPr>
              <a:t>* 링크를 따라가려면 </a:t>
            </a:r>
            <a:r>
              <a:rPr lang="en-US" altLang="ko-KR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굴림체" panose="020B0609000101010101" pitchFamily="49" charset="-127"/>
                <a:ea typeface="굴림체" panose="020B0609000101010101" pitchFamily="49" charset="-127"/>
              </a:rPr>
              <a:t>&lt;ctrl&gt;</a:t>
            </a: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굴림체" panose="020B0609000101010101" pitchFamily="49" charset="-127"/>
                <a:ea typeface="굴림체" panose="020B0609000101010101" pitchFamily="49" charset="-127"/>
              </a:rPr>
              <a:t>키를 누른 채 클릭하세요</a:t>
            </a:r>
            <a:r>
              <a:rPr lang="en-US" altLang="ko-KR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굴림체" panose="020B0609000101010101" pitchFamily="49" charset="-127"/>
                <a:ea typeface="굴림체" panose="020B0609000101010101" pitchFamily="49" charset="-127"/>
              </a:rPr>
              <a:t>.</a:t>
            </a:r>
            <a:endParaRPr lang="ko-KR" altLang="en-US" sz="1050" dirty="0">
              <a:ln>
                <a:solidFill>
                  <a:schemeClr val="accent1">
                    <a:alpha val="0"/>
                  </a:schemeClr>
                </a:solidFill>
              </a:ln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  <p:sp>
        <p:nvSpPr>
          <p:cNvPr id="39" name="TextBox 11">
            <a:extLst>
              <a:ext uri="{FF2B5EF4-FFF2-40B4-BE49-F238E27FC236}">
                <a16:creationId xmlns:a16="http://schemas.microsoft.com/office/drawing/2014/main" id="{08D694D8-661B-F6D1-68E1-35769C5E2546}"/>
              </a:ext>
            </a:extLst>
          </p:cNvPr>
          <p:cNvSpPr txBox="1"/>
          <p:nvPr/>
        </p:nvSpPr>
        <p:spPr>
          <a:xfrm>
            <a:off x="5450290" y="1542854"/>
            <a:ext cx="5938298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3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A355C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PPT</a:t>
            </a:r>
            <a:r>
              <a:rPr lang="ko-KR" altLang="en-US" sz="3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A355C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작성 가이드 안내</a:t>
            </a:r>
          </a:p>
        </p:txBody>
      </p:sp>
      <p:sp>
        <p:nvSpPr>
          <p:cNvPr id="24" name="TextBox 5">
            <a:extLst>
              <a:ext uri="{FF2B5EF4-FFF2-40B4-BE49-F238E27FC236}">
                <a16:creationId xmlns:a16="http://schemas.microsoft.com/office/drawing/2014/main" id="{DDA2451D-BC49-446F-BB5A-BD4056A187BE}"/>
              </a:ext>
            </a:extLst>
          </p:cNvPr>
          <p:cNvSpPr txBox="1"/>
          <p:nvPr/>
        </p:nvSpPr>
        <p:spPr>
          <a:xfrm>
            <a:off x="7767650" y="6308108"/>
            <a:ext cx="4195379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r>
              <a:rPr lang="ko-KR" altLang="en-US" dirty="0">
                <a:solidFill>
                  <a:srgbClr val="FF0000"/>
                </a:solidFill>
              </a:rPr>
              <a:t>제출 시 본 페이지는 삭제 후 제출하세요</a:t>
            </a:r>
          </a:p>
        </p:txBody>
      </p:sp>
    </p:spTree>
    <p:extLst>
      <p:ext uri="{BB962C8B-B14F-4D97-AF65-F5344CB8AC3E}">
        <p14:creationId xmlns:p14="http://schemas.microsoft.com/office/powerpoint/2010/main" val="2290813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AEF94F9A-BEE3-D4E0-C68F-5CC13F0CB77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2792"/>
          <a:stretch/>
        </p:blipFill>
        <p:spPr>
          <a:xfrm>
            <a:off x="8589747" y="1908557"/>
            <a:ext cx="3602254" cy="296060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4BBD4645-05C1-2461-0CA1-7E8039FB2786}"/>
              </a:ext>
            </a:extLst>
          </p:cNvPr>
          <p:cNvSpPr txBox="1"/>
          <p:nvPr/>
        </p:nvSpPr>
        <p:spPr>
          <a:xfrm>
            <a:off x="577148" y="618674"/>
            <a:ext cx="454674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9729E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작성요령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AAC1A773-1649-49F3-E681-8736AC33CFD8}"/>
              </a:ext>
            </a:extLst>
          </p:cNvPr>
          <p:cNvGrpSpPr/>
          <p:nvPr/>
        </p:nvGrpSpPr>
        <p:grpSpPr>
          <a:xfrm>
            <a:off x="569528" y="1244179"/>
            <a:ext cx="3759563" cy="337820"/>
            <a:chOff x="569528" y="1244179"/>
            <a:chExt cx="3759563" cy="337820"/>
          </a:xfrm>
        </p:grpSpPr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47263B6A-5B09-A94E-7305-B9E59D67F725}"/>
                </a:ext>
              </a:extLst>
            </p:cNvPr>
            <p:cNvGrpSpPr/>
            <p:nvPr/>
          </p:nvGrpSpPr>
          <p:grpSpPr>
            <a:xfrm>
              <a:off x="569528" y="1244179"/>
              <a:ext cx="337820" cy="337820"/>
              <a:chOff x="4775200" y="-1190171"/>
              <a:chExt cx="841828" cy="841828"/>
            </a:xfrm>
          </p:grpSpPr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D1BB396F-A52A-BF9D-CF1F-8F67B1A4DA02}"/>
                  </a:ext>
                </a:extLst>
              </p:cNvPr>
              <p:cNvSpPr/>
              <p:nvPr/>
            </p:nvSpPr>
            <p:spPr>
              <a:xfrm>
                <a:off x="4775200" y="-1190171"/>
                <a:ext cx="841828" cy="841828"/>
              </a:xfrm>
              <a:prstGeom prst="ellipse">
                <a:avLst/>
              </a:prstGeom>
              <a:gradFill>
                <a:gsLst>
                  <a:gs pos="0">
                    <a:srgbClr val="49729E"/>
                  </a:gs>
                  <a:gs pos="88000">
                    <a:srgbClr val="1A355C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j-lt"/>
                </a:endParaRPr>
              </a:p>
            </p:txBody>
          </p:sp>
          <p:sp>
            <p:nvSpPr>
              <p:cNvPr id="49" name="그래픽 27">
                <a:extLst>
                  <a:ext uri="{FF2B5EF4-FFF2-40B4-BE49-F238E27FC236}">
                    <a16:creationId xmlns:a16="http://schemas.microsoft.com/office/drawing/2014/main" id="{9F3FACB8-96F0-B588-4F0C-28013B1D5FF6}"/>
                  </a:ext>
                </a:extLst>
              </p:cNvPr>
              <p:cNvSpPr/>
              <p:nvPr/>
            </p:nvSpPr>
            <p:spPr>
              <a:xfrm>
                <a:off x="4918121" y="-985559"/>
                <a:ext cx="555986" cy="432604"/>
              </a:xfrm>
              <a:custGeom>
                <a:avLst/>
                <a:gdLst>
                  <a:gd name="connsiteX0" fmla="*/ 277636 w 733449"/>
                  <a:gd name="connsiteY0" fmla="*/ 570685 h 570685"/>
                  <a:gd name="connsiteX1" fmla="*/ 211152 w 733449"/>
                  <a:gd name="connsiteY1" fmla="*/ 542301 h 570685"/>
                  <a:gd name="connsiteX2" fmla="*/ 25700 w 733449"/>
                  <a:gd name="connsiteY2" fmla="*/ 349324 h 570685"/>
                  <a:gd name="connsiteX3" fmla="*/ 28272 w 733449"/>
                  <a:gd name="connsiteY3" fmla="*/ 218927 h 570685"/>
                  <a:gd name="connsiteX4" fmla="*/ 158669 w 733449"/>
                  <a:gd name="connsiteY4" fmla="*/ 221594 h 570685"/>
                  <a:gd name="connsiteX5" fmla="*/ 276874 w 733449"/>
                  <a:gd name="connsiteY5" fmla="*/ 344752 h 570685"/>
                  <a:gd name="connsiteX6" fmla="*/ 574149 w 733449"/>
                  <a:gd name="connsiteY6" fmla="*/ 28999 h 570685"/>
                  <a:gd name="connsiteX7" fmla="*/ 704451 w 733449"/>
                  <a:gd name="connsiteY7" fmla="*/ 25093 h 570685"/>
                  <a:gd name="connsiteX8" fmla="*/ 708357 w 733449"/>
                  <a:gd name="connsiteY8" fmla="*/ 155395 h 570685"/>
                  <a:gd name="connsiteX9" fmla="*/ 344692 w 733449"/>
                  <a:gd name="connsiteY9" fmla="*/ 541729 h 570685"/>
                  <a:gd name="connsiteX10" fmla="*/ 278017 w 733449"/>
                  <a:gd name="connsiteY10" fmla="*/ 570685 h 570685"/>
                  <a:gd name="connsiteX11" fmla="*/ 277541 w 733449"/>
                  <a:gd name="connsiteY11" fmla="*/ 570685 h 57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33449" h="570685">
                    <a:moveTo>
                      <a:pt x="277636" y="570685"/>
                    </a:moveTo>
                    <a:cubicBezTo>
                      <a:pt x="252490" y="570685"/>
                      <a:pt x="228487" y="560398"/>
                      <a:pt x="211152" y="542301"/>
                    </a:cubicBezTo>
                    <a:lnTo>
                      <a:pt x="25700" y="349324"/>
                    </a:lnTo>
                    <a:cubicBezTo>
                      <a:pt x="-9543" y="312558"/>
                      <a:pt x="-8400" y="254265"/>
                      <a:pt x="28272" y="218927"/>
                    </a:cubicBezTo>
                    <a:cubicBezTo>
                      <a:pt x="65038" y="183685"/>
                      <a:pt x="123426" y="184828"/>
                      <a:pt x="158669" y="221594"/>
                    </a:cubicBezTo>
                    <a:lnTo>
                      <a:pt x="276874" y="344752"/>
                    </a:lnTo>
                    <a:lnTo>
                      <a:pt x="574149" y="28999"/>
                    </a:lnTo>
                    <a:cubicBezTo>
                      <a:pt x="609011" y="-8054"/>
                      <a:pt x="667399" y="-9863"/>
                      <a:pt x="704451" y="25093"/>
                    </a:cubicBezTo>
                    <a:cubicBezTo>
                      <a:pt x="741504" y="60050"/>
                      <a:pt x="743313" y="118343"/>
                      <a:pt x="708357" y="155395"/>
                    </a:cubicBezTo>
                    <a:lnTo>
                      <a:pt x="344692" y="541729"/>
                    </a:lnTo>
                    <a:cubicBezTo>
                      <a:pt x="327357" y="560113"/>
                      <a:pt x="303258" y="570590"/>
                      <a:pt x="278017" y="570685"/>
                    </a:cubicBezTo>
                    <a:lnTo>
                      <a:pt x="277541" y="570685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+mj-lt"/>
                </a:endParaRPr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CFCF935-8196-A185-816C-95D844ACA952}"/>
                </a:ext>
              </a:extLst>
            </p:cNvPr>
            <p:cNvSpPr txBox="1"/>
            <p:nvPr/>
          </p:nvSpPr>
          <p:spPr>
            <a:xfrm>
              <a:off x="1028906" y="1259201"/>
              <a:ext cx="330018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작성요령</a:t>
              </a:r>
              <a:endParaRPr lang="en-US" altLang="ko-KR" sz="2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371AA92F-7E42-EDDF-C00D-43EF76A58DEB}"/>
              </a:ext>
            </a:extLst>
          </p:cNvPr>
          <p:cNvGrpSpPr/>
          <p:nvPr/>
        </p:nvGrpSpPr>
        <p:grpSpPr>
          <a:xfrm>
            <a:off x="555881" y="2537972"/>
            <a:ext cx="8372219" cy="796883"/>
            <a:chOff x="555881" y="2537972"/>
            <a:chExt cx="8372219" cy="796883"/>
          </a:xfrm>
        </p:grpSpPr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254AE529-22EB-54D7-0976-B5EF4A4580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5881" y="3028924"/>
              <a:ext cx="1648614" cy="305931"/>
            </a:xfrm>
            <a:prstGeom prst="rect">
              <a:avLst/>
            </a:prstGeom>
          </p:spPr>
        </p:pic>
        <p:sp>
          <p:nvSpPr>
            <p:cNvPr id="52" name="사각형: 둥근 모서리 51">
              <a:extLst>
                <a:ext uri="{FF2B5EF4-FFF2-40B4-BE49-F238E27FC236}">
                  <a16:creationId xmlns:a16="http://schemas.microsoft.com/office/drawing/2014/main" id="{994CD6DF-A047-4DF8-F9E5-E0C6CD064203}"/>
                </a:ext>
              </a:extLst>
            </p:cNvPr>
            <p:cNvSpPr/>
            <p:nvPr/>
          </p:nvSpPr>
          <p:spPr>
            <a:xfrm>
              <a:off x="626881" y="2537972"/>
              <a:ext cx="1519557" cy="490839"/>
            </a:xfrm>
            <a:prstGeom prst="roundRect">
              <a:avLst>
                <a:gd name="adj" fmla="val 5120"/>
              </a:avLst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2AF8C27D-C8CD-BF6D-BC46-E2F8F4927CC5}"/>
                </a:ext>
              </a:extLst>
            </p:cNvPr>
            <p:cNvGrpSpPr/>
            <p:nvPr/>
          </p:nvGrpSpPr>
          <p:grpSpPr>
            <a:xfrm>
              <a:off x="723172" y="2665154"/>
              <a:ext cx="238823" cy="231978"/>
              <a:chOff x="5492108" y="1820209"/>
              <a:chExt cx="269676" cy="261946"/>
            </a:xfrm>
          </p:grpSpPr>
          <p:sp>
            <p:nvSpPr>
              <p:cNvPr id="56" name="사각형: 둥근 모서리 55">
                <a:extLst>
                  <a:ext uri="{FF2B5EF4-FFF2-40B4-BE49-F238E27FC236}">
                    <a16:creationId xmlns:a16="http://schemas.microsoft.com/office/drawing/2014/main" id="{A6690AB2-A08B-0BA0-316E-656B1C8791DA}"/>
                  </a:ext>
                </a:extLst>
              </p:cNvPr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세방고딕 Regular" panose="00000500000000000000" pitchFamily="2" charset="-127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4B46D51-2159-3485-F56F-EE8687B19D31}"/>
                  </a:ext>
                </a:extLst>
              </p:cNvPr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>
                  <a:defRPr/>
                </a:pPr>
                <a:r>
                  <a:rPr lang="en-US" altLang="ko-KR" sz="12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3378C8"/>
                    </a:solidFill>
                    <a:latin typeface="+mj-lt"/>
                    <a:ea typeface="세방고딕 Bold" panose="00000800000000000000" pitchFamily="2" charset="-127"/>
                  </a:rPr>
                  <a:t>2</a:t>
                </a:r>
              </a:p>
            </p:txBody>
          </p: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CE62BF6-EB75-F122-7642-C178C95C921B}"/>
                </a:ext>
              </a:extLst>
            </p:cNvPr>
            <p:cNvSpPr txBox="1"/>
            <p:nvPr/>
          </p:nvSpPr>
          <p:spPr>
            <a:xfrm>
              <a:off x="1007422" y="2616629"/>
              <a:ext cx="106267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410210" fontAlgn="base">
                <a:spcBef>
                  <a:spcPts val="700"/>
                </a:spcBef>
              </a:pPr>
              <a:r>
                <a:rPr lang="ko-KR" altLang="en-US" sz="16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맑은 고딕" panose="020B0503020000020004" pitchFamily="50" charset="-127"/>
                </a:rPr>
                <a:t>작성주체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79087C6-A385-FDBD-7FC4-8919D8D0053B}"/>
                </a:ext>
              </a:extLst>
            </p:cNvPr>
            <p:cNvSpPr txBox="1"/>
            <p:nvPr/>
          </p:nvSpPr>
          <p:spPr>
            <a:xfrm>
              <a:off x="2419351" y="2623749"/>
              <a:ext cx="6508749" cy="583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fontAlgn="base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훈련생이 직접 작성하고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, 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훈련기관 담당자가 임의로 삭제 혹은 수정하지 않아야 함</a:t>
              </a:r>
              <a:endPara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378C8"/>
                </a:solidFill>
                <a:latin typeface="+mn-ea"/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5CAFA98F-7B4A-201A-B8D7-1DDB2B5EDBF9}"/>
              </a:ext>
            </a:extLst>
          </p:cNvPr>
          <p:cNvGrpSpPr/>
          <p:nvPr/>
        </p:nvGrpSpPr>
        <p:grpSpPr>
          <a:xfrm>
            <a:off x="555881" y="1712400"/>
            <a:ext cx="8216795" cy="821208"/>
            <a:chOff x="555881" y="1712400"/>
            <a:chExt cx="8216795" cy="821208"/>
          </a:xfrm>
        </p:grpSpPr>
        <p:pic>
          <p:nvPicPr>
            <p:cNvPr id="59" name="그림 58">
              <a:extLst>
                <a:ext uri="{FF2B5EF4-FFF2-40B4-BE49-F238E27FC236}">
                  <a16:creationId xmlns:a16="http://schemas.microsoft.com/office/drawing/2014/main" id="{D65B55A5-50A9-0D43-E523-5E15AFFBB4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5881" y="2227677"/>
              <a:ext cx="1648614" cy="305931"/>
            </a:xfrm>
            <a:prstGeom prst="rect">
              <a:avLst/>
            </a:prstGeom>
          </p:spPr>
        </p:pic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194F574F-A0FD-9843-883B-ED65C07104C2}"/>
                </a:ext>
              </a:extLst>
            </p:cNvPr>
            <p:cNvSpPr/>
            <p:nvPr/>
          </p:nvSpPr>
          <p:spPr>
            <a:xfrm>
              <a:off x="626881" y="1736725"/>
              <a:ext cx="1519557" cy="490839"/>
            </a:xfrm>
            <a:prstGeom prst="roundRect">
              <a:avLst>
                <a:gd name="adj" fmla="val 5120"/>
              </a:avLst>
            </a:prstGeom>
            <a:solidFill>
              <a:srgbClr val="4972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D00B70C8-0C51-F79C-681B-357513D2FC7E}"/>
                </a:ext>
              </a:extLst>
            </p:cNvPr>
            <p:cNvGrpSpPr/>
            <p:nvPr/>
          </p:nvGrpSpPr>
          <p:grpSpPr>
            <a:xfrm>
              <a:off x="723172" y="1863907"/>
              <a:ext cx="238823" cy="231978"/>
              <a:chOff x="5492108" y="1820209"/>
              <a:chExt cx="269676" cy="261946"/>
            </a:xfrm>
          </p:grpSpPr>
          <p:sp>
            <p:nvSpPr>
              <p:cNvPr id="87" name="사각형: 둥근 모서리 86">
                <a:extLst>
                  <a:ext uri="{FF2B5EF4-FFF2-40B4-BE49-F238E27FC236}">
                    <a16:creationId xmlns:a16="http://schemas.microsoft.com/office/drawing/2014/main" id="{816615A8-0428-2613-F44C-50FB5E8F1C4F}"/>
                  </a:ext>
                </a:extLst>
              </p:cNvPr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세방고딕 Regular" panose="00000500000000000000" pitchFamily="2" charset="-127"/>
                </a:endParaRP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16F42B0-20BD-5545-1FFD-791E8DC7781D}"/>
                  </a:ext>
                </a:extLst>
              </p:cNvPr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>
                  <a:defRPr/>
                </a:pPr>
                <a:r>
                  <a:rPr lang="en-US" altLang="ko-KR" sz="12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49729E"/>
                    </a:solidFill>
                    <a:latin typeface="+mj-lt"/>
                    <a:ea typeface="세방고딕 Bold" panose="00000800000000000000" pitchFamily="2" charset="-127"/>
                  </a:rPr>
                  <a:t>1</a:t>
                </a:r>
              </a:p>
            </p:txBody>
          </p:sp>
        </p:grp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388280B-ED2E-E1BC-CBB8-411E48304EF7}"/>
                </a:ext>
              </a:extLst>
            </p:cNvPr>
            <p:cNvSpPr txBox="1"/>
            <p:nvPr/>
          </p:nvSpPr>
          <p:spPr>
            <a:xfrm>
              <a:off x="1007422" y="1815382"/>
              <a:ext cx="106267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410210" fontAlgn="base">
                <a:spcBef>
                  <a:spcPts val="700"/>
                </a:spcBef>
              </a:pPr>
              <a:r>
                <a:rPr lang="ko-KR" altLang="en-US" sz="16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맑은 고딕" panose="020B0503020000020004" pitchFamily="50" charset="-127"/>
                </a:rPr>
                <a:t>제출형태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A0CF0C1-2A7D-3D19-BF69-1D080EC8F862}"/>
                </a:ext>
              </a:extLst>
            </p:cNvPr>
            <p:cNvSpPr txBox="1"/>
            <p:nvPr/>
          </p:nvSpPr>
          <p:spPr>
            <a:xfrm>
              <a:off x="2419351" y="1712400"/>
              <a:ext cx="6353325" cy="325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fontAlgn="base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팀별 프로젝트 결과보고서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(PPT)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는 팀별로 각각 작성하여 제출해야 함</a:t>
              </a:r>
              <a:endPara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9729E"/>
                </a:solidFill>
                <a:latin typeface="+mn-ea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C587D62-5C5B-8568-5550-1D6383C5DEE9}"/>
                </a:ext>
              </a:extLst>
            </p:cNvPr>
            <p:cNvSpPr txBox="1"/>
            <p:nvPr/>
          </p:nvSpPr>
          <p:spPr>
            <a:xfrm>
              <a:off x="2979134" y="2023983"/>
              <a:ext cx="346392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base" latinLnBrk="0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단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, 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개별 진행된 경우 개별로 작성하여 제출</a:t>
              </a:r>
            </a:p>
          </p:txBody>
        </p:sp>
        <p:sp>
          <p:nvSpPr>
            <p:cNvPr id="72" name="자유형: 도형 71">
              <a:extLst>
                <a:ext uri="{FF2B5EF4-FFF2-40B4-BE49-F238E27FC236}">
                  <a16:creationId xmlns:a16="http://schemas.microsoft.com/office/drawing/2014/main" id="{FF652EE3-449C-BE36-9B21-DE9A986E9380}"/>
                </a:ext>
              </a:extLst>
            </p:cNvPr>
            <p:cNvSpPr/>
            <p:nvPr/>
          </p:nvSpPr>
          <p:spPr>
            <a:xfrm>
              <a:off x="2802691" y="2095552"/>
              <a:ext cx="151043" cy="117601"/>
            </a:xfrm>
            <a:custGeom>
              <a:avLst/>
              <a:gdLst>
                <a:gd name="connsiteX0" fmla="*/ 57208 w 151043"/>
                <a:gd name="connsiteY0" fmla="*/ 117601 h 117601"/>
                <a:gd name="connsiteX1" fmla="*/ 43492 w 151043"/>
                <a:gd name="connsiteY1" fmla="*/ 111743 h 117601"/>
                <a:gd name="connsiteX2" fmla="*/ 5296 w 151043"/>
                <a:gd name="connsiteY2" fmla="*/ 71976 h 117601"/>
                <a:gd name="connsiteX3" fmla="*/ 5820 w 151043"/>
                <a:gd name="connsiteY3" fmla="*/ 45116 h 117601"/>
                <a:gd name="connsiteX4" fmla="*/ 32681 w 151043"/>
                <a:gd name="connsiteY4" fmla="*/ 45640 h 117601"/>
                <a:gd name="connsiteX5" fmla="*/ 57017 w 151043"/>
                <a:gd name="connsiteY5" fmla="*/ 70976 h 117601"/>
                <a:gd name="connsiteX6" fmla="*/ 118215 w 151043"/>
                <a:gd name="connsiteY6" fmla="*/ 5968 h 117601"/>
                <a:gd name="connsiteX7" fmla="*/ 145076 w 151043"/>
                <a:gd name="connsiteY7" fmla="*/ 5158 h 117601"/>
                <a:gd name="connsiteX8" fmla="*/ 145885 w 151043"/>
                <a:gd name="connsiteY8" fmla="*/ 32019 h 117601"/>
                <a:gd name="connsiteX9" fmla="*/ 70971 w 151043"/>
                <a:gd name="connsiteY9" fmla="*/ 111600 h 117601"/>
                <a:gd name="connsiteX10" fmla="*/ 57255 w 151043"/>
                <a:gd name="connsiteY10" fmla="*/ 117553 h 117601"/>
                <a:gd name="connsiteX11" fmla="*/ 57160 w 151043"/>
                <a:gd name="connsiteY11" fmla="*/ 117553 h 117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1043" h="117601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lt"/>
              </a:endParaRP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DD54B0E7-C0BC-E4DB-D62F-AD05F23AF0A2}"/>
              </a:ext>
            </a:extLst>
          </p:cNvPr>
          <p:cNvGrpSpPr/>
          <p:nvPr/>
        </p:nvGrpSpPr>
        <p:grpSpPr>
          <a:xfrm>
            <a:off x="555881" y="3373826"/>
            <a:ext cx="6645019" cy="821208"/>
            <a:chOff x="555881" y="3373826"/>
            <a:chExt cx="6645019" cy="821208"/>
          </a:xfrm>
        </p:grpSpPr>
        <p:pic>
          <p:nvPicPr>
            <p:cNvPr id="94" name="그림 93">
              <a:extLst>
                <a:ext uri="{FF2B5EF4-FFF2-40B4-BE49-F238E27FC236}">
                  <a16:creationId xmlns:a16="http://schemas.microsoft.com/office/drawing/2014/main" id="{ECADC2AC-4A12-8D3C-1210-798C9F7CCB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5881" y="3889103"/>
              <a:ext cx="1648614" cy="305931"/>
            </a:xfrm>
            <a:prstGeom prst="rect">
              <a:avLst/>
            </a:prstGeom>
          </p:spPr>
        </p:pic>
        <p:sp>
          <p:nvSpPr>
            <p:cNvPr id="96" name="사각형: 둥근 모서리 95">
              <a:extLst>
                <a:ext uri="{FF2B5EF4-FFF2-40B4-BE49-F238E27FC236}">
                  <a16:creationId xmlns:a16="http://schemas.microsoft.com/office/drawing/2014/main" id="{E2D13C13-1CD0-287D-6C1B-E5312AE095D6}"/>
                </a:ext>
              </a:extLst>
            </p:cNvPr>
            <p:cNvSpPr/>
            <p:nvPr/>
          </p:nvSpPr>
          <p:spPr>
            <a:xfrm>
              <a:off x="626881" y="3398151"/>
              <a:ext cx="1519557" cy="490839"/>
            </a:xfrm>
            <a:prstGeom prst="roundRect">
              <a:avLst>
                <a:gd name="adj" fmla="val 5120"/>
              </a:avLst>
            </a:prstGeom>
            <a:solidFill>
              <a:srgbClr val="4972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B27F5CCB-EFA8-D804-BF2E-597216790FBA}"/>
                </a:ext>
              </a:extLst>
            </p:cNvPr>
            <p:cNvGrpSpPr/>
            <p:nvPr/>
          </p:nvGrpSpPr>
          <p:grpSpPr>
            <a:xfrm>
              <a:off x="723172" y="3525333"/>
              <a:ext cx="238823" cy="231978"/>
              <a:chOff x="5492108" y="1820209"/>
              <a:chExt cx="269676" cy="261946"/>
            </a:xfrm>
          </p:grpSpPr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8D2C11B5-83E8-2470-9DED-9156C304B3D2}"/>
                  </a:ext>
                </a:extLst>
              </p:cNvPr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세방고딕 Regular" panose="00000500000000000000" pitchFamily="2" charset="-127"/>
                </a:endParaRP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D3ABF101-0F85-B13F-E0D4-806F172542B9}"/>
                  </a:ext>
                </a:extLst>
              </p:cNvPr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>
                  <a:defRPr/>
                </a:pPr>
                <a:r>
                  <a:rPr lang="en-US" altLang="ko-KR" sz="12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49729E"/>
                    </a:solidFill>
                    <a:latin typeface="+mj-lt"/>
                    <a:ea typeface="세방고딕 Bold" panose="00000800000000000000" pitchFamily="2" charset="-127"/>
                  </a:rPr>
                  <a:t>3</a:t>
                </a:r>
              </a:p>
            </p:txBody>
          </p:sp>
        </p:grp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EFAA222C-4C3F-46C1-A9CC-60C84CEB096D}"/>
                </a:ext>
              </a:extLst>
            </p:cNvPr>
            <p:cNvSpPr txBox="1"/>
            <p:nvPr/>
          </p:nvSpPr>
          <p:spPr>
            <a:xfrm>
              <a:off x="1007422" y="3476808"/>
              <a:ext cx="106267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410210" fontAlgn="base">
                <a:spcBef>
                  <a:spcPts val="700"/>
                </a:spcBef>
              </a:pPr>
              <a:r>
                <a:rPr lang="ko-KR" altLang="en-US" sz="16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파 일 명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DDC1CA84-CA24-4C7E-F412-14C7217BA48E}"/>
                </a:ext>
              </a:extLst>
            </p:cNvPr>
            <p:cNvSpPr txBox="1"/>
            <p:nvPr/>
          </p:nvSpPr>
          <p:spPr>
            <a:xfrm>
              <a:off x="2419351" y="3373826"/>
              <a:ext cx="4781549" cy="325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fontAlgn="base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결과보고서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_</a:t>
              </a:r>
              <a:r>
                <a:rPr lang="ko-KR" altLang="en-US" sz="1400" b="1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팀명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(</a:t>
              </a:r>
              <a:r>
                <a:rPr lang="ko-KR" altLang="en-US" sz="1400" b="1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팀주제명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)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19B456EE-8C65-3985-7041-982FA9B622E3}"/>
                </a:ext>
              </a:extLst>
            </p:cNvPr>
            <p:cNvSpPr txBox="1"/>
            <p:nvPr/>
          </p:nvSpPr>
          <p:spPr>
            <a:xfrm>
              <a:off x="2979134" y="3685409"/>
              <a:ext cx="346392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base" latinLnBrk="0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예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) 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결과보고서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_1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팀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(OOO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를 활용한 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OOOO)</a:t>
              </a:r>
            </a:p>
          </p:txBody>
        </p:sp>
        <p:sp>
          <p:nvSpPr>
            <p:cNvPr id="107" name="자유형: 도형 106">
              <a:extLst>
                <a:ext uri="{FF2B5EF4-FFF2-40B4-BE49-F238E27FC236}">
                  <a16:creationId xmlns:a16="http://schemas.microsoft.com/office/drawing/2014/main" id="{99F40289-4205-D43E-3A2D-4DFF14485379}"/>
                </a:ext>
              </a:extLst>
            </p:cNvPr>
            <p:cNvSpPr/>
            <p:nvPr/>
          </p:nvSpPr>
          <p:spPr>
            <a:xfrm>
              <a:off x="2802691" y="3756978"/>
              <a:ext cx="151043" cy="117601"/>
            </a:xfrm>
            <a:custGeom>
              <a:avLst/>
              <a:gdLst>
                <a:gd name="connsiteX0" fmla="*/ 57208 w 151043"/>
                <a:gd name="connsiteY0" fmla="*/ 117601 h 117601"/>
                <a:gd name="connsiteX1" fmla="*/ 43492 w 151043"/>
                <a:gd name="connsiteY1" fmla="*/ 111743 h 117601"/>
                <a:gd name="connsiteX2" fmla="*/ 5296 w 151043"/>
                <a:gd name="connsiteY2" fmla="*/ 71976 h 117601"/>
                <a:gd name="connsiteX3" fmla="*/ 5820 w 151043"/>
                <a:gd name="connsiteY3" fmla="*/ 45116 h 117601"/>
                <a:gd name="connsiteX4" fmla="*/ 32681 w 151043"/>
                <a:gd name="connsiteY4" fmla="*/ 45640 h 117601"/>
                <a:gd name="connsiteX5" fmla="*/ 57017 w 151043"/>
                <a:gd name="connsiteY5" fmla="*/ 70976 h 117601"/>
                <a:gd name="connsiteX6" fmla="*/ 118215 w 151043"/>
                <a:gd name="connsiteY6" fmla="*/ 5968 h 117601"/>
                <a:gd name="connsiteX7" fmla="*/ 145076 w 151043"/>
                <a:gd name="connsiteY7" fmla="*/ 5158 h 117601"/>
                <a:gd name="connsiteX8" fmla="*/ 145885 w 151043"/>
                <a:gd name="connsiteY8" fmla="*/ 32019 h 117601"/>
                <a:gd name="connsiteX9" fmla="*/ 70971 w 151043"/>
                <a:gd name="connsiteY9" fmla="*/ 111600 h 117601"/>
                <a:gd name="connsiteX10" fmla="*/ 57255 w 151043"/>
                <a:gd name="connsiteY10" fmla="*/ 117553 h 117601"/>
                <a:gd name="connsiteX11" fmla="*/ 57160 w 151043"/>
                <a:gd name="connsiteY11" fmla="*/ 117553 h 117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1043" h="117601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lt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FB418381-C607-BD5A-B520-DA0CC9D7DBB8}"/>
              </a:ext>
            </a:extLst>
          </p:cNvPr>
          <p:cNvGrpSpPr/>
          <p:nvPr/>
        </p:nvGrpSpPr>
        <p:grpSpPr>
          <a:xfrm>
            <a:off x="555881" y="4293096"/>
            <a:ext cx="10711818" cy="796883"/>
            <a:chOff x="555881" y="4613155"/>
            <a:chExt cx="10711818" cy="796883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233CCD15-0A61-5088-FC70-133E66685F9A}"/>
                </a:ext>
              </a:extLst>
            </p:cNvPr>
            <p:cNvGrpSpPr/>
            <p:nvPr/>
          </p:nvGrpSpPr>
          <p:grpSpPr>
            <a:xfrm>
              <a:off x="555881" y="4613155"/>
              <a:ext cx="1648614" cy="796883"/>
              <a:chOff x="555881" y="4613155"/>
              <a:chExt cx="1648614" cy="796883"/>
            </a:xfrm>
          </p:grpSpPr>
          <p:pic>
            <p:nvPicPr>
              <p:cNvPr id="117" name="그림 116">
                <a:extLst>
                  <a:ext uri="{FF2B5EF4-FFF2-40B4-BE49-F238E27FC236}">
                    <a16:creationId xmlns:a16="http://schemas.microsoft.com/office/drawing/2014/main" id="{5518D2B0-5774-6D31-B75C-30F523692C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alphaModFix amt="6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5881" y="5104107"/>
                <a:ext cx="1648614" cy="305931"/>
              </a:xfrm>
              <a:prstGeom prst="rect">
                <a:avLst/>
              </a:prstGeom>
            </p:spPr>
          </p:pic>
          <p:sp>
            <p:nvSpPr>
              <p:cNvPr id="119" name="사각형: 둥근 모서리 118">
                <a:extLst>
                  <a:ext uri="{FF2B5EF4-FFF2-40B4-BE49-F238E27FC236}">
                    <a16:creationId xmlns:a16="http://schemas.microsoft.com/office/drawing/2014/main" id="{A0A71DDE-6F2C-71A5-A47E-26072A82EFEF}"/>
                  </a:ext>
                </a:extLst>
              </p:cNvPr>
              <p:cNvSpPr/>
              <p:nvPr/>
            </p:nvSpPr>
            <p:spPr>
              <a:xfrm>
                <a:off x="626881" y="4613155"/>
                <a:ext cx="1519557" cy="490839"/>
              </a:xfrm>
              <a:prstGeom prst="roundRect">
                <a:avLst>
                  <a:gd name="adj" fmla="val 5120"/>
                </a:avLst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j-lt"/>
                </a:endParaRPr>
              </a:p>
            </p:txBody>
          </p:sp>
          <p:grpSp>
            <p:nvGrpSpPr>
              <p:cNvPr id="120" name="그룹 119">
                <a:extLst>
                  <a:ext uri="{FF2B5EF4-FFF2-40B4-BE49-F238E27FC236}">
                    <a16:creationId xmlns:a16="http://schemas.microsoft.com/office/drawing/2014/main" id="{D407A655-D264-D4C2-BFA1-5D2D789B9C94}"/>
                  </a:ext>
                </a:extLst>
              </p:cNvPr>
              <p:cNvGrpSpPr/>
              <p:nvPr/>
            </p:nvGrpSpPr>
            <p:grpSpPr>
              <a:xfrm>
                <a:off x="723172" y="4740337"/>
                <a:ext cx="238823" cy="231978"/>
                <a:chOff x="5492108" y="1820209"/>
                <a:chExt cx="269676" cy="261946"/>
              </a:xfrm>
            </p:grpSpPr>
            <p:sp>
              <p:nvSpPr>
                <p:cNvPr id="123" name="사각형: 둥근 모서리 122">
                  <a:extLst>
                    <a:ext uri="{FF2B5EF4-FFF2-40B4-BE49-F238E27FC236}">
                      <a16:creationId xmlns:a16="http://schemas.microsoft.com/office/drawing/2014/main" id="{2683B883-37D7-CDC7-989E-B057FBC1D849}"/>
                    </a:ext>
                  </a:extLst>
                </p:cNvPr>
                <p:cNvSpPr/>
                <p:nvPr/>
              </p:nvSpPr>
              <p:spPr>
                <a:xfrm>
                  <a:off x="5495973" y="1820209"/>
                  <a:ext cx="261946" cy="26194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1F52D926-F82F-43E6-09C7-C06240926BE1}"/>
                    </a:ext>
                  </a:extLst>
                </p:cNvPr>
                <p:cNvSpPr txBox="1"/>
                <p:nvPr/>
              </p:nvSpPr>
              <p:spPr>
                <a:xfrm>
                  <a:off x="5492108" y="1861209"/>
                  <a:ext cx="269676" cy="20852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:r>
                    <a:rPr lang="en-US" altLang="ko-KR" sz="12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3378C8"/>
                      </a:solidFill>
                      <a:latin typeface="+mj-lt"/>
                      <a:ea typeface="세방고딕 Bold" panose="00000800000000000000" pitchFamily="2" charset="-127"/>
                    </a:rPr>
                    <a:t>4</a:t>
                  </a:r>
                </a:p>
              </p:txBody>
            </p:sp>
          </p:grp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2E56CAD0-0947-1BF9-F044-9D82701B5483}"/>
                  </a:ext>
                </a:extLst>
              </p:cNvPr>
              <p:cNvSpPr txBox="1"/>
              <p:nvPr/>
            </p:nvSpPr>
            <p:spPr>
              <a:xfrm>
                <a:off x="1007422" y="4691812"/>
                <a:ext cx="106267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410210" fontAlgn="base">
                  <a:spcBef>
                    <a:spcPts val="700"/>
                  </a:spcBef>
                </a:pPr>
                <a:r>
                  <a:rPr lang="ko-KR" altLang="en-US" sz="16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구성내용</a:t>
                </a:r>
              </a:p>
            </p:txBody>
          </p:sp>
        </p:grp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6B74CBFD-AFCF-89B0-713D-A29A14725DDC}"/>
                </a:ext>
              </a:extLst>
            </p:cNvPr>
            <p:cNvSpPr txBox="1"/>
            <p:nvPr/>
          </p:nvSpPr>
          <p:spPr>
            <a:xfrm>
              <a:off x="2419351" y="4698932"/>
              <a:ext cx="8848348" cy="325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fontAlgn="base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제공된 목차 항목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/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구성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/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세부내용이 모두 포함되어야 하며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, 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페이지별 상세 안내 내용을 참고하여 작성</a:t>
              </a:r>
              <a:endPara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378C8"/>
                </a:solidFill>
                <a:latin typeface="+mn-ea"/>
              </a:endParaRP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3714EA25-4349-04B6-227F-14752927437C}"/>
              </a:ext>
            </a:extLst>
          </p:cNvPr>
          <p:cNvGrpSpPr/>
          <p:nvPr/>
        </p:nvGrpSpPr>
        <p:grpSpPr>
          <a:xfrm>
            <a:off x="555881" y="5090110"/>
            <a:ext cx="10711818" cy="845049"/>
            <a:chOff x="555881" y="5410169"/>
            <a:chExt cx="10711818" cy="845049"/>
          </a:xfrm>
        </p:grpSpPr>
        <p:pic>
          <p:nvPicPr>
            <p:cNvPr id="128" name="그림 127">
              <a:extLst>
                <a:ext uri="{FF2B5EF4-FFF2-40B4-BE49-F238E27FC236}">
                  <a16:creationId xmlns:a16="http://schemas.microsoft.com/office/drawing/2014/main" id="{E6C0944C-6B4A-649A-F52E-0DC2380C3C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5881" y="5925446"/>
              <a:ext cx="1648614" cy="305931"/>
            </a:xfrm>
            <a:prstGeom prst="rect">
              <a:avLst/>
            </a:prstGeom>
          </p:spPr>
        </p:pic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C6D2C8FF-28D4-D182-1774-8238DD9B86E3}"/>
                </a:ext>
              </a:extLst>
            </p:cNvPr>
            <p:cNvSpPr/>
            <p:nvPr/>
          </p:nvSpPr>
          <p:spPr>
            <a:xfrm>
              <a:off x="626881" y="5434494"/>
              <a:ext cx="1519557" cy="490839"/>
            </a:xfrm>
            <a:prstGeom prst="roundRect">
              <a:avLst>
                <a:gd name="adj" fmla="val 5120"/>
              </a:avLst>
            </a:prstGeom>
            <a:solidFill>
              <a:srgbClr val="4972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A33218E0-A3BB-81A3-CC73-F8BAF589C625}"/>
                </a:ext>
              </a:extLst>
            </p:cNvPr>
            <p:cNvGrpSpPr/>
            <p:nvPr/>
          </p:nvGrpSpPr>
          <p:grpSpPr>
            <a:xfrm>
              <a:off x="723172" y="5561676"/>
              <a:ext cx="238823" cy="231978"/>
              <a:chOff x="5492108" y="1820209"/>
              <a:chExt cx="269676" cy="261946"/>
            </a:xfrm>
          </p:grpSpPr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858CD352-4F65-6C35-CEFF-EA9433C8E51D}"/>
                  </a:ext>
                </a:extLst>
              </p:cNvPr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세방고딕 Regular" panose="00000500000000000000" pitchFamily="2" charset="-127"/>
                </a:endParaRP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C205424B-638D-87F5-0B3A-473A4210093E}"/>
                  </a:ext>
                </a:extLst>
              </p:cNvPr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>
                  <a:defRPr/>
                </a:pPr>
                <a:r>
                  <a:rPr lang="en-US" altLang="ko-KR" sz="12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49729E"/>
                    </a:solidFill>
                    <a:latin typeface="+mj-lt"/>
                    <a:ea typeface="세방고딕 Bold" panose="00000800000000000000" pitchFamily="2" charset="-127"/>
                  </a:rPr>
                  <a:t>5</a:t>
                </a:r>
              </a:p>
            </p:txBody>
          </p:sp>
        </p:grp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C886A9A3-3071-02A4-7B5E-E4E3ED9E98AD}"/>
                </a:ext>
              </a:extLst>
            </p:cNvPr>
            <p:cNvSpPr txBox="1"/>
            <p:nvPr/>
          </p:nvSpPr>
          <p:spPr>
            <a:xfrm>
              <a:off x="1007422" y="5513151"/>
              <a:ext cx="106267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410210" fontAlgn="base">
                <a:spcBef>
                  <a:spcPts val="700"/>
                </a:spcBef>
              </a:pPr>
              <a:r>
                <a:rPr lang="ko-KR" altLang="en-US" sz="16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디 자 인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BE663AE3-9AE9-210F-42B6-BFA57A295F83}"/>
                </a:ext>
              </a:extLst>
            </p:cNvPr>
            <p:cNvSpPr txBox="1"/>
            <p:nvPr/>
          </p:nvSpPr>
          <p:spPr>
            <a:xfrm>
              <a:off x="2419351" y="5410169"/>
              <a:ext cx="8848348" cy="325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fontAlgn="base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참고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(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예시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) 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디자인이므로 자유롭게 변경 가능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, 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기본폰트를 사용하지 않은 경우 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PDF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로 저장하여 제출</a:t>
              </a:r>
              <a:endPara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9729E"/>
                </a:solidFill>
                <a:latin typeface="+mn-ea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10ED1B30-E7C1-21BF-02E8-504CED4B5E33}"/>
                </a:ext>
              </a:extLst>
            </p:cNvPr>
            <p:cNvSpPr txBox="1"/>
            <p:nvPr/>
          </p:nvSpPr>
          <p:spPr>
            <a:xfrm>
              <a:off x="2979134" y="5730109"/>
              <a:ext cx="740946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base" latinLnBrk="0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프로젝트 결과물의 우수성 및 완성도를 잘 나타낼 수 있는 형태로 작성</a:t>
              </a:r>
              <a:endPara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134" name="자유형: 도형 133">
              <a:extLst>
                <a:ext uri="{FF2B5EF4-FFF2-40B4-BE49-F238E27FC236}">
                  <a16:creationId xmlns:a16="http://schemas.microsoft.com/office/drawing/2014/main" id="{AC705F14-C0AF-6F3A-3A70-BC2CDAF6D854}"/>
                </a:ext>
              </a:extLst>
            </p:cNvPr>
            <p:cNvSpPr/>
            <p:nvPr/>
          </p:nvSpPr>
          <p:spPr>
            <a:xfrm>
              <a:off x="2802691" y="5801678"/>
              <a:ext cx="151043" cy="117601"/>
            </a:xfrm>
            <a:custGeom>
              <a:avLst/>
              <a:gdLst>
                <a:gd name="connsiteX0" fmla="*/ 57208 w 151043"/>
                <a:gd name="connsiteY0" fmla="*/ 117601 h 117601"/>
                <a:gd name="connsiteX1" fmla="*/ 43492 w 151043"/>
                <a:gd name="connsiteY1" fmla="*/ 111743 h 117601"/>
                <a:gd name="connsiteX2" fmla="*/ 5296 w 151043"/>
                <a:gd name="connsiteY2" fmla="*/ 71976 h 117601"/>
                <a:gd name="connsiteX3" fmla="*/ 5820 w 151043"/>
                <a:gd name="connsiteY3" fmla="*/ 45116 h 117601"/>
                <a:gd name="connsiteX4" fmla="*/ 32681 w 151043"/>
                <a:gd name="connsiteY4" fmla="*/ 45640 h 117601"/>
                <a:gd name="connsiteX5" fmla="*/ 57017 w 151043"/>
                <a:gd name="connsiteY5" fmla="*/ 70976 h 117601"/>
                <a:gd name="connsiteX6" fmla="*/ 118215 w 151043"/>
                <a:gd name="connsiteY6" fmla="*/ 5968 h 117601"/>
                <a:gd name="connsiteX7" fmla="*/ 145076 w 151043"/>
                <a:gd name="connsiteY7" fmla="*/ 5158 h 117601"/>
                <a:gd name="connsiteX8" fmla="*/ 145885 w 151043"/>
                <a:gd name="connsiteY8" fmla="*/ 32019 h 117601"/>
                <a:gd name="connsiteX9" fmla="*/ 70971 w 151043"/>
                <a:gd name="connsiteY9" fmla="*/ 111600 h 117601"/>
                <a:gd name="connsiteX10" fmla="*/ 57255 w 151043"/>
                <a:gd name="connsiteY10" fmla="*/ 117553 h 117601"/>
                <a:gd name="connsiteX11" fmla="*/ 57160 w 151043"/>
                <a:gd name="connsiteY11" fmla="*/ 117553 h 117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1043" h="117601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lt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05729245-FB8A-8D13-9D3D-205BD3D7A7C0}"/>
                </a:ext>
              </a:extLst>
            </p:cNvPr>
            <p:cNvSpPr txBox="1"/>
            <p:nvPr/>
          </p:nvSpPr>
          <p:spPr>
            <a:xfrm>
              <a:off x="2979134" y="5978219"/>
              <a:ext cx="740946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indent="0" fontAlgn="base" latinLnBrk="0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저작권 문제로 유료 폰트는 사용 금지</a:t>
              </a:r>
            </a:p>
          </p:txBody>
        </p:sp>
        <p:sp>
          <p:nvSpPr>
            <p:cNvPr id="136" name="자유형: 도형 135">
              <a:extLst>
                <a:ext uri="{FF2B5EF4-FFF2-40B4-BE49-F238E27FC236}">
                  <a16:creationId xmlns:a16="http://schemas.microsoft.com/office/drawing/2014/main" id="{9D805BEB-E360-8D72-2F27-E3284789514A}"/>
                </a:ext>
              </a:extLst>
            </p:cNvPr>
            <p:cNvSpPr/>
            <p:nvPr/>
          </p:nvSpPr>
          <p:spPr>
            <a:xfrm>
              <a:off x="2802691" y="6049788"/>
              <a:ext cx="151043" cy="117601"/>
            </a:xfrm>
            <a:custGeom>
              <a:avLst/>
              <a:gdLst>
                <a:gd name="connsiteX0" fmla="*/ 57208 w 151043"/>
                <a:gd name="connsiteY0" fmla="*/ 117601 h 117601"/>
                <a:gd name="connsiteX1" fmla="*/ 43492 w 151043"/>
                <a:gd name="connsiteY1" fmla="*/ 111743 h 117601"/>
                <a:gd name="connsiteX2" fmla="*/ 5296 w 151043"/>
                <a:gd name="connsiteY2" fmla="*/ 71976 h 117601"/>
                <a:gd name="connsiteX3" fmla="*/ 5820 w 151043"/>
                <a:gd name="connsiteY3" fmla="*/ 45116 h 117601"/>
                <a:gd name="connsiteX4" fmla="*/ 32681 w 151043"/>
                <a:gd name="connsiteY4" fmla="*/ 45640 h 117601"/>
                <a:gd name="connsiteX5" fmla="*/ 57017 w 151043"/>
                <a:gd name="connsiteY5" fmla="*/ 70976 h 117601"/>
                <a:gd name="connsiteX6" fmla="*/ 118215 w 151043"/>
                <a:gd name="connsiteY6" fmla="*/ 5968 h 117601"/>
                <a:gd name="connsiteX7" fmla="*/ 145076 w 151043"/>
                <a:gd name="connsiteY7" fmla="*/ 5158 h 117601"/>
                <a:gd name="connsiteX8" fmla="*/ 145885 w 151043"/>
                <a:gd name="connsiteY8" fmla="*/ 32019 h 117601"/>
                <a:gd name="connsiteX9" fmla="*/ 70971 w 151043"/>
                <a:gd name="connsiteY9" fmla="*/ 111600 h 117601"/>
                <a:gd name="connsiteX10" fmla="*/ 57255 w 151043"/>
                <a:gd name="connsiteY10" fmla="*/ 117553 h 117601"/>
                <a:gd name="connsiteX11" fmla="*/ 57160 w 151043"/>
                <a:gd name="connsiteY11" fmla="*/ 117553 h 117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1043" h="117601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lt"/>
              </a:endParaRPr>
            </a:p>
          </p:txBody>
        </p:sp>
      </p:grpSp>
      <p:pic>
        <p:nvPicPr>
          <p:cNvPr id="139" name="그래픽 138">
            <a:extLst>
              <a:ext uri="{FF2B5EF4-FFF2-40B4-BE49-F238E27FC236}">
                <a16:creationId xmlns:a16="http://schemas.microsoft.com/office/drawing/2014/main" id="{E5E8A66C-FD69-4A07-BAC1-67D5B50755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999" y="6146170"/>
            <a:ext cx="516028" cy="724897"/>
          </a:xfrm>
          <a:prstGeom prst="rect">
            <a:avLst/>
          </a:prstGeom>
        </p:spPr>
      </p:pic>
      <p:pic>
        <p:nvPicPr>
          <p:cNvPr id="140" name="그래픽 139">
            <a:extLst>
              <a:ext uri="{FF2B5EF4-FFF2-40B4-BE49-F238E27FC236}">
                <a16:creationId xmlns:a16="http://schemas.microsoft.com/office/drawing/2014/main" id="{784CF9DC-6F05-EF5B-B873-2894311E99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0953181">
            <a:off x="50218" y="5743137"/>
            <a:ext cx="342900" cy="428625"/>
          </a:xfrm>
          <a:prstGeom prst="rect">
            <a:avLst/>
          </a:prstGeom>
        </p:spPr>
      </p:pic>
      <p:sp>
        <p:nvSpPr>
          <p:cNvPr id="73" name="TextBox 5">
            <a:extLst>
              <a:ext uri="{FF2B5EF4-FFF2-40B4-BE49-F238E27FC236}">
                <a16:creationId xmlns:a16="http://schemas.microsoft.com/office/drawing/2014/main" id="{F827ABC8-3156-4505-8791-135D60E6E703}"/>
              </a:ext>
            </a:extLst>
          </p:cNvPr>
          <p:cNvSpPr txBox="1"/>
          <p:nvPr/>
        </p:nvSpPr>
        <p:spPr>
          <a:xfrm>
            <a:off x="7767650" y="6308108"/>
            <a:ext cx="4195379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r>
              <a:rPr lang="ko-KR" altLang="en-US" dirty="0">
                <a:solidFill>
                  <a:srgbClr val="FF0000"/>
                </a:solidFill>
              </a:rPr>
              <a:t>제출 시 본 페이지는 삭제 후 제출하세요</a:t>
            </a:r>
          </a:p>
        </p:txBody>
      </p:sp>
    </p:spTree>
    <p:extLst>
      <p:ext uri="{BB962C8B-B14F-4D97-AF65-F5344CB8AC3E}">
        <p14:creationId xmlns:p14="http://schemas.microsoft.com/office/powerpoint/2010/main" val="1884760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래픽 40">
            <a:extLst>
              <a:ext uri="{FF2B5EF4-FFF2-40B4-BE49-F238E27FC236}">
                <a16:creationId xmlns:a16="http://schemas.microsoft.com/office/drawing/2014/main" id="{377B7F54-DA4F-B3D9-04F9-D2EBDE1BC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9" name="그래픽 88">
            <a:extLst>
              <a:ext uri="{FF2B5EF4-FFF2-40B4-BE49-F238E27FC236}">
                <a16:creationId xmlns:a16="http://schemas.microsoft.com/office/drawing/2014/main" id="{74114B4B-F496-60FE-9596-E6AE560E9D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37985" r="48349"/>
          <a:stretch/>
        </p:blipFill>
        <p:spPr>
          <a:xfrm>
            <a:off x="10333589" y="-1"/>
            <a:ext cx="1858411" cy="2170297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6BB7F9CF-D2E8-11E8-C21E-3BFA51F0BBAB}"/>
              </a:ext>
            </a:extLst>
          </p:cNvPr>
          <p:cNvGrpSpPr/>
          <p:nvPr/>
        </p:nvGrpSpPr>
        <p:grpSpPr>
          <a:xfrm>
            <a:off x="4367809" y="1370504"/>
            <a:ext cx="7115886" cy="1793451"/>
            <a:chOff x="6747213" y="1370504"/>
            <a:chExt cx="4736481" cy="179345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829A270-96EA-F97C-E5A6-A95390C1A2BA}"/>
                </a:ext>
              </a:extLst>
            </p:cNvPr>
            <p:cNvSpPr txBox="1"/>
            <p:nvPr/>
          </p:nvSpPr>
          <p:spPr>
            <a:xfrm>
              <a:off x="6784188" y="1370504"/>
              <a:ext cx="29482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○○아카데미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훈련기관명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73C8D9-CE6D-AA17-08C5-62EEC7375D4E}"/>
                </a:ext>
              </a:extLst>
            </p:cNvPr>
            <p:cNvSpPr txBox="1"/>
            <p:nvPr/>
          </p:nvSpPr>
          <p:spPr>
            <a:xfrm>
              <a:off x="6747213" y="1809738"/>
              <a:ext cx="4736481" cy="135421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팀 프로젝트명</a:t>
              </a:r>
              <a:b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</a:br>
              <a: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주제</a:t>
              </a:r>
              <a: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)</a:t>
              </a:r>
              <a:endParaRPr lang="ko-KR" altLang="en-US" sz="4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C6A9F18-1841-DEC0-E8F7-05B5795B476E}"/>
              </a:ext>
            </a:extLst>
          </p:cNvPr>
          <p:cNvSpPr txBox="1"/>
          <p:nvPr/>
        </p:nvSpPr>
        <p:spPr>
          <a:xfrm>
            <a:off x="0" y="0"/>
            <a:ext cx="12192000" cy="430886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600" b="1" spc="6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K-Digital Training</a:t>
            </a:r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8757764" y="6027409"/>
            <a:ext cx="2680001" cy="375740"/>
            <a:chOff x="921102" y="6027409"/>
            <a:chExt cx="2680001" cy="375740"/>
          </a:xfrm>
        </p:grpSpPr>
        <p:pic>
          <p:nvPicPr>
            <p:cNvPr id="7" name="_x278651016" descr="EMB0000378c3f3d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83" name="그래픽 82">
            <a:extLst>
              <a:ext uri="{FF2B5EF4-FFF2-40B4-BE49-F238E27FC236}">
                <a16:creationId xmlns:a16="http://schemas.microsoft.com/office/drawing/2014/main" id="{C8CDCDEF-234C-3475-E28B-71872D494B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60030" y="3915155"/>
            <a:ext cx="7469973" cy="3682727"/>
          </a:xfrm>
          <a:prstGeom prst="rect">
            <a:avLst/>
          </a:prstGeom>
        </p:spPr>
      </p:pic>
      <p:pic>
        <p:nvPicPr>
          <p:cNvPr id="35" name="그래픽 34">
            <a:extLst>
              <a:ext uri="{FF2B5EF4-FFF2-40B4-BE49-F238E27FC236}">
                <a16:creationId xmlns:a16="http://schemas.microsoft.com/office/drawing/2014/main" id="{0D726EA1-BE16-120A-6ADB-5C5AB1216AC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21662" t="1" b="17379"/>
          <a:stretch/>
        </p:blipFill>
        <p:spPr>
          <a:xfrm>
            <a:off x="0" y="1229667"/>
            <a:ext cx="6616357" cy="5641295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483AC635-D27B-44AF-C252-C231B6D1D76F}"/>
              </a:ext>
            </a:extLst>
          </p:cNvPr>
          <p:cNvGrpSpPr/>
          <p:nvPr/>
        </p:nvGrpSpPr>
        <p:grpSpPr>
          <a:xfrm>
            <a:off x="396381" y="2177346"/>
            <a:ext cx="1047217" cy="1047469"/>
            <a:chOff x="251139" y="1723399"/>
            <a:chExt cx="1047217" cy="1047469"/>
          </a:xfrm>
        </p:grpSpPr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A355785C-5147-8E5C-8C08-D78A66EB5980}"/>
                </a:ext>
              </a:extLst>
            </p:cNvPr>
            <p:cNvSpPr/>
            <p:nvPr/>
          </p:nvSpPr>
          <p:spPr>
            <a:xfrm>
              <a:off x="251139" y="1723399"/>
              <a:ext cx="1047217" cy="1047469"/>
            </a:xfrm>
            <a:custGeom>
              <a:avLst/>
              <a:gdLst>
                <a:gd name="connsiteX0" fmla="*/ 1047155 w 1047217"/>
                <a:gd name="connsiteY0" fmla="*/ 563441 h 1047469"/>
                <a:gd name="connsiteX1" fmla="*/ 1047155 w 1047217"/>
                <a:gd name="connsiteY1" fmla="*/ 483903 h 1047469"/>
                <a:gd name="connsiteX2" fmla="*/ 992095 w 1047217"/>
                <a:gd name="connsiteY2" fmla="*/ 428842 h 1047469"/>
                <a:gd name="connsiteX3" fmla="*/ 942257 w 1047217"/>
                <a:gd name="connsiteY3" fmla="*/ 428842 h 1047469"/>
                <a:gd name="connsiteX4" fmla="*/ 889651 w 1047217"/>
                <a:gd name="connsiteY4" fmla="*/ 391967 h 1047469"/>
                <a:gd name="connsiteX5" fmla="*/ 875555 w 1047217"/>
                <a:gd name="connsiteY5" fmla="*/ 356666 h 1047469"/>
                <a:gd name="connsiteX6" fmla="*/ 886127 w 1047217"/>
                <a:gd name="connsiteY6" fmla="*/ 295250 h 1047469"/>
                <a:gd name="connsiteX7" fmla="*/ 921995 w 1047217"/>
                <a:gd name="connsiteY7" fmla="*/ 259382 h 1047469"/>
                <a:gd name="connsiteX8" fmla="*/ 921995 w 1047217"/>
                <a:gd name="connsiteY8" fmla="*/ 181479 h 1047469"/>
                <a:gd name="connsiteX9" fmla="*/ 865739 w 1047217"/>
                <a:gd name="connsiteY9" fmla="*/ 125223 h 1047469"/>
                <a:gd name="connsiteX10" fmla="*/ 787836 w 1047217"/>
                <a:gd name="connsiteY10" fmla="*/ 125223 h 1047469"/>
                <a:gd name="connsiteX11" fmla="*/ 755870 w 1047217"/>
                <a:gd name="connsiteY11" fmla="*/ 157190 h 1047469"/>
                <a:gd name="connsiteX12" fmla="*/ 692692 w 1047217"/>
                <a:gd name="connsiteY12" fmla="*/ 167698 h 1047469"/>
                <a:gd name="connsiteX13" fmla="*/ 653866 w 1047217"/>
                <a:gd name="connsiteY13" fmla="*/ 150897 h 1047469"/>
                <a:gd name="connsiteX14" fmla="*/ 618439 w 1047217"/>
                <a:gd name="connsiteY14" fmla="*/ 99486 h 1047469"/>
                <a:gd name="connsiteX15" fmla="*/ 618439 w 1047217"/>
                <a:gd name="connsiteY15" fmla="*/ 55060 h 1047469"/>
                <a:gd name="connsiteX16" fmla="*/ 563378 w 1047217"/>
                <a:gd name="connsiteY16" fmla="*/ 0 h 1047469"/>
                <a:gd name="connsiteX17" fmla="*/ 483840 w 1047217"/>
                <a:gd name="connsiteY17" fmla="*/ 0 h 1047469"/>
                <a:gd name="connsiteX18" fmla="*/ 428779 w 1047217"/>
                <a:gd name="connsiteY18" fmla="*/ 55060 h 1047469"/>
                <a:gd name="connsiteX19" fmla="*/ 428779 w 1047217"/>
                <a:gd name="connsiteY19" fmla="*/ 95522 h 1047469"/>
                <a:gd name="connsiteX20" fmla="*/ 391904 w 1047217"/>
                <a:gd name="connsiteY20" fmla="*/ 147499 h 1047469"/>
                <a:gd name="connsiteX21" fmla="*/ 349555 w 1047217"/>
                <a:gd name="connsiteY21" fmla="*/ 164615 h 1047469"/>
                <a:gd name="connsiteX22" fmla="*/ 287636 w 1047217"/>
                <a:gd name="connsiteY22" fmla="*/ 153540 h 1047469"/>
                <a:gd name="connsiteX23" fmla="*/ 259382 w 1047217"/>
                <a:gd name="connsiteY23" fmla="*/ 125286 h 1047469"/>
                <a:gd name="connsiteX24" fmla="*/ 181479 w 1047217"/>
                <a:gd name="connsiteY24" fmla="*/ 125286 h 1047469"/>
                <a:gd name="connsiteX25" fmla="*/ 125223 w 1047217"/>
                <a:gd name="connsiteY25" fmla="*/ 181542 h 1047469"/>
                <a:gd name="connsiteX26" fmla="*/ 125223 w 1047217"/>
                <a:gd name="connsiteY26" fmla="*/ 259445 h 1047469"/>
                <a:gd name="connsiteX27" fmla="*/ 152785 w 1047217"/>
                <a:gd name="connsiteY27" fmla="*/ 287006 h 1047469"/>
                <a:gd name="connsiteX28" fmla="*/ 163734 w 1047217"/>
                <a:gd name="connsiteY28" fmla="*/ 349240 h 1047469"/>
                <a:gd name="connsiteX29" fmla="*/ 146052 w 1047217"/>
                <a:gd name="connsiteY29" fmla="*/ 392345 h 1047469"/>
                <a:gd name="connsiteX30" fmla="*/ 94201 w 1047217"/>
                <a:gd name="connsiteY30" fmla="*/ 428905 h 1047469"/>
                <a:gd name="connsiteX31" fmla="*/ 55060 w 1047217"/>
                <a:gd name="connsiteY31" fmla="*/ 428905 h 1047469"/>
                <a:gd name="connsiteX32" fmla="*/ 0 w 1047217"/>
                <a:gd name="connsiteY32" fmla="*/ 483965 h 1047469"/>
                <a:gd name="connsiteX33" fmla="*/ 0 w 1047217"/>
                <a:gd name="connsiteY33" fmla="*/ 563504 h 1047469"/>
                <a:gd name="connsiteX34" fmla="*/ 55060 w 1047217"/>
                <a:gd name="connsiteY34" fmla="*/ 618565 h 1047469"/>
                <a:gd name="connsiteX35" fmla="*/ 96781 w 1047217"/>
                <a:gd name="connsiteY35" fmla="*/ 618565 h 1047469"/>
                <a:gd name="connsiteX36" fmla="*/ 148254 w 1047217"/>
                <a:gd name="connsiteY36" fmla="*/ 654118 h 1047469"/>
                <a:gd name="connsiteX37" fmla="*/ 165748 w 1047217"/>
                <a:gd name="connsiteY37" fmla="*/ 694894 h 1047469"/>
                <a:gd name="connsiteX38" fmla="*/ 155239 w 1047217"/>
                <a:gd name="connsiteY38" fmla="*/ 758009 h 1047469"/>
                <a:gd name="connsiteX39" fmla="*/ 125223 w 1047217"/>
                <a:gd name="connsiteY39" fmla="*/ 788025 h 1047469"/>
                <a:gd name="connsiteX40" fmla="*/ 125223 w 1047217"/>
                <a:gd name="connsiteY40" fmla="*/ 865928 h 1047469"/>
                <a:gd name="connsiteX41" fmla="*/ 181479 w 1047217"/>
                <a:gd name="connsiteY41" fmla="*/ 922184 h 1047469"/>
                <a:gd name="connsiteX42" fmla="*/ 259382 w 1047217"/>
                <a:gd name="connsiteY42" fmla="*/ 922184 h 1047469"/>
                <a:gd name="connsiteX43" fmla="*/ 292733 w 1047217"/>
                <a:gd name="connsiteY43" fmla="*/ 888833 h 1047469"/>
                <a:gd name="connsiteX44" fmla="*/ 355218 w 1047217"/>
                <a:gd name="connsiteY44" fmla="*/ 878072 h 1047469"/>
                <a:gd name="connsiteX45" fmla="*/ 391149 w 1047217"/>
                <a:gd name="connsiteY45" fmla="*/ 892357 h 1047469"/>
                <a:gd name="connsiteX46" fmla="*/ 428779 w 1047217"/>
                <a:gd name="connsiteY46" fmla="*/ 943956 h 1047469"/>
                <a:gd name="connsiteX47" fmla="*/ 428779 w 1047217"/>
                <a:gd name="connsiteY47" fmla="*/ 992409 h 1047469"/>
                <a:gd name="connsiteX48" fmla="*/ 483840 w 1047217"/>
                <a:gd name="connsiteY48" fmla="*/ 1047470 h 1047469"/>
                <a:gd name="connsiteX49" fmla="*/ 563378 w 1047217"/>
                <a:gd name="connsiteY49" fmla="*/ 1047470 h 1047469"/>
                <a:gd name="connsiteX50" fmla="*/ 618439 w 1047217"/>
                <a:gd name="connsiteY50" fmla="*/ 992409 h 1047469"/>
                <a:gd name="connsiteX51" fmla="*/ 618439 w 1047217"/>
                <a:gd name="connsiteY51" fmla="*/ 939992 h 1047469"/>
                <a:gd name="connsiteX52" fmla="*/ 654621 w 1047217"/>
                <a:gd name="connsiteY52" fmla="*/ 888896 h 1047469"/>
                <a:gd name="connsiteX53" fmla="*/ 688853 w 1047217"/>
                <a:gd name="connsiteY53" fmla="*/ 874360 h 1047469"/>
                <a:gd name="connsiteX54" fmla="*/ 751024 w 1047217"/>
                <a:gd name="connsiteY54" fmla="*/ 885372 h 1047469"/>
                <a:gd name="connsiteX55" fmla="*/ 787899 w 1047217"/>
                <a:gd name="connsiteY55" fmla="*/ 922247 h 1047469"/>
                <a:gd name="connsiteX56" fmla="*/ 865802 w 1047217"/>
                <a:gd name="connsiteY56" fmla="*/ 922247 h 1047469"/>
                <a:gd name="connsiteX57" fmla="*/ 922058 w 1047217"/>
                <a:gd name="connsiteY57" fmla="*/ 865990 h 1047469"/>
                <a:gd name="connsiteX58" fmla="*/ 922058 w 1047217"/>
                <a:gd name="connsiteY58" fmla="*/ 788088 h 1047469"/>
                <a:gd name="connsiteX59" fmla="*/ 884428 w 1047217"/>
                <a:gd name="connsiteY59" fmla="*/ 750458 h 1047469"/>
                <a:gd name="connsiteX60" fmla="*/ 873290 w 1047217"/>
                <a:gd name="connsiteY60" fmla="*/ 688602 h 1047469"/>
                <a:gd name="connsiteX61" fmla="*/ 887511 w 1047217"/>
                <a:gd name="connsiteY61" fmla="*/ 654621 h 1047469"/>
                <a:gd name="connsiteX62" fmla="*/ 939803 w 1047217"/>
                <a:gd name="connsiteY62" fmla="*/ 618628 h 1047469"/>
                <a:gd name="connsiteX63" fmla="*/ 992158 w 1047217"/>
                <a:gd name="connsiteY63" fmla="*/ 618628 h 1047469"/>
                <a:gd name="connsiteX64" fmla="*/ 1047218 w 1047217"/>
                <a:gd name="connsiteY64" fmla="*/ 563567 h 104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047217" h="1047469">
                  <a:moveTo>
                    <a:pt x="1047155" y="563441"/>
                  </a:moveTo>
                  <a:lnTo>
                    <a:pt x="1047155" y="483903"/>
                  </a:lnTo>
                  <a:cubicBezTo>
                    <a:pt x="1047155" y="453509"/>
                    <a:pt x="1022488" y="428842"/>
                    <a:pt x="992095" y="428842"/>
                  </a:cubicBezTo>
                  <a:lnTo>
                    <a:pt x="942257" y="428842"/>
                  </a:lnTo>
                  <a:cubicBezTo>
                    <a:pt x="918723" y="428842"/>
                    <a:pt x="897328" y="414243"/>
                    <a:pt x="889651" y="391967"/>
                  </a:cubicBezTo>
                  <a:cubicBezTo>
                    <a:pt x="885498" y="379948"/>
                    <a:pt x="880778" y="368181"/>
                    <a:pt x="875555" y="356666"/>
                  </a:cubicBezTo>
                  <a:cubicBezTo>
                    <a:pt x="866053" y="335900"/>
                    <a:pt x="869955" y="311422"/>
                    <a:pt x="886127" y="295250"/>
                  </a:cubicBezTo>
                  <a:lnTo>
                    <a:pt x="921995" y="259382"/>
                  </a:lnTo>
                  <a:cubicBezTo>
                    <a:pt x="943516" y="237861"/>
                    <a:pt x="943516" y="203000"/>
                    <a:pt x="921995" y="181479"/>
                  </a:cubicBezTo>
                  <a:lnTo>
                    <a:pt x="865739" y="125223"/>
                  </a:lnTo>
                  <a:cubicBezTo>
                    <a:pt x="844218" y="103702"/>
                    <a:pt x="809357" y="103702"/>
                    <a:pt x="787836" y="125223"/>
                  </a:cubicBezTo>
                  <a:lnTo>
                    <a:pt x="755870" y="157190"/>
                  </a:lnTo>
                  <a:cubicBezTo>
                    <a:pt x="739194" y="173865"/>
                    <a:pt x="713772" y="178144"/>
                    <a:pt x="692692" y="167698"/>
                  </a:cubicBezTo>
                  <a:cubicBezTo>
                    <a:pt x="680106" y="161406"/>
                    <a:pt x="667144" y="155805"/>
                    <a:pt x="653866" y="150897"/>
                  </a:cubicBezTo>
                  <a:cubicBezTo>
                    <a:pt x="632471" y="142968"/>
                    <a:pt x="618439" y="122266"/>
                    <a:pt x="618439" y="99486"/>
                  </a:cubicBezTo>
                  <a:lnTo>
                    <a:pt x="618439" y="55060"/>
                  </a:lnTo>
                  <a:cubicBezTo>
                    <a:pt x="618439" y="24667"/>
                    <a:pt x="593772" y="0"/>
                    <a:pt x="563378" y="0"/>
                  </a:cubicBezTo>
                  <a:lnTo>
                    <a:pt x="483840" y="0"/>
                  </a:lnTo>
                  <a:cubicBezTo>
                    <a:pt x="453446" y="0"/>
                    <a:pt x="428779" y="24667"/>
                    <a:pt x="428779" y="55060"/>
                  </a:cubicBezTo>
                  <a:lnTo>
                    <a:pt x="428779" y="95522"/>
                  </a:lnTo>
                  <a:cubicBezTo>
                    <a:pt x="428779" y="118931"/>
                    <a:pt x="414054" y="140011"/>
                    <a:pt x="391904" y="147499"/>
                  </a:cubicBezTo>
                  <a:cubicBezTo>
                    <a:pt x="377368" y="152407"/>
                    <a:pt x="363210" y="158134"/>
                    <a:pt x="349555" y="164615"/>
                  </a:cubicBezTo>
                  <a:cubicBezTo>
                    <a:pt x="328727" y="174494"/>
                    <a:pt x="303934" y="169838"/>
                    <a:pt x="287636" y="153540"/>
                  </a:cubicBezTo>
                  <a:lnTo>
                    <a:pt x="259382" y="125286"/>
                  </a:lnTo>
                  <a:cubicBezTo>
                    <a:pt x="237861" y="103765"/>
                    <a:pt x="203000" y="103765"/>
                    <a:pt x="181479" y="125286"/>
                  </a:cubicBezTo>
                  <a:lnTo>
                    <a:pt x="125223" y="181542"/>
                  </a:lnTo>
                  <a:cubicBezTo>
                    <a:pt x="103702" y="203063"/>
                    <a:pt x="103702" y="237924"/>
                    <a:pt x="125223" y="259445"/>
                  </a:cubicBezTo>
                  <a:lnTo>
                    <a:pt x="152785" y="287006"/>
                  </a:lnTo>
                  <a:cubicBezTo>
                    <a:pt x="169146" y="303367"/>
                    <a:pt x="173802" y="328349"/>
                    <a:pt x="163734" y="349240"/>
                  </a:cubicBezTo>
                  <a:cubicBezTo>
                    <a:pt x="157001" y="363147"/>
                    <a:pt x="151149" y="377557"/>
                    <a:pt x="146052" y="392345"/>
                  </a:cubicBezTo>
                  <a:cubicBezTo>
                    <a:pt x="138501" y="414369"/>
                    <a:pt x="117483" y="428905"/>
                    <a:pt x="94201" y="428905"/>
                  </a:cubicBezTo>
                  <a:lnTo>
                    <a:pt x="55060" y="428905"/>
                  </a:lnTo>
                  <a:cubicBezTo>
                    <a:pt x="24667" y="428905"/>
                    <a:pt x="0" y="453572"/>
                    <a:pt x="0" y="483965"/>
                  </a:cubicBezTo>
                  <a:lnTo>
                    <a:pt x="0" y="563504"/>
                  </a:lnTo>
                  <a:cubicBezTo>
                    <a:pt x="0" y="593898"/>
                    <a:pt x="24667" y="618565"/>
                    <a:pt x="55060" y="618565"/>
                  </a:cubicBezTo>
                  <a:lnTo>
                    <a:pt x="96781" y="618565"/>
                  </a:lnTo>
                  <a:cubicBezTo>
                    <a:pt x="119686" y="618565"/>
                    <a:pt x="140451" y="632597"/>
                    <a:pt x="148254" y="654118"/>
                  </a:cubicBezTo>
                  <a:cubicBezTo>
                    <a:pt x="153351" y="668088"/>
                    <a:pt x="159203" y="681680"/>
                    <a:pt x="165748" y="694894"/>
                  </a:cubicBezTo>
                  <a:cubicBezTo>
                    <a:pt x="176256" y="715974"/>
                    <a:pt x="171851" y="741397"/>
                    <a:pt x="155239" y="758009"/>
                  </a:cubicBezTo>
                  <a:lnTo>
                    <a:pt x="125223" y="788025"/>
                  </a:lnTo>
                  <a:cubicBezTo>
                    <a:pt x="103702" y="809546"/>
                    <a:pt x="103702" y="844407"/>
                    <a:pt x="125223" y="865928"/>
                  </a:cubicBezTo>
                  <a:lnTo>
                    <a:pt x="181479" y="922184"/>
                  </a:lnTo>
                  <a:cubicBezTo>
                    <a:pt x="203000" y="943704"/>
                    <a:pt x="237861" y="943704"/>
                    <a:pt x="259382" y="922184"/>
                  </a:cubicBezTo>
                  <a:lnTo>
                    <a:pt x="292733" y="888833"/>
                  </a:lnTo>
                  <a:cubicBezTo>
                    <a:pt x="309219" y="872346"/>
                    <a:pt x="334075" y="868382"/>
                    <a:pt x="355218" y="878072"/>
                  </a:cubicBezTo>
                  <a:cubicBezTo>
                    <a:pt x="366923" y="883421"/>
                    <a:pt x="378879" y="888140"/>
                    <a:pt x="391149" y="892357"/>
                  </a:cubicBezTo>
                  <a:cubicBezTo>
                    <a:pt x="413425" y="899971"/>
                    <a:pt x="428779" y="920422"/>
                    <a:pt x="428779" y="943956"/>
                  </a:cubicBezTo>
                  <a:lnTo>
                    <a:pt x="428779" y="992409"/>
                  </a:lnTo>
                  <a:cubicBezTo>
                    <a:pt x="428779" y="1022803"/>
                    <a:pt x="453446" y="1047470"/>
                    <a:pt x="483840" y="1047470"/>
                  </a:cubicBezTo>
                  <a:lnTo>
                    <a:pt x="563378" y="1047470"/>
                  </a:lnTo>
                  <a:cubicBezTo>
                    <a:pt x="593772" y="1047470"/>
                    <a:pt x="618439" y="1022803"/>
                    <a:pt x="618439" y="992409"/>
                  </a:cubicBezTo>
                  <a:lnTo>
                    <a:pt x="618439" y="939992"/>
                  </a:lnTo>
                  <a:cubicBezTo>
                    <a:pt x="618439" y="917024"/>
                    <a:pt x="633038" y="896887"/>
                    <a:pt x="654621" y="888896"/>
                  </a:cubicBezTo>
                  <a:cubicBezTo>
                    <a:pt x="666326" y="884554"/>
                    <a:pt x="677715" y="879708"/>
                    <a:pt x="688853" y="874360"/>
                  </a:cubicBezTo>
                  <a:cubicBezTo>
                    <a:pt x="709682" y="864291"/>
                    <a:pt x="734663" y="869011"/>
                    <a:pt x="751024" y="885372"/>
                  </a:cubicBezTo>
                  <a:lnTo>
                    <a:pt x="787899" y="922247"/>
                  </a:lnTo>
                  <a:cubicBezTo>
                    <a:pt x="809420" y="943767"/>
                    <a:pt x="844281" y="943767"/>
                    <a:pt x="865802" y="922247"/>
                  </a:cubicBezTo>
                  <a:lnTo>
                    <a:pt x="922058" y="865990"/>
                  </a:lnTo>
                  <a:cubicBezTo>
                    <a:pt x="943578" y="844470"/>
                    <a:pt x="943578" y="809609"/>
                    <a:pt x="922058" y="788088"/>
                  </a:cubicBezTo>
                  <a:lnTo>
                    <a:pt x="884428" y="750458"/>
                  </a:lnTo>
                  <a:cubicBezTo>
                    <a:pt x="868130" y="734160"/>
                    <a:pt x="863410" y="709367"/>
                    <a:pt x="873290" y="688602"/>
                  </a:cubicBezTo>
                  <a:cubicBezTo>
                    <a:pt x="878576" y="677526"/>
                    <a:pt x="883295" y="666200"/>
                    <a:pt x="887511" y="654621"/>
                  </a:cubicBezTo>
                  <a:cubicBezTo>
                    <a:pt x="895440" y="632849"/>
                    <a:pt x="916583" y="618628"/>
                    <a:pt x="939803" y="618628"/>
                  </a:cubicBezTo>
                  <a:lnTo>
                    <a:pt x="992158" y="618628"/>
                  </a:lnTo>
                  <a:cubicBezTo>
                    <a:pt x="1022551" y="618628"/>
                    <a:pt x="1047218" y="593960"/>
                    <a:pt x="1047218" y="563567"/>
                  </a:cubicBezTo>
                  <a:close/>
                </a:path>
              </a:pathLst>
            </a:custGeom>
            <a:solidFill>
              <a:srgbClr val="FFD85C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4CF8A4C2-E2E9-4801-D878-CC415D2530BD}"/>
                </a:ext>
              </a:extLst>
            </p:cNvPr>
            <p:cNvSpPr/>
            <p:nvPr/>
          </p:nvSpPr>
          <p:spPr>
            <a:xfrm>
              <a:off x="575650" y="2048162"/>
              <a:ext cx="397819" cy="397819"/>
            </a:xfrm>
            <a:custGeom>
              <a:avLst/>
              <a:gdLst>
                <a:gd name="connsiteX0" fmla="*/ 397819 w 397819"/>
                <a:gd name="connsiteY0" fmla="*/ 198910 h 397819"/>
                <a:gd name="connsiteX1" fmla="*/ 198910 w 397819"/>
                <a:gd name="connsiteY1" fmla="*/ 397819 h 397819"/>
                <a:gd name="connsiteX2" fmla="*/ 0 w 397819"/>
                <a:gd name="connsiteY2" fmla="*/ 198910 h 397819"/>
                <a:gd name="connsiteX3" fmla="*/ 198910 w 397819"/>
                <a:gd name="connsiteY3" fmla="*/ 0 h 397819"/>
                <a:gd name="connsiteX4" fmla="*/ 397819 w 397819"/>
                <a:gd name="connsiteY4" fmla="*/ 198910 h 397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819" h="397819">
                  <a:moveTo>
                    <a:pt x="397819" y="198910"/>
                  </a:moveTo>
                  <a:cubicBezTo>
                    <a:pt x="397819" y="308779"/>
                    <a:pt x="308779" y="397819"/>
                    <a:pt x="198910" y="397819"/>
                  </a:cubicBezTo>
                  <a:cubicBezTo>
                    <a:pt x="89041" y="397819"/>
                    <a:pt x="0" y="308779"/>
                    <a:pt x="0" y="198910"/>
                  </a:cubicBezTo>
                  <a:cubicBezTo>
                    <a:pt x="0" y="89041"/>
                    <a:pt x="89041" y="0"/>
                    <a:pt x="198910" y="0"/>
                  </a:cubicBezTo>
                  <a:cubicBezTo>
                    <a:pt x="308779" y="0"/>
                    <a:pt x="397819" y="89041"/>
                    <a:pt x="397819" y="198910"/>
                  </a:cubicBezTo>
                  <a:close/>
                </a:path>
              </a:pathLst>
            </a:custGeom>
            <a:solidFill>
              <a:srgbClr val="3378C8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1" name="그래픽 80">
            <a:extLst>
              <a:ext uri="{FF2B5EF4-FFF2-40B4-BE49-F238E27FC236}">
                <a16:creationId xmlns:a16="http://schemas.microsoft.com/office/drawing/2014/main" id="{EB909586-6D08-0A01-846F-B0B934F70FD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28896" y="5508981"/>
            <a:ext cx="335776" cy="335776"/>
          </a:xfrm>
          <a:prstGeom prst="rect">
            <a:avLst/>
          </a:prstGeom>
        </p:spPr>
      </p:pic>
      <p:pic>
        <p:nvPicPr>
          <p:cNvPr id="85" name="그래픽 84">
            <a:extLst>
              <a:ext uri="{FF2B5EF4-FFF2-40B4-BE49-F238E27FC236}">
                <a16:creationId xmlns:a16="http://schemas.microsoft.com/office/drawing/2014/main" id="{5B98B6AA-191E-3F47-C5A2-7437B866088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9990" y="5818556"/>
            <a:ext cx="321625" cy="3216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7E940EE-9ABE-2A3B-7544-82A403E19450}"/>
              </a:ext>
            </a:extLst>
          </p:cNvPr>
          <p:cNvGrpSpPr/>
          <p:nvPr/>
        </p:nvGrpSpPr>
        <p:grpSpPr>
          <a:xfrm>
            <a:off x="6747213" y="3882051"/>
            <a:ext cx="5236249" cy="1641298"/>
            <a:chOff x="6768048" y="3882051"/>
            <a:chExt cx="5236249" cy="1641298"/>
          </a:xfrm>
        </p:grpSpPr>
        <p:pic>
          <p:nvPicPr>
            <p:cNvPr id="91" name="그래픽 90">
              <a:extLst>
                <a:ext uri="{FF2B5EF4-FFF2-40B4-BE49-F238E27FC236}">
                  <a16:creationId xmlns:a16="http://schemas.microsoft.com/office/drawing/2014/main" id="{A8FD9C56-2157-5E5A-A440-580466384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 flipV="1">
              <a:off x="6768048" y="3882051"/>
              <a:ext cx="1663769" cy="704998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FFA678B-2EB1-169D-6EE4-F587EF397234}"/>
                </a:ext>
              </a:extLst>
            </p:cNvPr>
            <p:cNvSpPr txBox="1"/>
            <p:nvPr/>
          </p:nvSpPr>
          <p:spPr>
            <a:xfrm>
              <a:off x="6831823" y="4028125"/>
              <a:ext cx="5158567" cy="956159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TEAM 1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</a:t>
              </a:r>
              <a:r>
                <a:rPr lang="ko-KR" altLang="en-US" sz="24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어벤져스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24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팀명</a:t>
              </a: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김○○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박○○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이○○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최○○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정○○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65ADEEF-A1EB-4A5E-B31D-2DD09939039D}"/>
                </a:ext>
              </a:extLst>
            </p:cNvPr>
            <p:cNvSpPr txBox="1"/>
            <p:nvPr/>
          </p:nvSpPr>
          <p:spPr>
            <a:xfrm>
              <a:off x="6845730" y="5121188"/>
              <a:ext cx="5158567" cy="402161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멘토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○○○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41120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래픽 21">
            <a:extLst>
              <a:ext uri="{FF2B5EF4-FFF2-40B4-BE49-F238E27FC236}">
                <a16:creationId xmlns:a16="http://schemas.microsoft.com/office/drawing/2014/main" id="{DA74FF4B-66B3-60E4-0B66-EA5252224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8" name="그래픽 37">
            <a:extLst>
              <a:ext uri="{FF2B5EF4-FFF2-40B4-BE49-F238E27FC236}">
                <a16:creationId xmlns:a16="http://schemas.microsoft.com/office/drawing/2014/main" id="{02FBEB9F-9FB4-5657-130A-CD2351467C3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1" r="27522" b="23907"/>
          <a:stretch/>
        </p:blipFill>
        <p:spPr>
          <a:xfrm flipV="1">
            <a:off x="7546066" y="-1"/>
            <a:ext cx="4645934" cy="3296669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27DEE60A-06FB-8528-5148-E5576BB19A0F}"/>
              </a:ext>
            </a:extLst>
          </p:cNvPr>
          <p:cNvGrpSpPr/>
          <p:nvPr/>
        </p:nvGrpSpPr>
        <p:grpSpPr>
          <a:xfrm>
            <a:off x="870882" y="519237"/>
            <a:ext cx="2256700" cy="1269295"/>
            <a:chOff x="870882" y="519237"/>
            <a:chExt cx="2256700" cy="126929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4733C01-501E-BDB3-3FB4-8A1A6AFBB517}"/>
                </a:ext>
              </a:extLst>
            </p:cNvPr>
            <p:cNvSpPr txBox="1"/>
            <p:nvPr/>
          </p:nvSpPr>
          <p:spPr>
            <a:xfrm>
              <a:off x="875370" y="957535"/>
              <a:ext cx="225221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목 차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870882" y="519237"/>
              <a:ext cx="22522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81AEA493-6EE8-E6E0-22D0-D4B64342FD6D}"/>
              </a:ext>
            </a:extLst>
          </p:cNvPr>
          <p:cNvGrpSpPr/>
          <p:nvPr/>
        </p:nvGrpSpPr>
        <p:grpSpPr>
          <a:xfrm>
            <a:off x="6242110" y="2376079"/>
            <a:ext cx="4444751" cy="584775"/>
            <a:chOff x="6242110" y="2376079"/>
            <a:chExt cx="4444751" cy="58477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BC3CE16-3D78-432D-45D4-887A58C787A8}"/>
                </a:ext>
              </a:extLst>
            </p:cNvPr>
            <p:cNvSpPr txBox="1"/>
            <p:nvPr/>
          </p:nvSpPr>
          <p:spPr>
            <a:xfrm>
              <a:off x="7013793" y="2514579"/>
              <a:ext cx="3673068" cy="307777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개요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684A24D-EA77-472C-D9A2-BB6B189736F2}"/>
                </a:ext>
              </a:extLst>
            </p:cNvPr>
            <p:cNvSpPr txBox="1"/>
            <p:nvPr/>
          </p:nvSpPr>
          <p:spPr>
            <a:xfrm>
              <a:off x="6242110" y="2376079"/>
              <a:ext cx="63170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D20302EC-FD5F-4618-CE2E-659079D82F39}"/>
              </a:ext>
            </a:extLst>
          </p:cNvPr>
          <p:cNvGrpSpPr/>
          <p:nvPr/>
        </p:nvGrpSpPr>
        <p:grpSpPr>
          <a:xfrm>
            <a:off x="6242109" y="3175385"/>
            <a:ext cx="3976700" cy="584775"/>
            <a:chOff x="6242109" y="3175385"/>
            <a:chExt cx="3976700" cy="58477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CDD6500-F434-1C7D-0147-703718F294D9}"/>
                </a:ext>
              </a:extLst>
            </p:cNvPr>
            <p:cNvSpPr txBox="1"/>
            <p:nvPr/>
          </p:nvSpPr>
          <p:spPr>
            <a:xfrm>
              <a:off x="7013793" y="3315668"/>
              <a:ext cx="3205016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팀 구성 및 역할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BCA31C1-3A00-5B22-AD1D-9939B1DD6C44}"/>
                </a:ext>
              </a:extLst>
            </p:cNvPr>
            <p:cNvSpPr txBox="1"/>
            <p:nvPr/>
          </p:nvSpPr>
          <p:spPr>
            <a:xfrm>
              <a:off x="6242109" y="3175385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21147F6-73ED-B15D-3DFE-4ADAFF33C696}"/>
              </a:ext>
            </a:extLst>
          </p:cNvPr>
          <p:cNvGrpSpPr/>
          <p:nvPr/>
        </p:nvGrpSpPr>
        <p:grpSpPr>
          <a:xfrm>
            <a:off x="6242109" y="3974691"/>
            <a:ext cx="4185695" cy="584775"/>
            <a:chOff x="6242109" y="3974691"/>
            <a:chExt cx="4185695" cy="58477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44B231-400D-B96D-4FEA-0393C6C1101A}"/>
                </a:ext>
              </a:extLst>
            </p:cNvPr>
            <p:cNvSpPr txBox="1"/>
            <p:nvPr/>
          </p:nvSpPr>
          <p:spPr>
            <a:xfrm>
              <a:off x="7013793" y="4116757"/>
              <a:ext cx="3414011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절차 및 방법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A44BBDE-9A03-753D-BEBD-076DCAC77B43}"/>
                </a:ext>
              </a:extLst>
            </p:cNvPr>
            <p:cNvSpPr txBox="1"/>
            <p:nvPr/>
          </p:nvSpPr>
          <p:spPr>
            <a:xfrm>
              <a:off x="6242109" y="3974691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936AF52-1B94-6FAA-0B07-46390BD1D250}"/>
              </a:ext>
            </a:extLst>
          </p:cNvPr>
          <p:cNvGrpSpPr/>
          <p:nvPr/>
        </p:nvGrpSpPr>
        <p:grpSpPr>
          <a:xfrm>
            <a:off x="6242109" y="4773997"/>
            <a:ext cx="3256573" cy="584775"/>
            <a:chOff x="6242109" y="4773997"/>
            <a:chExt cx="3256573" cy="58477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7011022-0A21-498C-52F2-7DEE3D0CBE42}"/>
                </a:ext>
              </a:extLst>
            </p:cNvPr>
            <p:cNvSpPr txBox="1"/>
            <p:nvPr/>
          </p:nvSpPr>
          <p:spPr>
            <a:xfrm>
              <a:off x="7013793" y="4917846"/>
              <a:ext cx="2484889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1B5840F-C867-1449-73D3-066733F5C22F}"/>
                </a:ext>
              </a:extLst>
            </p:cNvPr>
            <p:cNvSpPr txBox="1"/>
            <p:nvPr/>
          </p:nvSpPr>
          <p:spPr>
            <a:xfrm>
              <a:off x="6242109" y="4773997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EFC425D4-6E83-E94D-6C6B-194A0473AC84}"/>
              </a:ext>
            </a:extLst>
          </p:cNvPr>
          <p:cNvGrpSpPr/>
          <p:nvPr/>
        </p:nvGrpSpPr>
        <p:grpSpPr>
          <a:xfrm>
            <a:off x="6242109" y="5573304"/>
            <a:ext cx="3976700" cy="584775"/>
            <a:chOff x="6242109" y="5573304"/>
            <a:chExt cx="3976700" cy="58477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CFF09DF-8F34-A520-554E-5E8D5B8B64FC}"/>
                </a:ext>
              </a:extLst>
            </p:cNvPr>
            <p:cNvSpPr txBox="1"/>
            <p:nvPr/>
          </p:nvSpPr>
          <p:spPr>
            <a:xfrm>
              <a:off x="7013793" y="5718935"/>
              <a:ext cx="3205016" cy="307777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자체 평가 의견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F31F813-66E5-6D7E-A2E8-9D595F7C4B3C}"/>
                </a:ext>
              </a:extLst>
            </p:cNvPr>
            <p:cNvSpPr txBox="1"/>
            <p:nvPr/>
          </p:nvSpPr>
          <p:spPr>
            <a:xfrm>
              <a:off x="6242109" y="5573304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B796DA2-A294-786D-A804-14A5CA4298D2}"/>
              </a:ext>
            </a:extLst>
          </p:cNvPr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5807ED90-BD54-871A-198F-7B8B0FF7B0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042684" y="4289182"/>
            <a:ext cx="142875" cy="142875"/>
          </a:xfrm>
          <a:prstGeom prst="rect">
            <a:avLst/>
          </a:prstGeom>
        </p:spPr>
      </p:pic>
      <p:pic>
        <p:nvPicPr>
          <p:cNvPr id="50" name="그래픽 49">
            <a:extLst>
              <a:ext uri="{FF2B5EF4-FFF2-40B4-BE49-F238E27FC236}">
                <a16:creationId xmlns:a16="http://schemas.microsoft.com/office/drawing/2014/main" id="{30C31F35-2805-AE48-BDF2-EA025493CB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73038" y="1555170"/>
            <a:ext cx="233362" cy="233362"/>
          </a:xfrm>
          <a:prstGeom prst="rect">
            <a:avLst/>
          </a:prstGeom>
        </p:spPr>
      </p:pic>
      <p:pic>
        <p:nvPicPr>
          <p:cNvPr id="52" name="그래픽 51">
            <a:extLst>
              <a:ext uri="{FF2B5EF4-FFF2-40B4-BE49-F238E27FC236}">
                <a16:creationId xmlns:a16="http://schemas.microsoft.com/office/drawing/2014/main" id="{CE4DB9DB-68C0-99C7-C871-369EF59049A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700000">
            <a:off x="11933337" y="302760"/>
            <a:ext cx="343679" cy="343679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EBF7D4C4-C114-692A-CA6C-BFE8DEAD4DDC}"/>
              </a:ext>
            </a:extLst>
          </p:cNvPr>
          <p:cNvGrpSpPr/>
          <p:nvPr/>
        </p:nvGrpSpPr>
        <p:grpSpPr>
          <a:xfrm>
            <a:off x="296588" y="1043222"/>
            <a:ext cx="6161017" cy="4371570"/>
            <a:chOff x="296588" y="1043222"/>
            <a:chExt cx="6161017" cy="4371570"/>
          </a:xfrm>
        </p:grpSpPr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2B60E93F-B972-BFFC-0CF7-C8C6035FC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46394" y="1043222"/>
              <a:ext cx="6111211" cy="3433995"/>
            </a:xfrm>
            <a:prstGeom prst="rect">
              <a:avLst/>
            </a:prstGeom>
          </p:spPr>
        </p:pic>
        <p:pic>
          <p:nvPicPr>
            <p:cNvPr id="40" name="그래픽 39">
              <a:extLst>
                <a:ext uri="{FF2B5EF4-FFF2-40B4-BE49-F238E27FC236}">
                  <a16:creationId xmlns:a16="http://schemas.microsoft.com/office/drawing/2014/main" id="{E5BD5758-E313-FA1D-F891-ED6E4998A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709557" y="5176667"/>
              <a:ext cx="238125" cy="238125"/>
            </a:xfrm>
            <a:prstGeom prst="rect">
              <a:avLst/>
            </a:prstGeom>
          </p:spPr>
        </p:pic>
        <p:pic>
          <p:nvPicPr>
            <p:cNvPr id="46" name="그래픽 45">
              <a:extLst>
                <a:ext uri="{FF2B5EF4-FFF2-40B4-BE49-F238E27FC236}">
                  <a16:creationId xmlns:a16="http://schemas.microsoft.com/office/drawing/2014/main" id="{67B47286-5E9D-782A-E602-D5E6C06D5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538270" y="4298532"/>
              <a:ext cx="106965" cy="106965"/>
            </a:xfrm>
            <a:prstGeom prst="rect">
              <a:avLst/>
            </a:prstGeom>
          </p:spPr>
        </p:pic>
        <p:pic>
          <p:nvPicPr>
            <p:cNvPr id="48" name="그래픽 47">
              <a:extLst>
                <a:ext uri="{FF2B5EF4-FFF2-40B4-BE49-F238E27FC236}">
                  <a16:creationId xmlns:a16="http://schemas.microsoft.com/office/drawing/2014/main" id="{E638B003-6F0A-E445-44EF-5D295FB0A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203634" y="2752292"/>
              <a:ext cx="320555" cy="320555"/>
            </a:xfrm>
            <a:prstGeom prst="rect">
              <a:avLst/>
            </a:prstGeom>
          </p:spPr>
        </p:pic>
        <p:pic>
          <p:nvPicPr>
            <p:cNvPr id="54" name="그래픽 53">
              <a:extLst>
                <a:ext uri="{FF2B5EF4-FFF2-40B4-BE49-F238E27FC236}">
                  <a16:creationId xmlns:a16="http://schemas.microsoft.com/office/drawing/2014/main" id="{FB713AF8-DDAC-1DA9-8897-D1948DF33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96588" y="1824462"/>
              <a:ext cx="320555" cy="3043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58421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래픽 16">
            <a:extLst>
              <a:ext uri="{FF2B5EF4-FFF2-40B4-BE49-F238E27FC236}">
                <a16:creationId xmlns:a16="http://schemas.microsoft.com/office/drawing/2014/main" id="{5D7D92DC-AA5F-DB8A-4577-CE6DDC763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2EAF6D58-084F-2DED-DF2E-AAB0DF464557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39452E3-2013-66BF-2EBE-F0EC960C4077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519771-A232-D9CF-4769-EBFF2F8CFBB1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109AB5-00CA-F0E8-7FD9-645FB6E912A9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개요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3CAA92-4EAE-8A8B-E8EE-0F5B51065B1A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718F8096-D17C-15A7-34ED-DD08BC50AA49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168CD54-D633-5776-71CD-FD7897E3EC30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아래 내용이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반드시 포함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되도록 작성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  </a:t>
              </a:r>
            </a:p>
          </p:txBody>
        </p:sp>
        <p:sp>
          <p:nvSpPr>
            <p:cNvPr id="30" name="그래픽 43">
              <a:extLst>
                <a:ext uri="{FF2B5EF4-FFF2-40B4-BE49-F238E27FC236}">
                  <a16:creationId xmlns:a16="http://schemas.microsoft.com/office/drawing/2014/main" id="{3A85AD0A-F31C-CE36-E2E5-7C20DEA387EC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F3F47CD5-B807-B83F-61E9-F4274413B9B9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D5EC40-66CF-4031-0B6C-BB0FF72B95A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id="{52169E4C-2799-F656-9DE1-1585D60362A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77" name="그래픽 76">
            <a:extLst>
              <a:ext uri="{FF2B5EF4-FFF2-40B4-BE49-F238E27FC236}">
                <a16:creationId xmlns:a16="http://schemas.microsoft.com/office/drawing/2014/main" id="{07A591E4-A623-F9E5-1D76-C87CC8D6F3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pic>
        <p:nvPicPr>
          <p:cNvPr id="2" name="그래픽 1">
            <a:extLst>
              <a:ext uri="{FF2B5EF4-FFF2-40B4-BE49-F238E27FC236}">
                <a16:creationId xmlns:a16="http://schemas.microsoft.com/office/drawing/2014/main" id="{987BCEF9-B226-F362-6313-E55EE991184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690202" y="3164584"/>
            <a:ext cx="178594" cy="178594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4B110257-EB8E-76DE-368E-E544EFAFF9E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20272352">
            <a:off x="386995" y="5443343"/>
            <a:ext cx="186904" cy="207671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92D42B1E-2EB5-D71D-F8B8-63CD366F3570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44921"/>
          <a:stretch/>
        </p:blipFill>
        <p:spPr>
          <a:xfrm rot="10800000">
            <a:off x="11016343" y="4903197"/>
            <a:ext cx="1175656" cy="779989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78E59B9-5F04-49C5-1722-52369FFA7F3C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45412"/>
          <a:stretch/>
        </p:blipFill>
        <p:spPr>
          <a:xfrm>
            <a:off x="0" y="3261891"/>
            <a:ext cx="2914927" cy="2847758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83FBC032-B6AF-A79B-5B30-F603859AE36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0" y="5934670"/>
            <a:ext cx="12192000" cy="923330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7B6B5F6A-0FEB-342B-332D-F2272FE569D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672484" y="2240918"/>
            <a:ext cx="149373" cy="149373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6C06CAEA-D42C-8C82-E16B-734CD805394A}"/>
              </a:ext>
            </a:extLst>
          </p:cNvPr>
          <p:cNvGrpSpPr/>
          <p:nvPr/>
        </p:nvGrpSpPr>
        <p:grpSpPr>
          <a:xfrm>
            <a:off x="7339013" y="2373418"/>
            <a:ext cx="2122307" cy="3803725"/>
            <a:chOff x="7348911" y="2373418"/>
            <a:chExt cx="2122307" cy="3803725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B1E00A0C-E033-E8EB-4A85-EABC364FE2F4}"/>
                </a:ext>
              </a:extLst>
            </p:cNvPr>
            <p:cNvGrpSpPr/>
            <p:nvPr/>
          </p:nvGrpSpPr>
          <p:grpSpPr>
            <a:xfrm>
              <a:off x="7348911" y="2567441"/>
              <a:ext cx="2122307" cy="3609702"/>
              <a:chOff x="2815881" y="2567441"/>
              <a:chExt cx="2122307" cy="3609702"/>
            </a:xfrm>
            <a:effectLst/>
          </p:grpSpPr>
          <p:sp>
            <p:nvSpPr>
              <p:cNvPr id="35" name="사각형: 둥근 위쪽 모서리 34">
                <a:extLst>
                  <a:ext uri="{FF2B5EF4-FFF2-40B4-BE49-F238E27FC236}">
                    <a16:creationId xmlns:a16="http://schemas.microsoft.com/office/drawing/2014/main" id="{AD146179-C1F1-3711-0B2A-B9627695808E}"/>
                  </a:ext>
                </a:extLst>
              </p:cNvPr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4B042380-0F27-357E-BDB8-039E536A1A5F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BCA0D17-CB83-60D4-6F44-E62408BFE773}"/>
                </a:ext>
              </a:extLst>
            </p:cNvPr>
            <p:cNvGrpSpPr/>
            <p:nvPr/>
          </p:nvGrpSpPr>
          <p:grpSpPr>
            <a:xfrm>
              <a:off x="8203202" y="2373418"/>
              <a:ext cx="408282" cy="351966"/>
              <a:chOff x="450324" y="2128945"/>
              <a:chExt cx="889526" cy="766832"/>
            </a:xfrm>
          </p:grpSpPr>
          <p:sp>
            <p:nvSpPr>
              <p:cNvPr id="21" name="육각형 20">
                <a:extLst>
                  <a:ext uri="{FF2B5EF4-FFF2-40B4-BE49-F238E27FC236}">
                    <a16:creationId xmlns:a16="http://schemas.microsoft.com/office/drawing/2014/main" id="{88D704B2-061D-BCA3-26C9-FF5A1B078C7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4" name="자유형: 도형 23">
                <a:extLst>
                  <a:ext uri="{FF2B5EF4-FFF2-40B4-BE49-F238E27FC236}">
                    <a16:creationId xmlns:a16="http://schemas.microsoft.com/office/drawing/2014/main" id="{FCB1DB5E-57FA-B081-7842-479DE5036470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75BD135-58A4-FB54-3A11-75A3487B65B0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C547BD1-FC8C-AF26-C281-E98B0339386D}"/>
                </a:ext>
              </a:extLst>
            </p:cNvPr>
            <p:cNvSpPr txBox="1"/>
            <p:nvPr/>
          </p:nvSpPr>
          <p:spPr>
            <a:xfrm>
              <a:off x="7557944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프로젝트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구조</a:t>
              </a:r>
              <a:endPara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C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0E5BBE0F-3417-3F88-1387-99E3FB412ECD}"/>
              </a:ext>
            </a:extLst>
          </p:cNvPr>
          <p:cNvGrpSpPr/>
          <p:nvPr/>
        </p:nvGrpSpPr>
        <p:grpSpPr>
          <a:xfrm>
            <a:off x="491899" y="2373418"/>
            <a:ext cx="2122308" cy="3803725"/>
            <a:chOff x="501797" y="2373418"/>
            <a:chExt cx="2122308" cy="3803725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14783ACD-1AA6-FF6B-495F-A59938EC7ED4}"/>
                </a:ext>
              </a:extLst>
            </p:cNvPr>
            <p:cNvGrpSpPr/>
            <p:nvPr/>
          </p:nvGrpSpPr>
          <p:grpSpPr>
            <a:xfrm>
              <a:off x="501798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89" name="사각형: 둥근 위쪽 모서리 88">
                <a:extLst>
                  <a:ext uri="{FF2B5EF4-FFF2-40B4-BE49-F238E27FC236}">
                    <a16:creationId xmlns:a16="http://schemas.microsoft.com/office/drawing/2014/main" id="{9487F184-B80E-E980-A76D-497489E39B5B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7533C0E5-37D4-666D-ED97-04FE66D8AA07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3F42FBE-711F-2AE5-DA50-EBCDB0265D7B}"/>
                </a:ext>
              </a:extLst>
            </p:cNvPr>
            <p:cNvSpPr txBox="1"/>
            <p:nvPr/>
          </p:nvSpPr>
          <p:spPr>
            <a:xfrm>
              <a:off x="710830" y="3060042"/>
              <a:ext cx="1704241" cy="9805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주제 및 선정 배경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기획의도</a:t>
              </a: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899B77B5-7708-F027-9821-B23D2CEEC13C}"/>
                </a:ext>
              </a:extLst>
            </p:cNvPr>
            <p:cNvGrpSpPr/>
            <p:nvPr/>
          </p:nvGrpSpPr>
          <p:grpSpPr>
            <a:xfrm>
              <a:off x="1398903" y="2373418"/>
              <a:ext cx="408282" cy="388045"/>
              <a:chOff x="450324" y="2128945"/>
              <a:chExt cx="889526" cy="845438"/>
            </a:xfrm>
          </p:grpSpPr>
          <p:sp>
            <p:nvSpPr>
              <p:cNvPr id="86" name="육각형 85">
                <a:extLst>
                  <a:ext uri="{FF2B5EF4-FFF2-40B4-BE49-F238E27FC236}">
                    <a16:creationId xmlns:a16="http://schemas.microsoft.com/office/drawing/2014/main" id="{F6936F92-A6DE-5ACE-9B7A-91588D13D8D9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7" name="자유형: 도형 86">
                <a:extLst>
                  <a:ext uri="{FF2B5EF4-FFF2-40B4-BE49-F238E27FC236}">
                    <a16:creationId xmlns:a16="http://schemas.microsoft.com/office/drawing/2014/main" id="{3A2FA4EF-8448-1B99-E95A-6C8D85E801EB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CFB97A8-0377-4583-43C1-B930793AB1B7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D316C95-1060-3E2B-12CF-65A95B12E668}"/>
                </a:ext>
              </a:extLst>
            </p:cNvPr>
            <p:cNvSpPr txBox="1"/>
            <p:nvPr/>
          </p:nvSpPr>
          <p:spPr>
            <a:xfrm>
              <a:off x="501797" y="4453027"/>
              <a:ext cx="2122307" cy="9048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주제의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u="sng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특화 포인트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기존 유사 서비스와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u="sng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차별화된 내용</a:t>
              </a: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제시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311B0875-3DFC-7826-A161-D12F6A206631}"/>
                </a:ext>
              </a:extLst>
            </p:cNvPr>
            <p:cNvCxnSpPr>
              <a:cxnSpLocks/>
            </p:cNvCxnSpPr>
            <p:nvPr/>
          </p:nvCxnSpPr>
          <p:spPr>
            <a:xfrm>
              <a:off x="1458728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77EFC602-0655-EA65-32C1-E8D5294AECFB}"/>
              </a:ext>
            </a:extLst>
          </p:cNvPr>
          <p:cNvGrpSpPr/>
          <p:nvPr/>
        </p:nvGrpSpPr>
        <p:grpSpPr>
          <a:xfrm>
            <a:off x="2774271" y="2373418"/>
            <a:ext cx="2122307" cy="3803725"/>
            <a:chOff x="2784169" y="2373418"/>
            <a:chExt cx="2122307" cy="3803725"/>
          </a:xfrm>
        </p:grpSpPr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B865315C-A3ED-823F-9D27-0B0DB41EC7B2}"/>
                </a:ext>
              </a:extLst>
            </p:cNvPr>
            <p:cNvGrpSpPr/>
            <p:nvPr/>
          </p:nvGrpSpPr>
          <p:grpSpPr>
            <a:xfrm>
              <a:off x="2784169" y="2567441"/>
              <a:ext cx="2122307" cy="3609702"/>
              <a:chOff x="2815881" y="2567441"/>
              <a:chExt cx="2122307" cy="3609702"/>
            </a:xfrm>
            <a:effectLst/>
          </p:grpSpPr>
          <p:sp>
            <p:nvSpPr>
              <p:cNvPr id="100" name="사각형: 둥근 위쪽 모서리 99">
                <a:extLst>
                  <a:ext uri="{FF2B5EF4-FFF2-40B4-BE49-F238E27FC236}">
                    <a16:creationId xmlns:a16="http://schemas.microsoft.com/office/drawing/2014/main" id="{BBADC5C0-E325-0E29-F1CB-2BBDC807F88A}"/>
                  </a:ext>
                </a:extLst>
              </p:cNvPr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212270CE-CB89-13D3-2499-5C569A88DAEE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id="{27AD5890-AF29-E0F7-5DF1-9DF4B1625828}"/>
                </a:ext>
              </a:extLst>
            </p:cNvPr>
            <p:cNvGrpSpPr/>
            <p:nvPr/>
          </p:nvGrpSpPr>
          <p:grpSpPr>
            <a:xfrm>
              <a:off x="3688352" y="2373418"/>
              <a:ext cx="408282" cy="351966"/>
              <a:chOff x="450324" y="2128945"/>
              <a:chExt cx="889526" cy="766832"/>
            </a:xfrm>
          </p:grpSpPr>
          <p:sp>
            <p:nvSpPr>
              <p:cNvPr id="97" name="육각형 96">
                <a:extLst>
                  <a:ext uri="{FF2B5EF4-FFF2-40B4-BE49-F238E27FC236}">
                    <a16:creationId xmlns:a16="http://schemas.microsoft.com/office/drawing/2014/main" id="{8AD1C042-8D07-9E58-1A73-AFEE6C2785C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8" name="자유형: 도형 97">
                <a:extLst>
                  <a:ext uri="{FF2B5EF4-FFF2-40B4-BE49-F238E27FC236}">
                    <a16:creationId xmlns:a16="http://schemas.microsoft.com/office/drawing/2014/main" id="{5C50914A-ADE3-6AA2-6754-C3EFBEB768D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A1A6F98-920F-FD16-1543-468789EEEDEF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86D7F53-B19B-7B51-63AC-E8DAEA19E2B8}"/>
                </a:ext>
              </a:extLst>
            </p:cNvPr>
            <p:cNvSpPr txBox="1"/>
            <p:nvPr/>
          </p:nvSpPr>
          <p:spPr>
            <a:xfrm>
              <a:off x="2993202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프로젝트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내용</a:t>
              </a:r>
              <a: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 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5EAF9AB-4D7C-5465-0AF3-CD762D73A6DD}"/>
                </a:ext>
              </a:extLst>
            </p:cNvPr>
            <p:cNvSpPr txBox="1"/>
            <p:nvPr/>
          </p:nvSpPr>
          <p:spPr>
            <a:xfrm>
              <a:off x="2784169" y="4453027"/>
              <a:ext cx="2122307" cy="7017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구현 내용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컨셉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훈련내용과의 연관성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등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포함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73245428-5F16-23A3-826B-B1AC2BF87895}"/>
                </a:ext>
              </a:extLst>
            </p:cNvPr>
            <p:cNvCxnSpPr>
              <a:cxnSpLocks/>
            </p:cNvCxnSpPr>
            <p:nvPr/>
          </p:nvCxnSpPr>
          <p:spPr>
            <a:xfrm>
              <a:off x="3741100" y="4260129"/>
              <a:ext cx="208445" cy="0"/>
            </a:xfrm>
            <a:prstGeom prst="line">
              <a:avLst/>
            </a:prstGeom>
            <a:ln w="19050">
              <a:solidFill>
                <a:srgbClr val="FFD8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1214E4F1-BB37-F167-4210-26A757521B0C}"/>
              </a:ext>
            </a:extLst>
          </p:cNvPr>
          <p:cNvGrpSpPr/>
          <p:nvPr/>
        </p:nvGrpSpPr>
        <p:grpSpPr>
          <a:xfrm>
            <a:off x="5054374" y="2373418"/>
            <a:ext cx="2124575" cy="3803725"/>
            <a:chOff x="5064272" y="2373418"/>
            <a:chExt cx="2124575" cy="3803725"/>
          </a:xfrm>
        </p:grpSpPr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78A4A06D-5101-B6C5-2F44-97F7FFB0E367}"/>
                </a:ext>
              </a:extLst>
            </p:cNvPr>
            <p:cNvGrpSpPr/>
            <p:nvPr/>
          </p:nvGrpSpPr>
          <p:grpSpPr>
            <a:xfrm>
              <a:off x="5066540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111" name="사각형: 둥근 위쪽 모서리 110">
                <a:extLst>
                  <a:ext uri="{FF2B5EF4-FFF2-40B4-BE49-F238E27FC236}">
                    <a16:creationId xmlns:a16="http://schemas.microsoft.com/office/drawing/2014/main" id="{F72DAD37-8C9C-A1D9-B260-16DAC4007425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FE7EC4F7-D4F8-F4A3-01C4-3E8C7714799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B410AAFA-ABAB-A573-8432-15C5B3A0C32F}"/>
                </a:ext>
              </a:extLst>
            </p:cNvPr>
            <p:cNvGrpSpPr/>
            <p:nvPr/>
          </p:nvGrpSpPr>
          <p:grpSpPr>
            <a:xfrm>
              <a:off x="5923552" y="2373418"/>
              <a:ext cx="408282" cy="351966"/>
              <a:chOff x="450324" y="2128945"/>
              <a:chExt cx="889526" cy="766832"/>
            </a:xfrm>
          </p:grpSpPr>
          <p:sp>
            <p:nvSpPr>
              <p:cNvPr id="108" name="육각형 107">
                <a:extLst>
                  <a:ext uri="{FF2B5EF4-FFF2-40B4-BE49-F238E27FC236}">
                    <a16:creationId xmlns:a16="http://schemas.microsoft.com/office/drawing/2014/main" id="{AE51D1FE-03C0-C049-C523-94B45875B5B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09" name="자유형: 도형 108">
                <a:extLst>
                  <a:ext uri="{FF2B5EF4-FFF2-40B4-BE49-F238E27FC236}">
                    <a16:creationId xmlns:a16="http://schemas.microsoft.com/office/drawing/2014/main" id="{364AFCE3-9443-9AA3-E7F4-393D5C3EC046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6BB7FA7-4265-9252-35CB-18E831EA9EE9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289313C-4C2B-5EE0-C9F0-90127689E2F1}"/>
                </a:ext>
              </a:extLst>
            </p:cNvPr>
            <p:cNvSpPr txBox="1"/>
            <p:nvPr/>
          </p:nvSpPr>
          <p:spPr>
            <a:xfrm>
              <a:off x="5275573" y="3060042"/>
              <a:ext cx="1704241" cy="6758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활용 장비 및</a:t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재료</a:t>
              </a:r>
              <a:endParaRPr lang="en-US" altLang="ko-KR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CB80E50D-4435-40D3-6132-B95A7BAC651C}"/>
                </a:ext>
              </a:extLst>
            </p:cNvPr>
            <p:cNvSpPr txBox="1"/>
            <p:nvPr/>
          </p:nvSpPr>
          <p:spPr>
            <a:xfrm>
              <a:off x="5064272" y="4453027"/>
              <a:ext cx="2122307" cy="278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개발환경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등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F374B2A9-7830-9D16-5469-6D770935621E}"/>
                </a:ext>
              </a:extLst>
            </p:cNvPr>
            <p:cNvCxnSpPr>
              <a:cxnSpLocks/>
            </p:cNvCxnSpPr>
            <p:nvPr/>
          </p:nvCxnSpPr>
          <p:spPr>
            <a:xfrm>
              <a:off x="6021203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1A784CCE-E54B-C0F2-3979-277593F62A92}"/>
              </a:ext>
            </a:extLst>
          </p:cNvPr>
          <p:cNvGrpSpPr/>
          <p:nvPr/>
        </p:nvGrpSpPr>
        <p:grpSpPr>
          <a:xfrm>
            <a:off x="9616850" y="2373418"/>
            <a:ext cx="2126842" cy="3803725"/>
            <a:chOff x="9626748" y="2373418"/>
            <a:chExt cx="2126842" cy="3803725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9A6EBD5C-A4FC-1FDE-C45A-C129D11A7773}"/>
                </a:ext>
              </a:extLst>
            </p:cNvPr>
            <p:cNvGrpSpPr/>
            <p:nvPr/>
          </p:nvGrpSpPr>
          <p:grpSpPr>
            <a:xfrm>
              <a:off x="9631283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122" name="사각형: 둥근 위쪽 모서리 121">
                <a:extLst>
                  <a:ext uri="{FF2B5EF4-FFF2-40B4-BE49-F238E27FC236}">
                    <a16:creationId xmlns:a16="http://schemas.microsoft.com/office/drawing/2014/main" id="{9F1D2BA5-A67E-8CA8-68CC-CC5DD3253E8D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E43722B3-BD0E-2ECA-6689-6A2C0563E3C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C64B61DA-1255-6FB8-B1A7-48CDA752882F}"/>
                </a:ext>
              </a:extLst>
            </p:cNvPr>
            <p:cNvGrpSpPr/>
            <p:nvPr/>
          </p:nvGrpSpPr>
          <p:grpSpPr>
            <a:xfrm>
              <a:off x="10488295" y="2373418"/>
              <a:ext cx="408282" cy="351966"/>
              <a:chOff x="450324" y="2128945"/>
              <a:chExt cx="889526" cy="766832"/>
            </a:xfrm>
          </p:grpSpPr>
          <p:sp>
            <p:nvSpPr>
              <p:cNvPr id="119" name="육각형 118">
                <a:extLst>
                  <a:ext uri="{FF2B5EF4-FFF2-40B4-BE49-F238E27FC236}">
                    <a16:creationId xmlns:a16="http://schemas.microsoft.com/office/drawing/2014/main" id="{0F2F5C11-84D6-40F6-58B4-4FE0F40AE182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0" name="자유형: 도형 119">
                <a:extLst>
                  <a:ext uri="{FF2B5EF4-FFF2-40B4-BE49-F238E27FC236}">
                    <a16:creationId xmlns:a16="http://schemas.microsoft.com/office/drawing/2014/main" id="{2446D4A2-DACF-C677-5F03-56CE8A2EFC7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19A7F1C-BDCB-C77C-081D-155B7A2BD92B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5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6350446-6771-1509-1C33-D986D90321A6}"/>
                </a:ext>
              </a:extLst>
            </p:cNvPr>
            <p:cNvSpPr txBox="1"/>
            <p:nvPr/>
          </p:nvSpPr>
          <p:spPr>
            <a:xfrm>
              <a:off x="9833059" y="3060042"/>
              <a:ext cx="1704241" cy="6758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활용방안 및</a:t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기대 효과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D87F30DB-0C46-D738-9EDC-BA98CB38FF11}"/>
                </a:ext>
              </a:extLst>
            </p:cNvPr>
            <p:cNvSpPr txBox="1"/>
            <p:nvPr/>
          </p:nvSpPr>
          <p:spPr>
            <a:xfrm>
              <a:off x="9626748" y="4453027"/>
              <a:ext cx="2122307" cy="7017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산출물의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기대 효용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효과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)/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비즈니스 실무 활용성 제시</a:t>
              </a:r>
              <a:endPara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FC2AFA84-BAD4-C827-E0E3-CE251C052D01}"/>
                </a:ext>
              </a:extLst>
            </p:cNvPr>
            <p:cNvCxnSpPr>
              <a:cxnSpLocks/>
            </p:cNvCxnSpPr>
            <p:nvPr/>
          </p:nvCxnSpPr>
          <p:spPr>
            <a:xfrm>
              <a:off x="10583679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77140A24-4427-2901-0E48-56E8102BC738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28" name="_x278651016" descr="EMB0000378c3f3d">
              <a:extLst>
                <a:ext uri="{FF2B5EF4-FFF2-40B4-BE49-F238E27FC236}">
                  <a16:creationId xmlns:a16="http://schemas.microsoft.com/office/drawing/2014/main" id="{63145737-FAD3-C459-34E2-FEA7EE5FED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9" name="그래픽 23">
              <a:extLst>
                <a:ext uri="{FF2B5EF4-FFF2-40B4-BE49-F238E27FC236}">
                  <a16:creationId xmlns:a16="http://schemas.microsoft.com/office/drawing/2014/main" id="{7C23C462-5B92-8099-5E84-F4F6B2B97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444770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그래픽 190">
            <a:extLst>
              <a:ext uri="{FF2B5EF4-FFF2-40B4-BE49-F238E27FC236}">
                <a16:creationId xmlns:a16="http://schemas.microsoft.com/office/drawing/2014/main" id="{B5967736-A99C-BBBF-FEBF-FDFE9F35E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3D39D92-E66A-0690-755F-95170021E213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팀 구성 및 역할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E247BE64-85B5-7C04-D551-43D7EA2D00D1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해당 프로젝트를 진행하면서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훈련생 별로 주도적으로 참여한 부분을 중심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으로 작성한다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BDFBBF1-E84A-9DDF-73E2-960C99C4BAB5}"/>
              </a:ext>
            </a:extLst>
          </p:cNvPr>
          <p:cNvGrpSpPr/>
          <p:nvPr/>
        </p:nvGrpSpPr>
        <p:grpSpPr>
          <a:xfrm>
            <a:off x="515380" y="2097591"/>
            <a:ext cx="11218265" cy="378909"/>
            <a:chOff x="541891" y="2097591"/>
            <a:chExt cx="11218265" cy="378909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DE5DD20A-D98D-477C-D6C5-F50C33B663C9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767EBB8-F256-651E-8870-1A2D77D8249A}"/>
                </a:ext>
              </a:extLst>
            </p:cNvPr>
            <p:cNvSpPr txBox="1"/>
            <p:nvPr/>
          </p:nvSpPr>
          <p:spPr>
            <a:xfrm>
              <a:off x="760387" y="2136129"/>
              <a:ext cx="547013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운영 중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멘토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 지원내역도 간략하게 작성</a:t>
              </a:r>
              <a:r>
                <a:rPr lang="en-US" altLang="ko-KR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87" name="표 86">
            <a:extLst>
              <a:ext uri="{FF2B5EF4-FFF2-40B4-BE49-F238E27FC236}">
                <a16:creationId xmlns:a16="http://schemas.microsoft.com/office/drawing/2014/main" id="{B6F09869-21B3-E967-FCA1-6C7319A8CE35}"/>
              </a:ext>
            </a:extLst>
          </p:cNvPr>
          <p:cNvGraphicFramePr>
            <a:graphicFrameLocks noGrp="1"/>
          </p:cNvGraphicFramePr>
          <p:nvPr/>
        </p:nvGraphicFramePr>
        <p:xfrm>
          <a:off x="524528" y="2721878"/>
          <a:ext cx="11218265" cy="3666223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22440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7475593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</a:tblGrid>
              <a:tr h="5617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훈련생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역할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담당 업무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김○○</a:t>
                      </a:r>
                      <a:endParaRPr lang="ko-KR" altLang="en-US" sz="1600" b="1" i="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팀장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박○○</a:t>
                      </a:r>
                      <a:endParaRPr lang="ko-KR" altLang="en-US" sz="1600" b="1" i="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팀원</a:t>
                      </a:r>
                      <a:endParaRPr lang="en-US" altLang="ko-KR" sz="1600" b="1" i="0" kern="120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6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정○○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팀원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이○○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멘토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99" name="그래픽 98">
            <a:extLst>
              <a:ext uri="{FF2B5EF4-FFF2-40B4-BE49-F238E27FC236}">
                <a16:creationId xmlns:a16="http://schemas.microsoft.com/office/drawing/2014/main" id="{5B63BFCA-250A-8794-3EEE-3E4B309735E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122" name="그래픽 121">
            <a:extLst>
              <a:ext uri="{FF2B5EF4-FFF2-40B4-BE49-F238E27FC236}">
                <a16:creationId xmlns:a16="http://schemas.microsoft.com/office/drawing/2014/main" id="{651648DD-586C-CE25-FB11-AE7760A15C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04453" y="6126651"/>
            <a:ext cx="109959" cy="109959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EEEDF178-AE45-78BF-93DC-29DA514FC743}"/>
              </a:ext>
            </a:extLst>
          </p:cNvPr>
          <p:cNvGrpSpPr/>
          <p:nvPr/>
        </p:nvGrpSpPr>
        <p:grpSpPr>
          <a:xfrm>
            <a:off x="4525872" y="3492488"/>
            <a:ext cx="2713128" cy="358635"/>
            <a:chOff x="4525872" y="3492488"/>
            <a:chExt cx="2713128" cy="358635"/>
          </a:xfrm>
        </p:grpSpPr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A4D5C7C2-665C-7F5E-7CF3-7A15FA837188}"/>
                </a:ext>
              </a:extLst>
            </p:cNvPr>
            <p:cNvSpPr/>
            <p:nvPr/>
          </p:nvSpPr>
          <p:spPr>
            <a:xfrm>
              <a:off x="4525872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3AFCED98-113B-F75D-CEB2-39E813851D55}"/>
                </a:ext>
              </a:extLst>
            </p:cNvPr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44" name="그래픽 143">
              <a:extLst>
                <a:ext uri="{FF2B5EF4-FFF2-40B4-BE49-F238E27FC236}">
                  <a16:creationId xmlns:a16="http://schemas.microsoft.com/office/drawing/2014/main" id="{9FA35B57-A2CE-9C5D-103D-53DF07421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CB858A7-1A91-D7F1-463B-A7B454AD0CA1}"/>
                </a:ext>
              </a:extLst>
            </p:cNvPr>
            <p:cNvSpPr txBox="1"/>
            <p:nvPr/>
          </p:nvSpPr>
          <p:spPr>
            <a:xfrm>
              <a:off x="5023036" y="3519045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indent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데이터 정제 및 정규화</a:t>
              </a:r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85DB9036-58B9-295D-B4CC-A3EFD9142DF6}"/>
              </a:ext>
            </a:extLst>
          </p:cNvPr>
          <p:cNvGrpSpPr/>
          <p:nvPr/>
        </p:nvGrpSpPr>
        <p:grpSpPr>
          <a:xfrm>
            <a:off x="7579407" y="3492488"/>
            <a:ext cx="2713128" cy="358635"/>
            <a:chOff x="7579407" y="3492488"/>
            <a:chExt cx="2713128" cy="358635"/>
          </a:xfrm>
        </p:grpSpPr>
        <p:sp>
          <p:nvSpPr>
            <p:cNvPr id="146" name="사각형: 둥근 모서리 145">
              <a:extLst>
                <a:ext uri="{FF2B5EF4-FFF2-40B4-BE49-F238E27FC236}">
                  <a16:creationId xmlns:a16="http://schemas.microsoft.com/office/drawing/2014/main" id="{E559751F-6247-AD32-B4A0-3DA72EDF65A4}"/>
                </a:ext>
              </a:extLst>
            </p:cNvPr>
            <p:cNvSpPr/>
            <p:nvPr/>
          </p:nvSpPr>
          <p:spPr>
            <a:xfrm>
              <a:off x="7579407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EE6FB7C8-B9B4-50B1-FEB2-7CBC32B9A834}"/>
                </a:ext>
              </a:extLst>
            </p:cNvPr>
            <p:cNvSpPr/>
            <p:nvPr/>
          </p:nvSpPr>
          <p:spPr>
            <a:xfrm>
              <a:off x="7579407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6939653-3B3C-D5B2-6EA2-213E296BF351}"/>
                </a:ext>
              </a:extLst>
            </p:cNvPr>
            <p:cNvSpPr txBox="1"/>
            <p:nvPr/>
          </p:nvSpPr>
          <p:spPr>
            <a:xfrm>
              <a:off x="8133721" y="3519045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모바일 서비스 테스팅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53" name="그래픽 152">
              <a:extLst>
                <a:ext uri="{FF2B5EF4-FFF2-40B4-BE49-F238E27FC236}">
                  <a16:creationId xmlns:a16="http://schemas.microsoft.com/office/drawing/2014/main" id="{174C7E6C-425A-20A4-A214-6EC75734B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684515" y="3567030"/>
              <a:ext cx="191121" cy="203862"/>
            </a:xfrm>
            <a:prstGeom prst="rect">
              <a:avLst/>
            </a:prstGeom>
          </p:spPr>
        </p:pic>
      </p:grp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id="{D1088FFE-778C-CF69-A75E-E82D40CEA0C5}"/>
              </a:ext>
            </a:extLst>
          </p:cNvPr>
          <p:cNvSpPr/>
          <p:nvPr/>
        </p:nvSpPr>
        <p:spPr>
          <a:xfrm>
            <a:off x="4525872" y="4251550"/>
            <a:ext cx="2713128" cy="3586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E1389372-CDE5-C988-2498-F8F7850DB589}"/>
              </a:ext>
            </a:extLst>
          </p:cNvPr>
          <p:cNvSpPr/>
          <p:nvPr/>
        </p:nvSpPr>
        <p:spPr>
          <a:xfrm>
            <a:off x="4525872" y="4251550"/>
            <a:ext cx="358635" cy="358635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9227B33D-FA37-7FD5-4D04-ACA8DC6D3ADC}"/>
              </a:ext>
            </a:extLst>
          </p:cNvPr>
          <p:cNvSpPr txBox="1"/>
          <p:nvPr/>
        </p:nvSpPr>
        <p:spPr>
          <a:xfrm>
            <a:off x="5023036" y="4278107"/>
            <a:ext cx="18665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 플랫폼 구현</a:t>
            </a:r>
            <a:endParaRPr lang="en-US" altLang="ko-KR" sz="1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80" name="그래픽 179">
            <a:extLst>
              <a:ext uri="{FF2B5EF4-FFF2-40B4-BE49-F238E27FC236}">
                <a16:creationId xmlns:a16="http://schemas.microsoft.com/office/drawing/2014/main" id="{6D277CD9-1D6B-BCDF-F5CB-1AF8956FB3F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93097" y="4335700"/>
            <a:ext cx="216867" cy="193294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765C588E-981B-4FC3-FE5C-730A56AC180D}"/>
              </a:ext>
            </a:extLst>
          </p:cNvPr>
          <p:cNvGrpSpPr/>
          <p:nvPr/>
        </p:nvGrpSpPr>
        <p:grpSpPr>
          <a:xfrm>
            <a:off x="4525872" y="5045671"/>
            <a:ext cx="2713128" cy="358635"/>
            <a:chOff x="4525872" y="5045671"/>
            <a:chExt cx="2713128" cy="358635"/>
          </a:xfrm>
        </p:grpSpPr>
        <p:sp>
          <p:nvSpPr>
            <p:cNvPr id="163" name="사각형: 둥근 모서리 162">
              <a:extLst>
                <a:ext uri="{FF2B5EF4-FFF2-40B4-BE49-F238E27FC236}">
                  <a16:creationId xmlns:a16="http://schemas.microsoft.com/office/drawing/2014/main" id="{303154F9-B8AC-372E-0CDB-A0DDCCE0AED9}"/>
                </a:ext>
              </a:extLst>
            </p:cNvPr>
            <p:cNvSpPr/>
            <p:nvPr/>
          </p:nvSpPr>
          <p:spPr>
            <a:xfrm>
              <a:off x="4525872" y="5045671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DACC4B7D-2BE7-C756-2D53-813C9C1FF2EE}"/>
                </a:ext>
              </a:extLst>
            </p:cNvPr>
            <p:cNvSpPr/>
            <p:nvPr/>
          </p:nvSpPr>
          <p:spPr>
            <a:xfrm>
              <a:off x="4525872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EEA2092-389C-0AA3-CDE5-12283C706BA3}"/>
                </a:ext>
              </a:extLst>
            </p:cNvPr>
            <p:cNvSpPr txBox="1"/>
            <p:nvPr/>
          </p:nvSpPr>
          <p:spPr>
            <a:xfrm>
              <a:off x="5023036" y="5072228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서비스 시스템 설계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2" name="그래픽 181">
              <a:extLst>
                <a:ext uri="{FF2B5EF4-FFF2-40B4-BE49-F238E27FC236}">
                  <a16:creationId xmlns:a16="http://schemas.microsoft.com/office/drawing/2014/main" id="{868BBF98-12BA-9238-1643-BF7C1BA2E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602565" y="5120407"/>
              <a:ext cx="219805" cy="201488"/>
            </a:xfrm>
            <a:prstGeom prst="rect">
              <a:avLst/>
            </a:prstGeom>
          </p:spPr>
        </p:pic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D315D2B-355C-1615-E050-9A778001B89F}"/>
              </a:ext>
            </a:extLst>
          </p:cNvPr>
          <p:cNvGrpSpPr/>
          <p:nvPr/>
        </p:nvGrpSpPr>
        <p:grpSpPr>
          <a:xfrm>
            <a:off x="7579407" y="5045671"/>
            <a:ext cx="2713128" cy="358635"/>
            <a:chOff x="7579407" y="5045671"/>
            <a:chExt cx="2713128" cy="358635"/>
          </a:xfrm>
        </p:grpSpPr>
        <p:sp>
          <p:nvSpPr>
            <p:cNvPr id="166" name="사각형: 둥근 모서리 165">
              <a:extLst>
                <a:ext uri="{FF2B5EF4-FFF2-40B4-BE49-F238E27FC236}">
                  <a16:creationId xmlns:a16="http://schemas.microsoft.com/office/drawing/2014/main" id="{C9D6C950-8B41-2D76-50B6-0D646375AB0D}"/>
                </a:ext>
              </a:extLst>
            </p:cNvPr>
            <p:cNvSpPr/>
            <p:nvPr/>
          </p:nvSpPr>
          <p:spPr>
            <a:xfrm>
              <a:off x="7579407" y="5045671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id="{B587C0B1-E8A6-C24D-7642-E82E3112FECD}"/>
                </a:ext>
              </a:extLst>
            </p:cNvPr>
            <p:cNvSpPr/>
            <p:nvPr/>
          </p:nvSpPr>
          <p:spPr>
            <a:xfrm>
              <a:off x="7579407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24B626D-98A1-99BA-C6BF-9429BF93797D}"/>
                </a:ext>
              </a:extLst>
            </p:cNvPr>
            <p:cNvSpPr txBox="1"/>
            <p:nvPr/>
          </p:nvSpPr>
          <p:spPr>
            <a:xfrm>
              <a:off x="8133721" y="5072228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텍스트 마이닝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4" name="그래픽 183">
              <a:extLst>
                <a:ext uri="{FF2B5EF4-FFF2-40B4-BE49-F238E27FC236}">
                  <a16:creationId xmlns:a16="http://schemas.microsoft.com/office/drawing/2014/main" id="{A974807F-F190-B444-17DF-2D7DAC1BA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638343" y="5153798"/>
              <a:ext cx="240516" cy="150322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4D67248-D905-9E52-5F24-7FF8A07814EF}"/>
              </a:ext>
            </a:extLst>
          </p:cNvPr>
          <p:cNvGrpSpPr/>
          <p:nvPr/>
        </p:nvGrpSpPr>
        <p:grpSpPr>
          <a:xfrm>
            <a:off x="7579407" y="4251550"/>
            <a:ext cx="2713128" cy="358635"/>
            <a:chOff x="7579407" y="4251550"/>
            <a:chExt cx="2713128" cy="358635"/>
          </a:xfrm>
        </p:grpSpPr>
        <p:sp>
          <p:nvSpPr>
            <p:cNvPr id="158" name="사각형: 둥근 모서리 157">
              <a:extLst>
                <a:ext uri="{FF2B5EF4-FFF2-40B4-BE49-F238E27FC236}">
                  <a16:creationId xmlns:a16="http://schemas.microsoft.com/office/drawing/2014/main" id="{FEA7CFED-846E-5236-EA65-8F066B703370}"/>
                </a:ext>
              </a:extLst>
            </p:cNvPr>
            <p:cNvSpPr/>
            <p:nvPr/>
          </p:nvSpPr>
          <p:spPr>
            <a:xfrm>
              <a:off x="7579407" y="4251550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0F6B7CC6-DD9D-E65B-295A-7E37D0E9510A}"/>
                </a:ext>
              </a:extLst>
            </p:cNvPr>
            <p:cNvSpPr/>
            <p:nvPr/>
          </p:nvSpPr>
          <p:spPr>
            <a:xfrm>
              <a:off x="7579407" y="4251550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A1E9FBEB-C5FB-ED00-2326-8673D24E284C}"/>
                </a:ext>
              </a:extLst>
            </p:cNvPr>
            <p:cNvSpPr txBox="1"/>
            <p:nvPr/>
          </p:nvSpPr>
          <p:spPr>
            <a:xfrm>
              <a:off x="8133721" y="4278107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외부 데이터 수집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6" name="그래픽 185">
              <a:extLst>
                <a:ext uri="{FF2B5EF4-FFF2-40B4-BE49-F238E27FC236}">
                  <a16:creationId xmlns:a16="http://schemas.microsoft.com/office/drawing/2014/main" id="{F0589C36-6558-DE35-D2A0-47812F499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7650477" y="4316867"/>
              <a:ext cx="228600" cy="219075"/>
            </a:xfrm>
            <a:prstGeom prst="rect">
              <a:avLst/>
            </a:prstGeom>
          </p:spPr>
        </p:pic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0C0E3E7-9FDB-37CF-3936-26B9B88D8B94}"/>
              </a:ext>
            </a:extLst>
          </p:cNvPr>
          <p:cNvGrpSpPr/>
          <p:nvPr/>
        </p:nvGrpSpPr>
        <p:grpSpPr>
          <a:xfrm>
            <a:off x="4525872" y="5811259"/>
            <a:ext cx="4350872" cy="358635"/>
            <a:chOff x="4525872" y="5811259"/>
            <a:chExt cx="4350872" cy="358635"/>
          </a:xfrm>
        </p:grpSpPr>
        <p:sp>
          <p:nvSpPr>
            <p:cNvPr id="171" name="사각형: 둥근 모서리 170">
              <a:extLst>
                <a:ext uri="{FF2B5EF4-FFF2-40B4-BE49-F238E27FC236}">
                  <a16:creationId xmlns:a16="http://schemas.microsoft.com/office/drawing/2014/main" id="{19D2DE3A-159C-0678-7722-8165D6D67C45}"/>
                </a:ext>
              </a:extLst>
            </p:cNvPr>
            <p:cNvSpPr/>
            <p:nvPr/>
          </p:nvSpPr>
          <p:spPr>
            <a:xfrm>
              <a:off x="4525872" y="5811259"/>
              <a:ext cx="3749754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2" name="타원 171">
              <a:extLst>
                <a:ext uri="{FF2B5EF4-FFF2-40B4-BE49-F238E27FC236}">
                  <a16:creationId xmlns:a16="http://schemas.microsoft.com/office/drawing/2014/main" id="{61E2BFB1-E502-EFDF-F184-F6517E943CFC}"/>
                </a:ext>
              </a:extLst>
            </p:cNvPr>
            <p:cNvSpPr/>
            <p:nvPr/>
          </p:nvSpPr>
          <p:spPr>
            <a:xfrm>
              <a:off x="4525872" y="5811259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9317FFBC-1EEA-B2D2-BB82-A575356B1646}"/>
                </a:ext>
              </a:extLst>
            </p:cNvPr>
            <p:cNvSpPr txBox="1"/>
            <p:nvPr/>
          </p:nvSpPr>
          <p:spPr>
            <a:xfrm>
              <a:off x="5023036" y="5837816"/>
              <a:ext cx="385370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주제 선정 피드백</a:t>
              </a:r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 질의응답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8" name="그래픽 187">
              <a:extLst>
                <a:ext uri="{FF2B5EF4-FFF2-40B4-BE49-F238E27FC236}">
                  <a16:creationId xmlns:a16="http://schemas.microsoft.com/office/drawing/2014/main" id="{0B218DBD-C891-ACA9-3D98-24305179C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606764" y="5897394"/>
              <a:ext cx="186838" cy="182946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5F92146-B07B-C311-EF22-FCD8E1FE76C5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5" name="_x278651016" descr="EMB0000378c3f3d">
              <a:extLst>
                <a:ext uri="{FF2B5EF4-FFF2-40B4-BE49-F238E27FC236}">
                  <a16:creationId xmlns:a16="http://schemas.microsoft.com/office/drawing/2014/main" id="{717B51EC-2096-2458-0684-EA2B4FBCF1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그래픽 23">
              <a:extLst>
                <a:ext uri="{FF2B5EF4-FFF2-40B4-BE49-F238E27FC236}">
                  <a16:creationId xmlns:a16="http://schemas.microsoft.com/office/drawing/2014/main" id="{EA73D950-A5AF-E7B2-A931-ED4DC12A7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132" name="그래픽 131">
            <a:extLst>
              <a:ext uri="{FF2B5EF4-FFF2-40B4-BE49-F238E27FC236}">
                <a16:creationId xmlns:a16="http://schemas.microsoft.com/office/drawing/2014/main" id="{B20C9C05-3F32-E0E6-6FA1-5DC1D8FDD44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sp>
        <p:nvSpPr>
          <p:cNvPr id="21" name="직각 삼각형 20">
            <a:extLst>
              <a:ext uri="{FF2B5EF4-FFF2-40B4-BE49-F238E27FC236}">
                <a16:creationId xmlns:a16="http://schemas.microsoft.com/office/drawing/2014/main" id="{A01872FF-161C-69D3-F8F9-899739FC663C}"/>
              </a:ext>
            </a:extLst>
          </p:cNvPr>
          <p:cNvSpPr/>
          <p:nvPr/>
        </p:nvSpPr>
        <p:spPr>
          <a:xfrm flipH="1">
            <a:off x="10498987" y="5013787"/>
            <a:ext cx="1693012" cy="1372939"/>
          </a:xfrm>
          <a:prstGeom prst="rtTriangle">
            <a:avLst/>
          </a:prstGeom>
          <a:solidFill>
            <a:schemeClr val="bg1">
              <a:lumMod val="95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190" name="그래픽 189">
            <a:extLst>
              <a:ext uri="{FF2B5EF4-FFF2-40B4-BE49-F238E27FC236}">
                <a16:creationId xmlns:a16="http://schemas.microsoft.com/office/drawing/2014/main" id="{57C038B0-EFA2-D18E-D333-33AA86AB745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2700000">
            <a:off x="11833039" y="5062495"/>
            <a:ext cx="154011" cy="15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4540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그래픽 118">
            <a:extLst>
              <a:ext uri="{FF2B5EF4-FFF2-40B4-BE49-F238E27FC236}">
                <a16:creationId xmlns:a16="http://schemas.microsoft.com/office/drawing/2014/main" id="{3B28FD1B-8CAB-173B-64DC-E4F111CEE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" name="그래픽 101">
            <a:extLst>
              <a:ext uri="{FF2B5EF4-FFF2-40B4-BE49-F238E27FC236}">
                <a16:creationId xmlns:a16="http://schemas.microsoft.com/office/drawing/2014/main" id="{2CE23C52-A318-2938-C4FB-99E2929F1D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365" r="36132"/>
          <a:stretch/>
        </p:blipFill>
        <p:spPr>
          <a:xfrm rot="16200000" flipH="1">
            <a:off x="-70596" y="5743970"/>
            <a:ext cx="1184627" cy="1043434"/>
          </a:xfrm>
          <a:prstGeom prst="rect">
            <a:avLst/>
          </a:prstGeom>
        </p:spPr>
      </p:pic>
      <p:pic>
        <p:nvPicPr>
          <p:cNvPr id="100" name="그래픽 99">
            <a:extLst>
              <a:ext uri="{FF2B5EF4-FFF2-40B4-BE49-F238E27FC236}">
                <a16:creationId xmlns:a16="http://schemas.microsoft.com/office/drawing/2014/main" id="{7C74291E-3267-32F0-7B23-8F0B95B0AFF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16078" b="36588"/>
          <a:stretch/>
        </p:blipFill>
        <p:spPr>
          <a:xfrm rot="16200000">
            <a:off x="8716891" y="2969799"/>
            <a:ext cx="4528064" cy="2422157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7EEA120-670B-DBF5-A1A9-F8E6683304B4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절차 및 방법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985117FB-7436-83E8-CACF-9CC7B72D927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프로젝트의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사전 기획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과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프로젝트 수행 및 완료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과정으로 나누어서 작성한다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 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7" name="_x278651016" descr="EMB0000378c3f3d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1F776B-9A28-263D-E9C4-5AC5D2B67486}"/>
              </a:ext>
            </a:extLst>
          </p:cNvPr>
          <p:cNvSpPr txBox="1"/>
          <p:nvPr/>
        </p:nvSpPr>
        <p:spPr>
          <a:xfrm>
            <a:off x="467002" y="2109348"/>
            <a:ext cx="988662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spcAft>
                <a:spcPts val="600"/>
              </a:spcAft>
              <a:buFontTx/>
              <a:buChar char="-"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 수행 절차를 </a:t>
            </a:r>
            <a:r>
              <a:rPr lang="ko-KR" altLang="en-US" sz="14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도식화하여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제시하거나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더 효과적으로 전달하는 방법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등이 있다면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수정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하여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작성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가능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indent="-285750">
              <a:spcAft>
                <a:spcPts val="600"/>
              </a:spcAft>
              <a:buFontTx/>
              <a:buChar char="-"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기획 단계에서 도출된 주제와 아이디어를 기반으로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실제 프로젝트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를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수행한 세부적인 기간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과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활동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내용 작성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BEE369A2-7FC3-B36D-85AB-2C2AFAC93AE4}"/>
              </a:ext>
            </a:extLst>
          </p:cNvPr>
          <p:cNvGraphicFramePr>
            <a:graphicFrameLocks noGrp="1"/>
          </p:cNvGraphicFramePr>
          <p:nvPr/>
        </p:nvGraphicFramePr>
        <p:xfrm>
          <a:off x="524528" y="2832100"/>
          <a:ext cx="11218265" cy="3556000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14947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5153025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  <a:gridCol w="2246368">
                  <a:extLst>
                    <a:ext uri="{9D8B030D-6E8A-4147-A177-3AD203B41FA5}">
                      <a16:colId xmlns:a16="http://schemas.microsoft.com/office/drawing/2014/main" val="258602572"/>
                    </a:ext>
                  </a:extLst>
                </a:gridCol>
              </a:tblGrid>
              <a:tr h="38281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구분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기간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활동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사전 기획</a:t>
                      </a:r>
                      <a:endParaRPr lang="ko-KR" altLang="en-US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아이디어 선정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데이터 수집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협약기업 데이터 협조</a:t>
                      </a:r>
                      <a:endParaRPr lang="en-US" altLang="ko-KR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352092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데이터 전처리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080325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모델링</a:t>
                      </a:r>
                      <a:endParaRPr lang="ko-KR" altLang="en-US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팀별 중간보고 실시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서비스 구축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최적화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오류 수정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총 개발기간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총 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104" name="그래픽 103">
            <a:extLst>
              <a:ext uri="{FF2B5EF4-FFF2-40B4-BE49-F238E27FC236}">
                <a16:creationId xmlns:a16="http://schemas.microsoft.com/office/drawing/2014/main" id="{798868CC-A712-50CF-7DBD-44E0281E482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9625" y="5477900"/>
            <a:ext cx="124936" cy="124936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7792D8BF-43D4-2E73-1A16-D112207FC64D}"/>
              </a:ext>
            </a:extLst>
          </p:cNvPr>
          <p:cNvGrpSpPr/>
          <p:nvPr/>
        </p:nvGrpSpPr>
        <p:grpSpPr>
          <a:xfrm>
            <a:off x="4574111" y="3307757"/>
            <a:ext cx="2474844" cy="326913"/>
            <a:chOff x="4574111" y="3307757"/>
            <a:chExt cx="2474844" cy="326913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0174639B-D32A-99D5-EF92-9BD30C07E193}"/>
                </a:ext>
              </a:extLst>
            </p:cNvPr>
            <p:cNvGrpSpPr/>
            <p:nvPr/>
          </p:nvGrpSpPr>
          <p:grpSpPr>
            <a:xfrm>
              <a:off x="4574111" y="3307757"/>
              <a:ext cx="2474844" cy="326913"/>
              <a:chOff x="4665551" y="3307757"/>
              <a:chExt cx="2474844" cy="326913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52EBB465-39DF-3F0C-FCC4-581E85DB0F3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2" name="사각형: 둥근 모서리 41">
                  <a:extLst>
                    <a:ext uri="{FF2B5EF4-FFF2-40B4-BE49-F238E27FC236}">
                      <a16:creationId xmlns:a16="http://schemas.microsoft.com/office/drawing/2014/main" id="{8CDE927C-B3E2-A43C-0418-E8587888C05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174A2055-007B-2583-88F1-46E92C0E4311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13753A6-3463-661C-1655-AAB129980639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프로젝트 기획 및 주제 선정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6" name="그래픽 105">
              <a:extLst>
                <a:ext uri="{FF2B5EF4-FFF2-40B4-BE49-F238E27FC236}">
                  <a16:creationId xmlns:a16="http://schemas.microsoft.com/office/drawing/2014/main" id="{270D4B4F-04D3-55E7-516E-6043FCD87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88777C6-37C6-2C9B-E4E8-F841A676F252}"/>
              </a:ext>
            </a:extLst>
          </p:cNvPr>
          <p:cNvGrpSpPr/>
          <p:nvPr/>
        </p:nvGrpSpPr>
        <p:grpSpPr>
          <a:xfrm>
            <a:off x="7383737" y="3307757"/>
            <a:ext cx="1446165" cy="326913"/>
            <a:chOff x="7383737" y="3307757"/>
            <a:chExt cx="1446165" cy="326913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5D00CAB-39EC-5F44-BC5A-AD56D3CB3D2E}"/>
                </a:ext>
              </a:extLst>
            </p:cNvPr>
            <p:cNvGrpSpPr/>
            <p:nvPr/>
          </p:nvGrpSpPr>
          <p:grpSpPr>
            <a:xfrm>
              <a:off x="7383737" y="3307757"/>
              <a:ext cx="1446165" cy="326913"/>
              <a:chOff x="4665551" y="3307757"/>
              <a:chExt cx="1446165" cy="326913"/>
            </a:xfrm>
          </p:grpSpPr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116429E9-8018-650E-0A76-0F372A969D0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1446165" cy="326913"/>
                <a:chOff x="4665552" y="3307757"/>
                <a:chExt cx="1548052" cy="358635"/>
              </a:xfrm>
            </p:grpSpPr>
            <p:sp>
              <p:nvSpPr>
                <p:cNvPr id="52" name="사각형: 둥근 모서리 51">
                  <a:extLst>
                    <a:ext uri="{FF2B5EF4-FFF2-40B4-BE49-F238E27FC236}">
                      <a16:creationId xmlns:a16="http://schemas.microsoft.com/office/drawing/2014/main" id="{71A39B3E-69FF-C3F1-24C8-64A4F4271D6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548052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53" name="타원 52">
                  <a:extLst>
                    <a:ext uri="{FF2B5EF4-FFF2-40B4-BE49-F238E27FC236}">
                      <a16:creationId xmlns:a16="http://schemas.microsoft.com/office/drawing/2014/main" id="{5F7042F3-8D75-1DD9-4294-AE00C5FD31F5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161B534-EA92-F4BB-D3E0-0D678E22BBFC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09305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기획안 작성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7" name="그래픽 106">
              <a:extLst>
                <a:ext uri="{FF2B5EF4-FFF2-40B4-BE49-F238E27FC236}">
                  <a16:creationId xmlns:a16="http://schemas.microsoft.com/office/drawing/2014/main" id="{91B6FA92-3B1E-BAF5-F2DD-ED657763F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490054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FC2B727-B097-F8BF-18D1-2BB4C23A519E}"/>
              </a:ext>
            </a:extLst>
          </p:cNvPr>
          <p:cNvGrpSpPr/>
          <p:nvPr/>
        </p:nvGrpSpPr>
        <p:grpSpPr>
          <a:xfrm>
            <a:off x="4574111" y="3841157"/>
            <a:ext cx="2474845" cy="494096"/>
            <a:chOff x="4574111" y="3841157"/>
            <a:chExt cx="2474845" cy="494096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6CD6E83C-DB2E-7D5C-2AC4-D5A1AFF39FB6}"/>
                </a:ext>
              </a:extLst>
            </p:cNvPr>
            <p:cNvGrpSpPr/>
            <p:nvPr/>
          </p:nvGrpSpPr>
          <p:grpSpPr>
            <a:xfrm>
              <a:off x="4574111" y="3841157"/>
              <a:ext cx="2474845" cy="494096"/>
              <a:chOff x="4665551" y="3307757"/>
              <a:chExt cx="2474845" cy="494096"/>
            </a:xfrm>
          </p:grpSpPr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AE9A50F4-E71B-661C-F76E-57AAD92A8ACF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61" name="사각형: 둥근 모서리 60">
                  <a:extLst>
                    <a:ext uri="{FF2B5EF4-FFF2-40B4-BE49-F238E27FC236}">
                      <a16:creationId xmlns:a16="http://schemas.microsoft.com/office/drawing/2014/main" id="{DC02287B-1188-F76D-E52E-E08196FE2CE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E1BC6DA3-FFD4-0534-D4E1-8B56407D797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48405A1-81F1-1A77-3467-B61984F7C156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필요 데이터  및 수집 절차 정의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8" name="그래픽 107">
              <a:extLst>
                <a:ext uri="{FF2B5EF4-FFF2-40B4-BE49-F238E27FC236}">
                  <a16:creationId xmlns:a16="http://schemas.microsoft.com/office/drawing/2014/main" id="{F0E84F05-8158-F45F-6103-1BF5031C7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D055C24-6525-E6A2-FD97-074FB7AE5900}"/>
              </a:ext>
            </a:extLst>
          </p:cNvPr>
          <p:cNvGrpSpPr/>
          <p:nvPr/>
        </p:nvGrpSpPr>
        <p:grpSpPr>
          <a:xfrm>
            <a:off x="7383738" y="3841157"/>
            <a:ext cx="1716293" cy="326913"/>
            <a:chOff x="7383738" y="3841157"/>
            <a:chExt cx="1716293" cy="326913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4E9D9B01-A33B-D7D2-85F0-D7D5F384A55C}"/>
                </a:ext>
              </a:extLst>
            </p:cNvPr>
            <p:cNvGrpSpPr/>
            <p:nvPr/>
          </p:nvGrpSpPr>
          <p:grpSpPr>
            <a:xfrm>
              <a:off x="7383738" y="3841157"/>
              <a:ext cx="1716293" cy="326913"/>
              <a:chOff x="4665552" y="3307757"/>
              <a:chExt cx="1716293" cy="326913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F1DE10FA-FC55-D960-9DE7-5C37EB730A18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3"/>
                <a:chOff x="4665552" y="3307757"/>
                <a:chExt cx="1827181" cy="358635"/>
              </a:xfrm>
            </p:grpSpPr>
            <p:sp>
              <p:nvSpPr>
                <p:cNvPr id="67" name="사각형: 둥근 모서리 66">
                  <a:extLst>
                    <a:ext uri="{FF2B5EF4-FFF2-40B4-BE49-F238E27FC236}">
                      <a16:creationId xmlns:a16="http://schemas.microsoft.com/office/drawing/2014/main" id="{1F9F6BCD-1E50-DC25-3DA6-02B99126718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8" name="타원 67">
                  <a:extLst>
                    <a:ext uri="{FF2B5EF4-FFF2-40B4-BE49-F238E27FC236}">
                      <a16:creationId xmlns:a16="http://schemas.microsoft.com/office/drawing/2014/main" id="{A740A6B6-586D-30F6-3FD5-BE2EADC67242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0CA86B6-E11A-4CCB-186F-0F7E9CCD0942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36318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외부 </a:t>
                </a: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데이터</a:t>
                </a: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 수집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9" name="그래픽 108">
              <a:extLst>
                <a:ext uri="{FF2B5EF4-FFF2-40B4-BE49-F238E27FC236}">
                  <a16:creationId xmlns:a16="http://schemas.microsoft.com/office/drawing/2014/main" id="{1189161E-548A-6C49-38FE-EFA417864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490054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B6F0D4E-432C-3F96-3EA3-85698E2C9828}"/>
              </a:ext>
            </a:extLst>
          </p:cNvPr>
          <p:cNvGrpSpPr/>
          <p:nvPr/>
        </p:nvGrpSpPr>
        <p:grpSpPr>
          <a:xfrm>
            <a:off x="4574111" y="4369794"/>
            <a:ext cx="2456768" cy="326913"/>
            <a:chOff x="4574111" y="4369794"/>
            <a:chExt cx="2456768" cy="326913"/>
          </a:xfrm>
        </p:grpSpPr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227E8274-0A2C-8357-6959-DE160D7042F3}"/>
                </a:ext>
              </a:extLst>
            </p:cNvPr>
            <p:cNvGrpSpPr/>
            <p:nvPr/>
          </p:nvGrpSpPr>
          <p:grpSpPr>
            <a:xfrm>
              <a:off x="4574111" y="4369794"/>
              <a:ext cx="2456768" cy="326913"/>
              <a:chOff x="4665551" y="3307757"/>
              <a:chExt cx="2456768" cy="326913"/>
            </a:xfrm>
          </p:grpSpPr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7CB7853C-4AC9-1069-44B0-8817D1F1FD5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8E545408-E50B-6F90-D463-953D3929A35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74" name="타원 73">
                  <a:extLst>
                    <a:ext uri="{FF2B5EF4-FFF2-40B4-BE49-F238E27FC236}">
                      <a16:creationId xmlns:a16="http://schemas.microsoft.com/office/drawing/2014/main" id="{79F59F47-FAF7-0CDE-8C5F-5CB9BE8DB0C8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7DBD37F-43AA-5CBF-7186-802468863128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데이터 정제 및 정규화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0" name="그래픽 109">
              <a:extLst>
                <a:ext uri="{FF2B5EF4-FFF2-40B4-BE49-F238E27FC236}">
                  <a16:creationId xmlns:a16="http://schemas.microsoft.com/office/drawing/2014/main" id="{15183D72-F3C9-5CD5-A80E-1E66FBC59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4443464"/>
              <a:ext cx="149803" cy="180532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382DD9C-6CFA-79A9-21D9-D91086EC0AAE}"/>
              </a:ext>
            </a:extLst>
          </p:cNvPr>
          <p:cNvGrpSpPr/>
          <p:nvPr/>
        </p:nvGrpSpPr>
        <p:grpSpPr>
          <a:xfrm>
            <a:off x="4574111" y="4896844"/>
            <a:ext cx="2456768" cy="326913"/>
            <a:chOff x="4574111" y="4896844"/>
            <a:chExt cx="2456768" cy="326913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600DF8E4-19D4-A618-4116-A49208004C00}"/>
                </a:ext>
              </a:extLst>
            </p:cNvPr>
            <p:cNvGrpSpPr/>
            <p:nvPr/>
          </p:nvGrpSpPr>
          <p:grpSpPr>
            <a:xfrm>
              <a:off x="4574111" y="4896844"/>
              <a:ext cx="2456768" cy="326913"/>
              <a:chOff x="4665551" y="3307757"/>
              <a:chExt cx="2456768" cy="326913"/>
            </a:xfrm>
          </p:grpSpPr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id="{53C15FE9-37C0-C698-231F-B566813453D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79" name="사각형: 둥근 모서리 78">
                  <a:extLst>
                    <a:ext uri="{FF2B5EF4-FFF2-40B4-BE49-F238E27FC236}">
                      <a16:creationId xmlns:a16="http://schemas.microsoft.com/office/drawing/2014/main" id="{609A3379-4631-8276-AF8A-10994CDEF09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80" name="타원 79">
                  <a:extLst>
                    <a:ext uri="{FF2B5EF4-FFF2-40B4-BE49-F238E27FC236}">
                      <a16:creationId xmlns:a16="http://schemas.microsoft.com/office/drawing/2014/main" id="{5E20FC97-1169-EB3D-C18F-8768D8E1244D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F4CF284-F5E9-7E56-4BF0-D714FE48825D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모형 구현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6" name="그래픽 115">
              <a:extLst>
                <a:ext uri="{FF2B5EF4-FFF2-40B4-BE49-F238E27FC236}">
                  <a16:creationId xmlns:a16="http://schemas.microsoft.com/office/drawing/2014/main" id="{F79D55F9-8B33-7828-2890-B15818F01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4967339"/>
              <a:ext cx="149803" cy="180532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692785A-1488-81E8-8926-A91D1A214D4B}"/>
              </a:ext>
            </a:extLst>
          </p:cNvPr>
          <p:cNvGrpSpPr/>
          <p:nvPr/>
        </p:nvGrpSpPr>
        <p:grpSpPr>
          <a:xfrm>
            <a:off x="4574111" y="5427069"/>
            <a:ext cx="2474845" cy="326913"/>
            <a:chOff x="4574111" y="5427069"/>
            <a:chExt cx="2474845" cy="326913"/>
          </a:xfrm>
        </p:grpSpPr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A3DDF3FC-4E6B-2215-D355-EF844455C59D}"/>
                </a:ext>
              </a:extLst>
            </p:cNvPr>
            <p:cNvGrpSpPr/>
            <p:nvPr/>
          </p:nvGrpSpPr>
          <p:grpSpPr>
            <a:xfrm>
              <a:off x="4574111" y="5427069"/>
              <a:ext cx="2474845" cy="326913"/>
              <a:chOff x="4665551" y="3307757"/>
              <a:chExt cx="2474845" cy="326913"/>
            </a:xfrm>
          </p:grpSpPr>
          <p:grpSp>
            <p:nvGrpSpPr>
              <p:cNvPr id="83" name="그룹 82">
                <a:extLst>
                  <a:ext uri="{FF2B5EF4-FFF2-40B4-BE49-F238E27FC236}">
                    <a16:creationId xmlns:a16="http://schemas.microsoft.com/office/drawing/2014/main" id="{2B9F5418-A583-2D10-0E17-270C2518FD59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85" name="사각형: 둥근 모서리 84">
                  <a:extLst>
                    <a:ext uri="{FF2B5EF4-FFF2-40B4-BE49-F238E27FC236}">
                      <a16:creationId xmlns:a16="http://schemas.microsoft.com/office/drawing/2014/main" id="{085CAA8B-560C-951E-7A12-FF6ED0E82B0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86" name="타원 85">
                  <a:extLst>
                    <a:ext uri="{FF2B5EF4-FFF2-40B4-BE49-F238E27FC236}">
                      <a16:creationId xmlns:a16="http://schemas.microsoft.com/office/drawing/2014/main" id="{BA64813E-02E1-AB0E-776B-F41AF9BB336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36BC604-1341-255F-4D68-038320EDB4D1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0" fontAlgn="ctr">
                  <a:spcBef>
                    <a:spcPts val="600"/>
                  </a:spcBef>
                  <a:buFont typeface="Arial" panose="020B0604020202020204" pitchFamily="34" charset="0"/>
                  <a:buNone/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모바일 서비스 시스템 설계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7" name="그래픽 116">
              <a:extLst>
                <a:ext uri="{FF2B5EF4-FFF2-40B4-BE49-F238E27FC236}">
                  <a16:creationId xmlns:a16="http://schemas.microsoft.com/office/drawing/2014/main" id="{01B09901-6B22-2819-F326-A2CC1AA6B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5505502"/>
              <a:ext cx="149803" cy="180532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5C40BBE-095E-01FB-2528-6DF0EF1A33DB}"/>
              </a:ext>
            </a:extLst>
          </p:cNvPr>
          <p:cNvGrpSpPr/>
          <p:nvPr/>
        </p:nvGrpSpPr>
        <p:grpSpPr>
          <a:xfrm>
            <a:off x="7383738" y="5427069"/>
            <a:ext cx="1936899" cy="326914"/>
            <a:chOff x="7383738" y="5427069"/>
            <a:chExt cx="1936899" cy="326914"/>
          </a:xfrm>
        </p:grpSpPr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56131837-9B70-2254-3652-7A3BBC83141F}"/>
                </a:ext>
              </a:extLst>
            </p:cNvPr>
            <p:cNvGrpSpPr/>
            <p:nvPr/>
          </p:nvGrpSpPr>
          <p:grpSpPr>
            <a:xfrm>
              <a:off x="7383738" y="5427069"/>
              <a:ext cx="1936899" cy="326914"/>
              <a:chOff x="4665552" y="3307757"/>
              <a:chExt cx="1936899" cy="326914"/>
            </a:xfrm>
          </p:grpSpPr>
          <p:grpSp>
            <p:nvGrpSpPr>
              <p:cNvPr id="89" name="그룹 88">
                <a:extLst>
                  <a:ext uri="{FF2B5EF4-FFF2-40B4-BE49-F238E27FC236}">
                    <a16:creationId xmlns:a16="http://schemas.microsoft.com/office/drawing/2014/main" id="{FDB2CC05-7D07-CB94-1C11-AA6CA7F3F719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4"/>
                <a:chOff x="4665552" y="3307756"/>
                <a:chExt cx="1827181" cy="358636"/>
              </a:xfrm>
            </p:grpSpPr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id="{CE4D7620-95B3-3AFE-FF16-14EA352FDE4C}"/>
                    </a:ext>
                  </a:extLst>
                </p:cNvPr>
                <p:cNvSpPr/>
                <p:nvPr/>
              </p:nvSpPr>
              <p:spPr>
                <a:xfrm>
                  <a:off x="4665552" y="3307756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92" name="타원 91">
                  <a:extLst>
                    <a:ext uri="{FF2B5EF4-FFF2-40B4-BE49-F238E27FC236}">
                      <a16:creationId xmlns:a16="http://schemas.microsoft.com/office/drawing/2014/main" id="{D4AF9CA9-195E-A7C9-670D-7BCD3B05EC8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AE65555-DE71-51FC-E0CD-0ACA6582EEE6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58379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모바일 플랫폼 구현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8" name="그래픽 117">
              <a:extLst>
                <a:ext uri="{FF2B5EF4-FFF2-40B4-BE49-F238E27FC236}">
                  <a16:creationId xmlns:a16="http://schemas.microsoft.com/office/drawing/2014/main" id="{D020AD65-5473-489B-22AE-45FCA857C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490054" y="5505502"/>
              <a:ext cx="149803" cy="1805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702527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accent1"/>
                  </a:solidFill>
                  <a:latin typeface="+mj-ea"/>
                  <a:ea typeface="+mj-ea"/>
                </a:rPr>
                <a:t>프로젝트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결과물이 도출된 과정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을 세부적으로 작성한다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 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48F1558-81FC-ADBD-7F72-02E1608F0309}"/>
              </a:ext>
            </a:extLst>
          </p:cNvPr>
          <p:cNvGrpSpPr/>
          <p:nvPr/>
        </p:nvGrpSpPr>
        <p:grpSpPr>
          <a:xfrm>
            <a:off x="515380" y="2097591"/>
            <a:ext cx="11410478" cy="378909"/>
            <a:chOff x="541891" y="2097591"/>
            <a:chExt cx="11410478" cy="378909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53082793-1863-DA6D-DFAD-F5F7C77FA261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898C1A-E42C-1959-DDA8-7FA3885AF73D}"/>
                </a:ext>
              </a:extLst>
            </p:cNvPr>
            <p:cNvSpPr txBox="1"/>
            <p:nvPr/>
          </p:nvSpPr>
          <p:spPr>
            <a:xfrm>
              <a:off x="1062648" y="2136129"/>
              <a:ext cx="1088972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</a:rPr>
                <a:t>이어지는 예시는 하나의 사례 제공을 위해서 간단하게 제시한 것이므로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+mj-ea"/>
                  <a:ea typeface="+mj-ea"/>
                </a:rPr>
                <a:t>프로젝트 성격에 따라 보다 자세하게 작성</a:t>
              </a:r>
              <a:endPara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D85C"/>
                </a:solidFill>
                <a:latin typeface="+mj-ea"/>
                <a:ea typeface="+mj-ea"/>
              </a:endParaRP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241AF91E-7785-5418-A751-C43D2064BD1B}"/>
                </a:ext>
              </a:extLst>
            </p:cNvPr>
            <p:cNvGrpSpPr/>
            <p:nvPr/>
          </p:nvGrpSpPr>
          <p:grpSpPr>
            <a:xfrm>
              <a:off x="829066" y="2139785"/>
              <a:ext cx="235963" cy="276999"/>
              <a:chOff x="-526659" y="2116801"/>
              <a:chExt cx="235963" cy="276999"/>
            </a:xfrm>
          </p:grpSpPr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5A20973A-497E-594B-CABE-FDE69AE049EF}"/>
                  </a:ext>
                </a:extLst>
              </p:cNvPr>
              <p:cNvSpPr/>
              <p:nvPr/>
            </p:nvSpPr>
            <p:spPr>
              <a:xfrm>
                <a:off x="-526659" y="2136129"/>
                <a:ext cx="233582" cy="23358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3174ECA-311B-4561-DF3D-C98A0C484116}"/>
                  </a:ext>
                </a:extLst>
              </p:cNvPr>
              <p:cNvSpPr txBox="1"/>
              <p:nvPr/>
            </p:nvSpPr>
            <p:spPr>
              <a:xfrm>
                <a:off x="-524058" y="2116801"/>
                <a:ext cx="23336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3378C8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!</a:t>
                </a:r>
                <a:endParaRPr lang="ko-KR" altLang="en-US" sz="1200" b="1" dirty="0"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endParaRPr>
              </a:p>
            </p:txBody>
          </p:sp>
        </p:grpSp>
      </p:grpSp>
      <p:sp>
        <p:nvSpPr>
          <p:cNvPr id="5" name="왼쪽 중괄호 4">
            <a:extLst>
              <a:ext uri="{FF2B5EF4-FFF2-40B4-BE49-F238E27FC236}">
                <a16:creationId xmlns:a16="http://schemas.microsoft.com/office/drawing/2014/main" id="{AA2D157E-DC4B-3915-37B9-389E3A4FFCFC}"/>
              </a:ext>
            </a:extLst>
          </p:cNvPr>
          <p:cNvSpPr/>
          <p:nvPr/>
        </p:nvSpPr>
        <p:spPr>
          <a:xfrm>
            <a:off x="2235565" y="3020941"/>
            <a:ext cx="290767" cy="2827409"/>
          </a:xfrm>
          <a:prstGeom prst="leftBrace">
            <a:avLst>
              <a:gd name="adj1" fmla="val 63525"/>
              <a:gd name="adj2" fmla="val 8173"/>
            </a:avLst>
          </a:prstGeom>
          <a:ln w="15875" cap="rnd" cmpd="sng">
            <a:solidFill>
              <a:schemeClr val="bg1">
                <a:lumMod val="75000"/>
                <a:alpha val="87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62D4CE-F6A7-ADDA-07ED-7CFBCE199F48}"/>
              </a:ext>
            </a:extLst>
          </p:cNvPr>
          <p:cNvSpPr txBox="1"/>
          <p:nvPr/>
        </p:nvSpPr>
        <p:spPr>
          <a:xfrm>
            <a:off x="513707" y="2888446"/>
            <a:ext cx="17386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프로젝트</a:t>
            </a:r>
            <a:endParaRPr lang="en-US" altLang="ko-KR" sz="2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defRPr/>
            </a:pPr>
            <a:r>
              <a: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수행 경과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F94D926-D978-3CED-E480-F2C90DA63374}"/>
              </a:ext>
            </a:extLst>
          </p:cNvPr>
          <p:cNvGrpSpPr/>
          <p:nvPr/>
        </p:nvGrpSpPr>
        <p:grpSpPr>
          <a:xfrm>
            <a:off x="2638615" y="3661000"/>
            <a:ext cx="9211099" cy="673099"/>
            <a:chOff x="2665127" y="3661000"/>
            <a:chExt cx="9211099" cy="673099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85E5837F-33ED-4B0A-BE59-F900C8DD2AE7}"/>
                </a:ext>
              </a:extLst>
            </p:cNvPr>
            <p:cNvSpPr/>
            <p:nvPr/>
          </p:nvSpPr>
          <p:spPr>
            <a:xfrm>
              <a:off x="2857501" y="3661000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C19EA3D4-16C1-C2D2-3A00-41314A3E6335}"/>
                </a:ext>
              </a:extLst>
            </p:cNvPr>
            <p:cNvGrpSpPr/>
            <p:nvPr/>
          </p:nvGrpSpPr>
          <p:grpSpPr>
            <a:xfrm>
              <a:off x="2665127" y="3812537"/>
              <a:ext cx="408282" cy="351966"/>
              <a:chOff x="450324" y="2128945"/>
              <a:chExt cx="889526" cy="766832"/>
            </a:xfrm>
          </p:grpSpPr>
          <p:sp>
            <p:nvSpPr>
              <p:cNvPr id="50" name="육각형 49">
                <a:extLst>
                  <a:ext uri="{FF2B5EF4-FFF2-40B4-BE49-F238E27FC236}">
                    <a16:creationId xmlns:a16="http://schemas.microsoft.com/office/drawing/2014/main" id="{5CDA4196-E1B2-7E49-518F-8F2F10F6F60D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id="{D2201DFF-ED8F-E21C-83BC-E77D5DDD5390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3A1EEE5-2A25-4981-5450-C4AA5A85F86A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BC8E924-E6BF-22EA-5924-F6AF36A3A462}"/>
                </a:ext>
              </a:extLst>
            </p:cNvPr>
            <p:cNvSpPr txBox="1"/>
            <p:nvPr/>
          </p:nvSpPr>
          <p:spPr>
            <a:xfrm>
              <a:off x="3276219" y="3839506"/>
              <a:ext cx="860000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 수행 과정이 잘 드러날 수 있도록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가공 과정부터 활용까지 전체적인 프로세스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를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단계별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로 작성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AB460BD-FCED-3D3B-D88E-7BA4E871FD67}"/>
              </a:ext>
            </a:extLst>
          </p:cNvPr>
          <p:cNvGrpSpPr/>
          <p:nvPr/>
        </p:nvGrpSpPr>
        <p:grpSpPr>
          <a:xfrm>
            <a:off x="2638615" y="4597922"/>
            <a:ext cx="9095030" cy="673099"/>
            <a:chOff x="2665127" y="4597922"/>
            <a:chExt cx="9095030" cy="673099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60AEF2CD-96BE-6EDB-1CF2-927625F6B439}"/>
                </a:ext>
              </a:extLst>
            </p:cNvPr>
            <p:cNvSpPr/>
            <p:nvPr/>
          </p:nvSpPr>
          <p:spPr>
            <a:xfrm>
              <a:off x="2857501" y="4597922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191F00A3-4D0E-4CB1-0655-054E51789F4A}"/>
                </a:ext>
              </a:extLst>
            </p:cNvPr>
            <p:cNvGrpSpPr/>
            <p:nvPr/>
          </p:nvGrpSpPr>
          <p:grpSpPr>
            <a:xfrm>
              <a:off x="2665127" y="4749120"/>
              <a:ext cx="408282" cy="351966"/>
              <a:chOff x="450324" y="2128945"/>
              <a:chExt cx="889526" cy="766832"/>
            </a:xfrm>
          </p:grpSpPr>
          <p:sp>
            <p:nvSpPr>
              <p:cNvPr id="54" name="육각형 53">
                <a:extLst>
                  <a:ext uri="{FF2B5EF4-FFF2-40B4-BE49-F238E27FC236}">
                    <a16:creationId xmlns:a16="http://schemas.microsoft.com/office/drawing/2014/main" id="{C31EEF7E-1FD0-E48B-A776-0ACBD3B0BC1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6C68B973-3659-4454-BD29-CE68FD01C44E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BC77D60-A844-B390-ADE8-FEB89E7E6BC4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087B303-51FE-D056-D117-A87B789B4E7C}"/>
                </a:ext>
              </a:extLst>
            </p:cNvPr>
            <p:cNvSpPr txBox="1"/>
            <p:nvPr/>
          </p:nvSpPr>
          <p:spPr>
            <a:xfrm>
              <a:off x="3276220" y="4709456"/>
              <a:ext cx="8176640" cy="3885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프로젝트 수행 과정에서의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피드백 내용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과 그것을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적용</a:t>
              </a:r>
              <a:r>
                <a:rPr lang="en-US" altLang="ko-KR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(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보완 등</a:t>
              </a:r>
              <a:r>
                <a:rPr lang="en-US" altLang="ko-KR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)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한 내용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이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포함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되도록 작성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6EB6972-64A2-D199-D99B-9DC2AD775BFD}"/>
              </a:ext>
            </a:extLst>
          </p:cNvPr>
          <p:cNvGrpSpPr/>
          <p:nvPr/>
        </p:nvGrpSpPr>
        <p:grpSpPr>
          <a:xfrm>
            <a:off x="2638615" y="2724078"/>
            <a:ext cx="9095030" cy="673099"/>
            <a:chOff x="2665127" y="2724078"/>
            <a:chExt cx="9095030" cy="673099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5C4D692F-24A9-2E64-EDDC-3309FB5D256A}"/>
                </a:ext>
              </a:extLst>
            </p:cNvPr>
            <p:cNvSpPr/>
            <p:nvPr/>
          </p:nvSpPr>
          <p:spPr>
            <a:xfrm>
              <a:off x="2857501" y="2724078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7BB0B9-E2A0-8195-FC06-E1784851614C}"/>
                </a:ext>
              </a:extLst>
            </p:cNvPr>
            <p:cNvSpPr txBox="1"/>
            <p:nvPr/>
          </p:nvSpPr>
          <p:spPr>
            <a:xfrm>
              <a:off x="3276220" y="2787639"/>
              <a:ext cx="834259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결과를 서술하는 과정에서는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활용된 기술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및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구현 방법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핵심기능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구현 결과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*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등을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상세히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작성</a:t>
              </a:r>
              <a:endPara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8B6CBB9-7D5C-2C3E-1ABD-C655F98DD92E}"/>
                </a:ext>
              </a:extLst>
            </p:cNvPr>
            <p:cNvSpPr txBox="1"/>
            <p:nvPr/>
          </p:nvSpPr>
          <p:spPr>
            <a:xfrm>
              <a:off x="3871410" y="2985852"/>
              <a:ext cx="3295109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빅데이터 직종의 경우 정확도 등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AE94BE5-34AC-6820-6F4E-6545486CA43D}"/>
                </a:ext>
              </a:extLst>
            </p:cNvPr>
            <p:cNvGrpSpPr/>
            <p:nvPr/>
          </p:nvGrpSpPr>
          <p:grpSpPr>
            <a:xfrm>
              <a:off x="2665127" y="2875954"/>
              <a:ext cx="408282" cy="388045"/>
              <a:chOff x="450324" y="2128945"/>
              <a:chExt cx="889526" cy="845438"/>
            </a:xfrm>
          </p:grpSpPr>
          <p:sp>
            <p:nvSpPr>
              <p:cNvPr id="46" name="육각형 45">
                <a:extLst>
                  <a:ext uri="{FF2B5EF4-FFF2-40B4-BE49-F238E27FC236}">
                    <a16:creationId xmlns:a16="http://schemas.microsoft.com/office/drawing/2014/main" id="{EB4E98E3-EA86-0711-6A3D-B085D6207A8D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7" name="자유형: 도형 46">
                <a:extLst>
                  <a:ext uri="{FF2B5EF4-FFF2-40B4-BE49-F238E27FC236}">
                    <a16:creationId xmlns:a16="http://schemas.microsoft.com/office/drawing/2014/main" id="{DC9CD92F-68F5-4F71-873E-C52262D4E4E7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578A259-752C-6DC6-39E8-9778F13F2078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18FF9A56-7FA6-CC9A-F116-4EEE4E55D731}"/>
                </a:ext>
              </a:extLst>
            </p:cNvPr>
            <p:cNvSpPr/>
            <p:nvPr/>
          </p:nvSpPr>
          <p:spPr>
            <a:xfrm>
              <a:off x="3369468" y="3094630"/>
              <a:ext cx="501942" cy="198999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예시</a:t>
              </a:r>
              <a:endPara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8123C23-7A76-99C8-0803-53A933D1ACBE}"/>
              </a:ext>
            </a:extLst>
          </p:cNvPr>
          <p:cNvGrpSpPr/>
          <p:nvPr/>
        </p:nvGrpSpPr>
        <p:grpSpPr>
          <a:xfrm>
            <a:off x="2638615" y="5534844"/>
            <a:ext cx="9095030" cy="673099"/>
            <a:chOff x="2665127" y="5534844"/>
            <a:chExt cx="9095030" cy="673099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91919741-9825-9507-FEF9-5652C463E060}"/>
                </a:ext>
              </a:extLst>
            </p:cNvPr>
            <p:cNvSpPr/>
            <p:nvPr/>
          </p:nvSpPr>
          <p:spPr>
            <a:xfrm>
              <a:off x="2857501" y="5534844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5E8775BF-8025-6B56-33EC-E05C4930BEF3}"/>
                </a:ext>
              </a:extLst>
            </p:cNvPr>
            <p:cNvGrpSpPr/>
            <p:nvPr/>
          </p:nvGrpSpPr>
          <p:grpSpPr>
            <a:xfrm>
              <a:off x="2665127" y="5685703"/>
              <a:ext cx="408282" cy="351966"/>
              <a:chOff x="450324" y="2128945"/>
              <a:chExt cx="889526" cy="766832"/>
            </a:xfrm>
          </p:grpSpPr>
          <p:sp>
            <p:nvSpPr>
              <p:cNvPr id="58" name="육각형 57">
                <a:extLst>
                  <a:ext uri="{FF2B5EF4-FFF2-40B4-BE49-F238E27FC236}">
                    <a16:creationId xmlns:a16="http://schemas.microsoft.com/office/drawing/2014/main" id="{F2B5CC19-848E-CE0D-0EDF-332B4D2DBF1F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9" name="자유형: 도형 58">
                <a:extLst>
                  <a:ext uri="{FF2B5EF4-FFF2-40B4-BE49-F238E27FC236}">
                    <a16:creationId xmlns:a16="http://schemas.microsoft.com/office/drawing/2014/main" id="{59767EC2-0DEE-BA6F-D589-DB61944A0665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DD2F99E-900E-5D0C-7186-254A772638BA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6921BBF-1516-FB24-0D8B-3AB3A25A673E}"/>
                </a:ext>
              </a:extLst>
            </p:cNvPr>
            <p:cNvSpPr txBox="1"/>
            <p:nvPr/>
          </p:nvSpPr>
          <p:spPr>
            <a:xfrm>
              <a:off x="3276220" y="5601324"/>
              <a:ext cx="695603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 수행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결과물을 잘 드러낼 수 있는 자료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를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첨부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하여 작성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EE8EA9C-7E9C-B73B-B961-169901066557}"/>
                </a:ext>
              </a:extLst>
            </p:cNvPr>
            <p:cNvSpPr txBox="1"/>
            <p:nvPr/>
          </p:nvSpPr>
          <p:spPr>
            <a:xfrm>
              <a:off x="4468338" y="5805874"/>
              <a:ext cx="7150480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결과물 사진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시연 영상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구동 화면 등 프로젝트의 우수성이 드러날 수 있는 자료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219DCB6A-47C7-22E5-1FE9-986DF4AE099E}"/>
                </a:ext>
              </a:extLst>
            </p:cNvPr>
            <p:cNvSpPr/>
            <p:nvPr/>
          </p:nvSpPr>
          <p:spPr>
            <a:xfrm>
              <a:off x="3369468" y="5904505"/>
              <a:ext cx="1098870" cy="198999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첨부 자료 예시</a:t>
              </a:r>
            </a:p>
          </p:txBody>
        </p:sp>
      </p:grp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5D69379C-8748-91C9-144D-FE47E2D5A0C4}"/>
              </a:ext>
            </a:extLst>
          </p:cNvPr>
          <p:cNvGrpSpPr/>
          <p:nvPr/>
        </p:nvGrpSpPr>
        <p:grpSpPr>
          <a:xfrm>
            <a:off x="257705" y="4277173"/>
            <a:ext cx="1918012" cy="1755963"/>
            <a:chOff x="257705" y="4277173"/>
            <a:chExt cx="1918012" cy="1755963"/>
          </a:xfrm>
        </p:grpSpPr>
        <p:pic>
          <p:nvPicPr>
            <p:cNvPr id="76" name="그래픽 75">
              <a:extLst>
                <a:ext uri="{FF2B5EF4-FFF2-40B4-BE49-F238E27FC236}">
                  <a16:creationId xmlns:a16="http://schemas.microsoft.com/office/drawing/2014/main" id="{97DDB7A6-5825-3062-E194-7A2E89250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264772" y="4956615"/>
              <a:ext cx="110003" cy="110003"/>
            </a:xfrm>
            <a:prstGeom prst="rect">
              <a:avLst/>
            </a:prstGeom>
          </p:spPr>
        </p:pic>
        <p:pic>
          <p:nvPicPr>
            <p:cNvPr id="78" name="그래픽 77">
              <a:extLst>
                <a:ext uri="{FF2B5EF4-FFF2-40B4-BE49-F238E27FC236}">
                  <a16:creationId xmlns:a16="http://schemas.microsoft.com/office/drawing/2014/main" id="{065F2D4F-E585-2883-F3BC-F4E544D20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57705" y="4277173"/>
              <a:ext cx="142074" cy="142074"/>
            </a:xfrm>
            <a:prstGeom prst="rect">
              <a:avLst/>
            </a:prstGeom>
          </p:spPr>
        </p:pic>
        <p:pic>
          <p:nvPicPr>
            <p:cNvPr id="80" name="그래픽 79">
              <a:extLst>
                <a:ext uri="{FF2B5EF4-FFF2-40B4-BE49-F238E27FC236}">
                  <a16:creationId xmlns:a16="http://schemas.microsoft.com/office/drawing/2014/main" id="{D6ABE428-E132-1E87-86F1-385627753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004267" y="5861686"/>
              <a:ext cx="171450" cy="171450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6" name="_x278651016" descr="EMB0000378c3f3d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125380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주제 선정 배경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14100E51-3C10-DFF6-3751-E6DBDFB1D3D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4573"/>
          <a:stretch/>
        </p:blipFill>
        <p:spPr>
          <a:xfrm>
            <a:off x="1559112" y="1739348"/>
            <a:ext cx="8015865" cy="37338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858283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8F01C9E6-9BB6-59CC-12AF-1C85407632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7947" y="1661881"/>
            <a:ext cx="6912987" cy="445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3144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DC205B6F-B4ED-96FC-5CC7-7C64EB025E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6191" y="1615757"/>
            <a:ext cx="4465959" cy="329534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5CF99E8-D1D7-831F-F10B-CDBF855A9E5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0" y="2451521"/>
            <a:ext cx="4939312" cy="308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1603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시연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752BDA39-3A2F-799F-6652-588431E8377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5807"/>
          <a:stretch/>
        </p:blipFill>
        <p:spPr>
          <a:xfrm>
            <a:off x="1461721" y="2223924"/>
            <a:ext cx="8490662" cy="317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6851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시연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ea typeface="맑은 고딕" panose="020B0503020000020004" pitchFamily="50" charset="-127"/>
              </a:rPr>
              <a:t>데이터 시각화</a:t>
            </a:r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CC0DBFD0-AFE7-ADDB-D467-CAD5CBED0E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56521" y="1989356"/>
            <a:ext cx="9336157" cy="3545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7118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그래픽 60">
            <a:extLst>
              <a:ext uri="{FF2B5EF4-FFF2-40B4-BE49-F238E27FC236}">
                <a16:creationId xmlns:a16="http://schemas.microsoft.com/office/drawing/2014/main" id="{625593F1-7D9F-57DB-9FA7-6FB470616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6" name="그래픽 55">
            <a:extLst>
              <a:ext uri="{FF2B5EF4-FFF2-40B4-BE49-F238E27FC236}">
                <a16:creationId xmlns:a16="http://schemas.microsoft.com/office/drawing/2014/main" id="{6D81A8B2-BC62-48C9-5FB0-18C5E633AE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" r="2096" b="22185"/>
          <a:stretch/>
        </p:blipFill>
        <p:spPr>
          <a:xfrm rot="16200000">
            <a:off x="10645617" y="3135340"/>
            <a:ext cx="2550875" cy="54189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BD4C7F95-5077-208A-7860-7A398744B57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760" r="51763"/>
          <a:stretch/>
        </p:blipFill>
        <p:spPr>
          <a:xfrm rot="10800000">
            <a:off x="-2" y="5284239"/>
            <a:ext cx="1369421" cy="157376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B7C90AA-2C31-5C36-C37E-E6E813231056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자체 평가 의견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2130850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7316AC48-FB9E-B12B-E3BC-DC5404211B32}"/>
              </a:ext>
            </a:extLst>
          </p:cNvPr>
          <p:cNvGrpSpPr/>
          <p:nvPr/>
        </p:nvGrpSpPr>
        <p:grpSpPr>
          <a:xfrm>
            <a:off x="541891" y="1430219"/>
            <a:ext cx="11108218" cy="646331"/>
            <a:chOff x="541891" y="1430219"/>
            <a:chExt cx="11108218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90649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프로젝트 결과물에 대한 프로젝트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기획 의도와의 부합 정도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및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실무 활용 가능 정도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달성도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완성도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등</a:t>
              </a:r>
              <a:b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훈련생의 자체적인 평가 의견과 느낀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점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을 작성한다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522619C-4947-3D41-24F0-88276CA5AB0C}"/>
              </a:ext>
            </a:extLst>
          </p:cNvPr>
          <p:cNvGrpSpPr/>
          <p:nvPr/>
        </p:nvGrpSpPr>
        <p:grpSpPr>
          <a:xfrm>
            <a:off x="541891" y="2408110"/>
            <a:ext cx="5363941" cy="1748490"/>
            <a:chOff x="541891" y="2408110"/>
            <a:chExt cx="5363941" cy="1748490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3439B1C8-3528-F911-5457-BF5ED692D7CF}"/>
                </a:ext>
              </a:extLst>
            </p:cNvPr>
            <p:cNvSpPr/>
            <p:nvPr/>
          </p:nvSpPr>
          <p:spPr>
            <a:xfrm>
              <a:off x="541891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3A7B748-FE49-2B92-56C1-450D79C9FD92}"/>
                </a:ext>
              </a:extLst>
            </p:cNvPr>
            <p:cNvSpPr/>
            <p:nvPr/>
          </p:nvSpPr>
          <p:spPr>
            <a:xfrm rot="5400000">
              <a:off x="3176968" y="235037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7F9C6E5-5CF0-4ADD-53E6-0361985783EC}"/>
                </a:ext>
              </a:extLst>
            </p:cNvPr>
            <p:cNvSpPr txBox="1"/>
            <p:nvPr/>
          </p:nvSpPr>
          <p:spPr>
            <a:xfrm>
              <a:off x="758026" y="2900049"/>
              <a:ext cx="5051965" cy="7243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사전 기획의 관점에서 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  <a:p>
              <a:pPr algn="ctr">
                <a:lnSpc>
                  <a:spcPct val="120000"/>
                </a:lnSpc>
                <a:defRPr/>
              </a:pP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프로젝트 결과물에 대한 완성도 평가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(10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점 만점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)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159DDAF-8BBD-007D-3622-AD77BC218E24}"/>
              </a:ext>
            </a:extLst>
          </p:cNvPr>
          <p:cNvGrpSpPr/>
          <p:nvPr/>
        </p:nvGrpSpPr>
        <p:grpSpPr>
          <a:xfrm>
            <a:off x="541891" y="4490910"/>
            <a:ext cx="5363941" cy="1748490"/>
            <a:chOff x="541891" y="4490910"/>
            <a:chExt cx="5363941" cy="1748490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FBDEF34A-4B05-D616-FE0F-53CE76D5D25D}"/>
                </a:ext>
              </a:extLst>
            </p:cNvPr>
            <p:cNvSpPr/>
            <p:nvPr/>
          </p:nvSpPr>
          <p:spPr>
            <a:xfrm>
              <a:off x="541891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8D88F86-1654-5597-84CB-A04A190FB71F}"/>
                </a:ext>
              </a:extLst>
            </p:cNvPr>
            <p:cNvSpPr/>
            <p:nvPr/>
          </p:nvSpPr>
          <p:spPr>
            <a:xfrm rot="5400000">
              <a:off x="3176968" y="2317832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7304AE5-695E-DC8E-35C4-7970ECA23F32}"/>
                </a:ext>
              </a:extLst>
            </p:cNvPr>
            <p:cNvSpPr txBox="1"/>
            <p:nvPr/>
          </p:nvSpPr>
          <p:spPr>
            <a:xfrm>
              <a:off x="912406" y="5019135"/>
              <a:ext cx="4622911" cy="7243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 결과물의 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  <a:p>
              <a:pPr algn="ctr">
                <a:lnSpc>
                  <a:spcPct val="120000"/>
                </a:lnSpc>
                <a:defRPr/>
              </a:pP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+mj-ea"/>
                  <a:ea typeface="+mj-ea"/>
                </a:rPr>
                <a:t>추후 개선점이나 보완할 점</a:t>
              </a: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+mj-ea"/>
                  <a:ea typeface="+mj-ea"/>
                </a:rPr>
                <a:t>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등 내용 정리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6FCD1F8-01D8-9AAA-897B-273E7CA1C058}"/>
              </a:ext>
            </a:extLst>
          </p:cNvPr>
          <p:cNvGrpSpPr/>
          <p:nvPr/>
        </p:nvGrpSpPr>
        <p:grpSpPr>
          <a:xfrm>
            <a:off x="6396215" y="4490910"/>
            <a:ext cx="5363941" cy="1748490"/>
            <a:chOff x="6396215" y="4490910"/>
            <a:chExt cx="5363941" cy="1748490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E521B70D-67A3-8111-1F80-FCA0E1856D70}"/>
                </a:ext>
              </a:extLst>
            </p:cNvPr>
            <p:cNvSpPr/>
            <p:nvPr/>
          </p:nvSpPr>
          <p:spPr>
            <a:xfrm>
              <a:off x="6396215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7E12C90-2C49-9FF1-E50E-2D4CA4336A95}"/>
                </a:ext>
              </a:extLst>
            </p:cNvPr>
            <p:cNvSpPr/>
            <p:nvPr/>
          </p:nvSpPr>
          <p:spPr>
            <a:xfrm rot="5400000">
              <a:off x="9031292" y="2317832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0DB3080-EE57-F502-B40D-20275D5DAF63}"/>
                </a:ext>
              </a:extLst>
            </p:cNvPr>
            <p:cNvSpPr txBox="1"/>
            <p:nvPr/>
          </p:nvSpPr>
          <p:spPr>
            <a:xfrm>
              <a:off x="6747148" y="5019135"/>
              <a:ext cx="4622911" cy="743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프로젝트를 수행하면서</a:t>
              </a:r>
              <a:b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</a:b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느낀 점이나</a:t>
              </a:r>
              <a:r>
                <a:rPr lang="en-US" altLang="ko-KR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 </a:t>
              </a: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경험한 성과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경력 계획 등과 연관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)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</a:t>
              </a:r>
              <a:endPara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125D473-6822-3549-B009-40577C5E1CB8}"/>
              </a:ext>
            </a:extLst>
          </p:cNvPr>
          <p:cNvGrpSpPr/>
          <p:nvPr/>
        </p:nvGrpSpPr>
        <p:grpSpPr>
          <a:xfrm>
            <a:off x="6396215" y="2408110"/>
            <a:ext cx="5363941" cy="1748490"/>
            <a:chOff x="6396215" y="2408110"/>
            <a:chExt cx="5363941" cy="1748490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1E025A8C-5815-C97A-B3AE-8F5FE071600F}"/>
                </a:ext>
              </a:extLst>
            </p:cNvPr>
            <p:cNvSpPr/>
            <p:nvPr/>
          </p:nvSpPr>
          <p:spPr>
            <a:xfrm>
              <a:off x="6396215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F7041EC4-B376-7174-8938-DC069344B1D2}"/>
                </a:ext>
              </a:extLst>
            </p:cNvPr>
            <p:cNvSpPr/>
            <p:nvPr/>
          </p:nvSpPr>
          <p:spPr>
            <a:xfrm rot="5400000">
              <a:off x="9031292" y="235037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719653C-5E68-CF3A-C029-6588E11E539A}"/>
                </a:ext>
              </a:extLst>
            </p:cNvPr>
            <p:cNvSpPr txBox="1"/>
            <p:nvPr/>
          </p:nvSpPr>
          <p:spPr>
            <a:xfrm>
              <a:off x="6636060" y="2900049"/>
              <a:ext cx="4995645" cy="3711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개인 또는 우리 팀이 </a:t>
              </a: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+mj-ea"/>
                  <a:ea typeface="+mj-ea"/>
                </a:rPr>
                <a:t>잘한 부분과 아쉬운 점</a:t>
              </a:r>
              <a:endParaRPr lang="en-US" altLang="ko-KR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C000"/>
                </a:solidFill>
                <a:latin typeface="+mj-ea"/>
                <a:ea typeface="+mj-ea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EABFA61-909C-6DFC-2F3E-B5C44522F4AE}"/>
                </a:ext>
              </a:extLst>
            </p:cNvPr>
            <p:cNvSpPr txBox="1"/>
            <p:nvPr/>
          </p:nvSpPr>
          <p:spPr>
            <a:xfrm>
              <a:off x="7774256" y="3457087"/>
              <a:ext cx="318228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모델 평가 결과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정확도가 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00.00%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</a:t>
              </a:r>
              <a:b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정확도 향상을 위해 모델 추후 개선 필요</a:t>
              </a:r>
              <a:endPara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AD969652-523C-023E-663E-3084DFB93342}"/>
                </a:ext>
              </a:extLst>
            </p:cNvPr>
            <p:cNvSpPr/>
            <p:nvPr/>
          </p:nvSpPr>
          <p:spPr>
            <a:xfrm>
              <a:off x="7543801" y="3476532"/>
              <a:ext cx="230456" cy="230456"/>
            </a:xfrm>
            <a:prstGeom prst="ellipse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예</a:t>
              </a:r>
            </a:p>
          </p:txBody>
        </p:sp>
      </p:grpSp>
      <p:pic>
        <p:nvPicPr>
          <p:cNvPr id="58" name="그래픽 57">
            <a:extLst>
              <a:ext uri="{FF2B5EF4-FFF2-40B4-BE49-F238E27FC236}">
                <a16:creationId xmlns:a16="http://schemas.microsoft.com/office/drawing/2014/main" id="{139E4CDD-1A9C-F6FA-D336-76FF37A498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800000">
            <a:off x="378147" y="4327165"/>
            <a:ext cx="138413" cy="138413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A971983B-2C57-1016-A72B-8000F1218B9C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9" name="_x278651016" descr="EMB0000378c3f3d">
              <a:extLst>
                <a:ext uri="{FF2B5EF4-FFF2-40B4-BE49-F238E27FC236}">
                  <a16:creationId xmlns:a16="http://schemas.microsoft.com/office/drawing/2014/main" id="{054461DC-C6BD-2B2B-9550-F9F4558EEF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그래픽 23">
              <a:extLst>
                <a:ext uri="{FF2B5EF4-FFF2-40B4-BE49-F238E27FC236}">
                  <a16:creationId xmlns:a16="http://schemas.microsoft.com/office/drawing/2014/main" id="{7D0E42EB-7E79-83A5-8BEC-B55888EE2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807096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3A009-8F52-296F-D684-01BBED7691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프로젝트 평가 기준</a:t>
            </a:r>
          </a:p>
        </p:txBody>
      </p:sp>
    </p:spTree>
    <p:extLst>
      <p:ext uri="{BB962C8B-B14F-4D97-AF65-F5344CB8AC3E}">
        <p14:creationId xmlns:p14="http://schemas.microsoft.com/office/powerpoint/2010/main" val="26063881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평가 기준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B18A272-70E8-1541-08A4-6F79CE28D1C9}"/>
              </a:ext>
            </a:extLst>
          </p:cNvPr>
          <p:cNvGraphicFramePr>
            <a:graphicFrameLocks noGrp="1"/>
          </p:cNvGraphicFramePr>
          <p:nvPr/>
        </p:nvGraphicFramePr>
        <p:xfrm>
          <a:off x="791683" y="1525588"/>
          <a:ext cx="10608634" cy="4494208"/>
        </p:xfrm>
        <a:graphic>
          <a:graphicData uri="http://schemas.openxmlformats.org/drawingml/2006/table">
            <a:tbl>
              <a:tblPr/>
              <a:tblGrid>
                <a:gridCol w="553931">
                  <a:extLst>
                    <a:ext uri="{9D8B030D-6E8A-4147-A177-3AD203B41FA5}">
                      <a16:colId xmlns:a16="http://schemas.microsoft.com/office/drawing/2014/main" val="1013490651"/>
                    </a:ext>
                  </a:extLst>
                </a:gridCol>
                <a:gridCol w="1158222">
                  <a:extLst>
                    <a:ext uri="{9D8B030D-6E8A-4147-A177-3AD203B41FA5}">
                      <a16:colId xmlns:a16="http://schemas.microsoft.com/office/drawing/2014/main" val="3137928540"/>
                    </a:ext>
                  </a:extLst>
                </a:gridCol>
                <a:gridCol w="6059679">
                  <a:extLst>
                    <a:ext uri="{9D8B030D-6E8A-4147-A177-3AD203B41FA5}">
                      <a16:colId xmlns:a16="http://schemas.microsoft.com/office/drawing/2014/main" val="166051831"/>
                    </a:ext>
                  </a:extLst>
                </a:gridCol>
                <a:gridCol w="570718">
                  <a:extLst>
                    <a:ext uri="{9D8B030D-6E8A-4147-A177-3AD203B41FA5}">
                      <a16:colId xmlns:a16="http://schemas.microsoft.com/office/drawing/2014/main" val="2936623732"/>
                    </a:ext>
                  </a:extLst>
                </a:gridCol>
                <a:gridCol w="566521">
                  <a:extLst>
                    <a:ext uri="{9D8B030D-6E8A-4147-A177-3AD203B41FA5}">
                      <a16:colId xmlns:a16="http://schemas.microsoft.com/office/drawing/2014/main" val="1301440446"/>
                    </a:ext>
                  </a:extLst>
                </a:gridCol>
                <a:gridCol w="566521">
                  <a:extLst>
                    <a:ext uri="{9D8B030D-6E8A-4147-A177-3AD203B41FA5}">
                      <a16:colId xmlns:a16="http://schemas.microsoft.com/office/drawing/2014/main" val="715420275"/>
                    </a:ext>
                  </a:extLst>
                </a:gridCol>
                <a:gridCol w="566521">
                  <a:extLst>
                    <a:ext uri="{9D8B030D-6E8A-4147-A177-3AD203B41FA5}">
                      <a16:colId xmlns:a16="http://schemas.microsoft.com/office/drawing/2014/main" val="3874342549"/>
                    </a:ext>
                  </a:extLst>
                </a:gridCol>
                <a:gridCol w="566521">
                  <a:extLst>
                    <a:ext uri="{9D8B030D-6E8A-4147-A177-3AD203B41FA5}">
                      <a16:colId xmlns:a16="http://schemas.microsoft.com/office/drawing/2014/main" val="3394694401"/>
                    </a:ext>
                  </a:extLst>
                </a:gridCol>
              </a:tblGrid>
              <a:tr h="56177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번호</a:t>
                      </a:r>
                    </a:p>
                  </a:txBody>
                  <a:tcPr marL="9859" marR="9859" marT="98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항목</a:t>
                      </a:r>
                    </a:p>
                  </a:txBody>
                  <a:tcPr marL="94650" marR="94650" marT="47325" marB="473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평가점수</a:t>
                      </a:r>
                      <a:r>
                        <a:rPr lang="en-US" altLang="ko-KR" sz="17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(5</a:t>
                      </a:r>
                      <a:r>
                        <a:rPr lang="ko-KR" alt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점 만점</a:t>
                      </a:r>
                      <a:r>
                        <a:rPr lang="en-US" altLang="ko-KR" sz="17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4650" marR="94650" marT="47325" marB="473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562059"/>
                  </a:ext>
                </a:extLst>
              </a:tr>
              <a:tr h="561776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문제의 정의</a:t>
                      </a:r>
                    </a:p>
                  </a:txBody>
                  <a:tcPr marL="94650" marR="94650" marT="47325" marB="473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4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6061411"/>
                  </a:ext>
                </a:extLst>
              </a:tr>
              <a:tr h="5617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</a:t>
                      </a:r>
                    </a:p>
                  </a:txBody>
                  <a:tcPr marL="9859" marR="9859" marT="98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명확성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해결하려는 문제를 명확히 정의했는가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4399125"/>
                  </a:ext>
                </a:extLst>
              </a:tr>
              <a:tr h="5617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</a:t>
                      </a:r>
                    </a:p>
                  </a:txBody>
                  <a:tcPr marL="9859" marR="9859" marT="98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중요성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문제의 중요성을 설득력 있게 설명했는가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054769"/>
                  </a:ext>
                </a:extLst>
              </a:tr>
              <a:tr h="5617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</a:t>
                      </a:r>
                    </a:p>
                  </a:txBody>
                  <a:tcPr marL="9859" marR="9859" marT="98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독창성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정의한 문제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또는 프로젝트의 주제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 독창적인가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4650" marR="94650" marT="47325" marB="473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171315"/>
                  </a:ext>
                </a:extLst>
              </a:tr>
              <a:tr h="561776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기술 선택</a:t>
                      </a:r>
                    </a:p>
                  </a:txBody>
                  <a:tcPr marL="94650" marR="94650" marT="47325" marB="473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4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626692"/>
                  </a:ext>
                </a:extLst>
              </a:tr>
              <a:tr h="5617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4</a:t>
                      </a:r>
                    </a:p>
                  </a:txBody>
                  <a:tcPr marL="9859" marR="9859" marT="98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선택의 이유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기술 스택을 선택한 이유를 명확하게 설명했는가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1279248"/>
                  </a:ext>
                </a:extLst>
              </a:tr>
              <a:tr h="5617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</a:t>
                      </a:r>
                    </a:p>
                  </a:txBody>
                  <a:tcPr marL="9859" marR="9859" marT="98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아키텍쳐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사용된 기술 간의 상호작용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아키텍처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 명확히 설명되었는가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4650" marR="94650" marT="47325" marB="473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683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51917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1826A-1781-B301-7A35-743015786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B919B5-C524-6EBA-C01C-65E1800CC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평가 기준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EFC9D15-CB97-4998-3490-7B1266476E33}"/>
              </a:ext>
            </a:extLst>
          </p:cNvPr>
          <p:cNvGraphicFramePr>
            <a:graphicFrameLocks noGrp="1"/>
          </p:cNvGraphicFramePr>
          <p:nvPr/>
        </p:nvGraphicFramePr>
        <p:xfrm>
          <a:off x="771353" y="1746648"/>
          <a:ext cx="10649294" cy="4101704"/>
        </p:xfrm>
        <a:graphic>
          <a:graphicData uri="http://schemas.openxmlformats.org/drawingml/2006/table">
            <a:tbl>
              <a:tblPr/>
              <a:tblGrid>
                <a:gridCol w="556495">
                  <a:extLst>
                    <a:ext uri="{9D8B030D-6E8A-4147-A177-3AD203B41FA5}">
                      <a16:colId xmlns:a16="http://schemas.microsoft.com/office/drawing/2014/main" val="4001356113"/>
                    </a:ext>
                  </a:extLst>
                </a:gridCol>
                <a:gridCol w="1163580">
                  <a:extLst>
                    <a:ext uri="{9D8B030D-6E8A-4147-A177-3AD203B41FA5}">
                      <a16:colId xmlns:a16="http://schemas.microsoft.com/office/drawing/2014/main" val="3142641584"/>
                    </a:ext>
                  </a:extLst>
                </a:gridCol>
                <a:gridCol w="6083504">
                  <a:extLst>
                    <a:ext uri="{9D8B030D-6E8A-4147-A177-3AD203B41FA5}">
                      <a16:colId xmlns:a16="http://schemas.microsoft.com/office/drawing/2014/main" val="1810945146"/>
                    </a:ext>
                  </a:extLst>
                </a:gridCol>
                <a:gridCol w="569143">
                  <a:extLst>
                    <a:ext uri="{9D8B030D-6E8A-4147-A177-3AD203B41FA5}">
                      <a16:colId xmlns:a16="http://schemas.microsoft.com/office/drawing/2014/main" val="1170870957"/>
                    </a:ext>
                  </a:extLst>
                </a:gridCol>
                <a:gridCol w="569143">
                  <a:extLst>
                    <a:ext uri="{9D8B030D-6E8A-4147-A177-3AD203B41FA5}">
                      <a16:colId xmlns:a16="http://schemas.microsoft.com/office/drawing/2014/main" val="1432720011"/>
                    </a:ext>
                  </a:extLst>
                </a:gridCol>
                <a:gridCol w="569143">
                  <a:extLst>
                    <a:ext uri="{9D8B030D-6E8A-4147-A177-3AD203B41FA5}">
                      <a16:colId xmlns:a16="http://schemas.microsoft.com/office/drawing/2014/main" val="3346846469"/>
                    </a:ext>
                  </a:extLst>
                </a:gridCol>
                <a:gridCol w="569143">
                  <a:extLst>
                    <a:ext uri="{9D8B030D-6E8A-4147-A177-3AD203B41FA5}">
                      <a16:colId xmlns:a16="http://schemas.microsoft.com/office/drawing/2014/main" val="1739621471"/>
                    </a:ext>
                  </a:extLst>
                </a:gridCol>
                <a:gridCol w="569143">
                  <a:extLst>
                    <a:ext uri="{9D8B030D-6E8A-4147-A177-3AD203B41FA5}">
                      <a16:colId xmlns:a16="http://schemas.microsoft.com/office/drawing/2014/main" val="4062402361"/>
                    </a:ext>
                  </a:extLst>
                </a:gridCol>
              </a:tblGrid>
              <a:tr h="51271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번호</a:t>
                      </a:r>
                    </a:p>
                  </a:txBody>
                  <a:tcPr marL="12618" marR="12618" marT="1261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항목</a:t>
                      </a:r>
                    </a:p>
                  </a:txBody>
                  <a:tcPr marL="121129" marR="121129" marT="60565" marB="6056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평가점수</a:t>
                      </a: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(5</a:t>
                      </a: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점 만점</a:t>
                      </a: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121129" marR="121129" marT="60565" marB="6056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077224"/>
                  </a:ext>
                </a:extLst>
              </a:tr>
              <a:tr h="512713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해결 방안</a:t>
                      </a:r>
                    </a:p>
                  </a:txBody>
                  <a:tcPr marL="121129" marR="121129" marT="60565" marB="6056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4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818635"/>
                  </a:ext>
                </a:extLst>
              </a:tr>
              <a:tr h="51271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6</a:t>
                      </a:r>
                    </a:p>
                  </a:txBody>
                  <a:tcPr marL="12618" marR="12618" marT="1261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타당성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기술을 활용한 문제 해결 방식이 충분히 </a:t>
                      </a:r>
                      <a:r>
                        <a:rPr lang="ko-KR" alt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이해가도록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설명했는가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0526308"/>
                  </a:ext>
                </a:extLst>
              </a:tr>
              <a:tr h="51271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7</a:t>
                      </a:r>
                    </a:p>
                  </a:txBody>
                  <a:tcPr marL="12618" marR="12618" marT="1261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현실성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해결 방안이 실질적으로 적용 가능하고 현실적인가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856695"/>
                  </a:ext>
                </a:extLst>
              </a:tr>
              <a:tr h="512713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결과</a:t>
                      </a:r>
                    </a:p>
                  </a:txBody>
                  <a:tcPr marL="121129" marR="121129" marT="60565" marB="6056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4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953821"/>
                  </a:ext>
                </a:extLst>
              </a:tr>
              <a:tr h="51271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8</a:t>
                      </a:r>
                    </a:p>
                  </a:txBody>
                  <a:tcPr marL="12618" marR="12618" marT="1261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정량적 성과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프로젝트 결과를 정량적 데이터로 타당하게 설명했는가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369821"/>
                  </a:ext>
                </a:extLst>
              </a:tr>
              <a:tr h="51271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9</a:t>
                      </a:r>
                    </a:p>
                  </a:txBody>
                  <a:tcPr marL="12618" marR="12618" marT="1261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정성적 성과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정성적 성과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기대 효과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자체 평가 등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 적절하게 포함 되었는가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8147592"/>
                  </a:ext>
                </a:extLst>
              </a:tr>
              <a:tr h="51271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10</a:t>
                      </a:r>
                    </a:p>
                  </a:txBody>
                  <a:tcPr marL="12618" marR="12618" marT="1261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타당성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프로젝트 결과가 문제 정의 및 목표와 논리적으로 연결 되었는가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8531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2768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F8263-7F9A-F1B7-3727-41B09B4DA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4755C2-195D-0697-131D-7164D60A9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평가 기준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C417CE7-C56A-CCE4-EFDD-94A1E87B7537}"/>
              </a:ext>
            </a:extLst>
          </p:cNvPr>
          <p:cNvGraphicFramePr>
            <a:graphicFrameLocks noGrp="1"/>
          </p:cNvGraphicFramePr>
          <p:nvPr/>
        </p:nvGraphicFramePr>
        <p:xfrm>
          <a:off x="857250" y="1721644"/>
          <a:ext cx="10515600" cy="4164808"/>
        </p:xfrm>
        <a:graphic>
          <a:graphicData uri="http://schemas.openxmlformats.org/drawingml/2006/table">
            <a:tbl>
              <a:tblPr/>
              <a:tblGrid>
                <a:gridCol w="549508">
                  <a:extLst>
                    <a:ext uri="{9D8B030D-6E8A-4147-A177-3AD203B41FA5}">
                      <a16:colId xmlns:a16="http://schemas.microsoft.com/office/drawing/2014/main" val="1721594225"/>
                    </a:ext>
                  </a:extLst>
                </a:gridCol>
                <a:gridCol w="1148972">
                  <a:extLst>
                    <a:ext uri="{9D8B030D-6E8A-4147-A177-3AD203B41FA5}">
                      <a16:colId xmlns:a16="http://schemas.microsoft.com/office/drawing/2014/main" val="776349848"/>
                    </a:ext>
                  </a:extLst>
                </a:gridCol>
                <a:gridCol w="6007130">
                  <a:extLst>
                    <a:ext uri="{9D8B030D-6E8A-4147-A177-3AD203B41FA5}">
                      <a16:colId xmlns:a16="http://schemas.microsoft.com/office/drawing/2014/main" val="782964856"/>
                    </a:ext>
                  </a:extLst>
                </a:gridCol>
                <a:gridCol w="561998">
                  <a:extLst>
                    <a:ext uri="{9D8B030D-6E8A-4147-A177-3AD203B41FA5}">
                      <a16:colId xmlns:a16="http://schemas.microsoft.com/office/drawing/2014/main" val="19180766"/>
                    </a:ext>
                  </a:extLst>
                </a:gridCol>
                <a:gridCol w="561998">
                  <a:extLst>
                    <a:ext uri="{9D8B030D-6E8A-4147-A177-3AD203B41FA5}">
                      <a16:colId xmlns:a16="http://schemas.microsoft.com/office/drawing/2014/main" val="1810562700"/>
                    </a:ext>
                  </a:extLst>
                </a:gridCol>
                <a:gridCol w="561998">
                  <a:extLst>
                    <a:ext uri="{9D8B030D-6E8A-4147-A177-3AD203B41FA5}">
                      <a16:colId xmlns:a16="http://schemas.microsoft.com/office/drawing/2014/main" val="4291793355"/>
                    </a:ext>
                  </a:extLst>
                </a:gridCol>
                <a:gridCol w="561998">
                  <a:extLst>
                    <a:ext uri="{9D8B030D-6E8A-4147-A177-3AD203B41FA5}">
                      <a16:colId xmlns:a16="http://schemas.microsoft.com/office/drawing/2014/main" val="3657610044"/>
                    </a:ext>
                  </a:extLst>
                </a:gridCol>
                <a:gridCol w="561998">
                  <a:extLst>
                    <a:ext uri="{9D8B030D-6E8A-4147-A177-3AD203B41FA5}">
                      <a16:colId xmlns:a16="http://schemas.microsoft.com/office/drawing/2014/main" val="1704462005"/>
                    </a:ext>
                  </a:extLst>
                </a:gridCol>
              </a:tblGrid>
              <a:tr h="52060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평가점수</a:t>
                      </a: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(5</a:t>
                      </a: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만점</a:t>
                      </a: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841500"/>
                  </a:ext>
                </a:extLst>
              </a:tr>
              <a:tr h="520601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878431"/>
                  </a:ext>
                </a:extLst>
              </a:tr>
              <a:tr h="5206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발표력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발표자가 청중이 듣기에 이해도도록 매끄럽게 발표했는가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301750"/>
                  </a:ext>
                </a:extLst>
              </a:tr>
              <a:tr h="5206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발표 자료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발표 자료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슬라이드 등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청중이 보기에 적절하게 구성되었는가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1781243"/>
                  </a:ext>
                </a:extLst>
              </a:tr>
              <a:tr h="520601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시연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8405517"/>
                  </a:ext>
                </a:extLst>
              </a:tr>
              <a:tr h="5206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시연이 원활하게 진행되었는가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1433220"/>
                  </a:ext>
                </a:extLst>
              </a:tr>
              <a:tr h="520601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질문 및 답변 준비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638947"/>
                  </a:ext>
                </a:extLst>
              </a:tr>
              <a:tr h="5206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예상되는 질문에 대한 답변이 준비되어 있는가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190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7347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8682</TotalTime>
  <Words>1981</Words>
  <Application>Microsoft Office PowerPoint</Application>
  <PresentationFormat>와이드스크린</PresentationFormat>
  <Paragraphs>497</Paragraphs>
  <Slides>35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16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52" baseType="lpstr">
      <vt:lpstr>Noto Sans KR</vt:lpstr>
      <vt:lpstr>세방고딕 Regular</vt:lpstr>
      <vt:lpstr>Kim jung chul Gothic Regular</vt:lpstr>
      <vt:lpstr>G마켓 산스 TTF Bold</vt:lpstr>
      <vt:lpstr>Pretendard Medium</vt:lpstr>
      <vt:lpstr>Pretendard ExtraBold</vt:lpstr>
      <vt:lpstr>굴림체</vt:lpstr>
      <vt:lpstr>메이플스토리</vt:lpstr>
      <vt:lpstr>Pretendard Light</vt:lpstr>
      <vt:lpstr>맑은 고딕 Semilight</vt:lpstr>
      <vt:lpstr>세방고딕 Bold</vt:lpstr>
      <vt:lpstr>Wingdings</vt:lpstr>
      <vt:lpstr>Pretendard Black</vt:lpstr>
      <vt:lpstr>휴먼둥근헤드라인</vt:lpstr>
      <vt:lpstr>Arial</vt:lpstr>
      <vt:lpstr>맑은 고딕</vt:lpstr>
      <vt:lpstr>1_Office 테마</vt:lpstr>
      <vt:lpstr>x</vt:lpstr>
      <vt:lpstr>머신비전/머신러닝 프로젝트 개요</vt:lpstr>
      <vt:lpstr>머신비전/머신러닝 프로젝트 개요</vt:lpstr>
      <vt:lpstr>데이터 수집 사이트</vt:lpstr>
      <vt:lpstr> 영상 분석을 위한 데이터 세트</vt:lpstr>
      <vt:lpstr>PowerPoint 프레젠테이션</vt:lpstr>
      <vt:lpstr>프로젝트 계획서 작성</vt:lpstr>
      <vt:lpstr>프로젝트 계획서 작성(예시)</vt:lpstr>
      <vt:lpstr>프로젝트 계획서 작성(예시)</vt:lpstr>
      <vt:lpstr>프로젝트 계획서 작성(예시)</vt:lpstr>
      <vt:lpstr>프로젝트 계획서 작성(예시)</vt:lpstr>
      <vt:lpstr>프로젝트 계획서 작성(예시)</vt:lpstr>
      <vt:lpstr>프로젝트 계획서 작성(예시)</vt:lpstr>
      <vt:lpstr>프로젝트 계획서 작성(예시)</vt:lpstr>
      <vt:lpstr>프로젝트 계획서 작성(예시)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프로젝트 평가 기준</vt:lpstr>
      <vt:lpstr>프로젝트 평가 기준</vt:lpstr>
      <vt:lpstr>프로젝트 평가 기준</vt:lpstr>
      <vt:lpstr>프로젝트 평가 기준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631</cp:revision>
  <dcterms:created xsi:type="dcterms:W3CDTF">2023-01-31T04:26:23Z</dcterms:created>
  <dcterms:modified xsi:type="dcterms:W3CDTF">2025-09-24T02:02:38Z</dcterms:modified>
</cp:coreProperties>
</file>