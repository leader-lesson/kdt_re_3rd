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1004" r:id="rId2"/>
    <p:sldId id="1019" r:id="rId3"/>
    <p:sldId id="1020" r:id="rId4"/>
    <p:sldId id="765" r:id="rId5"/>
    <p:sldId id="828" r:id="rId6"/>
    <p:sldId id="766" r:id="rId7"/>
    <p:sldId id="1021" r:id="rId8"/>
    <p:sldId id="835" r:id="rId9"/>
    <p:sldId id="827" r:id="rId10"/>
    <p:sldId id="1010" r:id="rId11"/>
    <p:sldId id="736" r:id="rId12"/>
    <p:sldId id="737" r:id="rId13"/>
    <p:sldId id="734" r:id="rId14"/>
    <p:sldId id="735" r:id="rId15"/>
    <p:sldId id="738" r:id="rId16"/>
    <p:sldId id="812" r:id="rId17"/>
    <p:sldId id="813" r:id="rId18"/>
    <p:sldId id="814" r:id="rId19"/>
    <p:sldId id="1013" r:id="rId20"/>
    <p:sldId id="816" r:id="rId21"/>
    <p:sldId id="811" r:id="rId22"/>
    <p:sldId id="1012" r:id="rId23"/>
    <p:sldId id="727" r:id="rId24"/>
    <p:sldId id="728" r:id="rId25"/>
    <p:sldId id="729" r:id="rId26"/>
    <p:sldId id="730" r:id="rId27"/>
    <p:sldId id="731" r:id="rId28"/>
    <p:sldId id="744" r:id="rId29"/>
    <p:sldId id="745" r:id="rId30"/>
    <p:sldId id="722" r:id="rId31"/>
    <p:sldId id="1014" r:id="rId32"/>
    <p:sldId id="723" r:id="rId33"/>
    <p:sldId id="1015" r:id="rId34"/>
    <p:sldId id="1016" r:id="rId35"/>
    <p:sldId id="1017" r:id="rId36"/>
    <p:sldId id="739" r:id="rId37"/>
    <p:sldId id="1018" r:id="rId38"/>
    <p:sldId id="740" r:id="rId39"/>
    <p:sldId id="741" r:id="rId40"/>
    <p:sldId id="742" r:id="rId41"/>
    <p:sldId id="743" r:id="rId42"/>
    <p:sldId id="746" r:id="rId43"/>
    <p:sldId id="749" r:id="rId44"/>
    <p:sldId id="726" r:id="rId45"/>
    <p:sldId id="721" r:id="rId46"/>
    <p:sldId id="747" r:id="rId47"/>
    <p:sldId id="748" r:id="rId48"/>
    <p:sldId id="733" r:id="rId49"/>
    <p:sldId id="796" r:id="rId50"/>
    <p:sldId id="1005" r:id="rId51"/>
    <p:sldId id="819" r:id="rId52"/>
    <p:sldId id="1006" r:id="rId53"/>
    <p:sldId id="1007" r:id="rId54"/>
    <p:sldId id="1008" r:id="rId55"/>
    <p:sldId id="1009" r:id="rId56"/>
    <p:sldId id="836" r:id="rId5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A7DF7-56F0-D7C9-455E-8F702BB3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38EA06-7E8C-B163-E9EC-F8C087123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879698-8F97-47A7-3CDF-FE0FEA179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F3DF5-B625-F8BC-374A-485D54CD7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80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F0C6-C632-6C23-B273-57034C61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8584B5-E879-65E7-881A-C966E1A25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8227E-72D0-3968-E0E7-4E6045592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28EC3-5A2A-F6C9-3F83-F5177018E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445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711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B79C-885E-F004-510B-076F1DFB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A6DDC7-1D19-0A18-EF37-D5EF9336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9A7189-1168-B435-1D9E-B77C841B8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252FB-F9C7-B404-7E8C-EDAECD59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767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A1D1-4A89-FE0A-9BD4-252BF1B1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916F58-B650-142C-4A1F-6C32545F4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25254-4C5B-B141-CC28-3D271997A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99637-42B5-7A0A-92BB-85EC22985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01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2358-DF19-7916-1E55-0D1E5362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55B323-3E16-8CA4-9155-A1B19370F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C8BD9B-1022-0739-F3D2-A9A347AE0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753C8-AD60-FB32-9116-C626C5342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396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00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00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00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2358-DF19-7916-1E55-0D1E5362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55B323-3E16-8CA4-9155-A1B19370F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C8BD9B-1022-0739-F3D2-A9A347AE0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753C8-AD60-FB32-9116-C626C5342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396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2358-DF19-7916-1E55-0D1E5362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55B323-3E16-8CA4-9155-A1B19370F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C8BD9B-1022-0739-F3D2-A9A347AE0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753C8-AD60-FB32-9116-C626C5342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396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83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9649-F9D0-3E62-ACFB-F1DEC7B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E6A5F-927E-AD9E-52A2-E57AE992F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71033-3C58-0804-CEC5-AB4EE1627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95131-1FDD-B26F-13CB-72902E47B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1735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07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opencv-perspective-transformation-9edffefb2143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thinkinfi.medium.com/warp-perspective-and-transform-opencv-python-fbfd12560158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412A-EEE2-B5CD-D210-F8F44187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4473389-BA23-8237-2822-9B00BBC0B43A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영상 처리 심화</a:t>
            </a:r>
          </a:p>
        </p:txBody>
      </p:sp>
    </p:spTree>
    <p:extLst>
      <p:ext uri="{BB962C8B-B14F-4D97-AF65-F5344CB8AC3E}">
        <p14:creationId xmlns:p14="http://schemas.microsoft.com/office/powerpoint/2010/main" val="231136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BD76-604F-A2EE-1985-75B077F4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098C994-6C04-9BCD-8DA8-AC122E576EC8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이미지 회전</a:t>
            </a:r>
          </a:p>
        </p:txBody>
      </p:sp>
    </p:spTree>
    <p:extLst>
      <p:ext uri="{BB962C8B-B14F-4D97-AF65-F5344CB8AC3E}">
        <p14:creationId xmlns:p14="http://schemas.microsoft.com/office/powerpoint/2010/main" val="180004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8A33-3CE6-5CAD-B22D-C5C24C1D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A3A1E-407A-9814-1F55-5CAADBD9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75720" cy="4689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cv2.rotate(</a:t>
            </a:r>
            <a:r>
              <a:rPr lang="en-US" altLang="ko-KR" sz="2400" b="1" dirty="0" err="1">
                <a:latin typeface="+mn-ea"/>
              </a:rPr>
              <a:t>src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en-US" altLang="ko-KR" sz="2400" b="1" dirty="0" err="1">
                <a:latin typeface="+mn-ea"/>
              </a:rPr>
              <a:t>rotateCode</a:t>
            </a:r>
            <a:r>
              <a:rPr lang="en-US" altLang="ko-KR" sz="2400" b="1" dirty="0">
                <a:latin typeface="+mn-ea"/>
              </a:rPr>
              <a:t>[, </a:t>
            </a:r>
            <a:r>
              <a:rPr lang="en-US" altLang="ko-KR" sz="2400" b="1" dirty="0" err="1">
                <a:latin typeface="+mn-ea"/>
              </a:rPr>
              <a:t>dst</a:t>
            </a:r>
            <a:r>
              <a:rPr lang="en-US" altLang="ko-KR" sz="2400" b="1" dirty="0">
                <a:latin typeface="+mn-ea"/>
              </a:rPr>
              <a:t>]) </a:t>
            </a:r>
            <a:r>
              <a:rPr lang="ko-KR" altLang="en-US" sz="2400" b="1" dirty="0">
                <a:latin typeface="+mn-ea"/>
              </a:rPr>
              <a:t>→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dst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rotateCode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cv2.ROTATE_90_CLOCKWISE : </a:t>
            </a:r>
            <a:r>
              <a:rPr lang="ko-KR" altLang="en-US" sz="1800" dirty="0"/>
              <a:t>시계 방향 </a:t>
            </a:r>
            <a:r>
              <a:rPr lang="en-US" altLang="ko-KR" sz="1800" dirty="0"/>
              <a:t>90</a:t>
            </a:r>
            <a:r>
              <a:rPr lang="ko-KR" altLang="en-US" sz="1800" dirty="0"/>
              <a:t>도 회전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cv2.ROTATE_180 : 180</a:t>
            </a:r>
            <a:r>
              <a:rPr lang="ko-KR" altLang="en-US" sz="1800" dirty="0"/>
              <a:t>도 회전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 cv2.ROTATE_90_COUNTERCLOCKWISE : </a:t>
            </a:r>
            <a:r>
              <a:rPr lang="ko-KR" altLang="en-US" sz="1800" dirty="0"/>
              <a:t>시계 반대 방향 </a:t>
            </a:r>
            <a:r>
              <a:rPr lang="en-US" altLang="ko-KR" sz="1800" dirty="0"/>
              <a:t>90</a:t>
            </a:r>
            <a:r>
              <a:rPr lang="ko-KR" altLang="en-US" sz="1800" dirty="0"/>
              <a:t>도 회전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5B9A8-F131-FAF7-20A7-BB4D9998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B669D1-8004-716A-8F61-D0F2E541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359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rotate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03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8A33-3CE6-5CAD-B22D-C5C24C1D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LMH\Desktop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23211"/>
            <a:ext cx="12192002" cy="508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5B9A8-F131-FAF7-20A7-BB4D9998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B669D1-8004-716A-8F61-D0F2E541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359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- rotate</a:t>
            </a:r>
            <a:endParaRPr lang="ko-KR" altLang="en-US" sz="4800" b="1" dirty="0">
              <a:solidFill>
                <a:srgbClr val="2A2A2A"/>
              </a:solidFill>
              <a:latin typeface="+mj-ea"/>
              <a:ea typeface="+mj-ea"/>
              <a:cs typeface="Pretendard Black" panose="02000A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879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C38A-6024-9822-447F-977F7BB3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EEFA2-F9C1-2EC9-406C-7B540E0AD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658814" cy="22710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cv2.warpAffine</a:t>
            </a:r>
            <a:r>
              <a:rPr lang="en-US" altLang="ko-KR" sz="2400" dirty="0">
                <a:latin typeface="+mn-ea"/>
              </a:rPr>
              <a:t>() : </a:t>
            </a:r>
            <a:r>
              <a:rPr lang="ko-KR" altLang="en-US" sz="2400" dirty="0" err="1">
                <a:latin typeface="+mn-ea"/>
              </a:rPr>
              <a:t>아핀</a:t>
            </a:r>
            <a:r>
              <a:rPr lang="ko-KR" altLang="en-US" sz="2400" dirty="0">
                <a:latin typeface="+mn-ea"/>
              </a:rPr>
              <a:t> 변환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 err="1"/>
              <a:t>아핀</a:t>
            </a:r>
            <a:r>
              <a:rPr lang="ko-KR" altLang="en-US" sz="2000" b="1" dirty="0"/>
              <a:t> 변환</a:t>
            </a:r>
            <a:r>
              <a:rPr lang="en-US" altLang="ko-KR" sz="2000" b="1" dirty="0"/>
              <a:t>(Affine Transformation)</a:t>
            </a:r>
            <a:r>
              <a:rPr lang="ko-KR" altLang="en-US" sz="2000" b="1" dirty="0"/>
              <a:t>은 </a:t>
            </a:r>
            <a:r>
              <a:rPr lang="en-US" altLang="ko-KR" sz="2000" dirty="0"/>
              <a:t>2D </a:t>
            </a:r>
            <a:r>
              <a:rPr lang="ko-KR" altLang="en-US" sz="2000" dirty="0"/>
              <a:t>또는 </a:t>
            </a:r>
            <a:r>
              <a:rPr lang="en-US" altLang="ko-KR" sz="2000" dirty="0"/>
              <a:t>3D </a:t>
            </a:r>
            <a:r>
              <a:rPr lang="ko-KR" altLang="en-US" sz="2000" dirty="0"/>
              <a:t>공간에서 이미지를 이동</a:t>
            </a:r>
            <a:r>
              <a:rPr lang="en-US" altLang="ko-KR" sz="2000" dirty="0"/>
              <a:t>, </a:t>
            </a:r>
            <a:r>
              <a:rPr lang="ko-KR" altLang="en-US" sz="2000" dirty="0"/>
              <a:t>회전</a:t>
            </a:r>
            <a:r>
              <a:rPr lang="en-US" altLang="ko-KR" sz="2000" dirty="0"/>
              <a:t>, </a:t>
            </a:r>
            <a:r>
              <a:rPr lang="ko-KR" altLang="en-US" sz="2000" dirty="0"/>
              <a:t>크기 조정</a:t>
            </a:r>
            <a:r>
              <a:rPr lang="en-US" altLang="ko-KR" sz="2000" dirty="0"/>
              <a:t>, </a:t>
            </a:r>
            <a:r>
              <a:rPr lang="ko-KR" altLang="en-US" sz="2000" dirty="0"/>
              <a:t>반사</a:t>
            </a:r>
            <a:r>
              <a:rPr lang="en-US" altLang="ko-KR" sz="2000" dirty="0"/>
              <a:t>, </a:t>
            </a:r>
            <a:r>
              <a:rPr lang="ko-KR" altLang="en-US" sz="2000" dirty="0"/>
              <a:t>기울이기</a:t>
            </a:r>
            <a:r>
              <a:rPr lang="en-US" altLang="ko-KR" sz="2000" dirty="0"/>
              <a:t>(</a:t>
            </a:r>
            <a:r>
              <a:rPr lang="ko-KR" altLang="en-US" sz="2000" dirty="0"/>
              <a:t>뒤틀기</a:t>
            </a:r>
            <a:r>
              <a:rPr lang="en-US" altLang="ko-KR" sz="2000" dirty="0"/>
              <a:t>)</a:t>
            </a:r>
            <a:r>
              <a:rPr lang="ko-KR" altLang="en-US" sz="2000" dirty="0"/>
              <a:t>와 같은 변환을 수학적으로 처리하는 방법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이를 수행하는 공식은 </a:t>
            </a:r>
            <a:r>
              <a:rPr lang="ko-KR" altLang="en-US" sz="2000" b="1" dirty="0"/>
              <a:t>행렬 연산</a:t>
            </a:r>
            <a:r>
              <a:rPr lang="ko-KR" altLang="en-US" sz="2000" dirty="0"/>
              <a:t>을 사용하여 정의됨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676FB-AAA5-3F6C-7988-C056CBBA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563E4C-EBCF-5AF9-6132-F9921048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811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아핀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변환</a:t>
            </a:r>
          </a:p>
        </p:txBody>
      </p:sp>
    </p:spTree>
    <p:extLst>
      <p:ext uri="{BB962C8B-B14F-4D97-AF65-F5344CB8AC3E}">
        <p14:creationId xmlns:p14="http://schemas.microsoft.com/office/powerpoint/2010/main" val="307668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847F-DA7F-F90F-F8F1-B0DDC4C2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CEE65-5670-BC92-77FE-722D20C2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0F152B-A15C-76BD-DDF4-235681FA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98F2D-3482-15C0-DC1C-AA7FC743AEC5}"/>
              </a:ext>
            </a:extLst>
          </p:cNvPr>
          <p:cNvSpPr txBox="1"/>
          <p:nvPr/>
        </p:nvSpPr>
        <p:spPr>
          <a:xfrm>
            <a:off x="200677" y="110919"/>
            <a:ext cx="5811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아핀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변환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74FABB7-8EBA-3FFF-50C8-00059D506B02}"/>
              </a:ext>
            </a:extLst>
          </p:cNvPr>
          <p:cNvGrpSpPr/>
          <p:nvPr/>
        </p:nvGrpSpPr>
        <p:grpSpPr>
          <a:xfrm>
            <a:off x="377371" y="1228409"/>
            <a:ext cx="11437257" cy="1954861"/>
            <a:chOff x="1216278" y="4456879"/>
            <a:chExt cx="9920627" cy="1695638"/>
          </a:xfrm>
        </p:grpSpPr>
        <p:pic>
          <p:nvPicPr>
            <p:cNvPr id="12290" name="Picture 2">
              <a:extLst>
                <a:ext uri="{FF2B5EF4-FFF2-40B4-BE49-F238E27FC236}">
                  <a16:creationId xmlns:a16="http://schemas.microsoft.com/office/drawing/2014/main" id="{7F2E26ED-3E5B-05DA-90F9-0751E469CA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6278" y="4456879"/>
              <a:ext cx="5248403" cy="1695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291" name="Picture 3">
              <a:extLst>
                <a:ext uri="{FF2B5EF4-FFF2-40B4-BE49-F238E27FC236}">
                  <a16:creationId xmlns:a16="http://schemas.microsoft.com/office/drawing/2014/main" id="{D7FE8EF2-8366-1F68-5BD0-B6D685C4E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4119" y="4475425"/>
              <a:ext cx="4342786" cy="1677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7DEED84-EE30-DEB8-0FF2-4B4D76EA4EED}"/>
              </a:ext>
            </a:extLst>
          </p:cNvPr>
          <p:cNvSpPr txBox="1"/>
          <p:nvPr/>
        </p:nvSpPr>
        <p:spPr>
          <a:xfrm>
            <a:off x="200677" y="941916"/>
            <a:ext cx="5510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✅ </a:t>
            </a:r>
            <a:r>
              <a:rPr lang="ko-KR" altLang="en-US" sz="2400" dirty="0" err="1"/>
              <a:t>아핀</a:t>
            </a:r>
            <a:r>
              <a:rPr lang="ko-KR" altLang="en-US" sz="2400" dirty="0"/>
              <a:t> 변환 공식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0D8C141-9F36-FE90-724D-999AD9725A2F}"/>
              </a:ext>
            </a:extLst>
          </p:cNvPr>
          <p:cNvGrpSpPr/>
          <p:nvPr/>
        </p:nvGrpSpPr>
        <p:grpSpPr>
          <a:xfrm>
            <a:off x="3537551" y="3429000"/>
            <a:ext cx="5218301" cy="2578211"/>
            <a:chOff x="2966190" y="1899474"/>
            <a:chExt cx="4351655" cy="215002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6114323-D34E-19E8-D46F-71D89E2E7572}"/>
                </a:ext>
              </a:extLst>
            </p:cNvPr>
            <p:cNvSpPr/>
            <p:nvPr/>
          </p:nvSpPr>
          <p:spPr>
            <a:xfrm>
              <a:off x="4239466" y="2592327"/>
              <a:ext cx="1728192" cy="792088"/>
            </a:xfrm>
            <a:prstGeom prst="rect">
              <a:avLst/>
            </a:prstGeom>
            <a:solidFill>
              <a:schemeClr val="bg2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7BC3B6-278F-E87A-E1B3-75760E86E59B}"/>
                </a:ext>
              </a:extLst>
            </p:cNvPr>
            <p:cNvSpPr txBox="1"/>
            <p:nvPr/>
          </p:nvSpPr>
          <p:spPr>
            <a:xfrm>
              <a:off x="5898219" y="2516603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회전</a:t>
              </a:r>
              <a:r>
                <a:rPr lang="en-US" altLang="ko-KR" dirty="0"/>
                <a:t> </a:t>
              </a:r>
              <a:r>
                <a:rPr lang="ko-KR" altLang="en-US" dirty="0"/>
                <a:t>전</a:t>
              </a:r>
              <a:r>
                <a:rPr lang="en-US" altLang="ko-KR" dirty="0"/>
                <a:t>(x, y)</a:t>
              </a:r>
              <a:endParaRPr lang="ko-KR" altLang="en-US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0F5A2DF7-DD7C-D39B-E287-1257DD9B43AA}"/>
                </a:ext>
              </a:extLst>
            </p:cNvPr>
            <p:cNvCxnSpPr/>
            <p:nvPr/>
          </p:nvCxnSpPr>
          <p:spPr>
            <a:xfrm>
              <a:off x="2966190" y="2987868"/>
              <a:ext cx="43516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332DF9EC-2824-7E9D-199D-95AAEFEE62B5}"/>
                </a:ext>
              </a:extLst>
            </p:cNvPr>
            <p:cNvCxnSpPr/>
            <p:nvPr/>
          </p:nvCxnSpPr>
          <p:spPr>
            <a:xfrm>
              <a:off x="5103562" y="2033276"/>
              <a:ext cx="0" cy="201622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542C63A-94A7-303A-5995-0FBA7906EB28}"/>
                </a:ext>
              </a:extLst>
            </p:cNvPr>
            <p:cNvSpPr/>
            <p:nvPr/>
          </p:nvSpPr>
          <p:spPr>
            <a:xfrm rot="19800000">
              <a:off x="4232920" y="2591824"/>
              <a:ext cx="1728192" cy="79208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479C472E-C9BE-235F-FDAE-1A0C2DD9CB02}"/>
                </a:ext>
              </a:extLst>
            </p:cNvPr>
            <p:cNvCxnSpPr/>
            <p:nvPr/>
          </p:nvCxnSpPr>
          <p:spPr>
            <a:xfrm flipV="1">
              <a:off x="5103562" y="2592327"/>
              <a:ext cx="864096" cy="39554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67EE2F6-7AC2-7764-9A03-E775114FFE89}"/>
                </a:ext>
              </a:extLst>
            </p:cNvPr>
            <p:cNvCxnSpPr/>
            <p:nvPr/>
          </p:nvCxnSpPr>
          <p:spPr>
            <a:xfrm flipV="1">
              <a:off x="5103561" y="2212834"/>
              <a:ext cx="519273" cy="76650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16C69B1-F1E7-AFF5-A95A-B80DAB27F4FA}"/>
                </a:ext>
              </a:extLst>
            </p:cNvPr>
            <p:cNvSpPr txBox="1"/>
            <p:nvPr/>
          </p:nvSpPr>
          <p:spPr>
            <a:xfrm>
              <a:off x="5446822" y="1899474"/>
              <a:ext cx="1507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회전 후</a:t>
              </a:r>
              <a:r>
                <a:rPr lang="en-US" altLang="ko-KR" dirty="0"/>
                <a:t>(x’, y’)</a:t>
              </a:r>
              <a:endParaRPr lang="ko-KR" altLang="en-US" dirty="0"/>
            </a:p>
          </p:txBody>
        </p:sp>
        <p:sp>
          <p:nvSpPr>
            <p:cNvPr id="19" name="원호 18">
              <a:extLst>
                <a:ext uri="{FF2B5EF4-FFF2-40B4-BE49-F238E27FC236}">
                  <a16:creationId xmlns:a16="http://schemas.microsoft.com/office/drawing/2014/main" id="{D3D77F96-08D8-D0E0-200C-C9DE2DD87B38}"/>
                </a:ext>
              </a:extLst>
            </p:cNvPr>
            <p:cNvSpPr/>
            <p:nvPr/>
          </p:nvSpPr>
          <p:spPr>
            <a:xfrm rot="494918">
              <a:off x="5146619" y="2801257"/>
              <a:ext cx="167251" cy="161767"/>
            </a:xfrm>
            <a:prstGeom prst="arc">
              <a:avLst>
                <a:gd name="adj1" fmla="val 15900092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81EC7D-CA92-33DB-5070-D726B79C72E7}"/>
                    </a:ext>
                  </a:extLst>
                </p:cNvPr>
                <p:cNvSpPr txBox="1"/>
                <p:nvPr/>
              </p:nvSpPr>
              <p:spPr>
                <a:xfrm>
                  <a:off x="5256232" y="2621089"/>
                  <a:ext cx="2039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232" y="2621089"/>
                  <a:ext cx="20390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242" t="-2222" r="-2121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0447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C38A-6024-9822-447F-977F7BB3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EEFA2-F9C1-2EC9-406C-7B540E0AD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54" y="1034249"/>
            <a:ext cx="11323320" cy="512250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cv2.warpAffine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src</a:t>
            </a:r>
            <a:r>
              <a:rPr lang="en-US" altLang="ko-KR" sz="2400" dirty="0">
                <a:latin typeface="+mn-ea"/>
              </a:rPr>
              <a:t>, matrix, (width, height)[,</a:t>
            </a:r>
            <a:r>
              <a:rPr lang="en-US" altLang="ko-KR" sz="2400" dirty="0" err="1">
                <a:latin typeface="+mn-ea"/>
              </a:rPr>
              <a:t>dst</a:t>
            </a:r>
            <a:r>
              <a:rPr lang="en-US" altLang="ko-KR" sz="2400" dirty="0">
                <a:latin typeface="+mn-ea"/>
              </a:rPr>
              <a:t>[,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         flags[,</a:t>
            </a:r>
            <a:r>
              <a:rPr lang="en-US" altLang="ko-KR" sz="2400" dirty="0" err="1">
                <a:latin typeface="+mn-ea"/>
              </a:rPr>
              <a:t>borderMode</a:t>
            </a:r>
            <a:r>
              <a:rPr lang="en-US" altLang="ko-KR" sz="2400" dirty="0">
                <a:latin typeface="+mn-ea"/>
              </a:rPr>
              <a:t>[,</a:t>
            </a:r>
            <a:r>
              <a:rPr lang="en-US" altLang="ko-KR" sz="2400" dirty="0" err="1">
                <a:latin typeface="+mn-ea"/>
              </a:rPr>
              <a:t>borderValue</a:t>
            </a:r>
            <a:r>
              <a:rPr lang="en-US" altLang="ko-KR" sz="2400" dirty="0">
                <a:latin typeface="+mn-ea"/>
              </a:rPr>
              <a:t>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dirty="0" err="1">
                <a:latin typeface="+mn-ea"/>
              </a:rPr>
              <a:t>dst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src</a:t>
            </a:r>
            <a:r>
              <a:rPr lang="en-US" altLang="ko-KR" sz="2000" dirty="0"/>
              <a:t> : </a:t>
            </a:r>
            <a:r>
              <a:rPr lang="ko-KR" altLang="en-US" sz="2000" dirty="0"/>
              <a:t>원본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matrix : </a:t>
            </a:r>
            <a:r>
              <a:rPr lang="ko-KR" altLang="en-US" sz="2000" dirty="0" err="1"/>
              <a:t>아핀</a:t>
            </a:r>
            <a:r>
              <a:rPr lang="ko-KR" altLang="en-US" sz="2000" dirty="0"/>
              <a:t> 맵 행렬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size : </a:t>
            </a:r>
            <a:r>
              <a:rPr lang="ko-KR" altLang="en-US" sz="2000" dirty="0"/>
              <a:t>출력 이미지 크기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dst</a:t>
            </a:r>
            <a:r>
              <a:rPr lang="en-US" altLang="ko-KR" sz="2000" dirty="0"/>
              <a:t> : </a:t>
            </a:r>
            <a:r>
              <a:rPr lang="ko-KR" altLang="en-US" sz="2000" dirty="0"/>
              <a:t>출력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flags : </a:t>
            </a:r>
            <a:r>
              <a:rPr lang="ko-KR" altLang="en-US" sz="2000" dirty="0"/>
              <a:t>보간 방법과 </a:t>
            </a:r>
            <a:r>
              <a:rPr lang="en-US" altLang="ko-KR" sz="2000" dirty="0"/>
              <a:t>option flag</a:t>
            </a:r>
            <a:r>
              <a:rPr lang="ko-KR" altLang="en-US" sz="2000" dirty="0"/>
              <a:t>의 조합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borderMode</a:t>
            </a:r>
            <a:r>
              <a:rPr lang="en-US" altLang="ko-KR" sz="2000" dirty="0"/>
              <a:t> : </a:t>
            </a:r>
            <a:r>
              <a:rPr lang="ko-KR" altLang="en-US" sz="2000" dirty="0"/>
              <a:t>픽셀 </a:t>
            </a:r>
            <a:r>
              <a:rPr lang="ko-KR" altLang="en-US" sz="2000" dirty="0" err="1"/>
              <a:t>외삽</a:t>
            </a:r>
            <a:r>
              <a:rPr lang="ko-KR" altLang="en-US" sz="2000" dirty="0"/>
              <a:t> 방법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borderValue</a:t>
            </a:r>
            <a:r>
              <a:rPr lang="en-US" altLang="ko-KR" sz="2000" dirty="0"/>
              <a:t> : </a:t>
            </a:r>
            <a:r>
              <a:rPr lang="ko-KR" altLang="en-US" sz="2000" dirty="0"/>
              <a:t>일정한 경계의 경우 사용되는 값</a:t>
            </a:r>
            <a:r>
              <a:rPr lang="en-US" altLang="ko-KR" sz="2000" dirty="0"/>
              <a:t>, </a:t>
            </a:r>
            <a:r>
              <a:rPr lang="ko-KR" altLang="en-US" sz="2000" dirty="0"/>
              <a:t>기본적으로 </a:t>
            </a:r>
            <a:r>
              <a:rPr lang="en-US" altLang="ko-KR" sz="2000" dirty="0"/>
              <a:t>0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676FB-AAA5-3F6C-7988-C056CBBA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563E4C-EBCF-5AF9-6132-F9921048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811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아핀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변환</a:t>
            </a:r>
          </a:p>
        </p:txBody>
      </p:sp>
    </p:spTree>
    <p:extLst>
      <p:ext uri="{BB962C8B-B14F-4D97-AF65-F5344CB8AC3E}">
        <p14:creationId xmlns:p14="http://schemas.microsoft.com/office/powerpoint/2010/main" val="2313935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8A33-3CE6-5CAD-B22D-C5C24C1D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5B9A8-F131-FAF7-20A7-BB4D9998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B669D1-8004-716A-8F61-D0F2E541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4739C-8B21-1F9B-1EA5-C5032DA49536}"/>
              </a:ext>
            </a:extLst>
          </p:cNvPr>
          <p:cNvSpPr txBox="1"/>
          <p:nvPr/>
        </p:nvSpPr>
        <p:spPr>
          <a:xfrm>
            <a:off x="200677" y="110919"/>
            <a:ext cx="5811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이미지 회전 </a:t>
            </a:r>
            <a:r>
              <a:rPr lang="en-US" altLang="ko-KR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– </a:t>
            </a:r>
            <a:r>
              <a:rPr lang="ko-KR" altLang="en-US" sz="4800" b="1" dirty="0" err="1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아핀</a:t>
            </a:r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 변환</a:t>
            </a:r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F941DE-525B-7BD2-FF6B-26153B6CE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4" y="631965"/>
            <a:ext cx="11146972" cy="62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4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원근 변환</a:t>
            </a:r>
          </a:p>
        </p:txBody>
      </p:sp>
    </p:spTree>
    <p:extLst>
      <p:ext uri="{BB962C8B-B14F-4D97-AF65-F5344CB8AC3E}">
        <p14:creationId xmlns:p14="http://schemas.microsoft.com/office/powerpoint/2010/main" val="182613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2313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원근변환</a:t>
            </a:r>
          </a:p>
        </p:txBody>
      </p:sp>
      <p:pic>
        <p:nvPicPr>
          <p:cNvPr id="1026" name="Picture 2" descr="OpenCv Perspective Transformation | by Raqueeb Shaikh | Analytics Vidhya |  Medium">
            <a:extLst>
              <a:ext uri="{FF2B5EF4-FFF2-40B4-BE49-F238E27FC236}">
                <a16:creationId xmlns:a16="http://schemas.microsoft.com/office/drawing/2014/main" id="{6974CCDB-009C-35C4-71F9-06FB64C1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7" y="2745380"/>
            <a:ext cx="5888332" cy="247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3C47C-BD77-1D47-D08A-2AE3DF5198B9}"/>
              </a:ext>
            </a:extLst>
          </p:cNvPr>
          <p:cNvSpPr txBox="1"/>
          <p:nvPr/>
        </p:nvSpPr>
        <p:spPr>
          <a:xfrm>
            <a:off x="3110469" y="5723156"/>
            <a:ext cx="595708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[</a:t>
            </a:r>
            <a:r>
              <a:rPr lang="ko-KR" altLang="en-US" sz="1050" dirty="0"/>
              <a:t>이미지 출처</a:t>
            </a:r>
            <a:r>
              <a:rPr lang="en-US" altLang="ko-KR" sz="1050" dirty="0"/>
              <a:t>] </a:t>
            </a:r>
          </a:p>
          <a:p>
            <a:r>
              <a:rPr lang="en-US" altLang="ko-KR" sz="1050" dirty="0">
                <a:hlinkClick r:id="rId3"/>
              </a:rPr>
              <a:t>https://medium.com/analytics-vidhya/opencv-perspective-transformation-9edffefb2143</a:t>
            </a:r>
            <a:endParaRPr lang="en-US" altLang="ko-KR" sz="1050" dirty="0"/>
          </a:p>
          <a:p>
            <a:r>
              <a:rPr lang="en-US" altLang="ko-KR" sz="1050" dirty="0">
                <a:hlinkClick r:id="rId4"/>
              </a:rPr>
              <a:t>https://thinkinfi.medium.com/warp-perspective-and-transform-opencv-python-fbfd12560158</a:t>
            </a:r>
            <a:endParaRPr lang="en-US" altLang="ko-KR" sz="105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B356078-8B03-58DA-8614-E4EF32A7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536" y="2437728"/>
            <a:ext cx="5819775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71DFF7-8E52-0C35-FB4F-A58D65E03C57}"/>
              </a:ext>
            </a:extLst>
          </p:cNvPr>
          <p:cNvSpPr txBox="1"/>
          <p:nvPr/>
        </p:nvSpPr>
        <p:spPr>
          <a:xfrm>
            <a:off x="337838" y="1104568"/>
            <a:ext cx="11667473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원근 변환</a:t>
            </a:r>
            <a:r>
              <a:rPr lang="en-US" altLang="ko-KR" sz="2400" b="1" dirty="0"/>
              <a:t>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원근법의 원리를 이용해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이미지에서 특정 부분의 기하학적 왜곡을 수정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하거나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시점을 변경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것</a:t>
            </a:r>
          </a:p>
        </p:txBody>
      </p:sp>
    </p:spTree>
    <p:extLst>
      <p:ext uri="{BB962C8B-B14F-4D97-AF65-F5344CB8AC3E}">
        <p14:creationId xmlns:p14="http://schemas.microsoft.com/office/powerpoint/2010/main" val="832636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FE17-8A6B-BB00-C9A2-B43BA605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B4D8E-53F5-4AE5-AC0A-1A5A9EB9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71592B-0300-D8F4-E9B6-A1322D37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4FF7F-068B-7C2B-B7A3-D7BAB503B10E}"/>
              </a:ext>
            </a:extLst>
          </p:cNvPr>
          <p:cNvSpPr txBox="1"/>
          <p:nvPr/>
        </p:nvSpPr>
        <p:spPr>
          <a:xfrm>
            <a:off x="200677" y="110919"/>
            <a:ext cx="2313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원근변환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8551D8-9A99-CA6F-D1E4-763E17C2C4AE}"/>
              </a:ext>
            </a:extLst>
          </p:cNvPr>
          <p:cNvSpPr txBox="1"/>
          <p:nvPr/>
        </p:nvSpPr>
        <p:spPr>
          <a:xfrm>
            <a:off x="3243296" y="5807114"/>
            <a:ext cx="57054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</a:p>
          <a:p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https://arnab.org/blog/so-i-suck-24-automating-card-games-using-opencv-and-python/</a:t>
            </a:r>
          </a:p>
        </p:txBody>
      </p:sp>
      <p:pic>
        <p:nvPicPr>
          <p:cNvPr id="2050" name="Picture 2" descr="openCV | C++ ] ( 2 / 6 ) 차선검출. 이미지 전 처리. Perspective Transform  (getPerspectiveTransform, warpPerspective 함수 사용법)">
            <a:extLst>
              <a:ext uri="{FF2B5EF4-FFF2-40B4-BE49-F238E27FC236}">
                <a16:creationId xmlns:a16="http://schemas.microsoft.com/office/drawing/2014/main" id="{E98D97E9-3E79-B2C3-BA78-558D890E5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789" y="1273947"/>
            <a:ext cx="6585880" cy="431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92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72E690-CB2B-9903-761A-5E117D16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B4432C-0B93-03B6-CD54-8353ECA9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C1462-35A6-5520-28CC-831F13166EF3}"/>
              </a:ext>
            </a:extLst>
          </p:cNvPr>
          <p:cNvSpPr txBox="1"/>
          <p:nvPr/>
        </p:nvSpPr>
        <p:spPr>
          <a:xfrm>
            <a:off x="200677" y="110919"/>
            <a:ext cx="2313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원근변환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6101350" cy="1690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cv2.getPerspectiveTransform(</a:t>
            </a:r>
            <a:r>
              <a:rPr lang="en-US" altLang="ko-KR" sz="2400" b="1" dirty="0" err="1"/>
              <a:t>src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dst</a:t>
            </a:r>
            <a:r>
              <a:rPr lang="en-US" altLang="ko-KR" sz="2400" b="1" dirty="0"/>
              <a:t>)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src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소스 이미지의 사각형 꼭짓점의 좌표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dst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대상 이미지의 사각형 꼭짓점의 좌표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7634F-A09E-8FE8-90D9-6002802110B4}"/>
              </a:ext>
            </a:extLst>
          </p:cNvPr>
          <p:cNvSpPr txBox="1"/>
          <p:nvPr/>
        </p:nvSpPr>
        <p:spPr>
          <a:xfrm>
            <a:off x="200677" y="3292259"/>
            <a:ext cx="6030818" cy="2244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cv2.warpPerspective(</a:t>
            </a:r>
            <a:r>
              <a:rPr lang="en-US" altLang="ko-KR" sz="2400" b="1" dirty="0" err="1"/>
              <a:t>img</a:t>
            </a:r>
            <a:r>
              <a:rPr lang="en-US" altLang="ko-KR" sz="2400" b="1" dirty="0"/>
              <a:t>, M, </a:t>
            </a:r>
            <a:r>
              <a:rPr lang="en-US" altLang="ko-KR" sz="2400" b="1" dirty="0" err="1"/>
              <a:t>dsize</a:t>
            </a:r>
            <a:r>
              <a:rPr lang="en-US" altLang="ko-KR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img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이미지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변환 매트릭스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disze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이미지 크기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(width, height)</a:t>
            </a:r>
          </a:p>
        </p:txBody>
      </p:sp>
    </p:spTree>
    <p:extLst>
      <p:ext uri="{BB962C8B-B14F-4D97-AF65-F5344CB8AC3E}">
        <p14:creationId xmlns:p14="http://schemas.microsoft.com/office/powerpoint/2010/main" val="891117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0B83-2958-96E6-BA24-0157F2BC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D8B7F-6127-9ABD-2E8B-3D867ADB4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21A29E-E0FF-D098-28B6-5A682A80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5C360-DB02-B38D-DD99-D11A8338C6FC}"/>
              </a:ext>
            </a:extLst>
          </p:cNvPr>
          <p:cNvSpPr txBox="1"/>
          <p:nvPr/>
        </p:nvSpPr>
        <p:spPr>
          <a:xfrm>
            <a:off x="200677" y="110919"/>
            <a:ext cx="2313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원근변환</a:t>
            </a:r>
          </a:p>
        </p:txBody>
      </p:sp>
      <p:pic>
        <p:nvPicPr>
          <p:cNvPr id="3" name="그림 2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92A12597-ABB3-76FC-1C45-D256BD167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753"/>
            <a:ext cx="12192000" cy="5994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58A3B5-6EE6-A01A-B7C8-AA2F57916872}"/>
              </a:ext>
            </a:extLst>
          </p:cNvPr>
          <p:cNvSpPr txBox="1"/>
          <p:nvPr/>
        </p:nvSpPr>
        <p:spPr>
          <a:xfrm>
            <a:off x="428278" y="937328"/>
            <a:ext cx="2355132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원근변환 예제</a:t>
            </a:r>
          </a:p>
        </p:txBody>
      </p:sp>
    </p:spTree>
    <p:extLst>
      <p:ext uri="{BB962C8B-B14F-4D97-AF65-F5344CB8AC3E}">
        <p14:creationId xmlns:p14="http://schemas.microsoft.com/office/powerpoint/2010/main" val="2644927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E408-4B35-6C98-07D3-7B68D86B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1DEC1-6AFE-EDF5-A2C9-2E7C587F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549BB3-D499-DE71-9779-22C1F5FCF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1. </a:t>
            </a:r>
            <a:r>
              <a:rPr lang="ko-KR" altLang="en-US" sz="5400" b="1" dirty="0">
                <a:solidFill>
                  <a:schemeClr val="accent2"/>
                </a:solidFill>
              </a:rPr>
              <a:t>이미지 원근 변환하기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3256A51-2ADC-4E9E-101A-0B210CFEE7AF}"/>
              </a:ext>
            </a:extLst>
          </p:cNvPr>
          <p:cNvSpPr txBox="1">
            <a:spLocks/>
          </p:cNvSpPr>
          <p:nvPr/>
        </p:nvSpPr>
        <p:spPr>
          <a:xfrm>
            <a:off x="335280" y="1841955"/>
            <a:ext cx="5883206" cy="3520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기울어진 이미지 찾아서 다운로드</a:t>
            </a:r>
            <a:r>
              <a:rPr lang="en-US" altLang="ko-KR" sz="3200" dirty="0"/>
              <a:t>(</a:t>
            </a:r>
            <a:r>
              <a:rPr lang="ko-KR" altLang="en-US" sz="3200" dirty="0"/>
              <a:t>예시 참고</a:t>
            </a:r>
            <a:r>
              <a:rPr lang="en-US" altLang="ko-KR" sz="3200" dirty="0"/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200" dirty="0"/>
              <a:t>학습한 원근 변환 방법을 바탕으로 이미지를 펼쳐보기</a:t>
            </a:r>
            <a:endParaRPr lang="en-US" altLang="ko-KR" sz="3200" dirty="0"/>
          </a:p>
        </p:txBody>
      </p:sp>
      <p:pic>
        <p:nvPicPr>
          <p:cNvPr id="9" name="Picture 2" descr="openCV | C++ ] ( 2 / 6 ) 차선검출. 이미지 전 처리. Perspective Transform  (getPerspectiveTransform, warpPerspective 함수 사용법)">
            <a:extLst>
              <a:ext uri="{FF2B5EF4-FFF2-40B4-BE49-F238E27FC236}">
                <a16:creationId xmlns:a16="http://schemas.microsoft.com/office/drawing/2014/main" id="{B0E95309-AD81-4AC9-5B23-6FCD7F599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841954"/>
            <a:ext cx="5379720" cy="35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52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BD24-3EDB-F8E4-F3D4-D2F04E79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1183DCC-F3CC-A50B-F848-0EBA73206CEF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마우스 이벤트</a:t>
            </a:r>
          </a:p>
        </p:txBody>
      </p:sp>
    </p:spTree>
    <p:extLst>
      <p:ext uri="{BB962C8B-B14F-4D97-AF65-F5344CB8AC3E}">
        <p14:creationId xmlns:p14="http://schemas.microsoft.com/office/powerpoint/2010/main" val="3830340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A954-3950-C473-C92C-E62726B0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61CFD-E52A-69A4-BEAA-CBDDB7B0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BC491-C984-EEFC-E8DA-B108710B934B}"/>
              </a:ext>
            </a:extLst>
          </p:cNvPr>
          <p:cNvSpPr txBox="1"/>
          <p:nvPr/>
        </p:nvSpPr>
        <p:spPr>
          <a:xfrm>
            <a:off x="200677" y="1034249"/>
            <a:ext cx="11599818" cy="32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cv2.setMouseCallback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dirty="0" err="1">
                <a:latin typeface="+mn-ea"/>
              </a:rPr>
              <a:t>windowName</a:t>
            </a:r>
            <a:r>
              <a:rPr lang="en-US" altLang="ko-KR" sz="2400" dirty="0">
                <a:latin typeface="+mn-ea"/>
              </a:rPr>
              <a:t>, </a:t>
            </a:r>
            <a:r>
              <a:rPr lang="en-US" altLang="ko-KR" sz="2400" dirty="0" err="1">
                <a:latin typeface="+mn-ea"/>
              </a:rPr>
              <a:t>onMouse</a:t>
            </a:r>
            <a:r>
              <a:rPr lang="en-US" altLang="ko-KR" sz="2400" dirty="0">
                <a:latin typeface="+mn-ea"/>
              </a:rPr>
              <a:t>[, param]) 	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윈도우에서 마우스 이벤트를 처리할 때 사용하는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마우스를 클릭하거나 이동했을 때 원하는 동작을 수행하는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등록할 수 있음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주로 이미지 상호작용 작업에서 유용함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windowName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윈도우 이름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onMouse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마우스 이벤트를 처리할 콜백함수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param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함수에 추가적으로 전달할 데이터를 설정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마우스 이벤트</a:t>
            </a:r>
          </a:p>
        </p:txBody>
      </p:sp>
    </p:spTree>
    <p:extLst>
      <p:ext uri="{BB962C8B-B14F-4D97-AF65-F5344CB8AC3E}">
        <p14:creationId xmlns:p14="http://schemas.microsoft.com/office/powerpoint/2010/main" val="867655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6E64-F004-ABE1-8712-6F66BDCA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2CCC1-0803-D868-AFE3-B3675FFE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마우스 이벤트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023B7FA-CFC2-A317-5CB7-268449A96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608086"/>
              </p:ext>
            </p:extLst>
          </p:nvPr>
        </p:nvGraphicFramePr>
        <p:xfrm>
          <a:off x="340448" y="1620173"/>
          <a:ext cx="11510539" cy="4499976"/>
        </p:xfrm>
        <a:graphic>
          <a:graphicData uri="http://schemas.openxmlformats.org/drawingml/2006/table">
            <a:tbl>
              <a:tblPr/>
              <a:tblGrid>
                <a:gridCol w="5066127">
                  <a:extLst>
                    <a:ext uri="{9D8B030D-6E8A-4147-A177-3AD203B41FA5}">
                      <a16:colId xmlns:a16="http://schemas.microsoft.com/office/drawing/2014/main" val="2030170703"/>
                    </a:ext>
                  </a:extLst>
                </a:gridCol>
                <a:gridCol w="707768">
                  <a:extLst>
                    <a:ext uri="{9D8B030D-6E8A-4147-A177-3AD203B41FA5}">
                      <a16:colId xmlns:a16="http://schemas.microsoft.com/office/drawing/2014/main" val="592963043"/>
                    </a:ext>
                  </a:extLst>
                </a:gridCol>
                <a:gridCol w="5736644">
                  <a:extLst>
                    <a:ext uri="{9D8B030D-6E8A-4147-A177-3AD203B41FA5}">
                      <a16:colId xmlns:a16="http://schemas.microsoft.com/office/drawing/2014/main" val="449979989"/>
                    </a:ext>
                  </a:extLst>
                </a:gridCol>
              </a:tblGrid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이벤트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037320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EVENT_MOUSEMOVE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마우스가 움직일 때 발생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380873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EVENT_LBUTTONDOWN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버튼을 눌렀을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777879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EVENT_RBUTTONDOWN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버튼을 눌렀을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5430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EVENT_MBUTTONDOWN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가운데 버튼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휠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 눌렀을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328862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EVENT_LBUTTONUP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버튼을 뗐을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470664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EVENT_RBUTTONUP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버튼을 뗐을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15572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EVENT_MBUTTONUP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가운데 버튼을 뗐을 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674713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EVENT_LBUTTONDBLCLK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버튼 더블 클릭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89399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EVENT_RBUTTONDBLCLK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버튼 더블 클릭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290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EVENT_MBUTTONDBLCLK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가운데 버튼 더블 클릭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833687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EVENT_MOUSEWHEEL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수직 휠 스크롤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74577"/>
                  </a:ext>
                </a:extLst>
              </a:tr>
              <a:tr h="34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EVENT_MOUSEHWHEEL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수평 휠 스크롤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413202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9F3B124-BBD3-CBD4-0820-70F5F337040C}"/>
              </a:ext>
            </a:extLst>
          </p:cNvPr>
          <p:cNvSpPr/>
          <p:nvPr/>
        </p:nvSpPr>
        <p:spPr>
          <a:xfrm>
            <a:off x="172655" y="1122296"/>
            <a:ext cx="5764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마우스 이벤트 </a:t>
            </a:r>
            <a:r>
              <a:rPr lang="en-US" altLang="ko-KR" sz="2400" dirty="0"/>
              <a:t>(cv::</a:t>
            </a:r>
            <a:r>
              <a:rPr lang="en-US" altLang="ko-KR" sz="2400" dirty="0" err="1"/>
              <a:t>MouseEventTypes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7776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7FF3-3F97-132F-AD81-01ACAE88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8E2C7F-AA02-E364-4277-25142AD7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E97E1-03D2-BEC3-ADF4-A8B1D6D21CC2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마우스 이벤트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3786BE-E0D1-718D-5BF9-33D8E5092E45}"/>
              </a:ext>
            </a:extLst>
          </p:cNvPr>
          <p:cNvSpPr/>
          <p:nvPr/>
        </p:nvSpPr>
        <p:spPr>
          <a:xfrm>
            <a:off x="172655" y="1122296"/>
            <a:ext cx="6516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마우스 이벤트 플래그 </a:t>
            </a:r>
            <a:r>
              <a:rPr lang="en-US" altLang="ko-KR" sz="2400" dirty="0"/>
              <a:t>(cv::</a:t>
            </a:r>
            <a:r>
              <a:rPr lang="en-US" altLang="ko-KR" sz="2400" dirty="0" err="1"/>
              <a:t>MouseEventFlags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7252456-BFC6-A608-E1E9-F1100DB8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702578"/>
              </p:ext>
            </p:extLst>
          </p:nvPr>
        </p:nvGraphicFramePr>
        <p:xfrm>
          <a:off x="337182" y="1672008"/>
          <a:ext cx="11531910" cy="3805340"/>
        </p:xfrm>
        <a:graphic>
          <a:graphicData uri="http://schemas.openxmlformats.org/drawingml/2006/table">
            <a:tbl>
              <a:tblPr/>
              <a:tblGrid>
                <a:gridCol w="5275235">
                  <a:extLst>
                    <a:ext uri="{9D8B030D-6E8A-4147-A177-3AD203B41FA5}">
                      <a16:colId xmlns:a16="http://schemas.microsoft.com/office/drawing/2014/main" val="1473794968"/>
                    </a:ext>
                  </a:extLst>
                </a:gridCol>
                <a:gridCol w="776973">
                  <a:extLst>
                    <a:ext uri="{9D8B030D-6E8A-4147-A177-3AD203B41FA5}">
                      <a16:colId xmlns:a16="http://schemas.microsoft.com/office/drawing/2014/main" val="239091231"/>
                    </a:ext>
                  </a:extLst>
                </a:gridCol>
                <a:gridCol w="5479702">
                  <a:extLst>
                    <a:ext uri="{9D8B030D-6E8A-4147-A177-3AD203B41FA5}">
                      <a16:colId xmlns:a16="http://schemas.microsoft.com/office/drawing/2014/main" val="429087053"/>
                    </a:ext>
                  </a:extLst>
                </a:gridCol>
              </a:tblGrid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플래그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159555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EVENT_FLAG_LBUTTON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버튼이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05596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EVENT_FLAG_RBUTTON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버튼이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74503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EVENT_FLAG_MBUTTON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가운데 버튼이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30480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EVENT_FLAG_CTRLKEY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Ctrl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키가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644489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EVENT_FLAG_SHIFTKEY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Shift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키가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198326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EVENT_FLAG_ALTKEY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Alt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키가 눌린 상태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752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E0BA2F-F6E8-1E50-5065-5D83D6E04F62}"/>
              </a:ext>
            </a:extLst>
          </p:cNvPr>
          <p:cNvSpPr txBox="1"/>
          <p:nvPr/>
        </p:nvSpPr>
        <p:spPr>
          <a:xfrm>
            <a:off x="264755" y="5565395"/>
            <a:ext cx="7855035" cy="730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마우스 이벤트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(event)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어떤 동작이 발생했는가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나타내고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플래그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(flag)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동작이 일어날 때 어떤 버튼이나 키가 눌려 있었는가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나타냄</a:t>
            </a:r>
          </a:p>
        </p:txBody>
      </p:sp>
    </p:spTree>
    <p:extLst>
      <p:ext uri="{BB962C8B-B14F-4D97-AF65-F5344CB8AC3E}">
        <p14:creationId xmlns:p14="http://schemas.microsoft.com/office/powerpoint/2010/main" val="126379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A954-3950-C473-C92C-E62726B08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61CFD-E52A-69A4-BEAA-CBDDB7B0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512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마우스 이벤트</a:t>
            </a:r>
          </a:p>
        </p:txBody>
      </p:sp>
      <p:pic>
        <p:nvPicPr>
          <p:cNvPr id="1026" name="Picture 2" descr="C:\Users\LMH\Desktop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920"/>
            <a:ext cx="12192000" cy="66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8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BE7CC2F-A022-2DF3-FAA1-CA4D96BD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7" y="0"/>
            <a:ext cx="9900397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반자동 문서 스캐너 만들기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94" y="1152889"/>
            <a:ext cx="5074005" cy="5114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CDA975-80C6-6C23-BC37-6104D10BAFDC}"/>
              </a:ext>
            </a:extLst>
          </p:cNvPr>
          <p:cNvSpPr txBox="1">
            <a:spLocks/>
          </p:cNvSpPr>
          <p:nvPr/>
        </p:nvSpPr>
        <p:spPr>
          <a:xfrm>
            <a:off x="6298494" y="1671963"/>
            <a:ext cx="5407637" cy="40766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800" dirty="0"/>
              <a:t>[</a:t>
            </a:r>
            <a:r>
              <a:rPr lang="ko-KR" altLang="en-US" sz="2800" dirty="0"/>
              <a:t>구현 내용</a:t>
            </a:r>
            <a:r>
              <a:rPr lang="en-US" altLang="ko-KR" sz="2800" dirty="0"/>
              <a:t>]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0" dirty="0"/>
              <a:t>이미지를 시계방향으로 클릭하면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0" dirty="0"/>
              <a:t>이미지에 점이 찍히고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b="0" dirty="0"/>
              <a:t>점과 점 사이에 라인이 연결됨</a:t>
            </a:r>
            <a:endParaRPr lang="en-US" altLang="ko-KR" b="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0" dirty="0"/>
              <a:t>가능하면 라인이 마우스를 따라가도록 구현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0" dirty="0"/>
              <a:t>4</a:t>
            </a:r>
            <a:r>
              <a:rPr lang="ko-KR" altLang="en-US" b="0" dirty="0"/>
              <a:t>개의 점을 찍으면 해당 영역이 펼쳐짐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3965412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7F10-BC8D-CD0B-1806-ABDDA1FE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7F579-3044-815F-92AA-7B8C9244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B5C64E-C43B-AFD8-91A5-EF551660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8990EAC-FCD0-7D35-6388-D5CF6AB6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9697197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반자동 문서 스캐너 만들기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B8DA36-FA51-0258-D1E4-AAB1173B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94" y="1152889"/>
            <a:ext cx="5074005" cy="5114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88011AF-D0DA-36F0-F9CA-B6207E2F33E4}"/>
              </a:ext>
            </a:extLst>
          </p:cNvPr>
          <p:cNvSpPr txBox="1">
            <a:spLocks/>
          </p:cNvSpPr>
          <p:nvPr/>
        </p:nvSpPr>
        <p:spPr>
          <a:xfrm>
            <a:off x="5896400" y="2210568"/>
            <a:ext cx="5883206" cy="2999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3000" dirty="0"/>
              <a:t>[</a:t>
            </a:r>
            <a:r>
              <a:rPr lang="ko-KR" altLang="en-US" sz="3000" dirty="0"/>
              <a:t>구현 우선순위</a:t>
            </a:r>
            <a:r>
              <a:rPr lang="en-US" altLang="ko-KR" sz="3000" dirty="0"/>
              <a:t>]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0" dirty="0"/>
              <a:t>네 개의 지점을 선택하면 원근 변환이 실행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0" dirty="0"/>
              <a:t>점과 점 사이를 라인으로 연결</a:t>
            </a:r>
            <a:endParaRPr lang="en-US" altLang="ko-KR" b="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0" dirty="0"/>
              <a:t>라인이 마우스를 따라오도록 구현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205723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2994-4D9F-9BFC-722E-EE98899C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D83B59-1759-A483-5B48-90F594F29F92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경계선 검출</a:t>
            </a:r>
          </a:p>
        </p:txBody>
      </p:sp>
    </p:spTree>
    <p:extLst>
      <p:ext uri="{BB962C8B-B14F-4D97-AF65-F5344CB8AC3E}">
        <p14:creationId xmlns:p14="http://schemas.microsoft.com/office/powerpoint/2010/main" val="1508559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1458954" y="1034249"/>
            <a:ext cx="7181774" cy="160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ko-KR" altLang="en-US" sz="2400" b="1" dirty="0" err="1"/>
              <a:t>엣지</a:t>
            </a:r>
            <a:r>
              <a:rPr lang="en-US" altLang="ko-KR" sz="2400" b="1" dirty="0"/>
              <a:t>(Edge): </a:t>
            </a:r>
            <a:r>
              <a:rPr lang="ko-KR" altLang="en-US" sz="2400" dirty="0"/>
              <a:t>그림에서 </a:t>
            </a:r>
            <a:r>
              <a:rPr lang="ko-KR" altLang="en-US" sz="2400" b="1" dirty="0"/>
              <a:t>색이 갑자기 바뀌는 경계선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Canny Edge Detection(</a:t>
            </a:r>
            <a:r>
              <a:rPr lang="ko-KR" altLang="en-US" sz="2400" b="1" dirty="0"/>
              <a:t>캐니 </a:t>
            </a:r>
            <a:r>
              <a:rPr lang="ko-KR" altLang="en-US" sz="2400" b="1" dirty="0" err="1"/>
              <a:t>엣지</a:t>
            </a:r>
            <a:r>
              <a:rPr lang="ko-KR" altLang="en-US" sz="2400" b="1" dirty="0"/>
              <a:t> 검출</a:t>
            </a:r>
            <a:r>
              <a:rPr lang="en-US" altLang="ko-KR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이미지의 가장자리를 감지하는 데 사용되는 경계 감지 알고리즘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2778146"/>
            <a:ext cx="9042400" cy="3266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2578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11481629" cy="2532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cv2.Canny</a:t>
            </a:r>
            <a:r>
              <a:rPr lang="en-US" altLang="ko-KR" sz="2400" dirty="0"/>
              <a:t>(image, threshold1, threshold2[, edges[, 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	   </a:t>
            </a:r>
            <a:r>
              <a:rPr lang="en-US" altLang="ko-KR" sz="2400" dirty="0" err="1"/>
              <a:t>apertureSize</a:t>
            </a:r>
            <a:r>
              <a:rPr lang="en-US" altLang="ko-KR" sz="2400" dirty="0"/>
              <a:t>[, L2gradient]]]) </a:t>
            </a:r>
            <a:r>
              <a:rPr lang="ko-KR" altLang="en-US" sz="2400" dirty="0"/>
              <a:t>→</a:t>
            </a:r>
            <a:r>
              <a:rPr lang="en-US" altLang="ko-KR" sz="2400" dirty="0"/>
              <a:t> edges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image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경계선을 검출할 이미지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threshold1: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약한 경계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임곗값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threshold2: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강한 경계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임곗값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1109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11481629" cy="452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Canny Edge Detection</a:t>
            </a:r>
            <a:r>
              <a:rPr lang="ko-KR" altLang="en-US" sz="2400" b="1" dirty="0"/>
              <a:t>의 원리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이미지에서 밝기</a:t>
            </a:r>
            <a:r>
              <a:rPr lang="en-US" altLang="ko-KR" sz="2000" dirty="0"/>
              <a:t>(</a:t>
            </a:r>
            <a:r>
              <a:rPr lang="ko-KR" altLang="en-US" sz="2000" dirty="0"/>
              <a:t>픽셀 값</a:t>
            </a:r>
            <a:r>
              <a:rPr lang="en-US" altLang="ko-KR" sz="2000" dirty="0"/>
              <a:t>)</a:t>
            </a:r>
            <a:r>
              <a:rPr lang="ko-KR" altLang="en-US" sz="2000" dirty="0"/>
              <a:t>가 얼마나 빠르게 변하는지를 계산하여 경계선을 검출함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threshold1 (Lower Threshold)</a:t>
            </a:r>
            <a:r>
              <a:rPr lang="ko-KR" altLang="en-US" sz="2000" dirty="0"/>
              <a:t> 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강도가 이 값보다 작은 픽셀은 무조건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아니라고 판단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즉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밝기 변화가 너무 약한 부분은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후보에서 제외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threshold2 (Upper Threshold)</a:t>
            </a:r>
            <a:r>
              <a:rPr lang="ko-KR" altLang="en-US" sz="2000" dirty="0"/>
              <a:t> 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강도가 이 값보다 큰 픽셀은 확실한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(Strong Edge)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간주</a:t>
            </a:r>
            <a:endParaRPr lang="en-US" altLang="ko-KR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threshold1</a:t>
            </a:r>
            <a:r>
              <a:rPr lang="ko-KR" altLang="en-US" sz="2000" dirty="0"/>
              <a:t>과 </a:t>
            </a:r>
            <a:r>
              <a:rPr lang="en-US" altLang="ko-KR" sz="2000" dirty="0"/>
              <a:t>threshold2 </a:t>
            </a:r>
            <a:r>
              <a:rPr lang="ko-KR" altLang="en-US" sz="2000" dirty="0"/>
              <a:t>사이의 값 </a:t>
            </a: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강도가 이 범위에 속하는 픽셀은 약한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(Weak Edge)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간주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약한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주변에 강한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연결되어 있는 경우에만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297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11752332" cy="373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✅ </a:t>
            </a:r>
            <a:r>
              <a:rPr lang="en-US" altLang="ko-KR" sz="2400" b="1" dirty="0"/>
              <a:t>Canny Edge Detection</a:t>
            </a:r>
            <a:r>
              <a:rPr lang="ko-KR" altLang="en-US" sz="2400" b="1" dirty="0"/>
              <a:t>의 검출 과정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1️⃣ </a:t>
            </a:r>
            <a:r>
              <a:rPr lang="ko-KR" altLang="en-US" sz="2000" dirty="0"/>
              <a:t>이미지를 그레이 스케일로 변환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검출시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빛의 밝기 변화를 기준으로 검출하기 때문에 그레이 스케일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적용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2️⃣ </a:t>
            </a:r>
            <a:r>
              <a:rPr lang="ko-KR" altLang="en-US" sz="2000" dirty="0"/>
              <a:t>노이즈 제거</a:t>
            </a:r>
            <a:r>
              <a:rPr lang="en-US" altLang="ko-KR" sz="2000" dirty="0"/>
              <a:t>(Gaussian Blur </a:t>
            </a:r>
            <a:r>
              <a:rPr lang="ko-KR" altLang="en-US" sz="2000" dirty="0"/>
              <a:t>적용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노이즈로 인해 경계선 검출에 오류가 발생할 수 있으므로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심한 경우 노이즈 제거 후 경계선 검출 권장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3️⃣ Canny </a:t>
            </a:r>
            <a:r>
              <a:rPr lang="ko-KR" altLang="en-US" sz="2000" dirty="0"/>
              <a:t>적용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0417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2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4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194" name="Picture 2" descr="C:\Users\LMH\Desktop\cann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4964"/>
            <a:ext cx="12192000" cy="448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D9977FA-90D5-9DF8-F547-2B3BA1576AE3}"/>
              </a:ext>
            </a:extLst>
          </p:cNvPr>
          <p:cNvSpPr/>
          <p:nvPr/>
        </p:nvSpPr>
        <p:spPr>
          <a:xfrm>
            <a:off x="577850" y="1585512"/>
            <a:ext cx="33041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경계선 검출 기본 구현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4453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경계선 검출</a:t>
            </a:r>
          </a:p>
        </p:txBody>
      </p:sp>
      <p:sp>
        <p:nvSpPr>
          <p:cNvPr id="2" name="AutoShape 2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4" descr="data:image/gif;base64,R0lGODlhAQABAIAAAP///wAAACH5BAEAAAAALAAAAAABAAEAAAICRAEAOw==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218" name="Picture 2" descr="C:\Users\LMH\Desktop\canny_trackba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077939"/>
            <a:ext cx="9467850" cy="566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717CB40-FC8B-D93F-F1F8-D0F5A24F33E5}"/>
              </a:ext>
            </a:extLst>
          </p:cNvPr>
          <p:cNvSpPr/>
          <p:nvPr/>
        </p:nvSpPr>
        <p:spPr>
          <a:xfrm>
            <a:off x="1654175" y="1089606"/>
            <a:ext cx="4448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경계선 검출 </a:t>
            </a:r>
            <a:r>
              <a:rPr lang="en-US" altLang="ko-KR" sz="2400" dirty="0">
                <a:latin typeface="+mn-ea"/>
              </a:rPr>
              <a:t>+ </a:t>
            </a:r>
            <a:r>
              <a:rPr lang="ko-KR" altLang="en-US" sz="2400" dirty="0" err="1">
                <a:latin typeface="+mn-ea"/>
              </a:rPr>
              <a:t>트랙바</a:t>
            </a:r>
            <a:r>
              <a:rPr lang="ko-KR" altLang="en-US" sz="2400" dirty="0">
                <a:latin typeface="+mn-ea"/>
              </a:rPr>
              <a:t> 사용 예제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3162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357715" y="2069675"/>
            <a:ext cx="5833535" cy="3057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캠 화면에 </a:t>
            </a:r>
            <a:r>
              <a:rPr lang="en-US" altLang="ko-KR" dirty="0"/>
              <a:t>Canny edge detection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Canny</a:t>
            </a:r>
            <a:r>
              <a:rPr lang="ko-KR" altLang="en-US" dirty="0"/>
              <a:t>의</a:t>
            </a:r>
            <a:r>
              <a:rPr lang="en-US" altLang="ko-KR" dirty="0"/>
              <a:t> threshold1, threshold2 </a:t>
            </a:r>
            <a:r>
              <a:rPr lang="ko-KR" altLang="en-US" dirty="0"/>
              <a:t>을 조절할 수 있는 </a:t>
            </a:r>
            <a:r>
              <a:rPr lang="en-US" altLang="ko-KR" dirty="0"/>
              <a:t>Trackbar </a:t>
            </a:r>
            <a:r>
              <a:rPr lang="ko-KR" altLang="en-US" dirty="0"/>
              <a:t>생성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276B22-379D-4459-BE60-8FA4B1767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313" y="1247774"/>
            <a:ext cx="5101554" cy="4701118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D34D50B3-0D84-E6CB-DB4B-4CB29C65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ko-KR" altLang="en-US" b="1" dirty="0">
                <a:solidFill>
                  <a:schemeClr val="accent2"/>
                </a:solidFill>
              </a:rPr>
              <a:t>캠 화면에 검출</a:t>
            </a:r>
          </a:p>
        </p:txBody>
      </p:sp>
    </p:spTree>
    <p:extLst>
      <p:ext uri="{BB962C8B-B14F-4D97-AF65-F5344CB8AC3E}">
        <p14:creationId xmlns:p14="http://schemas.microsoft.com/office/powerpoint/2010/main" val="838428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2994-4D9F-9BFC-722E-EE98899C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D83B59-1759-A483-5B48-90F594F29F92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2630466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116012" y="1034249"/>
            <a:ext cx="11836997" cy="160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윤곽선</a:t>
            </a:r>
            <a:r>
              <a:rPr lang="en-US" altLang="ko-KR" sz="2400" b="1" dirty="0"/>
              <a:t>(Contour): </a:t>
            </a:r>
            <a:r>
              <a:rPr lang="ko-KR" altLang="en-US" sz="2400" dirty="0"/>
              <a:t>같은 색상 또는 강도를 가진 영역의 경계선을 따라 그려진 곡선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💡 윤곽선 검출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윤곽선을 자동으로 찾아주는 기능</a:t>
            </a:r>
            <a:endParaRPr lang="en-US" altLang="ko-KR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2914189"/>
            <a:ext cx="9042400" cy="326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5932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2440" y="1034249"/>
            <a:ext cx="6479659" cy="1978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✅ 윤곽선 그리는 방법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이미지에서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엣지를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찾는다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(threshold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canny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윤곽선을 찾아서 데이터로 저장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findContours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위에 윤곽선을 그림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drawContours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1966432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252200" cy="49830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cv2.findContours</a:t>
            </a:r>
            <a:r>
              <a:rPr lang="en-US" altLang="ko-KR" sz="2400" dirty="0">
                <a:latin typeface="+mn-ea"/>
              </a:rPr>
              <a:t>(image, mode, method, contours[, hierarchy[,offset]]])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contours, hierarchy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image : </a:t>
            </a:r>
            <a:r>
              <a:rPr lang="ko-KR" altLang="en-US" sz="2000" dirty="0"/>
              <a:t>윤곽선을 검출할 이미지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mode : </a:t>
            </a:r>
            <a:r>
              <a:rPr lang="ko-KR" altLang="en-US" sz="2000" dirty="0"/>
              <a:t>윤곽 검출 모드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method : </a:t>
            </a:r>
            <a:r>
              <a:rPr lang="ko-KR" altLang="en-US" sz="2000" dirty="0"/>
              <a:t>윤곽 근사 모드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contours : </a:t>
            </a:r>
            <a:r>
              <a:rPr lang="ko-KR" altLang="en-US" sz="2000" dirty="0"/>
              <a:t>검출된 윤곽정보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hierarchy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이미지</a:t>
            </a:r>
            <a:r>
              <a:rPr lang="en-US" altLang="ko-KR" sz="2000" dirty="0"/>
              <a:t> </a:t>
            </a:r>
            <a:r>
              <a:rPr lang="ko-KR" altLang="en-US" sz="2000" dirty="0"/>
              <a:t>위상에 대한 정보를 포함하는 벡터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offset</a:t>
            </a:r>
            <a:r>
              <a:rPr lang="ko-KR" altLang="en-US" sz="2000" dirty="0"/>
              <a:t>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(optional)</a:t>
            </a:r>
            <a:r>
              <a:rPr lang="ko-KR" altLang="en-US" sz="2000" dirty="0"/>
              <a:t> 윤곽 이동 </a:t>
            </a:r>
            <a:r>
              <a:rPr lang="en-US" altLang="ko-KR" sz="2000" dirty="0"/>
              <a:t>offset, </a:t>
            </a:r>
            <a:r>
              <a:rPr lang="ko-KR" altLang="en-US" sz="2000" dirty="0"/>
              <a:t>이미지 </a:t>
            </a:r>
            <a:r>
              <a:rPr lang="en-US" altLang="ko-KR" sz="2000" dirty="0"/>
              <a:t>ROI </a:t>
            </a:r>
            <a:r>
              <a:rPr lang="ko-KR" altLang="en-US" sz="2000" dirty="0"/>
              <a:t>에서 윤곽선을 추출 후에 전체 이미지 </a:t>
            </a:r>
            <a:r>
              <a:rPr lang="ko-KR" altLang="en-US" sz="2000" dirty="0" err="1"/>
              <a:t>컨텍스트에서</a:t>
            </a:r>
            <a:r>
              <a:rPr lang="ko-KR" altLang="en-US" sz="2000" dirty="0"/>
              <a:t> 분석해야 하는 경우 유용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1630194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252200" cy="49379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윤곽선 찾기 모드 </a:t>
            </a:r>
            <a:r>
              <a:rPr lang="en-US" altLang="ko-KR" sz="2400" b="1" dirty="0">
                <a:latin typeface="+mn-ea"/>
              </a:rPr>
              <a:t>Contour Retrieval Mode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+mn-ea"/>
              </a:rPr>
              <a:t>cv2.RETR_EXTERNAL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가장 바깥쪽 윤곽선만 가져옴</a:t>
            </a:r>
            <a:endParaRPr lang="en-US" altLang="ko-KR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cv2.RETR_LIST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모든 윤곽선을 가져오지만</a:t>
            </a:r>
            <a:r>
              <a:rPr lang="en-US" altLang="ko-KR" dirty="0"/>
              <a:t>, </a:t>
            </a:r>
            <a:r>
              <a:rPr lang="ko-KR" altLang="en-US" dirty="0"/>
              <a:t>계층 구조 정보는 무시함</a:t>
            </a:r>
            <a:r>
              <a:rPr lang="en-US" altLang="ko-KR" dirty="0"/>
              <a:t>	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cv2.RETR_TREE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모든 윤곽선을 가져오며</a:t>
            </a:r>
            <a:r>
              <a:rPr lang="en-US" altLang="ko-KR" dirty="0"/>
              <a:t>, </a:t>
            </a:r>
            <a:r>
              <a:rPr lang="ko-KR" altLang="en-US" dirty="0"/>
              <a:t>계층 구조도 포함</a:t>
            </a:r>
            <a:r>
              <a:rPr lang="en-US" altLang="ko-KR" dirty="0"/>
              <a:t>	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+mn-ea"/>
                <a:ea typeface="+mn-ea"/>
              </a:rPr>
              <a:t>cv2.RETR_CCOMP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모든 윤곽선을 </a:t>
            </a:r>
            <a:r>
              <a:rPr lang="en-US" altLang="ko-KR" dirty="0"/>
              <a:t>2</a:t>
            </a:r>
            <a:r>
              <a:rPr lang="ko-KR" altLang="en-US" dirty="0"/>
              <a:t>단계 계층 구조로 나눔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1275217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252200" cy="32590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윤곽선 근사화 방법 </a:t>
            </a:r>
            <a:endParaRPr lang="en-US" altLang="ko-KR" sz="2400" b="1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/>
              <a:t>➡️  윤곽선의 점을 얼마나 세밀하게 저장할지 결정</a:t>
            </a:r>
            <a:endParaRPr lang="en-US" altLang="ko-KR" sz="20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cv2.CHAIN_APPROX_NONE</a:t>
            </a:r>
            <a:endParaRPr lang="en-US" altLang="ko-KR" sz="20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윤곽선의 모든 점을 저장</a:t>
            </a:r>
            <a:r>
              <a:rPr lang="en-US" altLang="ko-KR" sz="1800" dirty="0"/>
              <a:t>. </a:t>
            </a:r>
            <a:r>
              <a:rPr lang="ko-KR" altLang="en-US" sz="1800" dirty="0"/>
              <a:t>정확하지만 메모리를 더 많이 사용함</a:t>
            </a:r>
            <a:endParaRPr lang="en-US" altLang="ko-KR" sz="18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cv2.CHAIN_APPROX_SIMPLE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불필요한 중복 점을 제거하여 메모리 사용을 최적화함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358662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77" y="1034249"/>
            <a:ext cx="11438467" cy="531575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cv2.drawContours</a:t>
            </a:r>
            <a:r>
              <a:rPr lang="en-US" altLang="ko-KR" sz="2400" dirty="0">
                <a:latin typeface="+mn-ea"/>
              </a:rPr>
              <a:t>(image, contours, </a:t>
            </a:r>
            <a:r>
              <a:rPr lang="en-US" altLang="ko-KR" sz="2400" dirty="0" err="1">
                <a:latin typeface="+mn-ea"/>
              </a:rPr>
              <a:t>contourIdx</a:t>
            </a:r>
            <a:r>
              <a:rPr lang="en-US" altLang="ko-KR" sz="2400" dirty="0">
                <a:latin typeface="+mn-ea"/>
              </a:rPr>
              <a:t>, color[, thickness[, </a:t>
            </a:r>
            <a:r>
              <a:rPr lang="en-US" altLang="ko-KR" sz="2400" dirty="0" err="1">
                <a:latin typeface="+mn-ea"/>
              </a:rPr>
              <a:t>lineType</a:t>
            </a:r>
            <a:r>
              <a:rPr lang="en-US" altLang="ko-KR" sz="2400" dirty="0">
                <a:latin typeface="+mn-ea"/>
              </a:rPr>
              <a:t>[,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       hierarchy[, </a:t>
            </a:r>
            <a:r>
              <a:rPr lang="en-US" altLang="ko-KR" sz="2400" dirty="0" err="1">
                <a:latin typeface="+mn-ea"/>
              </a:rPr>
              <a:t>maxLevel</a:t>
            </a:r>
            <a:r>
              <a:rPr lang="en-US" altLang="ko-KR" sz="2400" dirty="0">
                <a:latin typeface="+mn-ea"/>
              </a:rPr>
              <a:t>[, offset]]]]])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image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image : </a:t>
            </a:r>
            <a:r>
              <a:rPr lang="en-US" altLang="ko-KR" sz="2000" dirty="0" err="1"/>
              <a:t>src</a:t>
            </a:r>
            <a:r>
              <a:rPr lang="en-US" altLang="ko-KR" sz="2000" dirty="0"/>
              <a:t>,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contours : </a:t>
            </a:r>
            <a:r>
              <a:rPr lang="ko-KR" altLang="en-US" sz="2000" dirty="0"/>
              <a:t>모든 입력 윤곽선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contourIdx</a:t>
            </a:r>
            <a:r>
              <a:rPr lang="en-US" altLang="ko-KR" sz="2000" dirty="0"/>
              <a:t> : </a:t>
            </a:r>
            <a:r>
              <a:rPr lang="ko-KR" altLang="en-US" sz="2000" dirty="0"/>
              <a:t>그릴 윤곽선을 나타내는 매개변수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음수이면 모든 윤곽선이 그려짐</a:t>
            </a:r>
            <a:r>
              <a:rPr lang="en-US" altLang="ko-KR" sz="2000" b="1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color : </a:t>
            </a:r>
            <a:r>
              <a:rPr lang="ko-KR" altLang="en-US" sz="2000" dirty="0"/>
              <a:t>윤곽선 색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thickness : </a:t>
            </a:r>
            <a:r>
              <a:rPr lang="ko-KR" altLang="en-US" sz="2000" dirty="0"/>
              <a:t>윤곽선 두께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lineType</a:t>
            </a:r>
            <a:r>
              <a:rPr lang="en-US" altLang="ko-KR" sz="2000" dirty="0"/>
              <a:t> : </a:t>
            </a:r>
            <a:r>
              <a:rPr lang="ko-KR" altLang="en-US" sz="2000" dirty="0"/>
              <a:t>라인 타입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hierarchy : </a:t>
            </a:r>
            <a:r>
              <a:rPr lang="ko-KR" altLang="en-US" sz="2000" dirty="0"/>
              <a:t>계층 구조에 대한 선택 정보</a:t>
            </a:r>
            <a:r>
              <a:rPr lang="en-US" altLang="ko-KR" sz="2000" dirty="0"/>
              <a:t>. </a:t>
            </a:r>
            <a:r>
              <a:rPr lang="ko-KR" altLang="en-US" sz="2000" dirty="0"/>
              <a:t>일부 윤곽선만 그리려는 경우에만 필요함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 </a:t>
            </a:r>
            <a:r>
              <a:rPr lang="ko-KR" altLang="en-US" sz="2000" b="1" dirty="0">
                <a:latin typeface="+mn-ea"/>
              </a:rPr>
              <a:t>원본 이미지를 변형시키기 때문에 이미지를 복사하여 적용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</p:spTree>
    <p:extLst>
      <p:ext uri="{BB962C8B-B14F-4D97-AF65-F5344CB8AC3E}">
        <p14:creationId xmlns:p14="http://schemas.microsoft.com/office/powerpoint/2010/main" val="2351988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2980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검출</a:t>
            </a:r>
          </a:p>
        </p:txBody>
      </p:sp>
      <p:pic>
        <p:nvPicPr>
          <p:cNvPr id="4098" name="Picture 2" descr="C:\Users\LMH\Desktop\contour_bas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3" y="419709"/>
            <a:ext cx="11650134" cy="644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968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75" y="1466469"/>
            <a:ext cx="8467074" cy="17529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</a:t>
            </a:r>
            <a:r>
              <a:rPr lang="en-US" altLang="ko-KR" sz="2400" b="1" dirty="0">
                <a:latin typeface="+mn-ea"/>
              </a:rPr>
              <a:t>cv2.boundingRect(array) </a:t>
            </a:r>
            <a:r>
              <a:rPr lang="ko-KR" altLang="en-US" sz="2400" b="1" dirty="0">
                <a:latin typeface="+mn-ea"/>
              </a:rPr>
              <a:t>→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en-US" altLang="ko-KR" sz="2400" b="1" dirty="0" err="1">
                <a:latin typeface="+mn-ea"/>
              </a:rPr>
              <a:t>retval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array : </a:t>
            </a:r>
            <a:r>
              <a:rPr lang="ko-KR" altLang="en-US" sz="2000" dirty="0" err="1"/>
              <a:t>그레이</a:t>
            </a:r>
            <a:r>
              <a:rPr lang="ko-KR" altLang="en-US" sz="2000" dirty="0"/>
              <a:t> 스케일 이미지 또는 </a:t>
            </a:r>
            <a:r>
              <a:rPr lang="en-US" altLang="ko-KR" sz="2000" dirty="0"/>
              <a:t>2D </a:t>
            </a:r>
            <a:r>
              <a:rPr lang="ko-KR" altLang="en-US" sz="2000" dirty="0"/>
              <a:t>포인트</a:t>
            </a:r>
            <a:r>
              <a:rPr lang="en-US" altLang="ko-KR" sz="2000" dirty="0"/>
              <a:t> </a:t>
            </a:r>
            <a:r>
              <a:rPr lang="ko-KR" altLang="en-US" sz="2000" dirty="0"/>
              <a:t>세트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x, y, width, height : </a:t>
            </a:r>
            <a:r>
              <a:rPr lang="ko-KR" altLang="en-US" sz="2000" dirty="0"/>
              <a:t>박스 시작점</a:t>
            </a:r>
            <a:r>
              <a:rPr lang="en-US" altLang="ko-KR" sz="2000" dirty="0"/>
              <a:t> </a:t>
            </a:r>
            <a:r>
              <a:rPr lang="ko-KR" altLang="en-US" sz="2000" dirty="0"/>
              <a:t>및 박스 사이즈 반환</a:t>
            </a:r>
            <a:endParaRPr lang="en-US" altLang="ko-KR" sz="32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4711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경계 사각형</a:t>
            </a:r>
          </a:p>
        </p:txBody>
      </p:sp>
      <p:pic>
        <p:nvPicPr>
          <p:cNvPr id="5122" name="Picture 2" descr="C:\Users\LMH\Desktop\boundingrec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3009900"/>
            <a:ext cx="12192002" cy="284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398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4711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경계 사각형</a:t>
            </a:r>
          </a:p>
        </p:txBody>
      </p:sp>
      <p:pic>
        <p:nvPicPr>
          <p:cNvPr id="6146" name="Picture 2" descr="C:\Users\LMH\Desktop\boundingrect_bas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34249"/>
            <a:ext cx="10972800" cy="583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8782C17-6EC4-141D-F058-4F26A4E356A6}"/>
              </a:ext>
            </a:extLst>
          </p:cNvPr>
          <p:cNvSpPr/>
          <p:nvPr/>
        </p:nvSpPr>
        <p:spPr>
          <a:xfrm>
            <a:off x="1025525" y="1194381"/>
            <a:ext cx="41777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윤곽선 경계 사각형 활용 예시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3830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MH\Desktop\contourAre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086793"/>
            <a:ext cx="10229850" cy="566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4711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윤곽선 경계 사각형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3C300C-5FFD-5FBE-8648-7F0EAC4F1C18}"/>
              </a:ext>
            </a:extLst>
          </p:cNvPr>
          <p:cNvSpPr/>
          <p:nvPr/>
        </p:nvSpPr>
        <p:spPr>
          <a:xfrm>
            <a:off x="1368425" y="1203906"/>
            <a:ext cx="5371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contourArea</a:t>
            </a:r>
            <a:r>
              <a:rPr lang="ko-KR" altLang="en-US" sz="2400" dirty="0">
                <a:latin typeface="+mn-ea"/>
              </a:rPr>
              <a:t>로 면적 계산 적용한 예제</a:t>
            </a:r>
            <a:endParaRPr lang="ko-KR" altLang="en-US" sz="2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24302A-F404-466A-F99D-7637BEE1EC44}"/>
              </a:ext>
            </a:extLst>
          </p:cNvPr>
          <p:cNvSpPr/>
          <p:nvPr/>
        </p:nvSpPr>
        <p:spPr>
          <a:xfrm>
            <a:off x="2154109" y="4183743"/>
            <a:ext cx="2628348" cy="272143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28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397931" y="2333333"/>
            <a:ext cx="5833535" cy="2804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인덱스 </a:t>
            </a:r>
            <a:r>
              <a:rPr lang="ko-KR" altLang="en-US" dirty="0" err="1"/>
              <a:t>트랙바를</a:t>
            </a:r>
            <a:r>
              <a:rPr lang="ko-KR" altLang="en-US" dirty="0"/>
              <a:t> 만들고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트랙바의</a:t>
            </a:r>
            <a:r>
              <a:rPr lang="ko-KR" altLang="en-US" dirty="0"/>
              <a:t> 인덱스 값을 변경하면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생성된 박스가 순서대로 화면에 띄워지도록 구현하기</a:t>
            </a:r>
            <a:endParaRPr lang="en-US" altLang="ko-KR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34D50B3-0D84-E6CB-DB4B-4CB29C65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4. </a:t>
            </a:r>
            <a:r>
              <a:rPr lang="ko-KR" altLang="en-US" b="1" dirty="0">
                <a:solidFill>
                  <a:schemeClr val="accent2"/>
                </a:solidFill>
              </a:rPr>
              <a:t>순서대로 박스 표시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976" y="1403773"/>
            <a:ext cx="5365152" cy="466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8565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34D50B3-0D84-E6CB-DB4B-4CB29C65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2"/>
                </a:solidFill>
              </a:rPr>
              <a:t>실습</a:t>
            </a:r>
            <a:r>
              <a:rPr lang="en-US" altLang="ko-KR" b="1" dirty="0">
                <a:solidFill>
                  <a:schemeClr val="accent2"/>
                </a:solidFill>
              </a:rPr>
              <a:t>5. </a:t>
            </a:r>
            <a:r>
              <a:rPr lang="ko-KR" altLang="en-US" b="1" dirty="0">
                <a:solidFill>
                  <a:schemeClr val="accent2"/>
                </a:solidFill>
              </a:rPr>
              <a:t>카드 하나씩 새 창에 표시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6" y="1294448"/>
            <a:ext cx="11393487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6815666" y="4028492"/>
            <a:ext cx="5117254" cy="2219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제시된 이미지의 카드를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하나씩 별도로 새 창에 표시하기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9026856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2994-4D9F-9BFC-722E-EE98899C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D83B59-1759-A483-5B48-90F594F29F92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히스토그램</a:t>
            </a:r>
          </a:p>
        </p:txBody>
      </p:sp>
    </p:spTree>
    <p:extLst>
      <p:ext uri="{BB962C8B-B14F-4D97-AF65-F5344CB8AC3E}">
        <p14:creationId xmlns:p14="http://schemas.microsoft.com/office/powerpoint/2010/main" val="2437179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044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히스토그램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11790646" cy="105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데이터의 분포</a:t>
            </a:r>
            <a:r>
              <a:rPr lang="ko-KR" altLang="en-US" sz="2400" dirty="0"/>
              <a:t>를 시각적으로 표현한 그래프</a:t>
            </a:r>
            <a:r>
              <a:rPr lang="en-US" altLang="ko-KR" sz="2400" dirty="0"/>
              <a:t>. </a:t>
            </a:r>
            <a:r>
              <a:rPr lang="ko-KR" altLang="en-US" sz="2400" dirty="0"/>
              <a:t>이미지 처리에서는 주로 </a:t>
            </a:r>
            <a:r>
              <a:rPr lang="ko-KR" altLang="en-US" sz="2400" b="1" dirty="0"/>
              <a:t>픽셀 값의 분포</a:t>
            </a:r>
            <a:r>
              <a:rPr lang="ko-KR" altLang="en-US" sz="2400" dirty="0"/>
              <a:t>를 나타냄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이미지에 존재하는 밝기 또는 색상의 빈도수를 분석하는 데 사용됨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266" name="Picture 2" descr="How to Read (and Use) Histograms for Beautiful Exposur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3" b="6121"/>
          <a:stretch/>
        </p:blipFill>
        <p:spPr bwMode="auto">
          <a:xfrm>
            <a:off x="2822319" y="2634871"/>
            <a:ext cx="6547362" cy="285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2796540" y="5489603"/>
            <a:ext cx="65989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https://digital-photography-school.com/how-to-read-and-use-histograms/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3873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001698"/>
            <a:ext cx="11567160" cy="54683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💡 </a:t>
            </a:r>
            <a:r>
              <a:rPr lang="en-US" altLang="ko-KR" sz="2400" b="1" dirty="0">
                <a:latin typeface="+mn-ea"/>
              </a:rPr>
              <a:t>cv2.calcHist</a:t>
            </a:r>
            <a:r>
              <a:rPr lang="en-US" altLang="ko-KR" sz="2400" dirty="0">
                <a:latin typeface="+mn-ea"/>
              </a:rPr>
              <a:t>(images, channels, mask, </a:t>
            </a:r>
            <a:r>
              <a:rPr lang="en-US" altLang="ko-KR" sz="2400" dirty="0" err="1">
                <a:latin typeface="+mn-ea"/>
              </a:rPr>
              <a:t>histSize</a:t>
            </a:r>
            <a:r>
              <a:rPr lang="en-US" altLang="ko-KR" sz="2400" dirty="0">
                <a:latin typeface="+mn-ea"/>
              </a:rPr>
              <a:t>, ranges[,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                         hist[,accumulate]]) </a:t>
            </a:r>
            <a:r>
              <a:rPr lang="ko-KR" altLang="en-US" sz="2400" dirty="0">
                <a:latin typeface="+mn-ea"/>
              </a:rPr>
              <a:t>→</a:t>
            </a:r>
            <a:r>
              <a:rPr lang="en-US" altLang="ko-KR" sz="2400" dirty="0">
                <a:latin typeface="+mn-ea"/>
              </a:rPr>
              <a:t> hist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img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입력 배열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모두 다 같은 </a:t>
            </a:r>
            <a:r>
              <a:rPr lang="en-US" altLang="ko-KR" sz="2000" dirty="0">
                <a:latin typeface="+mn-ea"/>
              </a:rPr>
              <a:t>depth</a:t>
            </a:r>
            <a:r>
              <a:rPr lang="ko-KR" altLang="en-US" sz="2000" dirty="0">
                <a:latin typeface="+mn-ea"/>
              </a:rPr>
              <a:t>여야 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channels :</a:t>
            </a:r>
            <a:r>
              <a:rPr lang="ko-KR" altLang="en-US" sz="2000" dirty="0">
                <a:latin typeface="+mn-ea"/>
              </a:rPr>
              <a:t> 히스토그램을 계산하는 데 사용되는 채널 목록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mask : </a:t>
            </a:r>
            <a:r>
              <a:rPr lang="ko-KR" altLang="en-US" sz="2000" dirty="0">
                <a:latin typeface="+mn-ea"/>
              </a:rPr>
              <a:t>선택적 마스크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+mn-ea"/>
              </a:rPr>
              <a:t>histSize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히스토그램 크기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ranges : </a:t>
            </a:r>
            <a:r>
              <a:rPr lang="ko-KR" altLang="en-US" sz="2000" dirty="0">
                <a:latin typeface="+mn-ea"/>
              </a:rPr>
              <a:t>히스토그램 </a:t>
            </a:r>
            <a:r>
              <a:rPr lang="en-US" altLang="ko-KR" sz="2000" dirty="0">
                <a:latin typeface="+mn-ea"/>
              </a:rPr>
              <a:t>Bin </a:t>
            </a:r>
            <a:r>
              <a:rPr lang="ko-KR" altLang="en-US" sz="2000" dirty="0">
                <a:latin typeface="+mn-ea"/>
              </a:rPr>
              <a:t>경계의 희미한 배열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accumulate : </a:t>
            </a:r>
            <a:r>
              <a:rPr lang="ko-KR" altLang="en-US" sz="2000" dirty="0">
                <a:latin typeface="+mn-ea"/>
              </a:rPr>
              <a:t>누적 플래그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+mn-ea"/>
              </a:rPr>
              <a:t>hist : </a:t>
            </a:r>
            <a:r>
              <a:rPr lang="ko-KR" altLang="en-US" sz="2000" dirty="0">
                <a:latin typeface="+mn-ea"/>
              </a:rPr>
              <a:t>출력 히스토그램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044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히스토그램</a:t>
            </a:r>
          </a:p>
        </p:txBody>
      </p:sp>
    </p:spTree>
    <p:extLst>
      <p:ext uri="{BB962C8B-B14F-4D97-AF65-F5344CB8AC3E}">
        <p14:creationId xmlns:p14="http://schemas.microsoft.com/office/powerpoint/2010/main" val="692949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17410" name="Picture 2" descr="C:\Users\LMH\Desktop\histo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4249"/>
            <a:ext cx="12192000" cy="512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45496C-2E04-CF59-0E59-8694238EC382}"/>
              </a:ext>
            </a:extLst>
          </p:cNvPr>
          <p:cNvSpPr txBox="1"/>
          <p:nvPr/>
        </p:nvSpPr>
        <p:spPr>
          <a:xfrm>
            <a:off x="200677" y="110919"/>
            <a:ext cx="3044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히스토그램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C4E80F-1A07-412D-7195-4C32F8A3600A}"/>
              </a:ext>
            </a:extLst>
          </p:cNvPr>
          <p:cNvSpPr/>
          <p:nvPr/>
        </p:nvSpPr>
        <p:spPr>
          <a:xfrm>
            <a:off x="3077936" y="3429000"/>
            <a:ext cx="681263" cy="273049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051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4C0F858-9270-442D-B801-9CF65A7D18B0}"/>
              </a:ext>
            </a:extLst>
          </p:cNvPr>
          <p:cNvSpPr txBox="1">
            <a:spLocks/>
          </p:cNvSpPr>
          <p:nvPr/>
        </p:nvSpPr>
        <p:spPr>
          <a:xfrm>
            <a:off x="397931" y="2744047"/>
            <a:ext cx="6155269" cy="2132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sz="3200" dirty="0"/>
              <a:t>임의의 이미지를 선택하고</a:t>
            </a:r>
            <a:endParaRPr lang="en-US" altLang="ko-KR" sz="32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3200" dirty="0" err="1"/>
              <a:t>pyplot</a:t>
            </a:r>
            <a:r>
              <a:rPr lang="ko-KR" altLang="en-US" sz="3200" dirty="0"/>
              <a:t>을 이용해서 </a:t>
            </a:r>
            <a:r>
              <a:rPr lang="en-US" altLang="ko-KR" sz="3200" dirty="0"/>
              <a:t>RGB </a:t>
            </a:r>
            <a:r>
              <a:rPr lang="ko-KR" altLang="en-US" sz="3200" dirty="0"/>
              <a:t>히스토그램을 한번에 그려보자</a:t>
            </a:r>
            <a:endParaRPr lang="en-US" altLang="ko-KR" sz="32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34D50B3-0D84-E6CB-DB4B-4CB29C65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6. </a:t>
            </a:r>
            <a:r>
              <a:rPr lang="en-US" altLang="ko-KR" b="1" dirty="0">
                <a:solidFill>
                  <a:schemeClr val="accent2"/>
                </a:solidFill>
              </a:rPr>
              <a:t>RGB </a:t>
            </a:r>
            <a:r>
              <a:rPr lang="ko-KR" altLang="en-US" b="1" dirty="0">
                <a:solidFill>
                  <a:schemeClr val="accent2"/>
                </a:solidFill>
              </a:rPr>
              <a:t>히스토그램 그리기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528" y="1704472"/>
            <a:ext cx="5132364" cy="3958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734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E92A-04E1-792F-DF49-CF1F4D0A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팽창과 침식</a:t>
            </a:r>
          </a:p>
        </p:txBody>
      </p:sp>
    </p:spTree>
    <p:extLst>
      <p:ext uri="{BB962C8B-B14F-4D97-AF65-F5344CB8AC3E}">
        <p14:creationId xmlns:p14="http://schemas.microsoft.com/office/powerpoint/2010/main" val="9618093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팽창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4844596" cy="105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팽창</a:t>
            </a:r>
            <a:r>
              <a:rPr lang="en-US" altLang="ko-KR" sz="2400" b="1" dirty="0"/>
              <a:t>(Dilate)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흰색 영역을 확장하여 검은 영역을 채움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2566665"/>
            <a:ext cx="11480783" cy="2532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cv2.dilate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, kernel[, </a:t>
            </a:r>
            <a:r>
              <a:rPr lang="en-US" altLang="ko-KR" sz="2400" dirty="0" err="1"/>
              <a:t>dst</a:t>
            </a:r>
            <a:r>
              <a:rPr lang="en-US" altLang="ko-KR" sz="2400" dirty="0"/>
              <a:t>[, anchor[, iterations[, </a:t>
            </a:r>
            <a:r>
              <a:rPr lang="en-US" altLang="ko-KR" sz="2400" dirty="0" err="1"/>
              <a:t>borderType</a:t>
            </a:r>
            <a:r>
              <a:rPr lang="en-US" altLang="ko-KR" sz="2400" dirty="0"/>
              <a:t>[, 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	 </a:t>
            </a:r>
            <a:r>
              <a:rPr lang="en-US" altLang="ko-KR" sz="2400" dirty="0" err="1"/>
              <a:t>borderValue</a:t>
            </a:r>
            <a:r>
              <a:rPr lang="en-US" altLang="ko-KR" sz="2400" dirty="0"/>
              <a:t>]]]]])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en-US" altLang="ko-KR" sz="2400" dirty="0" err="1"/>
              <a:t>dst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src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이미지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kernel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확장에 사용되는 구조화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iterations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확장이 적용되는 횟수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5415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팽창</a:t>
            </a:r>
          </a:p>
        </p:txBody>
      </p:sp>
      <p:pic>
        <p:nvPicPr>
          <p:cNvPr id="3074" name="Picture 2" descr="C:\Users\LMH\Desktop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332622"/>
            <a:ext cx="11673840" cy="6525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81E0615-7C46-A9B2-4583-6ECBB8DA5BB9}"/>
              </a:ext>
            </a:extLst>
          </p:cNvPr>
          <p:cNvSpPr/>
          <p:nvPr/>
        </p:nvSpPr>
        <p:spPr>
          <a:xfrm>
            <a:off x="5320030" y="2682834"/>
            <a:ext cx="1309370" cy="854115"/>
          </a:xfrm>
          <a:prstGeom prst="rect">
            <a:avLst/>
          </a:prstGeom>
          <a:noFill/>
          <a:ln w="254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4690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침식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1034249"/>
            <a:ext cx="5065810" cy="105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침식</a:t>
            </a:r>
            <a:r>
              <a:rPr lang="en-US" altLang="ko-KR" sz="2400" b="1" dirty="0"/>
              <a:t>(Erode)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흰색 영역의 외곽 픽셀을 검은색으로 변경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200677" y="2563835"/>
            <a:ext cx="11480783" cy="2532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💡 </a:t>
            </a:r>
            <a:r>
              <a:rPr lang="en-US" altLang="ko-KR" sz="2400" b="1" dirty="0"/>
              <a:t>cv2.erode</a:t>
            </a:r>
            <a:r>
              <a:rPr lang="en-US" altLang="ko-KR" sz="2400" dirty="0"/>
              <a:t>(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, kernel[, </a:t>
            </a:r>
            <a:r>
              <a:rPr lang="en-US" altLang="ko-KR" sz="2400" dirty="0" err="1"/>
              <a:t>dst</a:t>
            </a:r>
            <a:r>
              <a:rPr lang="en-US" altLang="ko-KR" sz="2400" dirty="0"/>
              <a:t>[, anchor[, iterations[, </a:t>
            </a:r>
            <a:r>
              <a:rPr lang="en-US" altLang="ko-KR" sz="2400" dirty="0" err="1"/>
              <a:t>borderType</a:t>
            </a:r>
            <a:r>
              <a:rPr lang="en-US" altLang="ko-KR" sz="2400" dirty="0"/>
              <a:t>[, 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		  </a:t>
            </a:r>
            <a:r>
              <a:rPr lang="en-US" altLang="ko-KR" sz="2400" dirty="0" err="1"/>
              <a:t>borderValue</a:t>
            </a:r>
            <a:r>
              <a:rPr lang="en-US" altLang="ko-KR" sz="2400" dirty="0"/>
              <a:t>]]]]])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en-US" altLang="ko-KR" sz="2400" dirty="0" err="1"/>
              <a:t>dst</a:t>
            </a:r>
            <a:r>
              <a:rPr lang="en-US" altLang="ko-KR" sz="2400" dirty="0"/>
              <a:t>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src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이미지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kernel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침식에 사용되는 구조화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iterations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침식이 적용되는 횟수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28021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침식</a:t>
            </a:r>
          </a:p>
        </p:txBody>
      </p:sp>
      <p:pic>
        <p:nvPicPr>
          <p:cNvPr id="4098" name="Picture 2" descr="C:\Users\LMH\Desktop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8548"/>
            <a:ext cx="11734800" cy="65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9008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LMH\Desktop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1041322"/>
            <a:ext cx="11399520" cy="581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열림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902151" y="1155622"/>
            <a:ext cx="4751622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침식 후 팽창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노이즈</a:t>
            </a:r>
            <a:r>
              <a:rPr lang="ko-KR" altLang="en-US" sz="2400" dirty="0"/>
              <a:t> 제거 후 복원</a:t>
            </a:r>
          </a:p>
        </p:txBody>
      </p:sp>
    </p:spTree>
    <p:extLst>
      <p:ext uri="{BB962C8B-B14F-4D97-AF65-F5344CB8AC3E}">
        <p14:creationId xmlns:p14="http://schemas.microsoft.com/office/powerpoint/2010/main" val="24585685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E697-FBD3-BAF4-A840-84DB6A82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LMH\Desktop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89" y="1039244"/>
            <a:ext cx="11419840" cy="58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400C01-6FF7-311F-6CD9-8213C8F0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7A991-1D27-6987-8B93-0159AAA3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1A605-93E7-A6BE-E569-8BE978BC7066}"/>
              </a:ext>
            </a:extLst>
          </p:cNvPr>
          <p:cNvSpPr txBox="1"/>
          <p:nvPr/>
        </p:nvSpPr>
        <p:spPr>
          <a:xfrm>
            <a:off x="200677" y="110919"/>
            <a:ext cx="124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rgbClr val="2A2A2A"/>
                </a:solidFill>
                <a:latin typeface="+mj-ea"/>
                <a:ea typeface="+mj-ea"/>
                <a:cs typeface="Pretendard Black" panose="02000A03000000020004" pitchFamily="2" charset="-127"/>
              </a:rPr>
              <a:t>닫힘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E667C-F221-813A-6166-2C0225031A66}"/>
              </a:ext>
            </a:extLst>
          </p:cNvPr>
          <p:cNvSpPr txBox="1"/>
          <p:nvPr/>
        </p:nvSpPr>
        <p:spPr>
          <a:xfrm>
            <a:off x="902151" y="1154990"/>
            <a:ext cx="4751622" cy="58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팽창 후 침식 </a:t>
            </a:r>
            <a:r>
              <a:rPr lang="en-US" altLang="ko-KR" sz="2400" dirty="0"/>
              <a:t>: </a:t>
            </a:r>
            <a:r>
              <a:rPr lang="ko-KR" altLang="en-US" sz="2400" dirty="0"/>
              <a:t>구멍을 메운 후 복원</a:t>
            </a:r>
          </a:p>
        </p:txBody>
      </p:sp>
    </p:spTree>
    <p:extLst>
      <p:ext uri="{BB962C8B-B14F-4D97-AF65-F5344CB8AC3E}">
        <p14:creationId xmlns:p14="http://schemas.microsoft.com/office/powerpoint/2010/main" val="29561756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8190</TotalTime>
  <Words>1710</Words>
  <Application>Microsoft Office PowerPoint</Application>
  <PresentationFormat>와이드스크린</PresentationFormat>
  <Paragraphs>388</Paragraphs>
  <Slides>56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7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실습1. 이미지 원근 변환하기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실습2. 반자동 문서 스캐너 만들기</vt:lpstr>
      <vt:lpstr>실습2. 반자동 문서 스캐너 만들기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실습3. 캠 화면에 검출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실습4. 순서대로 박스 표시</vt:lpstr>
      <vt:lpstr>실습5. 카드 하나씩 새 창에 표시</vt:lpstr>
      <vt:lpstr>PowerPoint 프레젠테이션</vt:lpstr>
      <vt:lpstr>PowerPoint 프레젠테이션</vt:lpstr>
      <vt:lpstr>PowerPoint 프레젠테이션</vt:lpstr>
      <vt:lpstr>PowerPoint 프레젠테이션</vt:lpstr>
      <vt:lpstr>실습6. RGB 히스토그램 그리기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571</cp:revision>
  <dcterms:created xsi:type="dcterms:W3CDTF">2023-01-31T04:26:23Z</dcterms:created>
  <dcterms:modified xsi:type="dcterms:W3CDTF">2025-09-11T00:25:17Z</dcterms:modified>
</cp:coreProperties>
</file>