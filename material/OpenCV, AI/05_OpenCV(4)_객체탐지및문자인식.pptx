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1004" r:id="rId2"/>
    <p:sldId id="827" r:id="rId3"/>
    <p:sldId id="582" r:id="rId4"/>
    <p:sldId id="1019" r:id="rId5"/>
    <p:sldId id="828" r:id="rId6"/>
    <p:sldId id="830" r:id="rId7"/>
    <p:sldId id="829" r:id="rId8"/>
    <p:sldId id="1020" r:id="rId9"/>
    <p:sldId id="700" r:id="rId10"/>
    <p:sldId id="831" r:id="rId11"/>
    <p:sldId id="838" r:id="rId12"/>
    <p:sldId id="839" r:id="rId13"/>
    <p:sldId id="1021" r:id="rId14"/>
    <p:sldId id="701" r:id="rId15"/>
    <p:sldId id="705" r:id="rId16"/>
    <p:sldId id="724" r:id="rId17"/>
    <p:sldId id="840" r:id="rId18"/>
    <p:sldId id="832" r:id="rId19"/>
    <p:sldId id="714" r:id="rId20"/>
    <p:sldId id="715" r:id="rId21"/>
    <p:sldId id="717" r:id="rId22"/>
    <p:sldId id="718" r:id="rId23"/>
    <p:sldId id="719" r:id="rId24"/>
    <p:sldId id="837" r:id="rId25"/>
    <p:sldId id="833" r:id="rId26"/>
    <p:sldId id="684" r:id="rId27"/>
    <p:sldId id="702" r:id="rId28"/>
    <p:sldId id="685" r:id="rId29"/>
    <p:sldId id="686" r:id="rId30"/>
    <p:sldId id="1023" r:id="rId31"/>
    <p:sldId id="687" r:id="rId32"/>
    <p:sldId id="689" r:id="rId33"/>
    <p:sldId id="703" r:id="rId34"/>
    <p:sldId id="834" r:id="rId35"/>
    <p:sldId id="1022" r:id="rId36"/>
    <p:sldId id="836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56" autoAdjust="0"/>
    <p:restoredTop sz="91676" autoAdjust="0"/>
  </p:normalViewPr>
  <p:slideViewPr>
    <p:cSldViewPr snapToGrid="0">
      <p:cViewPr varScale="1">
        <p:scale>
          <a:sx n="98" d="100"/>
          <a:sy n="98" d="100"/>
        </p:scale>
        <p:origin x="54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2025-09-16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4555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391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64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64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83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83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8C49-CED7-4A86-9B4A-621D7F62EE92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772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hPCTwxF0qf4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github.com/opencv/opencv/tree/master/data/haarcascades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github.com/UB-Mannheim/tesseract/wiki" TargetMode="Externa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2839F9-0BFF-23B7-FDC2-F712592DC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3C5469-037B-97B0-6833-41E090EA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4C7DD5B-AF47-E169-FE1C-CF22BB1229F5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얼굴 인식</a:t>
            </a:r>
          </a:p>
        </p:txBody>
      </p:sp>
    </p:spTree>
    <p:extLst>
      <p:ext uri="{BB962C8B-B14F-4D97-AF65-F5344CB8AC3E}">
        <p14:creationId xmlns:p14="http://schemas.microsoft.com/office/powerpoint/2010/main" val="3727543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46" y="1285055"/>
            <a:ext cx="7195288" cy="46263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1328" y="1285815"/>
            <a:ext cx="3177225" cy="46255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D8B6CC-9268-1F0D-CF19-47762A42AEA0}"/>
              </a:ext>
            </a:extLst>
          </p:cNvPr>
          <p:cNvSpPr txBox="1"/>
          <p:nvPr/>
        </p:nvSpPr>
        <p:spPr>
          <a:xfrm>
            <a:off x="200677" y="110919"/>
            <a:ext cx="2448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얼굴 인식</a:t>
            </a:r>
          </a:p>
        </p:txBody>
      </p:sp>
    </p:spTree>
    <p:extLst>
      <p:ext uri="{BB962C8B-B14F-4D97-AF65-F5344CB8AC3E}">
        <p14:creationId xmlns:p14="http://schemas.microsoft.com/office/powerpoint/2010/main" val="586900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DFA52-8649-98B2-2585-31962A828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6F86EF-D5DA-C45A-8169-63B7B4B27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E76FAD-0D85-389C-9E4E-28FEB82CC2B1}"/>
              </a:ext>
            </a:extLst>
          </p:cNvPr>
          <p:cNvSpPr txBox="1"/>
          <p:nvPr/>
        </p:nvSpPr>
        <p:spPr>
          <a:xfrm>
            <a:off x="200677" y="941916"/>
            <a:ext cx="11446917" cy="3444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/>
              <a:t>💡 </a:t>
            </a:r>
            <a:r>
              <a:rPr lang="en-US" altLang="ko-KR" sz="2800" b="1" dirty="0"/>
              <a:t>Haar Cascade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OpenCV에서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기본 라이브러리로 제공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기계학습을 이용한 객체 탐지 알고리즘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하르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특징 (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Haar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Features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계산을 통해 객체를 찾음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사전 학습된 분류기(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haarcascade_frontalface_alt.xml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로드한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뒤,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v2를 통해 분류기를 생성</a:t>
            </a:r>
            <a:endParaRPr lang="ko-KR" altLang="en-US" sz="24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9D4DB3-012D-6BA5-C273-2B2EFB4E31B4}"/>
              </a:ext>
            </a:extLst>
          </p:cNvPr>
          <p:cNvSpPr txBox="1"/>
          <p:nvPr/>
        </p:nvSpPr>
        <p:spPr>
          <a:xfrm>
            <a:off x="200677" y="110919"/>
            <a:ext cx="2448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얼굴 인식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3106E4-9A44-3410-C411-98A604FB4CBE}"/>
              </a:ext>
            </a:extLst>
          </p:cNvPr>
          <p:cNvSpPr txBox="1"/>
          <p:nvPr/>
        </p:nvSpPr>
        <p:spPr>
          <a:xfrm>
            <a:off x="200677" y="5546752"/>
            <a:ext cx="6168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🔎 </a:t>
            </a:r>
            <a:r>
              <a:rPr lang="en-US" altLang="ko-KR" b="1" dirty="0"/>
              <a:t> ‘Haar’</a:t>
            </a:r>
            <a:r>
              <a:rPr lang="ko-KR" altLang="en-US" dirty="0"/>
              <a:t>는 수학자 </a:t>
            </a:r>
            <a:r>
              <a:rPr lang="en-US" altLang="ko-KR" b="1" dirty="0"/>
              <a:t>Alfred </a:t>
            </a:r>
            <a:r>
              <a:rPr lang="en-US" altLang="ko-KR" b="1" dirty="0" err="1"/>
              <a:t>Haar</a:t>
            </a:r>
            <a:r>
              <a:rPr lang="ko-KR" altLang="en-US" dirty="0"/>
              <a:t>의 이름에서 따온 것</a:t>
            </a:r>
          </a:p>
        </p:txBody>
      </p:sp>
    </p:spTree>
    <p:extLst>
      <p:ext uri="{BB962C8B-B14F-4D97-AF65-F5344CB8AC3E}">
        <p14:creationId xmlns:p14="http://schemas.microsoft.com/office/powerpoint/2010/main" val="4189431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92BA6-A5C9-F591-5E2D-95B3362B2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BD6857-EF02-C745-265E-F8D08FFED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FC57E7-A721-9763-40BB-110ECB7157D3}"/>
              </a:ext>
            </a:extLst>
          </p:cNvPr>
          <p:cNvSpPr txBox="1"/>
          <p:nvPr/>
        </p:nvSpPr>
        <p:spPr>
          <a:xfrm>
            <a:off x="200677" y="941916"/>
            <a:ext cx="10569723" cy="1228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/>
              <a:t>💡 </a:t>
            </a:r>
            <a:r>
              <a:rPr lang="en-US" altLang="ko-KR" sz="2800" b="1" dirty="0"/>
              <a:t>Haar </a:t>
            </a:r>
            <a:r>
              <a:rPr lang="ko-KR" altLang="en-US" sz="2800" b="1" dirty="0"/>
              <a:t>특징</a:t>
            </a:r>
            <a:r>
              <a:rPr lang="en-US" altLang="ko-KR" sz="2800" b="1" dirty="0"/>
              <a:t>(</a:t>
            </a:r>
            <a:r>
              <a:rPr lang="en-US" altLang="ko-KR" sz="2800" b="1" dirty="0" err="1"/>
              <a:t>Haar</a:t>
            </a:r>
            <a:r>
              <a:rPr lang="en-US" altLang="ko-KR" sz="2800" b="1" dirty="0"/>
              <a:t> Features)</a:t>
            </a:r>
            <a:r>
              <a:rPr lang="ko-KR" altLang="en-US" sz="2800" b="1" dirty="0"/>
              <a:t> </a:t>
            </a:r>
            <a:endParaRPr lang="en-US" altLang="ko-KR" sz="28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밝고 어두운 영역 간의 차이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활용해 객체를 감지하는 규칙</a:t>
            </a:r>
            <a:endParaRPr lang="ko-KR" altLang="en-US" sz="24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9DA023-B64F-7714-E380-F71DDC9A5590}"/>
              </a:ext>
            </a:extLst>
          </p:cNvPr>
          <p:cNvSpPr txBox="1"/>
          <p:nvPr/>
        </p:nvSpPr>
        <p:spPr>
          <a:xfrm>
            <a:off x="200677" y="110919"/>
            <a:ext cx="2448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얼굴 인식</a:t>
            </a:r>
          </a:p>
        </p:txBody>
      </p:sp>
      <p:pic>
        <p:nvPicPr>
          <p:cNvPr id="1029" name="Picture 5" descr="Haar Cascades, Explained. A brief introduction into Haar… | by Aditya  Mittal | Analytics Vidhya | Medium">
            <a:extLst>
              <a:ext uri="{FF2B5EF4-FFF2-40B4-BE49-F238E27FC236}">
                <a16:creationId xmlns:a16="http://schemas.microsoft.com/office/drawing/2014/main" id="{E242FA49-72B6-CD57-700B-5E778171C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77" y="2529376"/>
            <a:ext cx="3852528" cy="3356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What are Haar Features used in Face Detection ? | by Darshan Adakane |  Analytics Vidhya | Medium">
            <a:extLst>
              <a:ext uri="{FF2B5EF4-FFF2-40B4-BE49-F238E27FC236}">
                <a16:creationId xmlns:a16="http://schemas.microsoft.com/office/drawing/2014/main" id="{4A5EECCA-7D63-1F99-B7C4-725225EB9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57" y="2696628"/>
            <a:ext cx="2270322" cy="3030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4BB478-B5CC-7D28-5803-97016DAA1D75}"/>
              </a:ext>
            </a:extLst>
          </p:cNvPr>
          <p:cNvSpPr txBox="1"/>
          <p:nvPr/>
        </p:nvSpPr>
        <p:spPr>
          <a:xfrm>
            <a:off x="3354611" y="5853033"/>
            <a:ext cx="54827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출처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https://medium.com/analytics-vidhya/haar-cascades-explained-38210e57970d</a:t>
            </a:r>
          </a:p>
        </p:txBody>
      </p:sp>
      <p:pic>
        <p:nvPicPr>
          <p:cNvPr id="1033" name="Picture 9">
            <a:extLst>
              <a:ext uri="{FF2B5EF4-FFF2-40B4-BE49-F238E27FC236}">
                <a16:creationId xmlns:a16="http://schemas.microsoft.com/office/drawing/2014/main" id="{8FAC8E85-61C1-DCAE-8C3A-BB79DE191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0115" y="2691608"/>
            <a:ext cx="5311327" cy="3032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964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6D10C-F16E-A68F-736A-08FB1140E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3676C1-2806-369D-6396-F76C8670E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60AD7F-7B35-ACA7-E7E6-473EF19BD0C3}"/>
              </a:ext>
            </a:extLst>
          </p:cNvPr>
          <p:cNvSpPr txBox="1"/>
          <p:nvPr/>
        </p:nvSpPr>
        <p:spPr>
          <a:xfrm>
            <a:off x="200677" y="941916"/>
            <a:ext cx="11652640" cy="2890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/>
              <a:t>💡 </a:t>
            </a:r>
            <a:r>
              <a:rPr lang="en-US" altLang="ko-KR" sz="2800" b="1" dirty="0"/>
              <a:t>Haar </a:t>
            </a:r>
            <a:r>
              <a:rPr lang="ko-KR" altLang="en-US" sz="2800" b="1" dirty="0"/>
              <a:t>특징</a:t>
            </a:r>
            <a:r>
              <a:rPr lang="en-US" altLang="ko-KR" sz="2800" b="1" dirty="0"/>
              <a:t>(</a:t>
            </a:r>
            <a:r>
              <a:rPr lang="en-US" altLang="ko-KR" sz="2800" b="1" dirty="0" err="1"/>
              <a:t>Haar</a:t>
            </a:r>
            <a:r>
              <a:rPr lang="en-US" altLang="ko-KR" sz="2800" b="1" dirty="0"/>
              <a:t> Features)</a:t>
            </a:r>
            <a:r>
              <a:rPr lang="ko-KR" altLang="en-US" sz="2800" b="1" dirty="0"/>
              <a:t> </a:t>
            </a:r>
            <a:endParaRPr lang="en-US" altLang="ko-KR" sz="2800" b="1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특정 크기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24x24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픽셀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창을 이미지 위에서 이동시키면서 이미지를 검사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창에서 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Haar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특징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밝고 어두운 패턴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비교합니다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창 안의 밝기 차이가 특정 조건을 만족하면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여기에 얼굴이 있을 가능성이 있다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 판단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얼굴일 가능성이 높은 위치를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Cascade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구조를 통해 더 정밀하게 검사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84A627-F4C2-89E7-9EC7-21F17E194FA8}"/>
              </a:ext>
            </a:extLst>
          </p:cNvPr>
          <p:cNvSpPr txBox="1"/>
          <p:nvPr/>
        </p:nvSpPr>
        <p:spPr>
          <a:xfrm>
            <a:off x="200677" y="110919"/>
            <a:ext cx="2448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얼굴 인식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4FE29E-1832-D6A7-7055-85D7E57FA76B}"/>
              </a:ext>
            </a:extLst>
          </p:cNvPr>
          <p:cNvSpPr txBox="1"/>
          <p:nvPr/>
        </p:nvSpPr>
        <p:spPr>
          <a:xfrm>
            <a:off x="582189" y="4332853"/>
            <a:ext cx="63289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🔗 참고영상</a:t>
            </a:r>
            <a:r>
              <a:rPr lang="en-US" altLang="ko-KR" sz="2400" dirty="0"/>
              <a:t>) </a:t>
            </a:r>
            <a:r>
              <a:rPr lang="en-US" altLang="ko-KR" sz="2400" dirty="0">
                <a:hlinkClick r:id="rId2"/>
              </a:rPr>
              <a:t>https://youtu.be/hPCTwxF0qf4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56841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41413-3EAB-3345-5EF1-A5F09FA2E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5FE299-3D81-19E0-C086-B4624FCDA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0B1636-80BA-6C1E-C197-4D8EF37E2AFA}"/>
              </a:ext>
            </a:extLst>
          </p:cNvPr>
          <p:cNvSpPr txBox="1"/>
          <p:nvPr/>
        </p:nvSpPr>
        <p:spPr>
          <a:xfrm>
            <a:off x="200677" y="110919"/>
            <a:ext cx="2448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얼굴 인식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0373EB-C301-2E6A-9FAD-7665643365DE}"/>
              </a:ext>
            </a:extLst>
          </p:cNvPr>
          <p:cNvSpPr txBox="1"/>
          <p:nvPr/>
        </p:nvSpPr>
        <p:spPr>
          <a:xfrm>
            <a:off x="200677" y="941916"/>
            <a:ext cx="11330803" cy="1782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/>
              <a:t>💡</a:t>
            </a:r>
            <a:r>
              <a:rPr lang="en-US" altLang="ko-KR" sz="2800" b="1" dirty="0"/>
              <a:t>Cascade</a:t>
            </a:r>
            <a:r>
              <a:rPr lang="ko-KR" altLang="en-US" sz="2800" b="1" dirty="0"/>
              <a:t> </a:t>
            </a:r>
            <a:r>
              <a:rPr lang="en-US" altLang="ko-KR" sz="2800" b="1" dirty="0"/>
              <a:t>: </a:t>
            </a:r>
            <a:r>
              <a:rPr lang="ko-KR" altLang="en-US" sz="2800" dirty="0"/>
              <a:t>알고리즘이 </a:t>
            </a:r>
            <a:r>
              <a:rPr lang="ko-KR" altLang="en-US" sz="2800" b="1" dirty="0"/>
              <a:t>단계별</a:t>
            </a:r>
            <a:r>
              <a:rPr lang="en-US" altLang="ko-KR" sz="2800" b="1" dirty="0"/>
              <a:t>(</a:t>
            </a:r>
            <a:r>
              <a:rPr lang="ko-KR" altLang="en-US" sz="2800" b="1" dirty="0"/>
              <a:t>계단식</a:t>
            </a:r>
            <a:r>
              <a:rPr lang="en-US" altLang="ko-KR" sz="2800" b="1" dirty="0"/>
              <a:t>)</a:t>
            </a:r>
            <a:r>
              <a:rPr lang="ko-KR" altLang="en-US" sz="2800" dirty="0"/>
              <a:t> 구조로 작동</a:t>
            </a:r>
            <a:endParaRPr lang="en-US" altLang="ko-KR" sz="28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이미지를 한 번에 모두 분석하면 시간이 오래 걸림 →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얼굴이 아닐 가능성이 높은 영역을 빠르게 제거하고 단계별로 점점 더 정밀한 검사를 진행 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연산 속도↓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정밀도↑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endParaRPr lang="ko-KR" altLang="en-US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2050" name="Picture 2" descr="Object Detection using Haar Cascade">
            <a:extLst>
              <a:ext uri="{FF2B5EF4-FFF2-40B4-BE49-F238E27FC236}">
                <a16:creationId xmlns:a16="http://schemas.microsoft.com/office/drawing/2014/main" id="{9A2AB4C2-B8D3-E473-6568-71F4D8502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542" y="2875693"/>
            <a:ext cx="9056916" cy="328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8BB038-B544-8286-4313-D1D57434184B}"/>
              </a:ext>
            </a:extLst>
          </p:cNvPr>
          <p:cNvSpPr txBox="1"/>
          <p:nvPr/>
        </p:nvSpPr>
        <p:spPr>
          <a:xfrm>
            <a:off x="2831190" y="6163543"/>
            <a:ext cx="652961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출처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https://www.analyticsvidhya.com/blog/2022/04/object-detection-using-haar-cascade-opencv/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7028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88676-2295-E9CC-7432-C16754FBC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478E5F-C257-5310-40C7-781465459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D59055-71DD-D397-08DD-0C830FC4CE08}"/>
              </a:ext>
            </a:extLst>
          </p:cNvPr>
          <p:cNvSpPr txBox="1"/>
          <p:nvPr/>
        </p:nvSpPr>
        <p:spPr>
          <a:xfrm>
            <a:off x="240406" y="1248588"/>
            <a:ext cx="6118061" cy="4655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/>
              <a:t>💡 </a:t>
            </a:r>
            <a:r>
              <a:rPr lang="en-US" altLang="ko-KR" sz="2800" b="1" dirty="0"/>
              <a:t>cv2.CascadeClassifier</a:t>
            </a:r>
            <a:r>
              <a:rPr lang="en-US" altLang="ko-KR" sz="2800" dirty="0"/>
              <a:t>(filename)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filename : </a:t>
            </a: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로드 할 분류기 파일 이름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xml</a:t>
            </a: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파일 가져오기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가상환경폴더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lib/site-packages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cv2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data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xml </a:t>
            </a: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 다운로드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2"/>
              </a:rPr>
              <a:t>https://github.com/opencv/opencv/tree/master/data/haarcascades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82F790-7A85-2D3C-4D1E-23A7E0F6729D}"/>
              </a:ext>
            </a:extLst>
          </p:cNvPr>
          <p:cNvSpPr txBox="1"/>
          <p:nvPr/>
        </p:nvSpPr>
        <p:spPr>
          <a:xfrm>
            <a:off x="200677" y="110919"/>
            <a:ext cx="2448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얼굴 인식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FC9291B3-7BB0-927B-AD09-3BEE5F62D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904" y="2240436"/>
            <a:ext cx="5065690" cy="2867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3336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EB7A8B-5299-BB26-F927-189D56065B48}"/>
              </a:ext>
            </a:extLst>
          </p:cNvPr>
          <p:cNvSpPr txBox="1"/>
          <p:nvPr/>
        </p:nvSpPr>
        <p:spPr>
          <a:xfrm>
            <a:off x="200677" y="110919"/>
            <a:ext cx="2448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얼굴 인식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1CF408-A545-B8EC-8C5B-09492BA65620}"/>
              </a:ext>
            </a:extLst>
          </p:cNvPr>
          <p:cNvSpPr txBox="1"/>
          <p:nvPr/>
        </p:nvSpPr>
        <p:spPr>
          <a:xfrm>
            <a:off x="200677" y="944032"/>
            <a:ext cx="11752332" cy="2336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/>
              <a:t>💡 </a:t>
            </a:r>
            <a:r>
              <a:rPr lang="en-US" altLang="ko-KR" sz="2800" b="1" dirty="0"/>
              <a:t>cv2.detectMultiScale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OpenCV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객체 검출 함수로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주로 얼굴 검출과 같은 작업에 사용됨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 이미지에서 여러 크기의 객체를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스케일링하며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탐지할 수 있기 때문에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크기가 다른 객체도 효과적으로 검출할 수 있음</a:t>
            </a:r>
          </a:p>
        </p:txBody>
      </p:sp>
    </p:spTree>
    <p:extLst>
      <p:ext uri="{BB962C8B-B14F-4D97-AF65-F5344CB8AC3E}">
        <p14:creationId xmlns:p14="http://schemas.microsoft.com/office/powerpoint/2010/main" val="542092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B209A-679D-160A-06C6-5C617A413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4FDD4-FD63-5FD9-626F-CB7D292FE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63CCD4-1B8B-58A2-32E6-34CB3EDA32A7}"/>
              </a:ext>
            </a:extLst>
          </p:cNvPr>
          <p:cNvSpPr txBox="1"/>
          <p:nvPr/>
        </p:nvSpPr>
        <p:spPr>
          <a:xfrm>
            <a:off x="200677" y="110919"/>
            <a:ext cx="2448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얼굴 인식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1B4FCF-A08F-E397-3C6D-33A029E3AF7A}"/>
              </a:ext>
            </a:extLst>
          </p:cNvPr>
          <p:cNvSpPr txBox="1"/>
          <p:nvPr/>
        </p:nvSpPr>
        <p:spPr>
          <a:xfrm>
            <a:off x="200677" y="941916"/>
            <a:ext cx="11453267" cy="2983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/>
              <a:t>💡 </a:t>
            </a:r>
            <a:r>
              <a:rPr lang="en-US" altLang="ko-KR" sz="2800" b="1" dirty="0"/>
              <a:t>cv2.detectMultiScale</a:t>
            </a:r>
            <a:r>
              <a:rPr lang="en-US" altLang="ko-KR" sz="2800" dirty="0"/>
              <a:t>(image, </a:t>
            </a:r>
            <a:r>
              <a:rPr lang="en-US" altLang="ko-KR" sz="2800" dirty="0" err="1"/>
              <a:t>scaleFactor</a:t>
            </a:r>
            <a:r>
              <a:rPr lang="en-US" altLang="ko-KR" sz="2800" dirty="0"/>
              <a:t>, </a:t>
            </a:r>
            <a:r>
              <a:rPr lang="en-US" altLang="ko-KR" sz="2800" dirty="0" err="1"/>
              <a:t>minNeighbors</a:t>
            </a:r>
            <a:r>
              <a:rPr lang="en-US" altLang="ko-KR" sz="2800" dirty="0"/>
              <a:t>, flags, </a:t>
            </a:r>
          </a:p>
          <a:p>
            <a:pPr>
              <a:lnSpc>
                <a:spcPct val="150000"/>
              </a:lnSpc>
            </a:pPr>
            <a:r>
              <a:rPr lang="en-US" altLang="ko-KR" sz="2800" dirty="0"/>
              <a:t>                                               </a:t>
            </a:r>
            <a:r>
              <a:rPr lang="en-US" altLang="ko-KR" sz="2800" dirty="0" err="1"/>
              <a:t>minSize</a:t>
            </a:r>
            <a:r>
              <a:rPr lang="en-US" altLang="ko-KR" sz="2800" dirty="0"/>
              <a:t>, </a:t>
            </a:r>
            <a:r>
              <a:rPr lang="en-US" altLang="ko-KR" sz="2800" dirty="0" err="1"/>
              <a:t>maxSize</a:t>
            </a:r>
            <a:r>
              <a:rPr lang="en-US" altLang="ko-KR" sz="2800" dirty="0"/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OpenCV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객체 검출 함수로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주로 얼굴 검출과 같은 작업에 사용됨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 이미지에서 여러 크기의 객체를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스케일링하며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탐지할 수 있기 때문에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크기가 다른 객체도 효과적으로 검출할 수 있음</a:t>
            </a:r>
          </a:p>
        </p:txBody>
      </p:sp>
    </p:spTree>
    <p:extLst>
      <p:ext uri="{BB962C8B-B14F-4D97-AF65-F5344CB8AC3E}">
        <p14:creationId xmlns:p14="http://schemas.microsoft.com/office/powerpoint/2010/main" val="2303519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B209A-679D-160A-06C6-5C617A413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4FDD4-FD63-5FD9-626F-CB7D292FE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63CCD4-1B8B-58A2-32E6-34CB3EDA32A7}"/>
              </a:ext>
            </a:extLst>
          </p:cNvPr>
          <p:cNvSpPr txBox="1"/>
          <p:nvPr/>
        </p:nvSpPr>
        <p:spPr>
          <a:xfrm>
            <a:off x="200677" y="110919"/>
            <a:ext cx="2448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얼굴 인식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F5B7FA-314E-696A-693D-01237254FAF9}"/>
              </a:ext>
            </a:extLst>
          </p:cNvPr>
          <p:cNvSpPr txBox="1"/>
          <p:nvPr/>
        </p:nvSpPr>
        <p:spPr>
          <a:xfrm>
            <a:off x="200677" y="941916"/>
            <a:ext cx="11453267" cy="5209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/>
              <a:t>💡 </a:t>
            </a:r>
            <a:r>
              <a:rPr lang="en-US" altLang="ko-KR" sz="2800" b="1" dirty="0"/>
              <a:t>cv2.detectMultiScale</a:t>
            </a:r>
            <a:r>
              <a:rPr lang="en-US" altLang="ko-KR" sz="2800" dirty="0"/>
              <a:t>(image, </a:t>
            </a:r>
            <a:r>
              <a:rPr lang="en-US" altLang="ko-KR" sz="2800" dirty="0" err="1"/>
              <a:t>scaleFactor</a:t>
            </a:r>
            <a:r>
              <a:rPr lang="en-US" altLang="ko-KR" sz="2800" dirty="0"/>
              <a:t>, </a:t>
            </a:r>
            <a:r>
              <a:rPr lang="en-US" altLang="ko-KR" sz="2800" dirty="0" err="1"/>
              <a:t>minNeighbors</a:t>
            </a:r>
            <a:r>
              <a:rPr lang="en-US" altLang="ko-KR" sz="2800" dirty="0"/>
              <a:t>, flags, </a:t>
            </a:r>
          </a:p>
          <a:p>
            <a:pPr>
              <a:lnSpc>
                <a:spcPct val="150000"/>
              </a:lnSpc>
            </a:pPr>
            <a:r>
              <a:rPr lang="en-US" altLang="ko-KR" sz="2800" dirty="0"/>
              <a:t>                                               </a:t>
            </a:r>
            <a:r>
              <a:rPr lang="en-US" altLang="ko-KR" sz="2800" dirty="0" err="1"/>
              <a:t>minSize</a:t>
            </a:r>
            <a:r>
              <a:rPr lang="en-US" altLang="ko-KR" sz="2800" dirty="0"/>
              <a:t>, </a:t>
            </a:r>
            <a:r>
              <a:rPr lang="en-US" altLang="ko-KR" sz="2800" dirty="0" err="1"/>
              <a:t>maxSize</a:t>
            </a:r>
            <a:r>
              <a:rPr lang="en-US" altLang="ko-KR" sz="2800" dirty="0"/>
              <a:t>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400" dirty="0" err="1"/>
              <a:t>scaleFactor</a:t>
            </a:r>
            <a:endParaRPr lang="en-US" altLang="ko-KR" sz="2400" dirty="0"/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크기를 얼마나 줄여가며 검출을 진행할지를 결정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기본적으로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1.1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많이 사용됨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예를 들어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1.1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이미지의 스케일을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10%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씩 줄이면서 검출을 시도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400" dirty="0" err="1"/>
              <a:t>minNeighbors</a:t>
            </a:r>
            <a:endParaRPr lang="en-US" altLang="ko-KR" sz="2400" dirty="0"/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검출된 객체 주변에 얼마나 많은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이웃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검출이 있어야 최종적으로 객체로 간주할지를 결정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값이 크면 더 강한 검출 기준을 설정하며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오탐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(false positive)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줄어듦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일반적으로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3~6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사이 값을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3040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B209A-679D-160A-06C6-5C617A413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4FDD4-FD63-5FD9-626F-CB7D292FE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63CCD4-1B8B-58A2-32E6-34CB3EDA32A7}"/>
              </a:ext>
            </a:extLst>
          </p:cNvPr>
          <p:cNvSpPr txBox="1"/>
          <p:nvPr/>
        </p:nvSpPr>
        <p:spPr>
          <a:xfrm>
            <a:off x="200677" y="110919"/>
            <a:ext cx="2448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얼굴 인식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31056F-B8AA-5F83-936F-5C58D82B7F4B}"/>
              </a:ext>
            </a:extLst>
          </p:cNvPr>
          <p:cNvSpPr txBox="1"/>
          <p:nvPr/>
        </p:nvSpPr>
        <p:spPr>
          <a:xfrm>
            <a:off x="200677" y="941916"/>
            <a:ext cx="11453267" cy="4748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/>
              <a:t>💡 </a:t>
            </a:r>
            <a:r>
              <a:rPr lang="en-US" altLang="ko-KR" sz="2800" b="1" dirty="0"/>
              <a:t>cv2.detectMultiScale</a:t>
            </a:r>
            <a:r>
              <a:rPr lang="en-US" altLang="ko-KR" sz="2800" dirty="0"/>
              <a:t>(image, </a:t>
            </a:r>
            <a:r>
              <a:rPr lang="en-US" altLang="ko-KR" sz="2800" dirty="0" err="1"/>
              <a:t>scaleFactor</a:t>
            </a:r>
            <a:r>
              <a:rPr lang="en-US" altLang="ko-KR" sz="2800" dirty="0"/>
              <a:t>, </a:t>
            </a:r>
            <a:r>
              <a:rPr lang="en-US" altLang="ko-KR" sz="2800" dirty="0" err="1"/>
              <a:t>minNeighbors</a:t>
            </a:r>
            <a:r>
              <a:rPr lang="en-US" altLang="ko-KR" sz="2800" dirty="0"/>
              <a:t>, flags, </a:t>
            </a:r>
          </a:p>
          <a:p>
            <a:pPr>
              <a:lnSpc>
                <a:spcPct val="150000"/>
              </a:lnSpc>
            </a:pPr>
            <a:r>
              <a:rPr lang="en-US" altLang="ko-KR" sz="2800" dirty="0"/>
              <a:t>                                               </a:t>
            </a:r>
            <a:r>
              <a:rPr lang="en-US" altLang="ko-KR" sz="2800" dirty="0" err="1"/>
              <a:t>minSize</a:t>
            </a:r>
            <a:r>
              <a:rPr lang="en-US" altLang="ko-KR" sz="2800" dirty="0"/>
              <a:t>, </a:t>
            </a:r>
            <a:r>
              <a:rPr lang="en-US" altLang="ko-KR" sz="2800" dirty="0" err="1"/>
              <a:t>maxSize</a:t>
            </a:r>
            <a:r>
              <a:rPr lang="en-US" altLang="ko-KR" sz="2800" dirty="0"/>
              <a:t>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400" dirty="0" err="1"/>
              <a:t>minSize</a:t>
            </a:r>
            <a:endParaRPr lang="en-US" altLang="ko-KR" sz="2400" dirty="0"/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검출할 객체의 최소 크기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(width, height)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형식의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전달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너무 작은 객체를 검출하지 않도록 하여 노이즈를 줄이는 데 유용함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400" dirty="0" err="1"/>
              <a:t>maxSize</a:t>
            </a:r>
            <a:endParaRPr lang="en-US" altLang="ko-KR" sz="2400" dirty="0"/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검출할 객체의 최대 크기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(width, height)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형식의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전달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너무 큰 객체를 제외하여 검출 속도를 향상시킴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263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9306A-880B-5E2A-6104-5567834FD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69133B-2337-0568-F35B-F75A5E01F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C05D05-CE6A-BD36-0E3C-417F906E6495}"/>
              </a:ext>
            </a:extLst>
          </p:cNvPr>
          <p:cNvSpPr txBox="1"/>
          <p:nvPr/>
        </p:nvSpPr>
        <p:spPr>
          <a:xfrm>
            <a:off x="357414" y="911906"/>
            <a:ext cx="11477171" cy="5291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>
                <a:solidFill>
                  <a:srgbClr val="000000"/>
                </a:solidFill>
                <a:latin typeface="+mn-ea"/>
              </a:rPr>
              <a:t>💡 </a:t>
            </a:r>
            <a:r>
              <a:rPr lang="en-US" altLang="ko-KR" sz="2800" b="1" dirty="0">
                <a:solidFill>
                  <a:srgbClr val="000000"/>
                </a:solidFill>
                <a:latin typeface="+mn-ea"/>
              </a:rPr>
              <a:t>{classifier}.</a:t>
            </a:r>
            <a:r>
              <a:rPr lang="en-US" altLang="ko-KR" sz="2800" b="1" dirty="0" err="1">
                <a:solidFill>
                  <a:srgbClr val="000000"/>
                </a:solidFill>
                <a:latin typeface="+mn-ea"/>
              </a:rPr>
              <a:t>detectMultiScale</a:t>
            </a:r>
            <a:r>
              <a:rPr lang="en-US" altLang="ko-KR" sz="28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ko-KR" sz="2800" dirty="0" err="1">
                <a:solidFill>
                  <a:srgbClr val="000000"/>
                </a:solidFill>
                <a:latin typeface="+mn-ea"/>
              </a:rPr>
              <a:t>img</a:t>
            </a:r>
            <a:r>
              <a:rPr lang="en-US" altLang="ko-KR" sz="2800" dirty="0">
                <a:solidFill>
                  <a:srgbClr val="000000"/>
                </a:solidFill>
                <a:latin typeface="+mn-ea"/>
              </a:rPr>
              <a:t>[, </a:t>
            </a:r>
            <a:r>
              <a:rPr lang="en-US" altLang="ko-KR" sz="2800" dirty="0" err="1">
                <a:solidFill>
                  <a:srgbClr val="000000"/>
                </a:solidFill>
                <a:latin typeface="+mn-ea"/>
              </a:rPr>
              <a:t>scaleFactor</a:t>
            </a:r>
            <a:r>
              <a:rPr lang="en-US" altLang="ko-KR" sz="2800" dirty="0">
                <a:solidFill>
                  <a:srgbClr val="000000"/>
                </a:solidFill>
                <a:latin typeface="+mn-ea"/>
              </a:rPr>
              <a:t>=1.1[, 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+mn-ea"/>
              </a:rPr>
              <a:t>       </a:t>
            </a:r>
            <a:r>
              <a:rPr lang="en-US" altLang="ko-KR" sz="2800" dirty="0" err="1">
                <a:solidFill>
                  <a:srgbClr val="000000"/>
                </a:solidFill>
                <a:latin typeface="+mn-ea"/>
              </a:rPr>
              <a:t>minNeighbors</a:t>
            </a:r>
            <a:r>
              <a:rPr lang="en-US" altLang="ko-KR" sz="2800" dirty="0">
                <a:solidFill>
                  <a:srgbClr val="000000"/>
                </a:solidFill>
                <a:latin typeface="+mn-ea"/>
              </a:rPr>
              <a:t>=3[, flags=None[, </a:t>
            </a:r>
            <a:r>
              <a:rPr lang="en-US" altLang="ko-KR" sz="2800" dirty="0" err="1">
                <a:solidFill>
                  <a:srgbClr val="000000"/>
                </a:solidFill>
                <a:latin typeface="+mn-ea"/>
              </a:rPr>
              <a:t>minSize</a:t>
            </a:r>
            <a:r>
              <a:rPr lang="en-US" altLang="ko-KR" sz="2800" dirty="0">
                <a:solidFill>
                  <a:srgbClr val="000000"/>
                </a:solidFill>
                <a:latin typeface="+mn-ea"/>
              </a:rPr>
              <a:t>=None[, 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+mn-ea"/>
              </a:rPr>
              <a:t>       </a:t>
            </a:r>
            <a:r>
              <a:rPr lang="en-US" altLang="ko-KR" sz="2800" dirty="0" err="1">
                <a:solidFill>
                  <a:srgbClr val="000000"/>
                </a:solidFill>
                <a:latin typeface="+mn-ea"/>
              </a:rPr>
              <a:t>maxSize</a:t>
            </a:r>
            <a:r>
              <a:rPr lang="en-US" altLang="ko-KR" sz="2800" dirty="0">
                <a:solidFill>
                  <a:srgbClr val="000000"/>
                </a:solidFill>
                <a:latin typeface="+mn-ea"/>
              </a:rPr>
              <a:t>=None]]]]]) </a:t>
            </a:r>
            <a:r>
              <a:rPr lang="ko-KR" altLang="en-US" sz="2800" dirty="0">
                <a:solidFill>
                  <a:srgbClr val="000000"/>
                </a:solidFill>
                <a:latin typeface="+mn-ea"/>
              </a:rPr>
              <a:t>→</a:t>
            </a:r>
            <a:r>
              <a:rPr lang="en-US" altLang="ko-KR" sz="2800" dirty="0">
                <a:solidFill>
                  <a:srgbClr val="000000"/>
                </a:solidFill>
                <a:latin typeface="+mn-ea"/>
              </a:rPr>
              <a:t> objects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 err="1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scaleFactor</a:t>
            </a:r>
            <a:r>
              <a:rPr lang="en-US" altLang="ko-KR" sz="24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4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영상</a:t>
            </a:r>
            <a:r>
              <a:rPr lang="en-US" altLang="ko-KR" sz="24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축소 비율</a:t>
            </a:r>
            <a:endParaRPr lang="en-US" altLang="ko-KR" sz="2400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 err="1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minNeighbors</a:t>
            </a:r>
            <a:r>
              <a:rPr lang="ko-KR" altLang="en-US" sz="24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ko-KR" altLang="en-US" sz="24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최소 탐지 개수</a:t>
            </a:r>
            <a:r>
              <a:rPr lang="en-US" altLang="ko-KR" sz="24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슬라이딩 윈도우시에 얼마나 많이 찾는지</a:t>
            </a:r>
            <a:r>
              <a:rPr lang="en-US" altLang="ko-KR" sz="24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flags</a:t>
            </a:r>
            <a:r>
              <a:rPr lang="ko-KR" altLang="en-US" sz="24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ko-KR" altLang="en-US" sz="24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사용되지 않음</a:t>
            </a:r>
            <a:endParaRPr lang="en-US" altLang="ko-KR" sz="2400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 err="1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minSize</a:t>
            </a:r>
            <a:r>
              <a:rPr lang="en-US" altLang="ko-KR" sz="24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4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최소 객체 크기</a:t>
            </a:r>
            <a:r>
              <a:rPr lang="en-US" altLang="ko-KR" sz="24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(</a:t>
            </a:r>
            <a:r>
              <a:rPr lang="en-US" altLang="ko-KR" sz="2400" dirty="0" err="1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w,h</a:t>
            </a:r>
            <a:r>
              <a:rPr lang="en-US" altLang="ko-KR" sz="24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 err="1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maxSize</a:t>
            </a:r>
            <a:r>
              <a:rPr lang="en-US" altLang="ko-KR" sz="24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4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최대 객체 크기</a:t>
            </a:r>
            <a:r>
              <a:rPr lang="en-US" altLang="ko-KR" sz="24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(</a:t>
            </a:r>
            <a:r>
              <a:rPr lang="en-US" altLang="ko-KR" sz="2400" dirty="0" err="1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w,h</a:t>
            </a:r>
            <a:r>
              <a:rPr lang="en-US" altLang="ko-KR" sz="24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결과값 </a:t>
            </a:r>
            <a:r>
              <a:rPr lang="en-US" altLang="ko-KR" sz="24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[(</a:t>
            </a:r>
            <a:r>
              <a:rPr lang="en-US" altLang="ko-KR" sz="2400" dirty="0" err="1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x,y,w,h</a:t>
            </a:r>
            <a:r>
              <a:rPr lang="en-US" altLang="ko-KR" sz="24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)] : </a:t>
            </a:r>
            <a:r>
              <a:rPr lang="ko-KR" altLang="en-US" sz="24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검출된 객체의 사각형 정보의</a:t>
            </a:r>
            <a:r>
              <a:rPr lang="en-US" altLang="ko-KR" sz="24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배열</a:t>
            </a:r>
            <a:endParaRPr lang="ko-KR" altLang="en-US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A60247-6836-D6B9-99A2-2E275938EA9D}"/>
              </a:ext>
            </a:extLst>
          </p:cNvPr>
          <p:cNvSpPr txBox="1"/>
          <p:nvPr/>
        </p:nvSpPr>
        <p:spPr>
          <a:xfrm>
            <a:off x="200677" y="110919"/>
            <a:ext cx="2448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얼굴 인식</a:t>
            </a:r>
          </a:p>
        </p:txBody>
      </p:sp>
    </p:spTree>
    <p:extLst>
      <p:ext uri="{BB962C8B-B14F-4D97-AF65-F5344CB8AC3E}">
        <p14:creationId xmlns:p14="http://schemas.microsoft.com/office/powerpoint/2010/main" val="2061859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7F9F89-36CC-CCD5-A2FD-45CF815E2602}"/>
              </a:ext>
            </a:extLst>
          </p:cNvPr>
          <p:cNvSpPr txBox="1"/>
          <p:nvPr/>
        </p:nvSpPr>
        <p:spPr>
          <a:xfrm>
            <a:off x="200677" y="110919"/>
            <a:ext cx="2448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얼굴 인식</a:t>
            </a:r>
          </a:p>
        </p:txBody>
      </p:sp>
      <p:pic>
        <p:nvPicPr>
          <p:cNvPr id="10242" name="Picture 2" descr="C:\Users\LMH\Desktop\face_recogni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668" y="572584"/>
            <a:ext cx="10030652" cy="6269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907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095209"/>
            <a:ext cx="5334000" cy="36489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7F9F89-36CC-CCD5-A2FD-45CF815E2602}"/>
              </a:ext>
            </a:extLst>
          </p:cNvPr>
          <p:cNvSpPr txBox="1"/>
          <p:nvPr/>
        </p:nvSpPr>
        <p:spPr>
          <a:xfrm>
            <a:off x="200677" y="110919"/>
            <a:ext cx="3520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눈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(eye)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인식</a:t>
            </a:r>
          </a:p>
        </p:txBody>
      </p:sp>
      <p:pic>
        <p:nvPicPr>
          <p:cNvPr id="1026" name="Picture 2" descr="C:\Users\LMH\Desktop\ey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4351020"/>
            <a:ext cx="904240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7131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44943-4B41-2C63-40A2-51AB30613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CF44EC-D23E-18D2-721C-960D7D9CA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F84FCA-BA1A-BC37-4A93-EABE75F34C6E}"/>
              </a:ext>
            </a:extLst>
          </p:cNvPr>
          <p:cNvSpPr txBox="1"/>
          <p:nvPr/>
        </p:nvSpPr>
        <p:spPr>
          <a:xfrm>
            <a:off x="290112" y="2104780"/>
            <a:ext cx="58058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3200" dirty="0" err="1"/>
              <a:t>캠화면에서</a:t>
            </a:r>
            <a:r>
              <a:rPr lang="ko-KR" altLang="en-US" sz="3200" dirty="0"/>
              <a:t> 얼굴과 눈을 찾아서 얼굴 및 눈 영역에 사각형 표시</a:t>
            </a:r>
            <a:endParaRPr lang="en-US" altLang="ko-KR" sz="32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3200" dirty="0"/>
              <a:t>네모 위에 </a:t>
            </a:r>
            <a:r>
              <a:rPr lang="en-US" altLang="ko-KR" sz="3200" dirty="0"/>
              <a:t>“Face”, “Eye” </a:t>
            </a:r>
            <a:r>
              <a:rPr lang="ko-KR" altLang="en-US" sz="3200" dirty="0"/>
              <a:t>라는 글자 띄우기</a:t>
            </a:r>
            <a:endParaRPr lang="en-US" altLang="ko-KR" sz="32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F033CAEA-B834-6A1C-5CA2-D798967C2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b="1" dirty="0">
                <a:solidFill>
                  <a:schemeClr val="accent2"/>
                </a:solidFill>
              </a:rPr>
              <a:t>실습</a:t>
            </a:r>
            <a:r>
              <a:rPr lang="en-US" altLang="ko-KR" sz="4800" b="1" dirty="0">
                <a:solidFill>
                  <a:schemeClr val="accent2"/>
                </a:solidFill>
              </a:rPr>
              <a:t>1. </a:t>
            </a:r>
            <a:r>
              <a:rPr lang="ko-KR" altLang="en-US" sz="4800" b="1" dirty="0">
                <a:solidFill>
                  <a:schemeClr val="accent2"/>
                </a:solidFill>
              </a:rPr>
              <a:t>캠화면에 적용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1803777"/>
            <a:ext cx="5334000" cy="364899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85480" y="2576830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face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68360" y="2869138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eye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234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44943-4B41-2C63-40A2-51AB30613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CF44EC-D23E-18D2-721C-960D7D9CA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F84FCA-BA1A-BC37-4A93-EABE75F34C6E}"/>
              </a:ext>
            </a:extLst>
          </p:cNvPr>
          <p:cNvSpPr txBox="1"/>
          <p:nvPr/>
        </p:nvSpPr>
        <p:spPr>
          <a:xfrm>
            <a:off x="290112" y="1805383"/>
            <a:ext cx="5805888" cy="3718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3200" dirty="0"/>
              <a:t>원하는 사람 이미지에서 눈을 찾아서</a:t>
            </a:r>
            <a:endParaRPr lang="en-US" altLang="ko-KR" sz="32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3200" dirty="0"/>
              <a:t>해당 영역에 귀여운 눈을 덮어 씌워 보기</a:t>
            </a:r>
            <a:r>
              <a:rPr lang="en-US" altLang="ko-KR" sz="3200" dirty="0"/>
              <a:t>!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3200" dirty="0"/>
              <a:t>빠른 성공 시 영상으로 도전</a:t>
            </a:r>
            <a:endParaRPr lang="en-US" altLang="ko-KR" sz="32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F033CAEA-B834-6A1C-5CA2-D798967C2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b="1" dirty="0">
                <a:solidFill>
                  <a:schemeClr val="accent2"/>
                </a:solidFill>
              </a:rPr>
              <a:t>실습</a:t>
            </a:r>
            <a:r>
              <a:rPr lang="en-US" altLang="ko-KR" sz="4800" b="1" dirty="0">
                <a:solidFill>
                  <a:schemeClr val="accent2"/>
                </a:solidFill>
              </a:rPr>
              <a:t>2. </a:t>
            </a:r>
            <a:r>
              <a:rPr lang="ko-KR" altLang="en-US" sz="4800" b="1" dirty="0">
                <a:solidFill>
                  <a:schemeClr val="accent2"/>
                </a:solidFill>
              </a:rPr>
              <a:t>귀여운 눈 덮어 씌우기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285480" y="2576830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face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68360" y="2869138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eye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994" y="1128597"/>
            <a:ext cx="4926012" cy="5071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7051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2839F9-0BFF-23B7-FDC2-F712592DC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3C5469-037B-97B0-6833-41E090EA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4C7DD5B-AF47-E169-FE1C-CF22BB1229F5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YOLO – </a:t>
            </a:r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객체 탐지</a:t>
            </a:r>
          </a:p>
        </p:txBody>
      </p:sp>
    </p:spTree>
    <p:extLst>
      <p:ext uri="{BB962C8B-B14F-4D97-AF65-F5344CB8AC3E}">
        <p14:creationId xmlns:p14="http://schemas.microsoft.com/office/powerpoint/2010/main" val="1557198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F09F85-509F-5684-467C-728425BC2EBB}"/>
              </a:ext>
            </a:extLst>
          </p:cNvPr>
          <p:cNvSpPr txBox="1"/>
          <p:nvPr/>
        </p:nvSpPr>
        <p:spPr>
          <a:xfrm>
            <a:off x="200677" y="941916"/>
            <a:ext cx="11591108" cy="3444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/>
              <a:t>💡 </a:t>
            </a:r>
            <a:r>
              <a:rPr lang="en-US" altLang="ko-KR" sz="2800" b="1" dirty="0"/>
              <a:t>YOLO (You Only Look Once)</a:t>
            </a:r>
            <a:endParaRPr lang="en-US" altLang="ko-KR" sz="2800" dirty="0"/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딥러닝을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활용한 객체 탐지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(Object Detection)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알고리즘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중 하나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이미지나 동영상에서 여러 객체를 빠르고 정확하게 탐지하는 데 사용됨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다른 객체 탐지 알고리즘과 달리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YOLO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이미지를 한 번만 처리하여 객체를 탐지하기 때문에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"You Only Look Once"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라는 이름이 붙었음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버전은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yolo v1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시작하여 현재 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yolo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11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버전이 사용되고 있음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D8B6CC-9268-1F0D-CF19-47762A42AEA0}"/>
              </a:ext>
            </a:extLst>
          </p:cNvPr>
          <p:cNvSpPr txBox="1"/>
          <p:nvPr/>
        </p:nvSpPr>
        <p:spPr>
          <a:xfrm>
            <a:off x="200677" y="110919"/>
            <a:ext cx="28167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YOLO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란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?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3475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F09F85-509F-5684-467C-728425BC2EBB}"/>
              </a:ext>
            </a:extLst>
          </p:cNvPr>
          <p:cNvSpPr txBox="1"/>
          <p:nvPr/>
        </p:nvSpPr>
        <p:spPr>
          <a:xfrm>
            <a:off x="200677" y="941916"/>
            <a:ext cx="11571514" cy="443198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/>
              <a:t>💡 </a:t>
            </a:r>
            <a:r>
              <a:rPr lang="en-US" altLang="ko-KR" sz="2800" b="1" dirty="0"/>
              <a:t>YOLO</a:t>
            </a:r>
            <a:r>
              <a:rPr lang="ko-KR" altLang="en-US" sz="2800" b="1" dirty="0"/>
              <a:t>의 특징</a:t>
            </a:r>
            <a:endParaRPr lang="en-US" altLang="ko-KR" sz="2800" b="1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실시간 처리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YOLO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매우 빠르며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GPU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활용할 경우 초당 수십 프레임을 처리할 수 있어 실시간 객체 탐지에 적합함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단일 신경망 구조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전체를 한 번에 처리하여 객체를 탐지하는 단일 신경망 구조를 사용함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분할이나 여러 영역에 대해 여러 번 처리하는 기존 알고리즘과 비교했을 때 속도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단순성 등에 큰 장점이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높은 정확도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YOLO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빠른 속도뿐만 아니라 높은 정확도로 객체를 탐지할 수 있음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D8B6CC-9268-1F0D-CF19-47762A42AEA0}"/>
              </a:ext>
            </a:extLst>
          </p:cNvPr>
          <p:cNvSpPr txBox="1"/>
          <p:nvPr/>
        </p:nvSpPr>
        <p:spPr>
          <a:xfrm>
            <a:off x="200677" y="110919"/>
            <a:ext cx="28167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YOLO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란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?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94073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493" y="1279002"/>
            <a:ext cx="3124347" cy="473982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294" y="2417043"/>
            <a:ext cx="5558304" cy="3601781"/>
          </a:xfrm>
          <a:prstGeom prst="rect">
            <a:avLst/>
          </a:prstGeom>
        </p:spPr>
      </p:pic>
      <p:sp>
        <p:nvSpPr>
          <p:cNvPr id="7" name="설명선 2 6"/>
          <p:cNvSpPr/>
          <p:nvPr/>
        </p:nvSpPr>
        <p:spPr>
          <a:xfrm>
            <a:off x="8153398" y="1269242"/>
            <a:ext cx="2460199" cy="729143"/>
          </a:xfrm>
          <a:prstGeom prst="borderCallout2">
            <a:avLst>
              <a:gd name="adj1" fmla="val 55144"/>
              <a:gd name="adj2" fmla="val -7040"/>
              <a:gd name="adj3" fmla="val 55144"/>
              <a:gd name="adj4" fmla="val -17313"/>
              <a:gd name="adj5" fmla="val 247274"/>
              <a:gd name="adj6" fmla="val -66163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Bounding Box</a:t>
            </a:r>
            <a:endParaRPr lang="ko-KR" altLang="en-US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D8B6CC-9268-1F0D-CF19-47762A42AEA0}"/>
              </a:ext>
            </a:extLst>
          </p:cNvPr>
          <p:cNvSpPr txBox="1"/>
          <p:nvPr/>
        </p:nvSpPr>
        <p:spPr>
          <a:xfrm>
            <a:off x="200677" y="110919"/>
            <a:ext cx="28167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YOLO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란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?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29726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F09F85-509F-5684-467C-728425BC2EBB}"/>
              </a:ext>
            </a:extLst>
          </p:cNvPr>
          <p:cNvSpPr txBox="1"/>
          <p:nvPr/>
        </p:nvSpPr>
        <p:spPr>
          <a:xfrm>
            <a:off x="3132908" y="1273287"/>
            <a:ext cx="5926183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/>
              <a:t>Yolo </a:t>
            </a:r>
            <a:r>
              <a:rPr lang="ko-KR" altLang="en-US" sz="2800" dirty="0"/>
              <a:t>설치</a:t>
            </a:r>
            <a:r>
              <a:rPr lang="en-US" altLang="ko-KR" sz="2800" dirty="0"/>
              <a:t>  </a:t>
            </a:r>
            <a:r>
              <a:rPr lang="en-US" altLang="ko-KR" sz="2800" dirty="0">
                <a:solidFill>
                  <a:srgbClr val="C00000"/>
                </a:solidFill>
              </a:rPr>
              <a:t>pip install </a:t>
            </a:r>
            <a:r>
              <a:rPr lang="en-US" altLang="ko-KR" sz="2800" dirty="0" err="1">
                <a:solidFill>
                  <a:srgbClr val="C00000"/>
                </a:solidFill>
              </a:rPr>
              <a:t>ultralytics</a:t>
            </a:r>
            <a:endParaRPr lang="en-US" altLang="ko-KR" sz="2800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F09F85-509F-5684-467C-728425BC2EBB}"/>
              </a:ext>
            </a:extLst>
          </p:cNvPr>
          <p:cNvSpPr txBox="1"/>
          <p:nvPr/>
        </p:nvSpPr>
        <p:spPr>
          <a:xfrm>
            <a:off x="2271847" y="2810479"/>
            <a:ext cx="7648303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/>
              <a:t>Yolo </a:t>
            </a:r>
            <a:r>
              <a:rPr lang="ko-KR" altLang="en-US" sz="2800" dirty="0" err="1"/>
              <a:t>임포트</a:t>
            </a:r>
            <a:r>
              <a:rPr lang="en-US" altLang="ko-KR" sz="2800" dirty="0"/>
              <a:t>  </a:t>
            </a:r>
            <a:r>
              <a:rPr lang="en-US" altLang="ko-KR" sz="2800" dirty="0">
                <a:solidFill>
                  <a:srgbClr val="C00000"/>
                </a:solidFill>
              </a:rPr>
              <a:t>from </a:t>
            </a:r>
            <a:r>
              <a:rPr lang="en-US" altLang="ko-KR" sz="2800" dirty="0" err="1">
                <a:solidFill>
                  <a:srgbClr val="C00000"/>
                </a:solidFill>
              </a:rPr>
              <a:t>ultralytics</a:t>
            </a:r>
            <a:r>
              <a:rPr lang="en-US" altLang="ko-KR" sz="2800" dirty="0">
                <a:solidFill>
                  <a:srgbClr val="C00000"/>
                </a:solidFill>
              </a:rPr>
              <a:t> import YOLO</a:t>
            </a:r>
          </a:p>
        </p:txBody>
      </p:sp>
      <p:sp>
        <p:nvSpPr>
          <p:cNvPr id="3" name="아래쪽 화살표 2"/>
          <p:cNvSpPr/>
          <p:nvPr/>
        </p:nvSpPr>
        <p:spPr>
          <a:xfrm>
            <a:off x="5965371" y="2182751"/>
            <a:ext cx="261258" cy="509180"/>
          </a:xfrm>
          <a:prstGeom prst="down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F09F85-509F-5684-467C-728425BC2EBB}"/>
              </a:ext>
            </a:extLst>
          </p:cNvPr>
          <p:cNvSpPr txBox="1"/>
          <p:nvPr/>
        </p:nvSpPr>
        <p:spPr>
          <a:xfrm>
            <a:off x="1608908" y="4496647"/>
            <a:ext cx="89741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객체 탐지</a:t>
            </a:r>
            <a:r>
              <a:rPr lang="en-US" altLang="ko-KR" sz="2800" dirty="0"/>
              <a:t>  </a:t>
            </a:r>
            <a:r>
              <a:rPr lang="en-US" altLang="ko-KR" sz="2800" dirty="0">
                <a:solidFill>
                  <a:srgbClr val="C00000"/>
                </a:solidFill>
              </a:rPr>
              <a:t>model = YOLO(‘yolo11n.pt’)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C00000"/>
                </a:solidFill>
              </a:rPr>
              <a:t>                 </a:t>
            </a:r>
            <a:r>
              <a:rPr lang="en-US" altLang="ko-KR" sz="2800" dirty="0" err="1">
                <a:solidFill>
                  <a:srgbClr val="C00000"/>
                </a:solidFill>
              </a:rPr>
              <a:t>model.predict</a:t>
            </a:r>
            <a:r>
              <a:rPr lang="en-US" altLang="ko-KR" sz="2800" dirty="0">
                <a:solidFill>
                  <a:srgbClr val="C00000"/>
                </a:solidFill>
              </a:rPr>
              <a:t>(source=image, </a:t>
            </a:r>
            <a:r>
              <a:rPr lang="en-US" altLang="ko-KR" sz="2800" dirty="0" err="1">
                <a:solidFill>
                  <a:srgbClr val="C00000"/>
                </a:solidFill>
              </a:rPr>
              <a:t>conf</a:t>
            </a:r>
            <a:r>
              <a:rPr lang="en-US" altLang="ko-KR" sz="2800" dirty="0">
                <a:solidFill>
                  <a:srgbClr val="C00000"/>
                </a:solidFill>
              </a:rPr>
              <a:t>=0.5)</a:t>
            </a:r>
          </a:p>
        </p:txBody>
      </p:sp>
      <p:sp>
        <p:nvSpPr>
          <p:cNvPr id="8" name="아래쪽 화살표 7"/>
          <p:cNvSpPr/>
          <p:nvPr/>
        </p:nvSpPr>
        <p:spPr>
          <a:xfrm>
            <a:off x="5965370" y="3837664"/>
            <a:ext cx="261258" cy="509180"/>
          </a:xfrm>
          <a:prstGeom prst="down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D8B6CC-9268-1F0D-CF19-47762A42AEA0}"/>
              </a:ext>
            </a:extLst>
          </p:cNvPr>
          <p:cNvSpPr txBox="1"/>
          <p:nvPr/>
        </p:nvSpPr>
        <p:spPr>
          <a:xfrm>
            <a:off x="200677" y="110919"/>
            <a:ext cx="31277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YOLO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설치</a:t>
            </a:r>
          </a:p>
        </p:txBody>
      </p:sp>
    </p:spTree>
    <p:extLst>
      <p:ext uri="{BB962C8B-B14F-4D97-AF65-F5344CB8AC3E}">
        <p14:creationId xmlns:p14="http://schemas.microsoft.com/office/powerpoint/2010/main" val="25100740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D8B6CC-9268-1F0D-CF19-47762A42AEA0}"/>
              </a:ext>
            </a:extLst>
          </p:cNvPr>
          <p:cNvSpPr txBox="1"/>
          <p:nvPr/>
        </p:nvSpPr>
        <p:spPr>
          <a:xfrm>
            <a:off x="200677" y="110919"/>
            <a:ext cx="43268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YOLO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객체 탐지</a:t>
            </a:r>
          </a:p>
        </p:txBody>
      </p:sp>
      <p:pic>
        <p:nvPicPr>
          <p:cNvPr id="8194" name="Picture 2" descr="C:\Users\LMH\Desktop\YOL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80" y="493640"/>
            <a:ext cx="11115040" cy="636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48055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Real-time Object Detection with YOLO and Webcam: Enhancing Your Computer  Vision Skills | by Dipankar Medhi | Medium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9" y="1064603"/>
            <a:ext cx="7620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4C0F858-9270-442D-B801-9CF65A7D18B0}"/>
              </a:ext>
            </a:extLst>
          </p:cNvPr>
          <p:cNvSpPr txBox="1">
            <a:spLocks/>
          </p:cNvSpPr>
          <p:nvPr/>
        </p:nvSpPr>
        <p:spPr>
          <a:xfrm>
            <a:off x="1753445" y="5493093"/>
            <a:ext cx="8685109" cy="7654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dirty="0"/>
              <a:t>YOLO</a:t>
            </a:r>
            <a:r>
              <a:rPr lang="ko-KR" altLang="en-US" dirty="0"/>
              <a:t> 모델의 객체 감지를</a:t>
            </a:r>
            <a:r>
              <a:rPr lang="en-US" altLang="ko-KR" dirty="0"/>
              <a:t> </a:t>
            </a:r>
            <a:r>
              <a:rPr lang="ko-KR" altLang="en-US" dirty="0"/>
              <a:t>캠 화면에 적용하여 출력</a:t>
            </a:r>
            <a:endParaRPr lang="en-US" altLang="ko-KR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033CAEA-B834-6A1C-5CA2-D798967C2D13}"/>
              </a:ext>
            </a:extLst>
          </p:cNvPr>
          <p:cNvSpPr txBox="1">
            <a:spLocks/>
          </p:cNvSpPr>
          <p:nvPr/>
        </p:nvSpPr>
        <p:spPr>
          <a:xfrm>
            <a:off x="344922" y="2286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800" b="1" dirty="0">
                <a:solidFill>
                  <a:schemeClr val="accent2"/>
                </a:solidFill>
              </a:rPr>
              <a:t>실습</a:t>
            </a:r>
            <a:r>
              <a:rPr lang="en-US" altLang="ko-KR" sz="4800" b="1" dirty="0">
                <a:solidFill>
                  <a:schemeClr val="accent2"/>
                </a:solidFill>
              </a:rPr>
              <a:t>3. </a:t>
            </a:r>
            <a:r>
              <a:rPr lang="ko-KR" altLang="en-US" sz="4800" b="1" dirty="0" err="1">
                <a:solidFill>
                  <a:schemeClr val="accent2"/>
                </a:solidFill>
              </a:rPr>
              <a:t>캠화면에</a:t>
            </a:r>
            <a:r>
              <a:rPr lang="ko-KR" altLang="en-US" sz="4800" b="1" dirty="0">
                <a:solidFill>
                  <a:schemeClr val="accent2"/>
                </a:solidFill>
              </a:rPr>
              <a:t> 적용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3047999" y="4965259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000" dirty="0"/>
              <a:t>[</a:t>
            </a:r>
            <a:r>
              <a:rPr lang="ko-KR" altLang="en-US" sz="1000" dirty="0"/>
              <a:t>출처</a:t>
            </a:r>
            <a:r>
              <a:rPr lang="en-US" altLang="ko-KR" sz="1000" dirty="0"/>
              <a:t>] https://dipankarmedh1.medium.com/real-time-object-detection-with-yolo-and-webcam-enhancing-your-computer-vision-skills-861b97c78993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1306064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2839F9-0BFF-23B7-FDC2-F712592DC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3C5469-037B-97B0-6833-41E090EA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4C7DD5B-AF47-E169-FE1C-CF22BB1229F5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Tesseract - OCR</a:t>
            </a:r>
            <a:endParaRPr lang="ko-KR" altLang="en-US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68829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F194AE-EE81-37EF-CABF-306E2C832AF2}"/>
              </a:ext>
            </a:extLst>
          </p:cNvPr>
          <p:cNvSpPr txBox="1"/>
          <p:nvPr/>
        </p:nvSpPr>
        <p:spPr>
          <a:xfrm>
            <a:off x="132944" y="2118110"/>
            <a:ext cx="6022323" cy="267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/>
              <a:t>💡광학 문자 인식(OCR)</a:t>
            </a:r>
            <a:endParaRPr lang="en-US" altLang="ko-KR" sz="2800" b="1" dirty="0"/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이미지를 분석하여 그 안에 포함된 문자나 텍스트를 디지털 데이터로 변환하는 기술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문서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사진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간판 등에서 글자를 읽어 전자문서로 저장하거나 검색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편집 가능하게 함</a:t>
            </a:r>
            <a:endParaRPr lang="ko-KR" altLang="en-US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D8B6CC-9268-1F0D-CF19-47762A42AEA0}"/>
              </a:ext>
            </a:extLst>
          </p:cNvPr>
          <p:cNvSpPr txBox="1"/>
          <p:nvPr/>
        </p:nvSpPr>
        <p:spPr>
          <a:xfrm>
            <a:off x="200677" y="110919"/>
            <a:ext cx="1515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OCR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6291357" y="1985156"/>
            <a:ext cx="5570682" cy="3289518"/>
            <a:chOff x="6291357" y="2240280"/>
            <a:chExt cx="5570682" cy="3289518"/>
          </a:xfrm>
        </p:grpSpPr>
        <p:pic>
          <p:nvPicPr>
            <p:cNvPr id="2050" name="Picture 2" descr="What is Optical Character Recognition - Buff ML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160" b="23040"/>
            <a:stretch/>
          </p:blipFill>
          <p:spPr bwMode="auto">
            <a:xfrm>
              <a:off x="6291357" y="2240280"/>
              <a:ext cx="5570682" cy="29413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직사각형 7"/>
            <p:cNvSpPr/>
            <p:nvPr/>
          </p:nvSpPr>
          <p:spPr>
            <a:xfrm>
              <a:off x="6897378" y="5283577"/>
              <a:ext cx="4358640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[</a:t>
              </a:r>
              <a:r>
                <a:rPr lang="ko-KR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출처</a:t>
              </a:r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] https://buffml.com/what-is-optical-character-recognition/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96677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339130" y="994572"/>
            <a:ext cx="11624270" cy="299626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+mn-ea"/>
              </a:rPr>
              <a:t>💡 </a:t>
            </a:r>
            <a:r>
              <a:rPr lang="en-US" altLang="ko-KR" sz="2800" dirty="0">
                <a:latin typeface="+mn-ea"/>
              </a:rPr>
              <a:t>Tesseract(</a:t>
            </a:r>
            <a:r>
              <a:rPr lang="ko-KR" altLang="en-US" sz="2800" dirty="0" err="1">
                <a:latin typeface="+mn-ea"/>
              </a:rPr>
              <a:t>테서랙트</a:t>
            </a:r>
            <a:r>
              <a:rPr lang="en-US" altLang="ko-KR" sz="2800" dirty="0">
                <a:latin typeface="+mn-ea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24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Tesseract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OCR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무료로 제공되는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오픈소스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광학 문자 인식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(Optical Character Recognition, OCR)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엔진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이미지나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스캔한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문서에서 텍스트를 추출하는 데 사용됨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구글에서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관리하며 다양한 언어를 지원합니다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ko-KR" altLang="en-US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D8B6CC-9268-1F0D-CF19-47762A42AEA0}"/>
              </a:ext>
            </a:extLst>
          </p:cNvPr>
          <p:cNvSpPr txBox="1"/>
          <p:nvPr/>
        </p:nvSpPr>
        <p:spPr>
          <a:xfrm>
            <a:off x="200677" y="110919"/>
            <a:ext cx="51106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Tesseract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- OCR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39130" y="4131526"/>
            <a:ext cx="7200800" cy="1782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/>
              <a:t>Tesseract </a:t>
            </a:r>
            <a:r>
              <a:rPr lang="ko-KR" altLang="en-US" sz="2800" dirty="0"/>
              <a:t>설치하기</a:t>
            </a:r>
            <a:endParaRPr lang="en-US" altLang="ko-KR" sz="2800" dirty="0"/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Tesseract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– OCR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설치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파이썬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라이브러리인  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pytesseract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설치</a:t>
            </a:r>
          </a:p>
        </p:txBody>
      </p:sp>
    </p:spTree>
    <p:extLst>
      <p:ext uri="{BB962C8B-B14F-4D97-AF65-F5344CB8AC3E}">
        <p14:creationId xmlns:p14="http://schemas.microsoft.com/office/powerpoint/2010/main" val="13561149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200677" y="976676"/>
            <a:ext cx="11790646" cy="194623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+mn-ea"/>
              </a:rPr>
              <a:t>✅ </a:t>
            </a:r>
            <a:r>
              <a:rPr lang="en-US" altLang="ko-KR" sz="2800" dirty="0">
                <a:latin typeface="+mn-ea"/>
              </a:rPr>
              <a:t>Tesseract </a:t>
            </a:r>
            <a:r>
              <a:rPr lang="ko-KR" altLang="en-US" sz="2800" dirty="0">
                <a:latin typeface="+mn-ea"/>
              </a:rPr>
              <a:t>설치하기</a:t>
            </a:r>
            <a:r>
              <a:rPr lang="en-US" altLang="ko-KR" sz="2800" dirty="0">
                <a:latin typeface="+mn-ea"/>
              </a:rPr>
              <a:t>(</a:t>
            </a:r>
            <a:r>
              <a:rPr lang="ko-KR" altLang="en-US" sz="2800" dirty="0">
                <a:latin typeface="+mn-ea"/>
              </a:rPr>
              <a:t>윈도우</a:t>
            </a:r>
            <a:r>
              <a:rPr lang="en-US" altLang="ko-KR" sz="2800" dirty="0">
                <a:latin typeface="+mn-ea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hlinkClick r:id="rId2"/>
              </a:rPr>
              <a:t>https://github.com/UB-Mannheim/tesseract/wiki</a:t>
            </a:r>
            <a:endParaRPr lang="ko-KR" altLang="en-US" sz="2400" dirty="0"/>
          </a:p>
          <a:p>
            <a:pPr>
              <a:lnSpc>
                <a:spcPct val="150000"/>
              </a:lnSpc>
            </a:pPr>
            <a:r>
              <a:rPr lang="ko-KR" altLang="en-US" sz="3200" dirty="0">
                <a:latin typeface="+mj-ea"/>
                <a:ea typeface="+mj-ea"/>
              </a:rPr>
              <a:t> </a:t>
            </a:r>
            <a:endParaRPr lang="en-US" altLang="ko-KR" sz="3200" dirty="0">
              <a:latin typeface="+mj-ea"/>
              <a:ea typeface="+mj-ea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1150961" y="2336826"/>
            <a:ext cx="9890078" cy="3954792"/>
            <a:chOff x="1705290" y="2742593"/>
            <a:chExt cx="8779830" cy="3455628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5290" y="2742593"/>
              <a:ext cx="8779830" cy="34556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모서리가 둥근 직사각형 6"/>
            <p:cNvSpPr/>
            <p:nvPr/>
          </p:nvSpPr>
          <p:spPr>
            <a:xfrm>
              <a:off x="1854614" y="5061396"/>
              <a:ext cx="3890866" cy="386904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AD8B6CC-9268-1F0D-CF19-47762A42AEA0}"/>
              </a:ext>
            </a:extLst>
          </p:cNvPr>
          <p:cNvSpPr txBox="1"/>
          <p:nvPr/>
        </p:nvSpPr>
        <p:spPr>
          <a:xfrm>
            <a:off x="200677" y="110919"/>
            <a:ext cx="57709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Tesseract</a:t>
            </a:r>
            <a:r>
              <a:rPr lang="en-US" altLang="ko-KR" sz="54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- OCR</a:t>
            </a:r>
            <a:endParaRPr lang="ko-KR" altLang="en-US" sz="54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34617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956E64-7F71-99D9-D935-F6C7F4A468B4}"/>
              </a:ext>
            </a:extLst>
          </p:cNvPr>
          <p:cNvSpPr txBox="1"/>
          <p:nvPr/>
        </p:nvSpPr>
        <p:spPr>
          <a:xfrm>
            <a:off x="4984168" y="-574130"/>
            <a:ext cx="3167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C00000"/>
                </a:solidFill>
              </a:rPr>
              <a:t>언어 추가 </a:t>
            </a:r>
            <a:r>
              <a:rPr lang="en-US" altLang="ko-KR" sz="2000" b="1" dirty="0">
                <a:solidFill>
                  <a:srgbClr val="C00000"/>
                </a:solidFill>
              </a:rPr>
              <a:t>&gt; Korean </a:t>
            </a:r>
            <a:r>
              <a:rPr lang="ko-KR" altLang="en-US" sz="2000" b="1" dirty="0">
                <a:solidFill>
                  <a:srgbClr val="C00000"/>
                </a:solidFill>
              </a:rPr>
              <a:t>에 체크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D8B6CC-9268-1F0D-CF19-47762A42AEA0}"/>
              </a:ext>
            </a:extLst>
          </p:cNvPr>
          <p:cNvSpPr txBox="1"/>
          <p:nvPr/>
        </p:nvSpPr>
        <p:spPr>
          <a:xfrm>
            <a:off x="200677" y="110919"/>
            <a:ext cx="57709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Tesseract</a:t>
            </a:r>
            <a:r>
              <a:rPr lang="en-US" altLang="ko-KR" sz="54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- OCR</a:t>
            </a:r>
            <a:endParaRPr lang="ko-KR" altLang="en-US" sz="54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0677" y="976676"/>
            <a:ext cx="6019818" cy="66306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+mn-ea"/>
              </a:rPr>
              <a:t>✅ </a:t>
            </a:r>
            <a:r>
              <a:rPr lang="en-US" altLang="ko-KR" sz="2800" dirty="0">
                <a:latin typeface="+mn-ea"/>
              </a:rPr>
              <a:t>Tesseract </a:t>
            </a:r>
            <a:r>
              <a:rPr lang="ko-KR" altLang="en-US" sz="2800" dirty="0">
                <a:latin typeface="+mn-ea"/>
              </a:rPr>
              <a:t>설치하기</a:t>
            </a:r>
            <a:r>
              <a:rPr lang="en-US" altLang="ko-KR" sz="2800" dirty="0">
                <a:latin typeface="+mn-ea"/>
              </a:rPr>
              <a:t>(</a:t>
            </a:r>
            <a:r>
              <a:rPr lang="ko-KR" altLang="en-US" sz="2800" dirty="0">
                <a:latin typeface="+mn-ea"/>
              </a:rPr>
              <a:t>윈도우</a:t>
            </a:r>
            <a:r>
              <a:rPr lang="en-US" altLang="ko-KR" sz="2800" dirty="0">
                <a:latin typeface="+mn-ea"/>
              </a:rPr>
              <a:t>)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568284" y="1740026"/>
            <a:ext cx="5284603" cy="4123077"/>
            <a:chOff x="851100" y="2138328"/>
            <a:chExt cx="4718972" cy="3681768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1100" y="2138328"/>
              <a:ext cx="4718972" cy="36817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모서리가 둥근 직사각형 10"/>
            <p:cNvSpPr/>
            <p:nvPr/>
          </p:nvSpPr>
          <p:spPr>
            <a:xfrm>
              <a:off x="2598847" y="4464052"/>
              <a:ext cx="1984583" cy="172718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6335259" y="1740024"/>
            <a:ext cx="5276259" cy="4123077"/>
            <a:chOff x="6170612" y="1740027"/>
            <a:chExt cx="5276259" cy="4123077"/>
          </a:xfrm>
        </p:grpSpPr>
        <p:pic>
          <p:nvPicPr>
            <p:cNvPr id="409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0612" y="1740027"/>
              <a:ext cx="5276259" cy="41230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" name="모서리가 둥근 직사각형 11"/>
            <p:cNvSpPr/>
            <p:nvPr/>
          </p:nvSpPr>
          <p:spPr>
            <a:xfrm>
              <a:off x="8491735" y="4010214"/>
              <a:ext cx="597401" cy="172718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1463746" y="5863103"/>
            <a:ext cx="3244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Additional language data </a:t>
            </a:r>
            <a:r>
              <a:rPr lang="ko-KR" altLang="en-US" dirty="0"/>
              <a:t>선택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9128" y="5863103"/>
            <a:ext cx="138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Korean </a:t>
            </a:r>
            <a:r>
              <a:rPr lang="ko-KR" altLang="en-US" dirty="0"/>
              <a:t>선택</a:t>
            </a:r>
          </a:p>
        </p:txBody>
      </p:sp>
    </p:spTree>
    <p:extLst>
      <p:ext uri="{BB962C8B-B14F-4D97-AF65-F5344CB8AC3E}">
        <p14:creationId xmlns:p14="http://schemas.microsoft.com/office/powerpoint/2010/main" val="18607707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50FEB-C5D3-F877-430C-50431A41C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62069A-68ED-05F3-3279-5537FABA2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D1D451-81CA-F1B4-B65B-710E02FF30DC}"/>
              </a:ext>
            </a:extLst>
          </p:cNvPr>
          <p:cNvSpPr txBox="1"/>
          <p:nvPr/>
        </p:nvSpPr>
        <p:spPr>
          <a:xfrm>
            <a:off x="200677" y="976676"/>
            <a:ext cx="11790646" cy="233685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+mn-ea"/>
              </a:rPr>
              <a:t>✅ </a:t>
            </a:r>
            <a:r>
              <a:rPr lang="en-US" altLang="ko-KR" sz="2800" dirty="0">
                <a:latin typeface="+mn-ea"/>
              </a:rPr>
              <a:t>Tesseract </a:t>
            </a:r>
            <a:r>
              <a:rPr lang="ko-KR" altLang="en-US" sz="2800" dirty="0">
                <a:latin typeface="+mn-ea"/>
              </a:rPr>
              <a:t>설치하기</a:t>
            </a:r>
            <a:r>
              <a:rPr lang="en-US" altLang="ko-KR" sz="2800" dirty="0">
                <a:latin typeface="+mn-ea"/>
              </a:rPr>
              <a:t>(</a:t>
            </a:r>
            <a:r>
              <a:rPr lang="ko-KR" altLang="en-US" sz="2800" dirty="0">
                <a:latin typeface="+mn-ea"/>
              </a:rPr>
              <a:t>맥</a:t>
            </a:r>
            <a:r>
              <a:rPr lang="en-US" altLang="ko-KR" sz="2800" dirty="0">
                <a:latin typeface="+mn-ea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Tesseract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설치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brew install tesseract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한글 등 언어 데이터 설치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brew install tesseract-lang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설치확인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tesseract --version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E923AF-4401-ABFA-9B97-EB9872D0EEFA}"/>
              </a:ext>
            </a:extLst>
          </p:cNvPr>
          <p:cNvSpPr txBox="1"/>
          <p:nvPr/>
        </p:nvSpPr>
        <p:spPr>
          <a:xfrm>
            <a:off x="200677" y="110919"/>
            <a:ext cx="57709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Tesseract</a:t>
            </a:r>
            <a:r>
              <a:rPr lang="en-US" altLang="ko-KR" sz="54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- OCR</a:t>
            </a:r>
            <a:endParaRPr lang="ko-KR" altLang="en-US" sz="54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37897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200677" y="941916"/>
            <a:ext cx="5280670" cy="66306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+mn-ea"/>
              </a:rPr>
              <a:t>✅ </a:t>
            </a:r>
            <a:r>
              <a:rPr lang="en-US" altLang="ko-KR" sz="2800" dirty="0" err="1">
                <a:latin typeface="+mn-ea"/>
              </a:rPr>
              <a:t>pytesseract</a:t>
            </a:r>
            <a:r>
              <a:rPr lang="en-US" altLang="ko-KR" sz="2800" dirty="0">
                <a:latin typeface="+mn-ea"/>
              </a:rPr>
              <a:t> </a:t>
            </a:r>
            <a:r>
              <a:rPr lang="ko-KR" altLang="en-US" sz="2800" dirty="0">
                <a:latin typeface="+mn-ea"/>
              </a:rPr>
              <a:t>설치 </a:t>
            </a:r>
            <a:endParaRPr lang="en-US" altLang="ko-KR" sz="2800" dirty="0"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6733" y="1772913"/>
            <a:ext cx="4845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pip install </a:t>
            </a:r>
            <a:r>
              <a:rPr lang="en-US" altLang="ko-KR" sz="2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pytesseract</a:t>
            </a:r>
            <a:endParaRPr lang="ko-KR" altLang="en-US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D8B6CC-9268-1F0D-CF19-47762A42AEA0}"/>
              </a:ext>
            </a:extLst>
          </p:cNvPr>
          <p:cNvSpPr txBox="1"/>
          <p:nvPr/>
        </p:nvSpPr>
        <p:spPr>
          <a:xfrm>
            <a:off x="200677" y="110919"/>
            <a:ext cx="51106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Tesseract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- OCR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71285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200677" y="941916"/>
            <a:ext cx="11466605" cy="37573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+mn-ea"/>
              </a:rPr>
              <a:t>✅ 기본 사용법</a:t>
            </a:r>
            <a:endParaRPr lang="en-US" altLang="ko-KR" sz="2800" dirty="0">
              <a:latin typeface="+mn-ea"/>
            </a:endParaRP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CV2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이미지 가져오기</a:t>
            </a:r>
            <a:endParaRPr lang="en-US" altLang="ko-KR" sz="24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altLang="ko-KR" sz="24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Tesseract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OCR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설치된 폴더에 있는 </a:t>
            </a:r>
            <a:r>
              <a:rPr lang="ko-KR" altLang="en-US" sz="24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실행 파일의 경로 지정</a:t>
            </a:r>
            <a:endParaRPr lang="en-US" altLang="ko-KR" sz="2400" b="1" dirty="0">
              <a:solidFill>
                <a:srgbClr val="C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371600" lvl="2" indent="-4572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윈도우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pyt.tesseract_cmd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=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r"C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:\Program Files\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Tesseract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-OCR\tesseract.exe"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pyt.tesseract_cmd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= r'/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/local/bin/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tesseract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‘</a:t>
            </a:r>
          </a:p>
          <a:p>
            <a:pPr marL="1828800" lvl="3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tesseract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경로를 찾지 못할 때는 터미널 상에서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brew list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tesseract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또는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Which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tesseract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라고 입력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AutoNum type="arabicParenR"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이미지에서 텍스트를 추출</a:t>
            </a:r>
            <a:endParaRPr lang="en-US" altLang="ko-KR" sz="24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D8B6CC-9268-1F0D-CF19-47762A42AEA0}"/>
              </a:ext>
            </a:extLst>
          </p:cNvPr>
          <p:cNvSpPr txBox="1"/>
          <p:nvPr/>
        </p:nvSpPr>
        <p:spPr>
          <a:xfrm>
            <a:off x="200677" y="110919"/>
            <a:ext cx="51106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Tesseract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- OCR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10073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D8B6CC-9268-1F0D-CF19-47762A42AEA0}"/>
              </a:ext>
            </a:extLst>
          </p:cNvPr>
          <p:cNvSpPr txBox="1"/>
          <p:nvPr/>
        </p:nvSpPr>
        <p:spPr>
          <a:xfrm>
            <a:off x="200677" y="110919"/>
            <a:ext cx="57709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Tesseract</a:t>
            </a:r>
            <a:r>
              <a:rPr lang="en-US" altLang="ko-KR" sz="54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- OCR</a:t>
            </a:r>
            <a:endParaRPr lang="ko-KR" altLang="en-US" sz="54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70001" y="1599693"/>
            <a:ext cx="2779928" cy="6630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+mj-ea"/>
              </a:rPr>
              <a:t>✅ 기본 구현 예시</a:t>
            </a:r>
            <a:endParaRPr lang="en-US" altLang="ko-KR" sz="2800" dirty="0">
              <a:latin typeface="+mj-ea"/>
            </a:endParaRPr>
          </a:p>
        </p:txBody>
      </p:sp>
      <p:pic>
        <p:nvPicPr>
          <p:cNvPr id="5123" name="Picture 3" descr="C:\Users\LMH\Desktop\tesserac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99693"/>
            <a:ext cx="12192000" cy="4705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63935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LMH\Desktop\binar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6764"/>
            <a:ext cx="12192000" cy="5591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D8B6CC-9268-1F0D-CF19-47762A42AEA0}"/>
              </a:ext>
            </a:extLst>
          </p:cNvPr>
          <p:cNvSpPr txBox="1"/>
          <p:nvPr/>
        </p:nvSpPr>
        <p:spPr>
          <a:xfrm>
            <a:off x="200677" y="110919"/>
            <a:ext cx="57709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Tesseract</a:t>
            </a:r>
            <a:r>
              <a:rPr lang="en-US" altLang="ko-KR" sz="54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- OCR</a:t>
            </a:r>
            <a:endParaRPr lang="ko-KR" altLang="en-US" sz="54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78468" y="1266764"/>
            <a:ext cx="3470822" cy="6630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>
                <a:latin typeface="+mj-ea"/>
              </a:rPr>
              <a:t>✅ 이진화 처리 후 적용</a:t>
            </a:r>
            <a:endParaRPr lang="en-US" altLang="ko-KR" sz="28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64109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2025-09-16</a:t>
            </a:fld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4C0F858-9270-442D-B801-9CF65A7D18B0}"/>
              </a:ext>
            </a:extLst>
          </p:cNvPr>
          <p:cNvSpPr txBox="1">
            <a:spLocks/>
          </p:cNvSpPr>
          <p:nvPr/>
        </p:nvSpPr>
        <p:spPr>
          <a:xfrm>
            <a:off x="404188" y="1817168"/>
            <a:ext cx="6499532" cy="38676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ko-KR" altLang="en-US" sz="3200" dirty="0"/>
              <a:t>이 이미지는 원본 이미지에서 글자를 잘 인식하지 못합니다</a:t>
            </a:r>
            <a:r>
              <a:rPr lang="en-US" altLang="ko-KR" sz="32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z="3200" dirty="0"/>
              <a:t>이미지에서 글자를 인식할 부분을 선택하면</a:t>
            </a:r>
            <a:endParaRPr lang="en-US" altLang="ko-KR" sz="32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3200" dirty="0"/>
              <a:t>해당영역을 잘라내고</a:t>
            </a:r>
            <a:endParaRPr lang="en-US" altLang="ko-KR" sz="32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3200" dirty="0"/>
              <a:t>잘라낸 영역의 글자를 인식해서 출력합니다</a:t>
            </a:r>
            <a:r>
              <a:rPr lang="en-US" altLang="ko-KR" sz="3200" dirty="0"/>
              <a:t>.</a:t>
            </a:r>
          </a:p>
        </p:txBody>
      </p:sp>
      <p:pic>
        <p:nvPicPr>
          <p:cNvPr id="1026" name="Picture 2" descr="C:\Users\LMH\Documents\study\python-libraries\images\sto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1361" y="1280478"/>
            <a:ext cx="4602480" cy="4602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F033CAEA-B834-6A1C-5CA2-D798967C2D13}"/>
              </a:ext>
            </a:extLst>
          </p:cNvPr>
          <p:cNvSpPr txBox="1">
            <a:spLocks/>
          </p:cNvSpPr>
          <p:nvPr/>
        </p:nvSpPr>
        <p:spPr>
          <a:xfrm>
            <a:off x="238991" y="-450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4. </a:t>
            </a:r>
            <a:r>
              <a:rPr lang="ko-KR" altLang="en-US" b="1" dirty="0">
                <a:solidFill>
                  <a:schemeClr val="accent2"/>
                </a:solidFill>
              </a:rPr>
              <a:t>이미지에서 글자 인식</a:t>
            </a:r>
          </a:p>
        </p:txBody>
      </p:sp>
    </p:spTree>
    <p:extLst>
      <p:ext uri="{BB962C8B-B14F-4D97-AF65-F5344CB8AC3E}">
        <p14:creationId xmlns:p14="http://schemas.microsoft.com/office/powerpoint/2010/main" val="13745836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718186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8071</TotalTime>
  <Words>1229</Words>
  <Application>Microsoft Office PowerPoint</Application>
  <PresentationFormat>와이드스크린</PresentationFormat>
  <Paragraphs>205</Paragraphs>
  <Slides>36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5" baseType="lpstr">
      <vt:lpstr>G마켓 산스 TTF Bold</vt:lpstr>
      <vt:lpstr>Kim jung chul Gothic Regular</vt:lpstr>
      <vt:lpstr>Pretendard Black</vt:lpstr>
      <vt:lpstr>Pretendard Light</vt:lpstr>
      <vt:lpstr>Pretendard Medium</vt:lpstr>
      <vt:lpstr>메이플스토리</vt:lpstr>
      <vt:lpstr>Arial</vt:lpstr>
      <vt:lpstr>Wingdings</vt:lpstr>
      <vt:lpstr>1_Office 테마</vt:lpstr>
      <vt:lpstr>x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실습1. 캠화면에 적용</vt:lpstr>
      <vt:lpstr>실습2. 귀여운 눈 덮어 씌우기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585</cp:revision>
  <dcterms:created xsi:type="dcterms:W3CDTF">2023-01-31T04:26:23Z</dcterms:created>
  <dcterms:modified xsi:type="dcterms:W3CDTF">2025-09-16T01:33:29Z</dcterms:modified>
</cp:coreProperties>
</file>