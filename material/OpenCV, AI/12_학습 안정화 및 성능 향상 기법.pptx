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1004" r:id="rId2"/>
    <p:sldId id="635" r:id="rId3"/>
    <p:sldId id="725" r:id="rId4"/>
    <p:sldId id="1028" r:id="rId5"/>
    <p:sldId id="1029" r:id="rId6"/>
    <p:sldId id="1030" r:id="rId7"/>
    <p:sldId id="1031" r:id="rId8"/>
    <p:sldId id="1032" r:id="rId9"/>
    <p:sldId id="1033" r:id="rId10"/>
    <p:sldId id="671" r:id="rId11"/>
    <p:sldId id="732" r:id="rId12"/>
    <p:sldId id="713" r:id="rId13"/>
    <p:sldId id="714" r:id="rId14"/>
    <p:sldId id="715" r:id="rId15"/>
    <p:sldId id="716" r:id="rId16"/>
    <p:sldId id="717" r:id="rId17"/>
    <p:sldId id="718" r:id="rId18"/>
    <p:sldId id="687" r:id="rId19"/>
    <p:sldId id="719" r:id="rId20"/>
    <p:sldId id="1034" r:id="rId21"/>
    <p:sldId id="1035" r:id="rId22"/>
    <p:sldId id="1036" r:id="rId23"/>
    <p:sldId id="1037" r:id="rId24"/>
    <p:sldId id="1038" r:id="rId25"/>
    <p:sldId id="1040" r:id="rId26"/>
    <p:sldId id="751" r:id="rId27"/>
    <p:sldId id="1041" r:id="rId28"/>
    <p:sldId id="706" r:id="rId29"/>
    <p:sldId id="1042" r:id="rId30"/>
    <p:sldId id="1043" r:id="rId31"/>
    <p:sldId id="694" r:id="rId32"/>
    <p:sldId id="707" r:id="rId33"/>
    <p:sldId id="708" r:id="rId34"/>
    <p:sldId id="696" r:id="rId35"/>
    <p:sldId id="712" r:id="rId36"/>
    <p:sldId id="836" r:id="rId3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FF0066"/>
    <a:srgbClr val="FF5050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56" autoAdjust="0"/>
    <p:restoredTop sz="91676" autoAdjust="0"/>
  </p:normalViewPr>
  <p:slideViewPr>
    <p:cSldViewPr snapToGrid="0">
      <p:cViewPr varScale="1">
        <p:scale>
          <a:sx n="98" d="100"/>
          <a:sy n="98" d="100"/>
        </p:scale>
        <p:origin x="548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2025-09-22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0048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8567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189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95741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9900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6937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EE83-52CB-E118-49CB-3EBDD6EF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83B01-3943-C359-9322-8EB719FB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59CF-8156-0FB2-87BB-C2421F32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1DD34-5BFE-877A-E657-9B3A6B1B5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645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567106" y="2459504"/>
            <a:ext cx="505779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학습 안정 및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성능 향상 기법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6621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904261" y="2571115"/>
            <a:ext cx="638347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기울기 소실</a:t>
            </a:r>
            <a:endParaRPr lang="en-US" altLang="ko-KR" sz="54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en-US" altLang="ko-KR" sz="4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Vanishing Gradient</a:t>
            </a:r>
          </a:p>
        </p:txBody>
      </p:sp>
    </p:spTree>
    <p:extLst>
      <p:ext uri="{BB962C8B-B14F-4D97-AF65-F5344CB8AC3E}">
        <p14:creationId xmlns:p14="http://schemas.microsoft.com/office/powerpoint/2010/main" val="3433310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938597"/>
            <a:ext cx="7118542" cy="3120421"/>
          </a:xfrm>
        </p:spPr>
        <p:txBody>
          <a:bodyPr>
            <a:noAutofit/>
          </a:bodyPr>
          <a:lstStyle/>
          <a:p>
            <a:pPr marL="0" lvl="2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ko-KR" altLang="en-US" sz="2400" dirty="0"/>
              <a:t>✔️ </a:t>
            </a:r>
            <a:r>
              <a:rPr lang="ko-KR" altLang="en-US" sz="2400" dirty="0" err="1"/>
              <a:t>시그모이드</a:t>
            </a:r>
            <a:r>
              <a:rPr lang="ko-KR" altLang="en-US" sz="2400" dirty="0"/>
              <a:t> 함수 접선의 기울기의 최대값은</a:t>
            </a:r>
            <a:r>
              <a:rPr lang="en-US" altLang="ko-KR" sz="2400" dirty="0"/>
              <a:t> 1/4</a:t>
            </a:r>
            <a:endParaRPr lang="en-US" altLang="ko-KR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큰 입력 값에서 </a:t>
            </a:r>
            <a:r>
              <a:rPr lang="ko-KR" altLang="en-US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기울기 거의 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endParaRPr lang="en-US" altLang="ko-KR" sz="24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이로 인해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역전파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과정에서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기울기가 점점 작아져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이전 층으로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전달되기 어렵게 됨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ko-KR" altLang="en-US" dirty="0"/>
              <a:t>➡️ </a:t>
            </a:r>
            <a:r>
              <a:rPr lang="en-US" altLang="ko-KR" dirty="0"/>
              <a:t>Gradient</a:t>
            </a:r>
            <a:r>
              <a:rPr lang="ko-KR" altLang="en-US" dirty="0"/>
              <a:t>가 작으면 이에 따라 가중치의 변동도 매우 작아지게 됨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8" name="Picture 2" descr="sig">
            <a:extLst>
              <a:ext uri="{FF2B5EF4-FFF2-40B4-BE49-F238E27FC236}">
                <a16:creationId xmlns:a16="http://schemas.microsoft.com/office/drawing/2014/main" id="{9DC3754F-59E1-AD9B-3765-3D9AB9D46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7533" y="2067570"/>
            <a:ext cx="4506872" cy="2862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제목 1">
            <a:extLst>
              <a:ext uri="{FF2B5EF4-FFF2-40B4-BE49-F238E27FC236}">
                <a16:creationId xmlns:a16="http://schemas.microsoft.com/office/drawing/2014/main" id="{595132D3-2CCA-24C1-E00C-864BA4A08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 err="1"/>
              <a:t>시그모이드</a:t>
            </a:r>
            <a:r>
              <a:rPr lang="ko-KR" altLang="en-US" b="1" dirty="0"/>
              <a:t> 함수의 문제</a:t>
            </a:r>
          </a:p>
        </p:txBody>
      </p:sp>
    </p:spTree>
    <p:extLst>
      <p:ext uri="{BB962C8B-B14F-4D97-AF65-F5344CB8AC3E}">
        <p14:creationId xmlns:p14="http://schemas.microsoft.com/office/powerpoint/2010/main" val="189736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325563"/>
            <a:ext cx="11425283" cy="3763403"/>
          </a:xfrm>
        </p:spPr>
        <p:txBody>
          <a:bodyPr>
            <a:noAutofit/>
          </a:bodyPr>
          <a:lstStyle/>
          <a:p>
            <a:pPr marL="0" lvl="2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ko-KR" altLang="en-US" sz="2400" dirty="0"/>
              <a:t>💡 신경망에서 </a:t>
            </a:r>
            <a:r>
              <a:rPr lang="ko-KR" altLang="en-US" sz="2400" dirty="0" err="1"/>
              <a:t>역전파</a:t>
            </a:r>
            <a:r>
              <a:rPr lang="ko-KR" altLang="en-US" sz="2400" dirty="0"/>
              <a:t> 중 </a:t>
            </a:r>
            <a:r>
              <a:rPr lang="ko-KR" altLang="en-US" sz="2400" b="1" dirty="0"/>
              <a:t>층이 깊어질수록</a:t>
            </a:r>
            <a:r>
              <a:rPr lang="ko-KR" altLang="en-US" sz="2400" dirty="0"/>
              <a:t> 초기 층으로 전파되는 기울기</a:t>
            </a:r>
            <a:r>
              <a:rPr lang="en-US" altLang="ko-KR" sz="2400" dirty="0"/>
              <a:t>(</a:t>
            </a:r>
            <a:r>
              <a:rPr lang="en-US" altLang="ko-KR" sz="2400" dirty="0" err="1"/>
              <a:t>Gradinet</a:t>
            </a:r>
            <a:r>
              <a:rPr lang="en-US" altLang="ko-KR" sz="2400" dirty="0"/>
              <a:t>)</a:t>
            </a:r>
            <a:r>
              <a:rPr lang="ko-KR" altLang="en-US" sz="2400" dirty="0"/>
              <a:t>가 </a:t>
            </a:r>
            <a:r>
              <a:rPr lang="ko-KR" altLang="en-US" sz="2400" b="1" dirty="0"/>
              <a:t>작아져</a:t>
            </a:r>
            <a:r>
              <a:rPr lang="ko-KR" altLang="en-US" sz="2400" dirty="0"/>
              <a:t> </a:t>
            </a:r>
            <a:endParaRPr lang="en-US" altLang="ko-KR" sz="2400" dirty="0"/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US" altLang="ko-KR" sz="2400" dirty="0"/>
              <a:t>       </a:t>
            </a:r>
            <a:r>
              <a:rPr lang="ko-KR" altLang="en-US" sz="2400" dirty="0"/>
              <a:t>학습이 제대로 이루어지지 않는 문제</a:t>
            </a:r>
            <a:r>
              <a:rPr lang="en-US" altLang="ko-KR" sz="2400" dirty="0"/>
              <a:t>.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ko-KR" altLang="en-US" sz="2400" b="1" dirty="0">
                <a:latin typeface="+mn-ea"/>
              </a:rPr>
              <a:t>✅ 문제</a:t>
            </a:r>
            <a:endParaRPr lang="en-US" altLang="ko-KR" sz="2400" b="1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b="1" dirty="0"/>
              <a:t>초기 층 학습 어려움</a:t>
            </a:r>
            <a:r>
              <a:rPr lang="en-US" altLang="ko-KR" dirty="0"/>
              <a:t>: </a:t>
            </a:r>
            <a:r>
              <a:rPr lang="ko-KR" altLang="en-US" dirty="0"/>
              <a:t>네트워크의 깊은 층은 거의 업데이트되지 않음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b="1" dirty="0"/>
              <a:t>학습 속도 저하</a:t>
            </a:r>
            <a:r>
              <a:rPr lang="en-US" altLang="ko-KR" dirty="0"/>
              <a:t>: </a:t>
            </a:r>
            <a:r>
              <a:rPr lang="ko-KR" altLang="en-US" dirty="0"/>
              <a:t>학습 과정이 비효율적이 됨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b="1" dirty="0"/>
              <a:t>정확도 하락</a:t>
            </a:r>
            <a:r>
              <a:rPr lang="en-US" altLang="ko-KR" dirty="0"/>
              <a:t>: </a:t>
            </a:r>
            <a:r>
              <a:rPr lang="ko-KR" altLang="en-US" dirty="0"/>
              <a:t>모델의 성능 저하</a:t>
            </a:r>
            <a:r>
              <a:rPr lang="en-US" altLang="ko-KR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595132D3-2CCA-24C1-E00C-864BA4A08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b="1" dirty="0"/>
              <a:t>기울기 소실 </a:t>
            </a:r>
            <a:r>
              <a:rPr lang="en-US" altLang="ko-KR" b="1" dirty="0"/>
              <a:t>Vanishing Gradient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706558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 err="1">
                <a:latin typeface="+mj-ea"/>
              </a:rPr>
              <a:t>ReLU</a:t>
            </a:r>
            <a:r>
              <a:rPr lang="en-US" altLang="ko-KR" b="1" dirty="0">
                <a:latin typeface="+mj-ea"/>
              </a:rPr>
              <a:t>(Rectified Linear Unit) </a:t>
            </a:r>
            <a:r>
              <a:rPr lang="ko-KR" altLang="en-US" b="1" dirty="0">
                <a:latin typeface="+mj-ea"/>
              </a:rPr>
              <a:t>함수</a:t>
            </a: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306274"/>
            <a:ext cx="6669900" cy="481732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solidFill>
                  <a:srgbClr val="C00000"/>
                </a:solidFill>
                <a:latin typeface="+mn-ea"/>
              </a:rPr>
              <a:t>💡 </a:t>
            </a:r>
            <a:r>
              <a:rPr lang="ko-KR" altLang="en-US" sz="2400" dirty="0"/>
              <a:t>입력이 </a:t>
            </a:r>
            <a:r>
              <a:rPr lang="en-US" altLang="ko-KR" sz="2400" dirty="0"/>
              <a:t>0</a:t>
            </a:r>
            <a:r>
              <a:rPr lang="ko-KR" altLang="en-US" sz="2400" dirty="0"/>
              <a:t>보다 크면 그대로 출력하고</a:t>
            </a:r>
            <a:r>
              <a:rPr lang="en-US" altLang="ko-KR" sz="2400" dirty="0"/>
              <a:t>,</a:t>
            </a:r>
            <a:br>
              <a:rPr lang="en-US" altLang="ko-KR" sz="2400" dirty="0"/>
            </a:br>
            <a:r>
              <a:rPr lang="en-US" altLang="ko-KR" sz="2400" dirty="0"/>
              <a:t>      0</a:t>
            </a:r>
            <a:r>
              <a:rPr lang="ko-KR" altLang="en-US" sz="2400" dirty="0"/>
              <a:t>이하이면</a:t>
            </a:r>
            <a:r>
              <a:rPr lang="en-US" altLang="ko-KR" sz="2400" dirty="0"/>
              <a:t> 0</a:t>
            </a:r>
            <a:r>
              <a:rPr lang="ko-KR" altLang="en-US" sz="2400" dirty="0"/>
              <a:t>을 출력하는 활성화 함수</a:t>
            </a:r>
            <a:endParaRPr lang="en-US" altLang="ko-KR" sz="2400" b="1" dirty="0">
              <a:solidFill>
                <a:srgbClr val="C00000"/>
              </a:solidFill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F(x) = max(0,x)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최근 가장 많이 사용되는 </a:t>
            </a:r>
            <a:r>
              <a: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활성화 함수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특징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학습 속도가 빠르고</a:t>
            </a:r>
            <a:r>
              <a:rPr lang="en-US" altLang="ko-KR" sz="2000" dirty="0"/>
              <a:t>, </a:t>
            </a:r>
            <a:r>
              <a:rPr lang="ko-KR" altLang="en-US" sz="2000" dirty="0"/>
              <a:t>구현이 간단함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X &gt; 0 </a:t>
            </a:r>
            <a:r>
              <a:rPr lang="ko-KR" altLang="en-US" sz="2000" dirty="0"/>
              <a:t>이면 기울기가 </a:t>
            </a:r>
            <a:r>
              <a:rPr lang="en-US" altLang="ko-KR" sz="2000" dirty="0"/>
              <a:t>1</a:t>
            </a:r>
            <a:r>
              <a:rPr lang="ko-KR" altLang="en-US" sz="2000" dirty="0"/>
              <a:t>인 직선</a:t>
            </a:r>
            <a:r>
              <a:rPr lang="en-US" altLang="ko-KR" sz="2000" dirty="0"/>
              <a:t>, X &lt; 0 </a:t>
            </a:r>
            <a:r>
              <a:rPr lang="ko-KR" altLang="en-US" sz="2000" dirty="0"/>
              <a:t>이면 기울기가 </a:t>
            </a:r>
            <a:r>
              <a:rPr lang="en-US" altLang="ko-KR" sz="2000" dirty="0"/>
              <a:t>0</a:t>
            </a:r>
          </a:p>
          <a:p>
            <a:pPr lvl="2">
              <a:lnSpc>
                <a:spcPct val="150000"/>
              </a:lnSpc>
            </a:pPr>
            <a:r>
              <a:rPr lang="en-US" altLang="ko-KR" sz="1600" b="1" dirty="0"/>
              <a:t>X &lt; 0</a:t>
            </a:r>
            <a:r>
              <a:rPr lang="ko-KR" altLang="en-US" sz="1600" b="1" dirty="0"/>
              <a:t>에서 기울기가 </a:t>
            </a:r>
            <a:r>
              <a:rPr lang="en-US" altLang="ko-KR" sz="1600" b="1" dirty="0"/>
              <a:t>0</a:t>
            </a:r>
            <a:r>
              <a:rPr lang="ko-KR" altLang="en-US" sz="1600" b="1" dirty="0"/>
              <a:t> → 노드가 학습에 사용되지 않는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뉴런이 죽는</a:t>
            </a:r>
            <a:r>
              <a:rPr lang="en-US" altLang="ko-KR" sz="1600" b="1" dirty="0"/>
              <a:t>)</a:t>
            </a:r>
            <a:r>
              <a:rPr lang="ko-KR" altLang="en-US" sz="1600" b="1" dirty="0"/>
              <a:t> 단점 발생</a:t>
            </a:r>
            <a:endParaRPr lang="en-US" altLang="ko-KR" sz="1600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 dirty="0"/>
          </a:p>
        </p:txBody>
      </p:sp>
      <p:pic>
        <p:nvPicPr>
          <p:cNvPr id="21506" name="Picture 2" descr="relu">
            <a:extLst>
              <a:ext uri="{FF2B5EF4-FFF2-40B4-BE49-F238E27FC236}">
                <a16:creationId xmlns:a16="http://schemas.microsoft.com/office/drawing/2014/main" id="{0210935B-8B07-904E-302D-0BF5F9F03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8866" y="1851036"/>
            <a:ext cx="4851400" cy="3155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8192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 err="1">
                <a:latin typeface="+mj-ea"/>
              </a:rPr>
              <a:t>Leakly</a:t>
            </a:r>
            <a:r>
              <a:rPr lang="en-US" altLang="ko-KR" b="1" dirty="0">
                <a:latin typeface="+mj-ea"/>
              </a:rPr>
              <a:t> </a:t>
            </a:r>
            <a:r>
              <a:rPr lang="en-US" altLang="ko-KR" b="1" dirty="0" err="1">
                <a:latin typeface="+mj-ea"/>
              </a:rPr>
              <a:t>ReLU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함수</a:t>
            </a: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449263"/>
            <a:ext cx="6673945" cy="395947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입력이 </a:t>
            </a:r>
            <a:r>
              <a:rPr lang="en-US" altLang="ko-KR" sz="2400" dirty="0"/>
              <a:t>0</a:t>
            </a:r>
            <a:r>
              <a:rPr lang="ko-KR" altLang="en-US" sz="2400" dirty="0"/>
              <a:t>보다 크면 그대로 출력하고</a:t>
            </a:r>
            <a:r>
              <a:rPr lang="en-US" altLang="ko-KR" sz="2400" dirty="0"/>
              <a:t>,</a:t>
            </a:r>
            <a:br>
              <a:rPr lang="en-US" altLang="ko-KR" sz="2400" dirty="0"/>
            </a:br>
            <a:r>
              <a:rPr lang="en-US" altLang="ko-KR" sz="2400" dirty="0"/>
              <a:t>       0 </a:t>
            </a:r>
            <a:r>
              <a:rPr lang="ko-KR" altLang="en-US" sz="2400" dirty="0"/>
              <a:t>이하이면 작은 기울기</a:t>
            </a:r>
            <a:r>
              <a:rPr lang="en-US" altLang="ko-KR" sz="2400" dirty="0"/>
              <a:t>(α)</a:t>
            </a:r>
            <a:r>
              <a:rPr lang="ko-KR" altLang="en-US" sz="2400" dirty="0"/>
              <a:t>를 곱해 출력하는 함수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/>
              <a:t>ReLU</a:t>
            </a:r>
            <a:r>
              <a:rPr lang="ko-KR" altLang="en-US" sz="2000" dirty="0"/>
              <a:t>의 뉴런이 죽는</a:t>
            </a:r>
            <a:r>
              <a:rPr lang="en-US" altLang="ko-KR" sz="2000" dirty="0"/>
              <a:t>(Dying </a:t>
            </a:r>
            <a:r>
              <a:rPr lang="en-US" altLang="ko-KR" sz="2000" dirty="0" err="1"/>
              <a:t>ReLU</a:t>
            </a:r>
            <a:r>
              <a:rPr lang="en-US" altLang="ko-KR" sz="2000" dirty="0"/>
              <a:t>) </a:t>
            </a:r>
            <a:r>
              <a:rPr lang="ko-KR" altLang="en-US" sz="2000" dirty="0"/>
              <a:t>문제를 해결하기 위해 나온 함수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/>
              <a:t>X &lt; 0 </a:t>
            </a:r>
            <a:r>
              <a:rPr lang="ko-KR" altLang="en-US" sz="2000" dirty="0"/>
              <a:t>에서의 기울기를 </a:t>
            </a:r>
            <a:r>
              <a:rPr lang="en-US" altLang="ko-KR" sz="2000" dirty="0"/>
              <a:t>1/100</a:t>
            </a:r>
            <a:r>
              <a:rPr lang="ko-KR" altLang="en-US" sz="2000" dirty="0"/>
              <a:t>로 살려둠</a:t>
            </a:r>
            <a:endParaRPr lang="en-US" altLang="ko-KR" sz="2000" dirty="0"/>
          </a:p>
          <a:p>
            <a:pPr lvl="2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dirty="0"/>
              <a:t>F(x) = max(0.01x, x)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/>
              <a:t>X &lt; 0 </a:t>
            </a:r>
            <a:r>
              <a:rPr lang="ko-KR" altLang="en-US" sz="2000" dirty="0"/>
              <a:t>값에 대해 </a:t>
            </a:r>
            <a:r>
              <a:rPr lang="ko-KR" altLang="en-US" sz="2000" dirty="0" err="1"/>
              <a:t>미분값이</a:t>
            </a:r>
            <a:r>
              <a:rPr lang="ko-KR" altLang="en-US" sz="2000" dirty="0"/>
              <a:t> </a:t>
            </a:r>
            <a:r>
              <a:rPr lang="en-US" altLang="ko-KR" sz="2000" dirty="0"/>
              <a:t>0</a:t>
            </a:r>
            <a:r>
              <a:rPr lang="ko-KR" altLang="en-US" sz="2000" dirty="0"/>
              <a:t>이 아님</a:t>
            </a:r>
            <a:endParaRPr lang="en-US" altLang="ko-KR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22530" name="Picture 2">
            <a:extLst>
              <a:ext uri="{FF2B5EF4-FFF2-40B4-BE49-F238E27FC236}">
                <a16:creationId xmlns:a16="http://schemas.microsoft.com/office/drawing/2014/main" id="{7F11E8EF-D761-EAB5-9DA9-63F9D0DFF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7322" y="1728787"/>
            <a:ext cx="4019550" cy="340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7618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sz="4000" b="1" dirty="0" err="1">
                <a:latin typeface="+mj-ea"/>
              </a:rPr>
              <a:t>ReLU</a:t>
            </a:r>
            <a:r>
              <a:rPr lang="en-US" altLang="ko-KR" sz="4000" b="1" dirty="0">
                <a:latin typeface="+mj-ea"/>
              </a:rPr>
              <a:t> </a:t>
            </a:r>
            <a:r>
              <a:rPr lang="ko-KR" altLang="en-US" sz="4000" b="1" dirty="0">
                <a:latin typeface="+mj-ea"/>
              </a:rPr>
              <a:t>함수의 종류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grpSp>
        <p:nvGrpSpPr>
          <p:cNvPr id="8" name="그룹 7"/>
          <p:cNvGrpSpPr/>
          <p:nvPr/>
        </p:nvGrpSpPr>
        <p:grpSpPr>
          <a:xfrm>
            <a:off x="3406815" y="960099"/>
            <a:ext cx="5378370" cy="5167449"/>
            <a:chOff x="3406815" y="960099"/>
            <a:chExt cx="5378370" cy="5167449"/>
          </a:xfrm>
        </p:grpSpPr>
        <p:pic>
          <p:nvPicPr>
            <p:cNvPr id="2050" name="Picture 2" descr="[DL] 6. 인공 신경망이 깊어질 때 발생하는 고질적 문제 (gradient vanishing &amp; overfitting)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6815" y="960099"/>
              <a:ext cx="5378370" cy="49378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직사각형 6"/>
            <p:cNvSpPr/>
            <p:nvPr/>
          </p:nvSpPr>
          <p:spPr>
            <a:xfrm>
              <a:off x="4625084" y="5881327"/>
              <a:ext cx="282000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[</a:t>
              </a:r>
              <a:r>
                <a:rPr lang="ko-KR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출처</a:t>
              </a:r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] https://gangjeong22.tistory.com/m/161</a:t>
              </a:r>
              <a:endPara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8175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674512" y="2459504"/>
            <a:ext cx="484299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배치 정규화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</a:t>
            </a:r>
          </a:p>
          <a:p>
            <a:pPr algn="ctr"/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레이어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정규화</a:t>
            </a:r>
            <a:endParaRPr lang="en-US" altLang="ko-KR" sz="44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8635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93904-116E-8A1D-B249-FD1E63D2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BN(Batch Normalization)	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CB4F9F-FBE6-D4D8-DF87-84D438559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684503"/>
            <a:ext cx="6011432" cy="3951982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💡 배치 정규화</a:t>
            </a:r>
            <a:endParaRPr lang="en-US" altLang="ko-KR" sz="2400" b="1" dirty="0"/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/>
              <a:t>학습 과정에서 각 배치 단위 별로 데이터가 다양한 분포를 가지더라도</a:t>
            </a:r>
            <a:r>
              <a:rPr lang="en-US" altLang="ko-KR" sz="2000" dirty="0"/>
              <a:t> </a:t>
            </a:r>
            <a:r>
              <a:rPr lang="ko-KR" altLang="en-US" sz="2000" dirty="0">
                <a:solidFill>
                  <a:srgbClr val="FF0000"/>
                </a:solidFill>
              </a:rPr>
              <a:t>각 배치별로 평균과 분산을 이용해 정규화 </a:t>
            </a:r>
            <a:r>
              <a:rPr lang="ko-KR" altLang="en-US" sz="2000" dirty="0" err="1">
                <a:solidFill>
                  <a:srgbClr val="FF0000"/>
                </a:solidFill>
              </a:rPr>
              <a:t>하는것</a:t>
            </a:r>
            <a:endParaRPr lang="en-US" altLang="ko-KR" sz="2000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/>
              <a:t>평균은 </a:t>
            </a:r>
            <a:r>
              <a:rPr lang="en-US" altLang="ko-KR" sz="2000" dirty="0"/>
              <a:t>0, </a:t>
            </a:r>
            <a:r>
              <a:rPr lang="ko-KR" altLang="en-US" sz="2000" dirty="0"/>
              <a:t>표준 편차는 </a:t>
            </a:r>
            <a:r>
              <a:rPr lang="en-US" altLang="ko-KR" sz="2000" dirty="0"/>
              <a:t>1</a:t>
            </a:r>
            <a:r>
              <a:rPr lang="ko-KR" altLang="en-US" sz="2000" dirty="0"/>
              <a:t>로 데이터의 분포를 조정</a:t>
            </a:r>
            <a:endParaRPr lang="en-US" altLang="ko-KR" sz="2000" dirty="0"/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재배치 하되</a:t>
            </a:r>
            <a:r>
              <a:rPr lang="en-US" altLang="ko-KR" sz="1800" dirty="0"/>
              <a:t>, </a:t>
            </a:r>
            <a:r>
              <a:rPr lang="ko-KR" altLang="en-US" sz="1800" dirty="0"/>
              <a:t>순서는 바꾸지 않음</a:t>
            </a:r>
            <a:endParaRPr lang="en-US" altLang="ko-KR" sz="1800" dirty="0"/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/>
              <a:t>한계 </a:t>
            </a:r>
            <a:r>
              <a:rPr lang="en-US" altLang="ko-KR" sz="2000" dirty="0"/>
              <a:t>: batch </a:t>
            </a:r>
            <a:r>
              <a:rPr lang="ko-KR" altLang="en-US" sz="2000" dirty="0"/>
              <a:t>의 크기에 영향을 받음</a:t>
            </a:r>
            <a:r>
              <a:rPr lang="en-US" altLang="ko-KR" sz="2000" dirty="0"/>
              <a:t>, batch </a:t>
            </a:r>
            <a:r>
              <a:rPr lang="ko-KR" altLang="en-US" sz="2000" dirty="0"/>
              <a:t>의 크기가 너무 작거나 너무 커지면 잘 동작하지 않음</a:t>
            </a:r>
            <a:endParaRPr lang="en-US" altLang="ko-KR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E8347-940B-9B89-2B8A-06E6E0B5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BDAC9A-C701-1AB9-8DAA-A5600E67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14338" name="Picture 2" descr="Drawing">
            <a:extLst>
              <a:ext uri="{FF2B5EF4-FFF2-40B4-BE49-F238E27FC236}">
                <a16:creationId xmlns:a16="http://schemas.microsoft.com/office/drawing/2014/main" id="{3D6F239C-32C6-FE85-AD47-BD073AFC2C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3220" y="2343874"/>
            <a:ext cx="5809704" cy="2633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7572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93904-116E-8A1D-B249-FD1E63D2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BN(Batch Normalization)	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E8347-940B-9B89-2B8A-06E6E0B5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BDAC9A-C701-1AB9-8DAA-A5600E67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grpSp>
        <p:nvGrpSpPr>
          <p:cNvPr id="12" name="그룹 11"/>
          <p:cNvGrpSpPr/>
          <p:nvPr/>
        </p:nvGrpSpPr>
        <p:grpSpPr>
          <a:xfrm>
            <a:off x="876365" y="1183637"/>
            <a:ext cx="4437428" cy="2245362"/>
            <a:chOff x="259715" y="1819274"/>
            <a:chExt cx="5715000" cy="3219451"/>
          </a:xfrm>
        </p:grpSpPr>
        <p:pic>
          <p:nvPicPr>
            <p:cNvPr id="8194" name="Picture 2" descr="ReLU Activation Function [with python code] - Vidyasheela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715" y="1819274"/>
              <a:ext cx="5715000" cy="32194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1" name="직선 연결선 10"/>
            <p:cNvCxnSpPr/>
            <p:nvPr/>
          </p:nvCxnSpPr>
          <p:spPr>
            <a:xfrm>
              <a:off x="343916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>
            <a:xfrm>
              <a:off x="378460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>
            <a:xfrm>
              <a:off x="411988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>
              <a:off x="447040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>
              <a:off x="479044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/>
          <p:cNvGrpSpPr/>
          <p:nvPr/>
        </p:nvGrpSpPr>
        <p:grpSpPr>
          <a:xfrm>
            <a:off x="789788" y="3752729"/>
            <a:ext cx="4610582" cy="2245362"/>
            <a:chOff x="6096000" y="1819274"/>
            <a:chExt cx="5715000" cy="3219451"/>
          </a:xfrm>
        </p:grpSpPr>
        <p:pic>
          <p:nvPicPr>
            <p:cNvPr id="9" name="Picture 2" descr="ReLU Activation Function [with python code] - Vidyasheela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0" y="1819274"/>
              <a:ext cx="5715000" cy="32194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8" name="직선 연결선 17"/>
            <p:cNvCxnSpPr/>
            <p:nvPr/>
          </p:nvCxnSpPr>
          <p:spPr>
            <a:xfrm>
              <a:off x="685292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719836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>
            <a:xfrm>
              <a:off x="753364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>
            <a:xfrm>
              <a:off x="788416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/>
          </p:nvCxnSpPr>
          <p:spPr>
            <a:xfrm>
              <a:off x="820420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그룹 29"/>
          <p:cNvGrpSpPr/>
          <p:nvPr/>
        </p:nvGrpSpPr>
        <p:grpSpPr>
          <a:xfrm>
            <a:off x="6468134" y="2262897"/>
            <a:ext cx="5315976" cy="2979664"/>
            <a:chOff x="259715" y="1819274"/>
            <a:chExt cx="5715000" cy="3219451"/>
          </a:xfrm>
        </p:grpSpPr>
        <p:pic>
          <p:nvPicPr>
            <p:cNvPr id="31" name="Picture 2" descr="ReLU Activation Function [with python code] - Vidyasheela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715" y="1819274"/>
              <a:ext cx="5715000" cy="32194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2" name="직선 연결선 31"/>
            <p:cNvCxnSpPr/>
            <p:nvPr/>
          </p:nvCxnSpPr>
          <p:spPr>
            <a:xfrm>
              <a:off x="223536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/>
            <p:cNvCxnSpPr/>
            <p:nvPr/>
          </p:nvCxnSpPr>
          <p:spPr>
            <a:xfrm>
              <a:off x="258080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/>
            <p:cNvCxnSpPr/>
            <p:nvPr/>
          </p:nvCxnSpPr>
          <p:spPr>
            <a:xfrm>
              <a:off x="291608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/>
            <p:cNvCxnSpPr/>
            <p:nvPr/>
          </p:nvCxnSpPr>
          <p:spPr>
            <a:xfrm>
              <a:off x="326660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/>
            <p:cNvCxnSpPr/>
            <p:nvPr/>
          </p:nvCxnSpPr>
          <p:spPr>
            <a:xfrm>
              <a:off x="3586640" y="4297680"/>
              <a:ext cx="0" cy="508000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오른쪽 화살표 27"/>
          <p:cNvSpPr/>
          <p:nvPr/>
        </p:nvSpPr>
        <p:spPr>
          <a:xfrm>
            <a:off x="5748667" y="3483827"/>
            <a:ext cx="676934" cy="537804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853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93904-116E-8A1D-B249-FD1E63D2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BN(Batch Normalization)	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E8347-940B-9B89-2B8A-06E6E0B5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BDAC9A-C701-1AB9-8DAA-A5600E67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B5EBEBA-3EB1-A0EF-926A-38B777B6C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961" y="1672541"/>
            <a:ext cx="9612078" cy="3975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0866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93904-116E-8A1D-B249-FD1E63D2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BN(Batch Normalization)	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E8347-940B-9B89-2B8A-06E6E0B5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BDAC9A-C701-1AB9-8DAA-A5600E67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5400" y="1377742"/>
            <a:ext cx="169545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1639446" y="1278946"/>
            <a:ext cx="5665333" cy="10548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/>
              <a:t>1️⃣</a:t>
            </a:r>
            <a:r>
              <a:rPr lang="ko-KR" altLang="en-US" sz="2400" dirty="0"/>
              <a:t> 평균 계산</a:t>
            </a:r>
            <a:endParaRPr lang="en-US" altLang="ko-KR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미니배치의 데이터 개수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xi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번째 데이터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837" y="2750674"/>
            <a:ext cx="2571750" cy="90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0312" y="4239647"/>
            <a:ext cx="1828800" cy="70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762" y="5543940"/>
            <a:ext cx="22479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직사각형 11"/>
              <p:cNvSpPr/>
              <p:nvPr/>
            </p:nvSpPr>
            <p:spPr>
              <a:xfrm>
                <a:off x="1639446" y="2675690"/>
                <a:ext cx="6097375" cy="10548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400" dirty="0"/>
                  <a:t>2️⃣ </a:t>
                </a:r>
                <a:r>
                  <a:rPr lang="ko-KR" altLang="en-US" sz="2400" dirty="0"/>
                  <a:t>분산 계산</a:t>
                </a:r>
                <a:endParaRPr lang="en-US" altLang="ko-KR" sz="2400" dirty="0"/>
              </a:p>
              <a:p>
                <a:pPr marL="800100" lvl="1" indent="-342900">
                  <a:lnSpc>
                    <a:spcPct val="150000"/>
                  </a:lnSpc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2000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 : </m:t>
                    </m:r>
                  </m:oMath>
                </a14:m>
                <a:r>
                  <a:rPr lang="ko-KR" altLang="en-US" sz="2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분모가 </a:t>
                </a:r>
                <a:r>
                  <a:rPr lang="en-US" altLang="ko-KR" sz="2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0</a:t>
                </a:r>
                <a:r>
                  <a:rPr lang="ko-KR" altLang="en-US" sz="2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이 되는 것을 막기 위한 작은 숫자</a:t>
                </a:r>
                <a:r>
                  <a:rPr lang="en-US" altLang="ko-KR" sz="2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(10</a:t>
                </a:r>
                <a:r>
                  <a:rPr lang="en-US" altLang="ko-KR" sz="2000" baseline="30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-5</a:t>
                </a:r>
                <a:r>
                  <a:rPr lang="en-US" altLang="ko-KR" sz="2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)</a:t>
                </a:r>
              </a:p>
            </p:txBody>
          </p:sp>
        </mc:Choice>
        <mc:Fallback xmlns="">
          <p:sp>
            <p:nvSpPr>
              <p:cNvPr id="12" name="직사각형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446" y="2675690"/>
                <a:ext cx="6097375" cy="1054841"/>
              </a:xfrm>
              <a:prstGeom prst="rect">
                <a:avLst/>
              </a:prstGeom>
              <a:blipFill>
                <a:blip r:embed="rId7"/>
                <a:stretch>
                  <a:fillRect l="-1600" b="-92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직사각형 12"/>
              <p:cNvSpPr/>
              <p:nvPr/>
            </p:nvSpPr>
            <p:spPr>
              <a:xfrm>
                <a:off x="1639446" y="4064651"/>
                <a:ext cx="5623527" cy="10548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400" dirty="0"/>
                  <a:t>3️⃣ </a:t>
                </a:r>
                <a:r>
                  <a:rPr lang="ko-KR" altLang="en-US" sz="2400" dirty="0"/>
                  <a:t>정규화</a:t>
                </a:r>
                <a:endParaRPr lang="en-US" altLang="ko-KR" sz="2400" dirty="0"/>
              </a:p>
              <a:p>
                <a:pPr marL="800100" lvl="1" indent="-342900">
                  <a:lnSpc>
                    <a:spcPct val="150000"/>
                  </a:lnSpc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sz="2000" i="1" baseline="-2500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ko-KR" sz="2000" baseline="-25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: </a:t>
                </a:r>
                <a:r>
                  <a:rPr lang="ko-KR" altLang="en-US" sz="2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평균이 </a:t>
                </a:r>
                <a:r>
                  <a:rPr lang="en-US" altLang="ko-KR" sz="2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0, </a:t>
                </a:r>
                <a:r>
                  <a:rPr lang="ko-KR" altLang="en-US" sz="2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분산이 </a:t>
                </a:r>
                <a:r>
                  <a:rPr lang="en-US" altLang="ko-KR" sz="2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1</a:t>
                </a:r>
                <a:r>
                  <a:rPr lang="ko-KR" altLang="en-US" sz="2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로 정규환 된 입력 데이터</a:t>
                </a:r>
              </a:p>
            </p:txBody>
          </p:sp>
        </mc:Choice>
        <mc:Fallback xmlns="">
          <p:sp>
            <p:nvSpPr>
              <p:cNvPr id="13" name="직사각형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446" y="4064651"/>
                <a:ext cx="5623527" cy="1054841"/>
              </a:xfrm>
              <a:prstGeom prst="rect">
                <a:avLst/>
              </a:prstGeom>
              <a:blipFill>
                <a:blip r:embed="rId8"/>
                <a:stretch>
                  <a:fillRect l="-1735" r="-217" b="-92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직사각형 13"/>
          <p:cNvSpPr/>
          <p:nvPr/>
        </p:nvSpPr>
        <p:spPr>
          <a:xfrm>
            <a:off x="1639446" y="5579807"/>
            <a:ext cx="26132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dirty="0"/>
              <a:t>4️⃣ </a:t>
            </a:r>
            <a:r>
              <a:rPr lang="ko-KR" altLang="en-US" sz="2400" dirty="0"/>
              <a:t>스케일링과 이동</a:t>
            </a:r>
          </a:p>
        </p:txBody>
      </p:sp>
    </p:spTree>
    <p:extLst>
      <p:ext uri="{BB962C8B-B14F-4D97-AF65-F5344CB8AC3E}">
        <p14:creationId xmlns:p14="http://schemas.microsoft.com/office/powerpoint/2010/main" val="673440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93904-116E-8A1D-B249-FD1E63D2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BN(Batch Normalization)	</a:t>
            </a:r>
            <a:endParaRPr lang="ko-KR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내용 개체 틀 6">
                <a:extLst>
                  <a:ext uri="{FF2B5EF4-FFF2-40B4-BE49-F238E27FC236}">
                    <a16:creationId xmlns:a16="http://schemas.microsoft.com/office/drawing/2014/main" id="{0C08F14D-C1FF-3D94-5D92-8B96F36FEB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788" y="1600630"/>
                <a:ext cx="7029497" cy="3656740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2400" b="1" dirty="0"/>
                  <a:t>✅ </a:t>
                </a:r>
                <a:r>
                  <a:rPr lang="en-US" altLang="ko-KR" sz="2400" b="1" dirty="0"/>
                  <a:t>Scale(</a:t>
                </a:r>
                <a14:m>
                  <m:oMath xmlns:m="http://schemas.openxmlformats.org/officeDocument/2006/math">
                    <m:r>
                      <a:rPr lang="ko-KR" altLang="en-US" sz="2400" b="1" i="1" smtClean="0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n-US" altLang="ko-KR" sz="2400" b="1" dirty="0"/>
                  <a:t>)</a:t>
                </a:r>
                <a:r>
                  <a:rPr lang="ko-KR" altLang="en-US" sz="2400" b="1" dirty="0"/>
                  <a:t>과 </a:t>
                </a:r>
                <a:r>
                  <a:rPr lang="en-US" altLang="ko-KR" sz="2400" b="1" dirty="0"/>
                  <a:t>Shift(</a:t>
                </a:r>
                <a14:m>
                  <m:oMath xmlns:m="http://schemas.openxmlformats.org/officeDocument/2006/math">
                    <m:r>
                      <a:rPr lang="ko-KR" altLang="en-US" sz="2400" b="1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altLang="ko-KR" sz="2400" b="1" dirty="0"/>
                  <a:t>)</a:t>
                </a:r>
                <a:r>
                  <a:rPr lang="ko-KR" altLang="en-US" sz="2400" b="1" dirty="0"/>
                  <a:t>를 해주는 이유</a:t>
                </a:r>
                <a:endParaRPr lang="en-US" altLang="ko-KR" sz="2400" b="1" dirty="0"/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2000" dirty="0"/>
                  <a:t>정규화의 결과는 대부분 </a:t>
                </a:r>
                <a:r>
                  <a:rPr lang="en-US" altLang="ko-KR" sz="2000" dirty="0"/>
                  <a:t>0</a:t>
                </a:r>
                <a:r>
                  <a:rPr lang="ko-KR" altLang="en-US" sz="2000" dirty="0"/>
                  <a:t>에 가까운 값이 됨 →</a:t>
                </a:r>
                <a:r>
                  <a:rPr lang="en-US" altLang="ko-KR" sz="2000" dirty="0"/>
                  <a:t> </a:t>
                </a:r>
                <a:r>
                  <a:rPr lang="ko-KR" altLang="en-US" sz="2000" dirty="0" err="1"/>
                  <a:t>시그모이드</a:t>
                </a:r>
                <a:r>
                  <a:rPr lang="ko-KR" altLang="en-US" sz="2000" dirty="0"/>
                  <a:t> 활성화 함수의 </a:t>
                </a:r>
                <a:r>
                  <a:rPr lang="ko-KR" altLang="en-US" sz="2000" dirty="0" err="1"/>
                  <a:t>입력값으로</a:t>
                </a:r>
                <a:r>
                  <a:rPr lang="ko-KR" altLang="en-US" sz="2000" dirty="0"/>
                  <a:t> 들어가게 되면 선형 구간에 빠지게 됨</a:t>
                </a:r>
                <a:endParaRPr lang="en-US" altLang="ko-KR" sz="2000" dirty="0"/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2000" dirty="0"/>
                  <a:t>이러한 문제를 해결하기 위해서 </a:t>
                </a:r>
                <a:r>
                  <a:rPr lang="ko-KR" altLang="en-US" sz="2000" dirty="0" err="1"/>
                  <a:t>정규화된</a:t>
                </a:r>
                <a:r>
                  <a:rPr lang="ko-KR" altLang="en-US" sz="2000" dirty="0"/>
                  <a:t> 데이터에 </a:t>
                </a:r>
                <a:r>
                  <a:rPr lang="en-US" altLang="ko-KR" sz="2000" dirty="0"/>
                  <a:t>scale </a:t>
                </a:r>
                <a:r>
                  <a:rPr lang="ko-KR" altLang="en-US" sz="2000" dirty="0"/>
                  <a:t>과 </a:t>
                </a:r>
                <a:r>
                  <a:rPr lang="en-US" altLang="ko-KR" sz="2000" dirty="0"/>
                  <a:t>shift</a:t>
                </a:r>
                <a:r>
                  <a:rPr lang="ko-KR" altLang="en-US" sz="2000" dirty="0"/>
                  <a:t>를 적용</a:t>
                </a:r>
                <a:endParaRPr lang="en-US" altLang="ko-KR" sz="2000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200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ko-KR" altLang="en-US" sz="2000" dirty="0"/>
                  <a:t>와 </a:t>
                </a:r>
                <a14:m>
                  <m:oMath xmlns:m="http://schemas.openxmlformats.org/officeDocument/2006/math">
                    <m:r>
                      <a:rPr lang="ko-KR" altLang="en-US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ko-KR" altLang="en-US" sz="2000" i="1" smtClean="0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en-US" altLang="ko-KR" sz="2000" dirty="0"/>
                  <a:t> </a:t>
                </a:r>
                <a:r>
                  <a:rPr lang="ko-KR" altLang="en-US" sz="2000" dirty="0"/>
                  <a:t>초기값 </a:t>
                </a:r>
                <a:r>
                  <a:rPr lang="en-US" altLang="ko-KR" sz="2000" dirty="0"/>
                  <a:t>1, 0</a:t>
                </a:r>
                <a:r>
                  <a:rPr lang="ko-KR" altLang="en-US" sz="2000" dirty="0"/>
                  <a:t>으로 시작해서</a:t>
                </a:r>
                <a:r>
                  <a:rPr lang="en-US" altLang="ko-KR" sz="2000" dirty="0"/>
                  <a:t>, </a:t>
                </a:r>
                <a:r>
                  <a:rPr lang="ko-KR" altLang="en-US" sz="2000" dirty="0"/>
                  <a:t>역전파에 의해 학습되고 조정 → </a:t>
                </a:r>
                <a:r>
                  <a:rPr lang="ko-KR" altLang="en-US" sz="2000" b="1" dirty="0"/>
                  <a:t>손실</a:t>
                </a:r>
                <a:r>
                  <a:rPr lang="ko-KR" altLang="en-US" sz="2000" dirty="0"/>
                  <a:t>을 </a:t>
                </a:r>
                <a:r>
                  <a:rPr lang="ko-KR" altLang="en-US" sz="2000" b="1" dirty="0"/>
                  <a:t>줄이도록</a:t>
                </a:r>
                <a:r>
                  <a:rPr lang="ko-KR" altLang="en-US" sz="2000" dirty="0"/>
                  <a:t> 학습</a:t>
                </a:r>
                <a:endParaRPr lang="en-US" altLang="ko-KR" sz="2000" dirty="0"/>
              </a:p>
            </p:txBody>
          </p:sp>
        </mc:Choice>
        <mc:Fallback xmlns="">
          <p:sp>
            <p:nvSpPr>
              <p:cNvPr id="7" name="내용 개체 틀 6">
                <a:extLst>
                  <a:ext uri="{FF2B5EF4-FFF2-40B4-BE49-F238E27FC236}">
                    <a16:creationId xmlns:a16="http://schemas.microsoft.com/office/drawing/2014/main" id="{0C08F14D-C1FF-3D94-5D92-8B96F36FEB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788" y="1600630"/>
                <a:ext cx="7029497" cy="3656740"/>
              </a:xfrm>
              <a:blipFill>
                <a:blip r:embed="rId3"/>
                <a:stretch>
                  <a:fillRect l="-13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E8347-940B-9B89-2B8A-06E6E0B5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BDAC9A-C701-1AB9-8DAA-A5600E67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CD63B6F-AB8C-860D-9024-2FA5ABEDCE1E}"/>
              </a:ext>
            </a:extLst>
          </p:cNvPr>
          <p:cNvGrpSpPr/>
          <p:nvPr/>
        </p:nvGrpSpPr>
        <p:grpSpPr>
          <a:xfrm>
            <a:off x="7446137" y="1997763"/>
            <a:ext cx="4506872" cy="2862474"/>
            <a:chOff x="7511171" y="2196544"/>
            <a:chExt cx="4506872" cy="2862474"/>
          </a:xfrm>
        </p:grpSpPr>
        <p:pic>
          <p:nvPicPr>
            <p:cNvPr id="6" name="Picture 2" descr="sig">
              <a:extLst>
                <a:ext uri="{FF2B5EF4-FFF2-40B4-BE49-F238E27FC236}">
                  <a16:creationId xmlns:a16="http://schemas.microsoft.com/office/drawing/2014/main" id="{9DC3754F-59E1-AD9B-3765-3D9AB9D46B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1171" y="2196544"/>
              <a:ext cx="4506872" cy="28624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타원 2"/>
            <p:cNvSpPr/>
            <p:nvPr/>
          </p:nvSpPr>
          <p:spPr>
            <a:xfrm>
              <a:off x="9423400" y="3018181"/>
              <a:ext cx="1092200" cy="10922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39598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93904-116E-8A1D-B249-FD1E63D2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BN(Batch Normalization)	</a:t>
            </a:r>
            <a:endParaRPr lang="ko-KR" altLang="en-US" b="1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C08F14D-C1FF-3D94-5D92-8B96F36FE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493661" cy="231525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테스트 단계에서의 </a:t>
            </a:r>
            <a:r>
              <a:rPr lang="en-US" altLang="ko-KR" sz="2400" dirty="0"/>
              <a:t>BN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테스트 단계나 추론 단계에서는 평균과 표준편차를 계산할 미니배치가 없기 때문에</a:t>
            </a:r>
            <a:r>
              <a:rPr lang="en-US" altLang="ko-KR" sz="2000" dirty="0"/>
              <a:t> </a:t>
            </a:r>
            <a:r>
              <a:rPr lang="ko-KR" altLang="en-US" sz="2000" dirty="0"/>
              <a:t>전체 </a:t>
            </a:r>
            <a:r>
              <a:rPr lang="en-US" altLang="ko-KR" sz="2000" dirty="0" err="1"/>
              <a:t>Traning</a:t>
            </a:r>
            <a:r>
              <a:rPr lang="en-US" altLang="ko-KR" sz="2000" dirty="0"/>
              <a:t> set</a:t>
            </a:r>
            <a:r>
              <a:rPr lang="ko-KR" altLang="en-US" sz="2000" dirty="0"/>
              <a:t>의 평균과 표준편차 사용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각 </a:t>
            </a:r>
            <a:r>
              <a:rPr lang="en-US" altLang="ko-KR" sz="2000" dirty="0"/>
              <a:t>n</a:t>
            </a:r>
            <a:r>
              <a:rPr lang="ko-KR" altLang="en-US" sz="2000" dirty="0"/>
              <a:t>개의 미니배치에 대한 평균과 표준 편차를 이용하여 전체 </a:t>
            </a:r>
            <a:r>
              <a:rPr lang="en-US" altLang="ko-KR" sz="2000" dirty="0"/>
              <a:t>Training set</a:t>
            </a:r>
            <a:r>
              <a:rPr lang="ko-KR" altLang="en-US" sz="2000" dirty="0"/>
              <a:t>의 평균과 표준편차를 대신한다</a:t>
            </a:r>
            <a:endParaRPr lang="en-US" altLang="ko-KR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E8347-940B-9B89-2B8A-06E6E0B5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BDAC9A-C701-1AB9-8DAA-A5600E67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8E93FA9-9F93-257F-948A-056CEC478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9168" y="3748257"/>
            <a:ext cx="2273664" cy="205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864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93904-116E-8A1D-B249-FD1E63D2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BN(Batch Normalization)	</a:t>
            </a:r>
            <a:endParaRPr lang="ko-KR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내용 개체 틀 6">
                <a:extLst>
                  <a:ext uri="{FF2B5EF4-FFF2-40B4-BE49-F238E27FC236}">
                    <a16:creationId xmlns:a16="http://schemas.microsoft.com/office/drawing/2014/main" id="{0C08F14D-C1FF-3D94-5D92-8B96F36FEB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8991" y="1145407"/>
                <a:ext cx="11505235" cy="4351338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2400" dirty="0"/>
                  <a:t>✅ 테스트 단계에서의 </a:t>
                </a:r>
                <a:r>
                  <a:rPr lang="en-US" altLang="ko-KR" sz="2400" dirty="0"/>
                  <a:t>BN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2000" dirty="0"/>
                  <a:t>위의 방법 대신</a:t>
                </a:r>
                <a:r>
                  <a:rPr lang="en-US" altLang="ko-KR" sz="2000" dirty="0"/>
                  <a:t>, </a:t>
                </a:r>
                <a:r>
                  <a:rPr lang="ko-KR" altLang="en-US" sz="2000" dirty="0"/>
                  <a:t>모델 학습 단계에서 지수 감소</a:t>
                </a:r>
                <a:r>
                  <a:rPr lang="en-US" altLang="ko-KR" sz="2000" dirty="0"/>
                  <a:t>(exponential decay) </a:t>
                </a:r>
                <a:r>
                  <a:rPr lang="ko-KR" altLang="en-US" sz="2000" dirty="0"/>
                  <a:t>이동 평균법</a:t>
                </a:r>
                <a:r>
                  <a:rPr lang="en-US" altLang="ko-KR" sz="2000" dirty="0"/>
                  <a:t>(moving average)</a:t>
                </a:r>
                <a:r>
                  <a:rPr lang="ko-KR" altLang="en-US" sz="2000" dirty="0"/>
                  <a:t>를</a:t>
                </a:r>
                <a:r>
                  <a:rPr lang="en-US" altLang="ko-KR" sz="2000" dirty="0"/>
                  <a:t> </a:t>
                </a:r>
                <a:r>
                  <a:rPr lang="ko-KR" altLang="en-US" sz="2000" dirty="0"/>
                  <a:t>사용하여 평균과 표준편차를 계산할 수 있다</a:t>
                </a:r>
                <a:r>
                  <a:rPr lang="en-US" altLang="ko-KR" sz="2000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endParaRPr lang="en-US" altLang="ko-KR" sz="2000" dirty="0"/>
              </a:p>
              <a:p>
                <a:pPr lvl="1">
                  <a:lnSpc>
                    <a:spcPct val="150000"/>
                  </a:lnSpc>
                </a:pPr>
                <a:endParaRPr lang="en-US" altLang="ko-KR" sz="2000" dirty="0"/>
              </a:p>
              <a:p>
                <a:pPr lvl="1">
                  <a:lnSpc>
                    <a:spcPct val="150000"/>
                  </a:lnSpc>
                </a:pPr>
                <a:endParaRPr lang="en-US" altLang="ko-KR" sz="2000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20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ko-KR" altLang="en-US" sz="2000" i="1">
                        <a:latin typeface="Cambria Math" panose="02040503050406030204" pitchFamily="18" charset="0"/>
                      </a:rPr>
                      <m:t>모</m:t>
                    </m:r>
                  </m:oMath>
                </a14:m>
                <a:r>
                  <a:rPr lang="ko-KR" altLang="en-US" sz="2000" dirty="0"/>
                  <a:t>멘텀값</a:t>
                </a:r>
                <a:r>
                  <a:rPr lang="en-US" altLang="ko-KR" sz="2000" dirty="0"/>
                  <a:t>, 1</a:t>
                </a:r>
                <a:r>
                  <a:rPr lang="ko-KR" altLang="en-US" sz="2000" dirty="0"/>
                  <a:t>에 가까운 </a:t>
                </a:r>
                <a:r>
                  <a:rPr lang="en-US" altLang="ko-KR" sz="2000" dirty="0"/>
                  <a:t>0.9, 0.99, 0.999 </a:t>
                </a:r>
                <a:r>
                  <a:rPr lang="ko-KR" altLang="en-US" sz="2000" dirty="0"/>
                  <a:t>로 설정</a:t>
                </a:r>
                <a:endParaRPr lang="en-US" altLang="ko-KR" sz="2000" dirty="0"/>
              </a:p>
            </p:txBody>
          </p:sp>
        </mc:Choice>
        <mc:Fallback xmlns="">
          <p:sp>
            <p:nvSpPr>
              <p:cNvPr id="7" name="내용 개체 틀 6">
                <a:extLst>
                  <a:ext uri="{FF2B5EF4-FFF2-40B4-BE49-F238E27FC236}">
                    <a16:creationId xmlns:a16="http://schemas.microsoft.com/office/drawing/2014/main" id="{0C08F14D-C1FF-3D94-5D92-8B96F36FEB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8991" y="1145407"/>
                <a:ext cx="11505235" cy="4351338"/>
              </a:xfrm>
              <a:blipFill>
                <a:blip r:embed="rId3"/>
                <a:stretch>
                  <a:fillRect l="-8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E8347-940B-9B89-2B8A-06E6E0B5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BDAC9A-C701-1AB9-8DAA-A5600E67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447E438-CE09-D9FD-3509-D821213F23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2141" y="2897612"/>
            <a:ext cx="6207718" cy="122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705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93904-116E-8A1D-B249-FD1E63D2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BN(Batch Normalization)	</a:t>
            </a:r>
            <a:endParaRPr lang="ko-KR" altLang="en-US" b="1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C08F14D-C1FF-3D94-5D92-8B96F36FE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0925298" cy="489979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장점</a:t>
            </a:r>
            <a:endParaRPr lang="en-US" altLang="ko-KR" sz="24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tanh</a:t>
            </a:r>
            <a:r>
              <a:rPr lang="ko-KR" altLang="en-US" sz="2000" dirty="0"/>
              <a:t>나 </a:t>
            </a:r>
            <a:r>
              <a:rPr lang="en-US" altLang="ko-KR" sz="2000" dirty="0"/>
              <a:t>sigmoid </a:t>
            </a:r>
            <a:r>
              <a:rPr lang="ko-KR" altLang="en-US" sz="2000" dirty="0"/>
              <a:t>같은 활성화 함수의 </a:t>
            </a:r>
            <a:r>
              <a:rPr lang="ko-KR" altLang="en-US" sz="2000" dirty="0" err="1"/>
              <a:t>그래디언트</a:t>
            </a:r>
            <a:r>
              <a:rPr lang="ko-KR" altLang="en-US" sz="2000" dirty="0"/>
              <a:t> 소실 문제 감소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가중치 초기화에 덜 민감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err="1"/>
              <a:t>학습률을</a:t>
            </a:r>
            <a:r>
              <a:rPr lang="ko-KR" altLang="en-US" sz="2000" dirty="0"/>
              <a:t> 크게 잡아도 잘 수렴함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err="1"/>
              <a:t>오버피팅을</a:t>
            </a:r>
            <a:r>
              <a:rPr lang="ko-KR" altLang="en-US" sz="2000" dirty="0"/>
              <a:t> 억제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</a:t>
            </a:r>
            <a:r>
              <a:rPr lang="ko-KR" altLang="en-US" sz="2400" dirty="0"/>
              <a:t> 단점</a:t>
            </a:r>
            <a:endParaRPr lang="en-US" altLang="ko-KR" sz="24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미니배치 크기에 의존</a:t>
            </a:r>
            <a:r>
              <a:rPr lang="en-US" altLang="ko-KR" sz="2000" dirty="0"/>
              <a:t>(</a:t>
            </a:r>
            <a:r>
              <a:rPr lang="ko-KR" altLang="en-US" sz="2000" dirty="0"/>
              <a:t>배치사이즈가 작으면 동작하지 않음</a:t>
            </a:r>
            <a:r>
              <a:rPr lang="en-US" altLang="ko-KR" sz="2000" dirty="0"/>
              <a:t>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RNN model</a:t>
            </a:r>
            <a:r>
              <a:rPr lang="ko-KR" altLang="en-US" sz="2000" dirty="0"/>
              <a:t>에 적용하기 힘들다</a:t>
            </a:r>
            <a:r>
              <a:rPr lang="en-US" altLang="ko-KR" sz="2000" dirty="0"/>
              <a:t>(Layer Normalization </a:t>
            </a:r>
            <a:r>
              <a:rPr lang="ko-KR" altLang="en-US" sz="2000" dirty="0"/>
              <a:t>사용</a:t>
            </a:r>
            <a:r>
              <a:rPr lang="en-US" altLang="ko-KR" sz="2000" dirty="0"/>
              <a:t>)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각 시점마다 다른 데이터가 연속적으로 나오기 때문에</a:t>
            </a:r>
            <a:endParaRPr lang="en-US" altLang="ko-KR" sz="18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E8347-940B-9B89-2B8A-06E6E0B5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BDAC9A-C701-1AB9-8DAA-A5600E67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82007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93904-116E-8A1D-B249-FD1E63D2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LN(Layer Normalization)	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CB4F9F-FBE6-D4D8-DF87-84D438559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666" y="1623105"/>
            <a:ext cx="6354501" cy="364437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💡 레이어 정규화</a:t>
            </a:r>
            <a:endParaRPr lang="en-US" altLang="ko-KR" sz="2400" b="1" dirty="0"/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batch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있는 모든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sample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들에 대해서 각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feature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평균과 분산을 구하여 정규화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각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sample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feature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들에 대해서 평균과 분산을 구하여 정규화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batch size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관련이 깊지만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batch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size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와는 전혀 상관이 없다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E8347-940B-9B89-2B8A-06E6E0B5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BDAC9A-C701-1AB9-8DAA-A5600E67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F28D79B-7A04-F1D3-4B16-B0A65AB52E80}"/>
              </a:ext>
            </a:extLst>
          </p:cNvPr>
          <p:cNvGrpSpPr/>
          <p:nvPr/>
        </p:nvGrpSpPr>
        <p:grpSpPr>
          <a:xfrm>
            <a:off x="6838269" y="1816942"/>
            <a:ext cx="5187193" cy="3256695"/>
            <a:chOff x="6855203" y="2019759"/>
            <a:chExt cx="5187193" cy="3256695"/>
          </a:xfrm>
        </p:grpSpPr>
        <p:pic>
          <p:nvPicPr>
            <p:cNvPr id="30722" name="Picture 2">
              <a:extLst>
                <a:ext uri="{FF2B5EF4-FFF2-40B4-BE49-F238E27FC236}">
                  <a16:creationId xmlns:a16="http://schemas.microsoft.com/office/drawing/2014/main" id="{F7C12FAE-4772-85E0-E151-B523A751F8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5203" y="2019759"/>
              <a:ext cx="5187193" cy="30258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0D0F24C-AFBA-6A08-80DE-93DADAC2F132}"/>
                </a:ext>
              </a:extLst>
            </p:cNvPr>
            <p:cNvSpPr txBox="1"/>
            <p:nvPr/>
          </p:nvSpPr>
          <p:spPr>
            <a:xfrm>
              <a:off x="7789531" y="5045622"/>
              <a:ext cx="331853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출처</a:t>
              </a:r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:https://electronicsmarket.org/best-4x10-car-speakers/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375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93904-116E-8A1D-B249-FD1E63D2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LN(Layer Normalization)	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CB4F9F-FBE6-D4D8-DF87-84D438559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505235" cy="450797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장점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작은 </a:t>
            </a:r>
            <a:r>
              <a:rPr lang="en-US" altLang="ko-KR" sz="2000" dirty="0"/>
              <a:t>batch size</a:t>
            </a:r>
            <a:r>
              <a:rPr lang="ko-KR" altLang="en-US" sz="2000" dirty="0"/>
              <a:t>에서도 이용 가능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RNN</a:t>
            </a:r>
            <a:r>
              <a:rPr lang="ko-KR" altLang="en-US" sz="2000" dirty="0"/>
              <a:t>모델에서 더 효과적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일반화 성능 향상 가능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⚠️</a:t>
            </a:r>
            <a:r>
              <a:rPr lang="ko-KR" altLang="en-US" sz="2400" dirty="0"/>
              <a:t> 단점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추가 계산 및 메모리 오버헤드가 발생할 수 있다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 err="1"/>
              <a:t>피드</a:t>
            </a:r>
            <a:r>
              <a:rPr lang="ko-KR" altLang="en-US" sz="2000" dirty="0"/>
              <a:t> 포워드 네트워크 모델에서는 </a:t>
            </a:r>
            <a:r>
              <a:rPr lang="en-US" altLang="ko-KR" sz="2000" dirty="0"/>
              <a:t>BN</a:t>
            </a:r>
            <a:r>
              <a:rPr lang="ko-KR" altLang="en-US" sz="2000" dirty="0"/>
              <a:t>만큼 잘 동작하지 않을 수 있다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 err="1"/>
              <a:t>학습률</a:t>
            </a:r>
            <a:r>
              <a:rPr lang="en-US" altLang="ko-KR" sz="2000" dirty="0"/>
              <a:t>, </a:t>
            </a:r>
            <a:r>
              <a:rPr lang="ko-KR" altLang="en-US" sz="2000" dirty="0"/>
              <a:t>가중치 초기화에 민감하다</a:t>
            </a:r>
            <a:r>
              <a:rPr lang="en-US" altLang="ko-KR" sz="2000" dirty="0"/>
              <a:t>.</a:t>
            </a:r>
            <a:endParaRPr lang="ko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E8347-940B-9B89-2B8A-06E6E0B5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BDAC9A-C701-1AB9-8DAA-A5600E67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90874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93904-116E-8A1D-B249-FD1E63D27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BN </a:t>
            </a:r>
            <a:r>
              <a:rPr lang="en-US" altLang="ko-KR" b="1" dirty="0" err="1"/>
              <a:t>vs</a:t>
            </a:r>
            <a:r>
              <a:rPr lang="en-US" altLang="ko-KR" b="1" dirty="0"/>
              <a:t> LN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E8347-940B-9B89-2B8A-06E6E0B5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BDAC9A-C701-1AB9-8DAA-A5600E67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615438"/>
              </p:ext>
            </p:extLst>
          </p:nvPr>
        </p:nvGraphicFramePr>
        <p:xfrm>
          <a:off x="351219" y="1145407"/>
          <a:ext cx="11489561" cy="5074946"/>
        </p:xfrm>
        <a:graphic>
          <a:graphicData uri="http://schemas.openxmlformats.org/drawingml/2006/table">
            <a:tbl>
              <a:tblPr/>
              <a:tblGrid>
                <a:gridCol w="1632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8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18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항목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Batch Normalization (BN)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Layer Normalization (LN)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461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특징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배치 단위로 평균과 분산을 계산하여 정규화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.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주로 배치 내 통계 기반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.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레이어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 단위로 각 특징 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차원별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 평균과 분산을 계산하여 정규화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.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28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장점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1.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학습 안정성 증가</a:t>
                      </a:r>
                      <a:b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2.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높은 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학습률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 허용</a:t>
                      </a:r>
                      <a:b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3.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깊은 네트워크에서 효과적</a:t>
                      </a:r>
                      <a:b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4. 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과적합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 방지 가능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1.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작은 배치 크기에서도 안정적</a:t>
                      </a:r>
                      <a:b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2. RNN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및 시퀀스 모델에 적합</a:t>
                      </a:r>
                      <a:b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3.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학습 안정성 및 일반화 성능 향상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28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단점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1.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작은 배치 크기에서 성능 저하</a:t>
                      </a:r>
                      <a:b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2.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시퀀스 데이터 처리에 부적합</a:t>
                      </a:r>
                      <a:b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3.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추가 계산 오버헤드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1.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추가 계산 및 메모리 오버헤드</a:t>
                      </a:r>
                      <a:b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2. BN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보다 성능이 낮을 수 있음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(FNN)</a:t>
                      </a:r>
                      <a:b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3. 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학습률과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 초기화에 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민감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itchFamily="2" charset="-127"/>
                        <a:ea typeface="Pretendard Light" pitchFamily="2" charset="-127"/>
                        <a:cs typeface="Pretendard Light" pitchFamily="2" charset="-127"/>
                      </a:endParaRP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281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활용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1.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피드포워드 네트워크</a:t>
                      </a:r>
                      <a:b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2.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대규모 데이터 처리</a:t>
                      </a:r>
                      <a:b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3.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이미지 분류 및 회귀 문제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1. RNN, LSTM, GRU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같은 시퀀스 모델</a:t>
                      </a:r>
                      <a:b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2.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작은 배치 크기가 필요한 상황</a:t>
                      </a:r>
                      <a:b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</a:b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3. 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시계열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 데이터 처리</a:t>
                      </a:r>
                    </a:p>
                  </a:txBody>
                  <a:tcPr marL="108000" marR="10800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31264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490696" y="2687937"/>
            <a:ext cx="72106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54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과적합</a:t>
            </a:r>
            <a:r>
              <a:rPr lang="en-US" altLang="ko-KR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lang="en-US" altLang="ko-KR" sz="54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Overfitting</a:t>
            </a:r>
            <a:r>
              <a:rPr lang="en-US" altLang="ko-KR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096362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/>
              <a:t>과적합</a:t>
            </a:r>
            <a:r>
              <a:rPr lang="en-US" altLang="ko-KR" b="1" dirty="0"/>
              <a:t>(</a:t>
            </a:r>
            <a:r>
              <a:rPr lang="en-US" altLang="ko-KR" b="1" dirty="0" err="1"/>
              <a:t>Overfitting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3996" y="1484954"/>
            <a:ext cx="8751404" cy="151929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latin typeface="+mn-ea"/>
              </a:rPr>
              <a:t>💡 학습 데이터에 대해 모델이 지나치게 적합 되어</a:t>
            </a:r>
            <a:r>
              <a:rPr lang="en-US" altLang="ko-KR" dirty="0">
                <a:latin typeface="+mn-ea"/>
              </a:rPr>
              <a:t>,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     </a:t>
            </a:r>
            <a:r>
              <a:rPr lang="ko-KR" altLang="en-US" dirty="0">
                <a:latin typeface="+mn-ea"/>
              </a:rPr>
              <a:t>새로운 데이터나 테스트 데이터에서 성능이 저하되는 현상</a:t>
            </a:r>
            <a:endParaRPr lang="en-US" altLang="ko-KR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3" name="AutoShape 2" descr="모델 적합성: 과소적합과 과적합 비교 - Amazon Machine Learning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1289392" y="3004246"/>
            <a:ext cx="9613216" cy="2950300"/>
            <a:chOff x="1289392" y="3200696"/>
            <a:chExt cx="9613216" cy="2950300"/>
          </a:xfrm>
        </p:grpSpPr>
        <p:pic>
          <p:nvPicPr>
            <p:cNvPr id="11268" name="Picture 4" descr="모델 적합성: 과소적합과 과적합 비교 - Amazon Machine Learni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9392" y="3200696"/>
              <a:ext cx="9613216" cy="29041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직사각형 5"/>
            <p:cNvSpPr/>
            <p:nvPr/>
          </p:nvSpPr>
          <p:spPr>
            <a:xfrm>
              <a:off x="1601165" y="5904775"/>
              <a:ext cx="8989670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[</a:t>
              </a:r>
              <a:r>
                <a:rPr lang="ko-KR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출처</a:t>
              </a:r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] https://docs.aws.amazon.com/ko_kr/machine-learning/latest/dg/model-fit-underfitting-vs-overfitting.html</a:t>
              </a:r>
              <a:endPara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48972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/>
              <a:t>과적합</a:t>
            </a:r>
            <a:r>
              <a:rPr lang="en-US" altLang="ko-KR" b="1" dirty="0"/>
              <a:t>(</a:t>
            </a:r>
            <a:r>
              <a:rPr lang="en-US" altLang="ko-KR" b="1" dirty="0" err="1"/>
              <a:t>Overfitting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688424" cy="471816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원인</a:t>
            </a:r>
            <a:endParaRPr lang="en-US" altLang="ko-KR" sz="2400" dirty="0">
              <a:latin typeface="+mn-ea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복잡한 모델 구조</a:t>
            </a:r>
            <a:r>
              <a:rPr lang="en-US" altLang="ko-KR" sz="2000" dirty="0"/>
              <a:t>: </a:t>
            </a:r>
            <a:r>
              <a:rPr lang="ko-KR" altLang="en-US" sz="2000" dirty="0"/>
              <a:t>학습 데이터의 패턴을 과도하게 학습하는 복잡한 모델</a:t>
            </a:r>
            <a:r>
              <a:rPr lang="en-US" altLang="ko-KR" sz="2000" dirty="0"/>
              <a:t>(</a:t>
            </a:r>
            <a:r>
              <a:rPr lang="ko-KR" altLang="en-US" sz="2000" dirty="0"/>
              <a:t>예</a:t>
            </a:r>
            <a:r>
              <a:rPr lang="en-US" altLang="ko-KR" sz="2000" dirty="0"/>
              <a:t>: </a:t>
            </a:r>
            <a:r>
              <a:rPr lang="ko-KR" altLang="en-US" sz="2000" dirty="0"/>
              <a:t>과도한 </a:t>
            </a:r>
            <a:r>
              <a:rPr lang="ko-KR" altLang="en-US" sz="2000" dirty="0" err="1"/>
              <a:t>파라미터</a:t>
            </a:r>
            <a:r>
              <a:rPr lang="en-US" altLang="ko-KR" sz="2000" dirty="0"/>
              <a:t>, </a:t>
            </a:r>
            <a:r>
              <a:rPr lang="ko-KR" altLang="en-US" sz="2000" dirty="0"/>
              <a:t>깊은 네트워크</a:t>
            </a:r>
            <a:r>
              <a:rPr lang="en-US" altLang="ko-KR" sz="2000" dirty="0"/>
              <a:t>)</a:t>
            </a:r>
            <a:r>
              <a:rPr lang="ko-KR" altLang="en-US" sz="2000" dirty="0"/>
              <a:t>로 인해 발생</a:t>
            </a:r>
            <a:r>
              <a:rPr lang="en-US" altLang="ko-KR" sz="2000" dirty="0"/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학습 데이터 부족</a:t>
            </a:r>
            <a:r>
              <a:rPr lang="en-US" altLang="ko-KR" sz="2000" dirty="0"/>
              <a:t>: </a:t>
            </a:r>
            <a:r>
              <a:rPr lang="ko-KR" altLang="en-US" sz="2000" dirty="0"/>
              <a:t>데이터의 양이 적거나</a:t>
            </a:r>
            <a:r>
              <a:rPr lang="en-US" altLang="ko-KR" sz="2000" dirty="0"/>
              <a:t>, </a:t>
            </a:r>
            <a:r>
              <a:rPr lang="ko-KR" altLang="en-US" sz="2000" dirty="0"/>
              <a:t>데이터가 특정 패턴에 편중되어 있어 모델이 일반화된 패턴을 학습하지 못함</a:t>
            </a:r>
            <a:r>
              <a:rPr lang="en-US" altLang="ko-KR" sz="2000" dirty="0"/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노이즈 학습</a:t>
            </a:r>
            <a:r>
              <a:rPr lang="en-US" altLang="ko-KR" sz="2000" dirty="0"/>
              <a:t>: </a:t>
            </a:r>
            <a:r>
              <a:rPr lang="ko-KR" altLang="en-US" sz="2000" dirty="0"/>
              <a:t>학습 데이터에 포함된 </a:t>
            </a:r>
            <a:r>
              <a:rPr lang="ko-KR" altLang="en-US" sz="2000" dirty="0" err="1"/>
              <a:t>노이즈</a:t>
            </a:r>
            <a:r>
              <a:rPr lang="en-US" altLang="ko-KR" sz="2000" dirty="0"/>
              <a:t>(</a:t>
            </a:r>
            <a:r>
              <a:rPr lang="ko-KR" altLang="en-US" sz="2000" dirty="0"/>
              <a:t>불필요한 정보</a:t>
            </a:r>
            <a:r>
              <a:rPr lang="en-US" altLang="ko-KR" sz="2000" dirty="0"/>
              <a:t>)</a:t>
            </a:r>
            <a:r>
              <a:rPr lang="ko-KR" altLang="en-US" sz="2000" dirty="0"/>
              <a:t>를 모델이 학습하여</a:t>
            </a:r>
            <a:r>
              <a:rPr lang="en-US" altLang="ko-KR" sz="2000" dirty="0"/>
              <a:t>, </a:t>
            </a:r>
            <a:r>
              <a:rPr lang="ko-KR" altLang="en-US" sz="2000" dirty="0"/>
              <a:t>본질적인 패턴 대신 </a:t>
            </a:r>
            <a:r>
              <a:rPr lang="ko-KR" altLang="en-US" sz="2000" dirty="0" err="1"/>
              <a:t>노이즈에</a:t>
            </a:r>
            <a:r>
              <a:rPr lang="ko-KR" altLang="en-US" sz="2000" dirty="0"/>
              <a:t> 의존하게 됨</a:t>
            </a:r>
            <a:r>
              <a:rPr lang="en-US" altLang="ko-KR" sz="2000" dirty="0"/>
              <a:t>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학습 시간 과다</a:t>
            </a:r>
            <a:r>
              <a:rPr lang="en-US" altLang="ko-KR" sz="2000" dirty="0"/>
              <a:t>: </a:t>
            </a:r>
            <a:r>
              <a:rPr lang="ko-KR" altLang="en-US" sz="2000" dirty="0"/>
              <a:t>학습을 지나치게 오래 진행하면 모델이 데이터의 작은 변동까지 학습하게 되어 </a:t>
            </a:r>
            <a:r>
              <a:rPr lang="ko-KR" altLang="en-US" sz="2000" dirty="0" err="1"/>
              <a:t>과적합</a:t>
            </a:r>
            <a:r>
              <a:rPr lang="ko-KR" altLang="en-US" sz="2000" dirty="0"/>
              <a:t> 발생</a:t>
            </a:r>
            <a:r>
              <a:rPr lang="en-US" altLang="ko-KR" sz="20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1432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/>
              <a:t>과적합</a:t>
            </a:r>
            <a:r>
              <a:rPr lang="en-US" altLang="ko-KR" b="1" dirty="0"/>
              <a:t>(</a:t>
            </a:r>
            <a:r>
              <a:rPr lang="en-US" altLang="ko-KR" b="1" dirty="0" err="1"/>
              <a:t>Overfitting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688424" cy="482356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해결 방법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데이터 증강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데이터의 다양성을 높이기 위해 데이터를 변형하거나 추가로 생성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데이터 확대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학습 데이터의 양을 늘려 모델이 더 일반화된 패턴을 학습할 수 있도록 함</a:t>
            </a:r>
            <a:r>
              <a:rPr lang="en-US" altLang="ko-KR" sz="2000" dirty="0">
                <a:latin typeface="+mn-ea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93"/>
          <a:stretch/>
        </p:blipFill>
        <p:spPr bwMode="auto">
          <a:xfrm>
            <a:off x="2832003" y="3098221"/>
            <a:ext cx="6527994" cy="3002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18814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720A2974-998A-B02C-930B-C57ECB4DC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0168" y="2378599"/>
            <a:ext cx="5296623" cy="2354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/>
              <a:t>과적합</a:t>
            </a:r>
            <a:r>
              <a:rPr lang="en-US" altLang="ko-KR" b="1" dirty="0"/>
              <a:t>(</a:t>
            </a:r>
            <a:r>
              <a:rPr lang="en-US" altLang="ko-KR" b="1" dirty="0" err="1"/>
              <a:t>Overfitting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393596"/>
            <a:ext cx="6158738" cy="432406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해결 방법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Regularization</a:t>
            </a: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모델의 복잡도를 제어하는 기법</a:t>
            </a:r>
            <a:endParaRPr lang="en-US" altLang="ko-KR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모델의 가중치 크기를 제한하거나 불필요한 특징</a:t>
            </a:r>
            <a:r>
              <a:rPr lang="en-US" altLang="ko-KR" dirty="0">
                <a:latin typeface="+mn-ea"/>
              </a:rPr>
              <a:t>(feature)</a:t>
            </a:r>
            <a:r>
              <a:rPr lang="ko-KR" altLang="en-US" dirty="0">
                <a:latin typeface="+mn-ea"/>
              </a:rPr>
              <a:t>을 억제</a:t>
            </a:r>
            <a:endParaRPr lang="en-US" altLang="ko-KR" dirty="0">
              <a:latin typeface="+mn-ea"/>
            </a:endParaRP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ko-KR" sz="1800" dirty="0">
                <a:latin typeface="+mn-ea"/>
              </a:rPr>
              <a:t>    </a:t>
            </a:r>
            <a:r>
              <a:rPr lang="ko-KR" altLang="en-US" sz="1800" dirty="0">
                <a:latin typeface="+mn-ea"/>
              </a:rPr>
              <a:t>→ 학습 데이터에만 지나치게 맞춰지는 것을 막는 역할</a:t>
            </a:r>
            <a:endParaRPr lang="en-US" altLang="ko-KR" sz="1800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비용 함수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가중치가 작아지는 쪽으로 학습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가중치 감소</a:t>
            </a:r>
            <a:r>
              <a:rPr lang="en-US" altLang="ko-KR" dirty="0">
                <a:latin typeface="+mn-ea"/>
              </a:rPr>
              <a:t>, weight decay)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96708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/>
              <a:t>과적합</a:t>
            </a:r>
            <a:r>
              <a:rPr lang="en-US" altLang="ko-KR" b="1" dirty="0"/>
              <a:t>(</a:t>
            </a:r>
            <a:r>
              <a:rPr lang="en-US" altLang="ko-KR" b="1" dirty="0" err="1"/>
              <a:t>Overfitting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7404652" cy="493608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해결 방법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Drop-Out</a:t>
            </a:r>
          </a:p>
          <a:p>
            <a:pPr lvl="2">
              <a:lnSpc>
                <a:spcPct val="150000"/>
              </a:lnSpc>
            </a:pPr>
            <a:r>
              <a:rPr lang="ko-KR" altLang="en-US" dirty="0"/>
              <a:t>과적합을 방지하고 모델의 일반화 성능을 향상시키기 위해 고안된 정규화 기법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 err="1">
                <a:latin typeface="+mn-ea"/>
              </a:rPr>
              <a:t>랜덤하게</a:t>
            </a:r>
            <a:r>
              <a:rPr lang="ko-KR" altLang="en-US" dirty="0">
                <a:latin typeface="+mn-ea"/>
              </a:rPr>
              <a:t> 일부 뉴런을 비활성화 하여 각 층에 포함된 </a:t>
            </a:r>
            <a:r>
              <a:rPr lang="en-US" altLang="ko-KR" dirty="0">
                <a:latin typeface="+mn-ea"/>
              </a:rPr>
              <a:t>weight </a:t>
            </a:r>
            <a:r>
              <a:rPr lang="ko-KR" altLang="en-US" dirty="0">
                <a:latin typeface="+mn-ea"/>
              </a:rPr>
              <a:t>중에서 일부만 참여시키는 방법</a:t>
            </a:r>
            <a:endParaRPr lang="en-US" altLang="ko-KR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특정 뉴런의 </a:t>
            </a:r>
            <a:r>
              <a:rPr lang="en-US" altLang="ko-KR" dirty="0">
                <a:latin typeface="+mn-ea"/>
              </a:rPr>
              <a:t>w</a:t>
            </a:r>
            <a:r>
              <a:rPr lang="ko-KR" altLang="en-US" dirty="0">
                <a:latin typeface="+mn-ea"/>
              </a:rPr>
              <a:t>나 </a:t>
            </a:r>
            <a:r>
              <a:rPr lang="en-US" altLang="ko-KR" dirty="0">
                <a:latin typeface="+mn-ea"/>
              </a:rPr>
              <a:t>b</a:t>
            </a:r>
            <a:r>
              <a:rPr lang="ko-KR" altLang="en-US" dirty="0">
                <a:latin typeface="+mn-ea"/>
              </a:rPr>
              <a:t>가 너무 커졌을 때 해당 뉴런에 너무 많은 영향을 받지 않게 하는 효과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뉴런 동조화 방지</a:t>
            </a:r>
            <a:r>
              <a:rPr lang="en-US" altLang="ko-KR" dirty="0">
                <a:latin typeface="+mn-ea"/>
              </a:rPr>
              <a:t>)</a:t>
            </a: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신경망이 클수록 </a:t>
            </a:r>
            <a:r>
              <a:rPr lang="en-US" altLang="ko-KR" dirty="0">
                <a:latin typeface="+mn-ea"/>
              </a:rPr>
              <a:t>Drop-Out</a:t>
            </a:r>
            <a:r>
              <a:rPr lang="ko-KR" altLang="en-US" dirty="0">
                <a:latin typeface="+mn-ea"/>
              </a:rPr>
              <a:t>의 필요성과 효과가 커짐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014C1032-FAA5-8680-F709-D29CD599C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1031" y="2470423"/>
            <a:ext cx="4001978" cy="2266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74073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149530" y="2687937"/>
            <a:ext cx="58929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Regularization</a:t>
            </a:r>
          </a:p>
        </p:txBody>
      </p:sp>
    </p:spTree>
    <p:extLst>
      <p:ext uri="{BB962C8B-B14F-4D97-AF65-F5344CB8AC3E}">
        <p14:creationId xmlns:p14="http://schemas.microsoft.com/office/powerpoint/2010/main" val="24478435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+mj-ea"/>
              </a:rPr>
              <a:t>Weight normalization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238991" y="1145407"/>
            <a:ext cx="11397205" cy="373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딥러닝 모델의 가중치를 크기</a:t>
            </a:r>
            <a:r>
              <a:rPr lang="en-US" altLang="ko-KR" sz="2400" dirty="0"/>
              <a:t>(norm)</a:t>
            </a:r>
            <a:r>
              <a:rPr lang="ko-KR" altLang="en-US" sz="2400" dirty="0"/>
              <a:t>와 방향</a:t>
            </a:r>
            <a:r>
              <a:rPr lang="en-US" altLang="ko-KR" sz="2400" dirty="0"/>
              <a:t>(direction)</a:t>
            </a:r>
            <a:r>
              <a:rPr lang="ko-KR" altLang="en-US" sz="2400" dirty="0"/>
              <a:t>으로 나눠 표현해 학습을 더 빠르고 </a:t>
            </a:r>
            <a:br>
              <a:rPr lang="en-US" altLang="ko-KR" sz="2400" dirty="0"/>
            </a:br>
            <a:r>
              <a:rPr lang="en-US" altLang="ko-KR" sz="2400" dirty="0"/>
              <a:t>      </a:t>
            </a:r>
            <a:r>
              <a:rPr lang="ko-KR" altLang="en-US" sz="2400" dirty="0"/>
              <a:t>안정적으로 만드는 방법</a:t>
            </a:r>
            <a:r>
              <a:rPr lang="en-US" altLang="ko-KR" sz="2400" dirty="0"/>
              <a:t>.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endParaRPr lang="en-US" altLang="ko-KR" sz="2800" dirty="0"/>
          </a:p>
          <a:p>
            <a:pPr>
              <a:lnSpc>
                <a:spcPct val="150000"/>
              </a:lnSpc>
            </a:pPr>
            <a:r>
              <a:rPr lang="ko-KR" altLang="en-US" sz="2400" b="1" dirty="0"/>
              <a:t>✅ 필요한 이유</a:t>
            </a:r>
            <a:endParaRPr lang="en-US" altLang="ko-KR" sz="24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학습 안정성 향상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가중치의 크기와 방향을 분리해 효율적 학습 가능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Overfiting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완화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문제 완화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기울기 소실 문제를 줄이고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딥러닝이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깊어질 때도 학습이 잘 진행되도록 도움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특수 상황에 유리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RNN(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연속 데이터 처리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이나 작은 배치 크기에서도 효과적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48785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+mj-ea"/>
              </a:rPr>
              <a:t>Weight normalization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1599019" y="1674339"/>
            <a:ext cx="8993962" cy="4276736"/>
            <a:chOff x="2092596" y="2082479"/>
            <a:chExt cx="7122841" cy="3688574"/>
          </a:xfrm>
        </p:grpSpPr>
        <p:pic>
          <p:nvPicPr>
            <p:cNvPr id="13314" name="Picture 2" descr="인공 신경망 및 심층 신경망 소개 - Deeplearning4j: Open-source, Distributed Deep Learning  for the JV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562" y="2082479"/>
              <a:ext cx="6238875" cy="3028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/>
            <p:cNvSpPr txBox="1"/>
            <p:nvPr/>
          </p:nvSpPr>
          <p:spPr>
            <a:xfrm>
              <a:off x="2103015" y="2708476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/>
                <a:t>장르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117077" y="3412288"/>
              <a:ext cx="5693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/>
                <a:t>감독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117077" y="3973539"/>
              <a:ext cx="5757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/>
                <a:t>배우</a:t>
              </a:r>
              <a:endParaRPr lang="ko-KR" altLang="en-US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092596" y="4465098"/>
              <a:ext cx="59182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/>
                <a:t>상영</a:t>
              </a:r>
              <a:endParaRPr lang="en-US" altLang="ko-KR" dirty="0"/>
            </a:p>
            <a:p>
              <a:pPr algn="ctr"/>
              <a:r>
                <a:rPr lang="ko-KR" altLang="en-US" dirty="0"/>
                <a:t>시간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191982" y="5401721"/>
              <a:ext cx="3930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/>
                <a:t>…</a:t>
              </a:r>
              <a:endParaRPr lang="ko-KR" altLang="en-US" dirty="0"/>
            </a:p>
          </p:txBody>
        </p:sp>
      </p:grpSp>
      <p:sp>
        <p:nvSpPr>
          <p:cNvPr id="12" name="직사각형 11"/>
          <p:cNvSpPr/>
          <p:nvPr/>
        </p:nvSpPr>
        <p:spPr>
          <a:xfrm>
            <a:off x="1629931" y="2314937"/>
            <a:ext cx="727057" cy="198022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3146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+mj-ea"/>
              </a:rPr>
              <a:t>Weight normalization</a:t>
            </a:r>
            <a:endParaRPr lang="ko-KR" altLang="en-US" b="1" dirty="0">
              <a:latin typeface="+mj-ea"/>
            </a:endParaRP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516810" cy="337252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✅ </a:t>
            </a:r>
            <a:r>
              <a:rPr lang="en-US" altLang="ko-KR" sz="2400" b="1" dirty="0">
                <a:latin typeface="+mn-ea"/>
              </a:rPr>
              <a:t>L1, L2 </a:t>
            </a:r>
            <a:r>
              <a:rPr lang="ko-KR" altLang="en-US" sz="2400" b="1" dirty="0">
                <a:latin typeface="+mn-ea"/>
              </a:rPr>
              <a:t>정규화</a:t>
            </a:r>
            <a:endParaRPr lang="en-US" altLang="ko-KR" sz="2400" b="1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Norm</a:t>
            </a: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벡터의 크기를 측정하는 방법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두 벡터 사이의 거리를 측정하는 방법</a:t>
            </a:r>
            <a:endParaRPr lang="en-US" altLang="ko-KR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L1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Norm : </a:t>
            </a:r>
            <a:r>
              <a:rPr lang="ko-KR" altLang="en-US" dirty="0">
                <a:latin typeface="+mn-ea"/>
              </a:rPr>
              <a:t>두 벡터 각 원소들 차이의 절대값의 합</a:t>
            </a:r>
            <a:endParaRPr lang="en-US" altLang="ko-KR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ko-KR" dirty="0">
                <a:latin typeface="+mn-ea"/>
              </a:rPr>
              <a:t>L2 Norm: </a:t>
            </a:r>
            <a:r>
              <a:rPr lang="ko-KR" altLang="en-US" dirty="0">
                <a:latin typeface="+mn-ea"/>
              </a:rPr>
              <a:t>두 벡터 사이의 직선 거리</a:t>
            </a:r>
            <a:endParaRPr lang="en-US" altLang="ko-KR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ko-KR" dirty="0" err="1">
                <a:latin typeface="+mn-ea"/>
              </a:rPr>
              <a:t>Lp</a:t>
            </a:r>
            <a:r>
              <a:rPr lang="en-US" altLang="ko-KR" dirty="0">
                <a:latin typeface="+mn-ea"/>
              </a:rPr>
              <a:t> Norm</a:t>
            </a:r>
            <a:r>
              <a:rPr lang="ko-KR" altLang="en-US" dirty="0">
                <a:latin typeface="+mn-ea"/>
              </a:rPr>
              <a:t> </a:t>
            </a:r>
            <a:endParaRPr lang="en-US" altLang="ko-KR" dirty="0">
              <a:latin typeface="+mn-ea"/>
            </a:endParaRPr>
          </a:p>
          <a:p>
            <a:pPr marL="914400" lvl="2" indent="0">
              <a:lnSpc>
                <a:spcPct val="150000"/>
              </a:lnSpc>
              <a:buNone/>
            </a:pPr>
            <a:endParaRPr lang="en-US" altLang="ko-KR" sz="28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A8F71D8-6E01-AD0B-1B8A-AFCFA1C28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538" y="4517931"/>
            <a:ext cx="8684923" cy="1451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4749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+mj-ea"/>
              </a:rPr>
              <a:t>Weight normalization</a:t>
            </a:r>
            <a:endParaRPr lang="ko-KR" altLang="en-US" b="1" dirty="0">
              <a:latin typeface="+mj-ea"/>
            </a:endParaRP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2013214"/>
            <a:ext cx="8479995" cy="283157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</a:t>
            </a:r>
            <a:r>
              <a:rPr lang="en-US" altLang="ko-KR" sz="2400" dirty="0">
                <a:latin typeface="+mn-ea"/>
              </a:rPr>
              <a:t>L1, L2 </a:t>
            </a:r>
            <a:r>
              <a:rPr lang="ko-KR" altLang="en-US" sz="2400" dirty="0">
                <a:latin typeface="+mn-ea"/>
              </a:rPr>
              <a:t>정규화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L1 Norm</a:t>
            </a:r>
            <a:r>
              <a:rPr lang="ko-KR" altLang="en-US" dirty="0">
                <a:latin typeface="+mn-ea"/>
              </a:rPr>
              <a:t>과 </a:t>
            </a:r>
            <a:r>
              <a:rPr lang="en-US" altLang="ko-KR" dirty="0">
                <a:latin typeface="+mn-ea"/>
              </a:rPr>
              <a:t>L2 Norm</a:t>
            </a:r>
            <a:r>
              <a:rPr lang="ko-KR" altLang="en-US" dirty="0">
                <a:latin typeface="+mn-ea"/>
              </a:rPr>
              <a:t>의 직관적 차이</a:t>
            </a:r>
            <a:endParaRPr lang="en-US" altLang="ko-KR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ko-KR" altLang="en-US" dirty="0"/>
              <a:t>오른쪽 그림은 두개의 벡터를 잇는 선을 나타냄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초록색선이 </a:t>
            </a:r>
            <a:r>
              <a:rPr lang="en-US" altLang="ko-KR" dirty="0"/>
              <a:t>L2</a:t>
            </a:r>
            <a:r>
              <a:rPr lang="ko-KR" altLang="en-US" dirty="0"/>
              <a:t> </a:t>
            </a:r>
            <a:r>
              <a:rPr lang="en-US" altLang="ko-KR" dirty="0"/>
              <a:t>Norm(Euclidean</a:t>
            </a:r>
            <a:r>
              <a:rPr lang="ko-KR" altLang="en-US" dirty="0"/>
              <a:t> </a:t>
            </a:r>
            <a:r>
              <a:rPr lang="en-US" altLang="ko-KR" dirty="0"/>
              <a:t>distance)</a:t>
            </a:r>
          </a:p>
          <a:p>
            <a:pPr lvl="2">
              <a:lnSpc>
                <a:spcPct val="150000"/>
              </a:lnSpc>
            </a:pPr>
            <a:r>
              <a:rPr lang="ko-KR" altLang="en-US" dirty="0"/>
              <a:t>나머지 빨강</a:t>
            </a:r>
            <a:r>
              <a:rPr lang="en-US" altLang="ko-KR" dirty="0"/>
              <a:t>,</a:t>
            </a:r>
            <a:r>
              <a:rPr lang="ko-KR" altLang="en-US" dirty="0"/>
              <a:t>파랑</a:t>
            </a:r>
            <a:r>
              <a:rPr lang="en-US" altLang="ko-KR" dirty="0"/>
              <a:t>,</a:t>
            </a:r>
            <a:r>
              <a:rPr lang="ko-KR" altLang="en-US" dirty="0"/>
              <a:t>노랑 선은 모두 </a:t>
            </a:r>
            <a:r>
              <a:rPr lang="en-US" altLang="ko-KR" dirty="0"/>
              <a:t>L1 Norm(</a:t>
            </a:r>
            <a:r>
              <a:rPr lang="en-US" altLang="ko-KR" dirty="0" err="1"/>
              <a:t>Texicab</a:t>
            </a:r>
            <a:r>
              <a:rPr lang="en-US" altLang="ko-KR" dirty="0"/>
              <a:t> geometry)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962A15B-4B2B-47B0-7C28-514781071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5451" y="1931859"/>
            <a:ext cx="3367016" cy="3367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3777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+mj-ea"/>
              </a:rPr>
              <a:t>Weight normalization</a:t>
            </a:r>
            <a:endParaRPr lang="ko-KR" altLang="en-US" b="1" dirty="0">
              <a:latin typeface="+mj-ea"/>
            </a:endParaRP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557099" cy="371446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</a:t>
            </a:r>
            <a:r>
              <a:rPr lang="en-US" altLang="ko-KR" sz="2400" dirty="0">
                <a:latin typeface="+mn-ea"/>
              </a:rPr>
              <a:t>L1 Regularization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Cost function</a:t>
            </a:r>
            <a:r>
              <a:rPr lang="ko-KR" altLang="en-US" sz="2000" dirty="0"/>
              <a:t>에 가중치의 </a:t>
            </a:r>
            <a:r>
              <a:rPr lang="ko-KR" altLang="en-US" sz="2000" dirty="0">
                <a:solidFill>
                  <a:srgbClr val="FF0000"/>
                </a:solidFill>
              </a:rPr>
              <a:t>절대값</a:t>
            </a:r>
            <a:r>
              <a:rPr lang="ko-KR" altLang="en-US" sz="2000" dirty="0"/>
              <a:t>을 더해줌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L1 </a:t>
            </a:r>
            <a:r>
              <a:rPr lang="ko-KR" altLang="en-US" sz="2000" dirty="0"/>
              <a:t>정규화를 사용하는 모델을 </a:t>
            </a:r>
            <a:r>
              <a:rPr lang="en-US" altLang="ko-KR" sz="2000" dirty="0">
                <a:solidFill>
                  <a:srgbClr val="FF0000"/>
                </a:solidFill>
              </a:rPr>
              <a:t>Lasso</a:t>
            </a:r>
            <a:r>
              <a:rPr lang="en-US" altLang="ko-KR" sz="2000" dirty="0"/>
              <a:t> </a:t>
            </a:r>
            <a:r>
              <a:rPr lang="ko-KR" altLang="en-US" sz="2000" dirty="0"/>
              <a:t>모델이라고 함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FF0000"/>
                </a:solidFill>
              </a:rPr>
              <a:t>불필요한 </a:t>
            </a:r>
            <a:r>
              <a:rPr lang="en-US" altLang="ko-KR" sz="2000" dirty="0">
                <a:solidFill>
                  <a:srgbClr val="FF0000"/>
                </a:solidFill>
              </a:rPr>
              <a:t>Weight</a:t>
            </a:r>
            <a:r>
              <a:rPr lang="ko-KR" altLang="en-US" sz="2000" dirty="0">
                <a:solidFill>
                  <a:srgbClr val="FF0000"/>
                </a:solidFill>
              </a:rPr>
              <a:t>를 </a:t>
            </a:r>
            <a:r>
              <a:rPr lang="en-US" altLang="ko-KR" sz="2000" dirty="0">
                <a:solidFill>
                  <a:srgbClr val="FF0000"/>
                </a:solidFill>
              </a:rPr>
              <a:t>0</a:t>
            </a:r>
            <a:r>
              <a:rPr lang="ko-KR" altLang="en-US" sz="2000" dirty="0">
                <a:solidFill>
                  <a:srgbClr val="FF0000"/>
                </a:solidFill>
              </a:rPr>
              <a:t>으로</a:t>
            </a:r>
            <a:r>
              <a:rPr lang="en-US" altLang="ko-KR" sz="2000" dirty="0">
                <a:solidFill>
                  <a:srgbClr val="FF0000"/>
                </a:solidFill>
              </a:rPr>
              <a:t> </a:t>
            </a:r>
            <a:r>
              <a:rPr lang="ko-KR" altLang="en-US" sz="2000" dirty="0">
                <a:solidFill>
                  <a:srgbClr val="FF0000"/>
                </a:solidFill>
              </a:rPr>
              <a:t>만들어버려서 </a:t>
            </a:r>
            <a:r>
              <a:rPr lang="en-US" altLang="ko-KR" sz="2000" dirty="0">
                <a:solidFill>
                  <a:srgbClr val="FF0000"/>
                </a:solidFill>
              </a:rPr>
              <a:t>Feature selection</a:t>
            </a:r>
            <a:r>
              <a:rPr lang="ko-KR" altLang="en-US" sz="2000" dirty="0">
                <a:solidFill>
                  <a:srgbClr val="FF0000"/>
                </a:solidFill>
              </a:rPr>
              <a:t>의 효과</a:t>
            </a:r>
            <a:endParaRPr lang="en-US" altLang="ko-KR" sz="2000" dirty="0"/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weight </a:t>
            </a:r>
            <a:r>
              <a:rPr lang="ko-KR" altLang="en-US" sz="1800" dirty="0"/>
              <a:t>의 크기에 상관없이 부호에 따라 일정한 </a:t>
            </a:r>
            <a:r>
              <a:rPr lang="ko-KR" altLang="en-US" sz="1800" dirty="0" err="1"/>
              <a:t>상수값을</a:t>
            </a:r>
            <a:r>
              <a:rPr lang="ko-KR" altLang="en-US" sz="1800" dirty="0"/>
              <a:t> 빼거나 </a:t>
            </a:r>
            <a:r>
              <a:rPr lang="ko-KR" altLang="en-US" sz="1800" dirty="0" err="1"/>
              <a:t>더해줌</a:t>
            </a:r>
            <a:endParaRPr lang="en-US" altLang="ko-KR" sz="18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모델은 </a:t>
            </a:r>
            <a:r>
              <a:rPr lang="en-US" altLang="ko-KR" sz="2000" dirty="0"/>
              <a:t>cost</a:t>
            </a:r>
            <a:r>
              <a:rPr lang="ko-KR" altLang="en-US" sz="2000" dirty="0"/>
              <a:t>를 줄이는 방향으로 학습하기 때문에 가중치들이 작아지고 일부는 </a:t>
            </a:r>
            <a:r>
              <a:rPr lang="en-US" altLang="ko-KR" sz="2000" dirty="0"/>
              <a:t>0</a:t>
            </a:r>
            <a:r>
              <a:rPr lang="ko-KR" altLang="en-US" sz="2000" dirty="0"/>
              <a:t>으로 수렴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람다 </a:t>
            </a:r>
            <a:r>
              <a:rPr lang="en-US" altLang="ko-KR" sz="2000" dirty="0"/>
              <a:t>: </a:t>
            </a:r>
            <a:r>
              <a:rPr lang="ko-KR" altLang="en-US" sz="2000" dirty="0"/>
              <a:t>정규화 항의 가중치</a:t>
            </a:r>
            <a:r>
              <a:rPr lang="en-US" altLang="ko-KR" sz="2000" dirty="0"/>
              <a:t>, </a:t>
            </a:r>
            <a:r>
              <a:rPr lang="ko-KR" altLang="en-US" sz="2000" dirty="0"/>
              <a:t>해당 값이 높을수록 가중치가 </a:t>
            </a:r>
            <a:r>
              <a:rPr lang="en-US" altLang="ko-KR" sz="2000" dirty="0"/>
              <a:t>0</a:t>
            </a:r>
            <a:r>
              <a:rPr lang="ko-KR" altLang="en-US" sz="2000" dirty="0"/>
              <a:t>으로 수렴</a:t>
            </a:r>
            <a:endParaRPr lang="en-US" altLang="ko-KR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16467F85-A9AB-7F00-EBF4-CE9106B22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0158" y="5006499"/>
            <a:ext cx="2976098" cy="1307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79934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+mj-ea"/>
              </a:rPr>
              <a:t>Weight normalization</a:t>
            </a:r>
            <a:endParaRPr lang="ko-KR" altLang="en-US" b="1" dirty="0">
              <a:latin typeface="+mj-ea"/>
            </a:endParaRP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482086" cy="482356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✅ </a:t>
            </a:r>
            <a:r>
              <a:rPr lang="en-US" altLang="ko-KR" sz="2400" b="1" dirty="0">
                <a:latin typeface="+mn-ea"/>
              </a:rPr>
              <a:t>L2 Regularization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Cost function</a:t>
            </a:r>
            <a:r>
              <a:rPr lang="ko-KR" altLang="en-US" sz="2000" dirty="0"/>
              <a:t> 에 가중치의 제곱을 포함하여 더함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가중치가 너무 크지 않은 방향으로 학습되게 함</a:t>
            </a:r>
            <a:r>
              <a:rPr lang="en-US" altLang="ko-KR" sz="2000" dirty="0"/>
              <a:t>. (</a:t>
            </a:r>
            <a:r>
              <a:rPr lang="en-US" altLang="ko-KR" sz="2000" dirty="0">
                <a:solidFill>
                  <a:srgbClr val="FF0000"/>
                </a:solidFill>
              </a:rPr>
              <a:t>Weight decay</a:t>
            </a:r>
            <a:r>
              <a:rPr lang="en-US" altLang="ko-KR" sz="2000" dirty="0"/>
              <a:t>)</a:t>
            </a:r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cost </a:t>
            </a:r>
            <a:r>
              <a:rPr lang="ko-KR" altLang="en-US" sz="1800" dirty="0"/>
              <a:t>뿐만 아니라 가중치 또한 줄어드는 방향으로 학습</a:t>
            </a:r>
            <a:endParaRPr lang="en-US" altLang="ko-KR" sz="1800" dirty="0"/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Weight</a:t>
            </a:r>
            <a:r>
              <a:rPr lang="ko-KR" altLang="en-US" sz="1800" dirty="0"/>
              <a:t> 가 클수록 더 빠르게 감소</a:t>
            </a:r>
            <a:endParaRPr lang="en-US" altLang="ko-KR" sz="1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L2 </a:t>
            </a:r>
            <a:r>
              <a:rPr lang="ko-KR" altLang="en-US" sz="2000" dirty="0"/>
              <a:t>정규화를 사용하는 모델을 </a:t>
            </a:r>
            <a:r>
              <a:rPr lang="en-US" altLang="ko-KR" sz="2000" dirty="0">
                <a:solidFill>
                  <a:srgbClr val="FF0000"/>
                </a:solidFill>
              </a:rPr>
              <a:t>Ridge</a:t>
            </a:r>
            <a:r>
              <a:rPr lang="en-US" altLang="ko-KR" sz="2000" dirty="0"/>
              <a:t> </a:t>
            </a:r>
            <a:r>
              <a:rPr lang="ko-KR" altLang="en-US" sz="2000" dirty="0"/>
              <a:t>모델이라고 부름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solidFill>
                  <a:srgbClr val="FF0000"/>
                </a:solidFill>
              </a:rPr>
              <a:t>불필요한 </a:t>
            </a:r>
            <a:r>
              <a:rPr lang="en-US" altLang="ko-KR" sz="2000" dirty="0">
                <a:solidFill>
                  <a:srgbClr val="FF0000"/>
                </a:solidFill>
              </a:rPr>
              <a:t>Feature</a:t>
            </a:r>
            <a:r>
              <a:rPr lang="ko-KR" altLang="en-US" sz="2000" dirty="0">
                <a:solidFill>
                  <a:srgbClr val="FF0000"/>
                </a:solidFill>
              </a:rPr>
              <a:t>를 </a:t>
            </a:r>
            <a:r>
              <a:rPr lang="en-US" altLang="ko-KR" sz="2000" dirty="0">
                <a:solidFill>
                  <a:srgbClr val="FF0000"/>
                </a:solidFill>
              </a:rPr>
              <a:t>0</a:t>
            </a:r>
            <a:r>
              <a:rPr lang="ko-KR" altLang="en-US" sz="2000" dirty="0">
                <a:solidFill>
                  <a:srgbClr val="FF0000"/>
                </a:solidFill>
              </a:rPr>
              <a:t>에 가깝게 만드는 특성</a:t>
            </a:r>
            <a:endParaRPr lang="en-US" altLang="ko-KR" sz="2000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dirty="0">
              <a:solidFill>
                <a:srgbClr val="FF0000"/>
              </a:solidFill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+mn-ea"/>
              </a:rPr>
              <a:t>🔎 </a:t>
            </a:r>
            <a:r>
              <a:rPr lang="en-US" altLang="ko-KR" sz="2000" dirty="0">
                <a:latin typeface="+mn-ea"/>
              </a:rPr>
              <a:t>L1 </a:t>
            </a:r>
            <a:r>
              <a:rPr lang="ko-KR" altLang="en-US" sz="2000" dirty="0">
                <a:latin typeface="+mn-ea"/>
              </a:rPr>
              <a:t>정규화</a:t>
            </a:r>
            <a:r>
              <a:rPr lang="en-US" altLang="ko-KR" sz="2000" dirty="0">
                <a:latin typeface="+mn-ea"/>
              </a:rPr>
              <a:t>, L2 </a:t>
            </a:r>
            <a:r>
              <a:rPr lang="ko-KR" altLang="en-US" sz="2000" dirty="0">
                <a:latin typeface="+mn-ea"/>
              </a:rPr>
              <a:t>정규화를 모두 사용하는 것을 </a:t>
            </a:r>
            <a:r>
              <a:rPr lang="en-US" altLang="ko-KR" sz="2000" dirty="0">
                <a:solidFill>
                  <a:srgbClr val="FF0000"/>
                </a:solidFill>
                <a:latin typeface="+mn-ea"/>
              </a:rPr>
              <a:t>Elastic Net</a:t>
            </a:r>
            <a:r>
              <a:rPr lang="ko-KR" altLang="en-US" sz="2000" dirty="0">
                <a:latin typeface="+mn-ea"/>
              </a:rPr>
              <a:t>이라고 함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endParaRPr lang="en-US" altLang="ko-KR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pic>
        <p:nvPicPr>
          <p:cNvPr id="7174" name="Picture 6">
            <a:extLst>
              <a:ext uri="{FF2B5EF4-FFF2-40B4-BE49-F238E27FC236}">
                <a16:creationId xmlns:a16="http://schemas.microsoft.com/office/drawing/2014/main" id="{1553063F-42C7-81C1-DB3C-9AED904F6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609" y="2874721"/>
            <a:ext cx="4178381" cy="973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82043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+mj-ea"/>
              </a:rPr>
              <a:t>Weight normalization</a:t>
            </a:r>
            <a:endParaRPr lang="ko-KR" altLang="en-US" b="1" dirty="0">
              <a:latin typeface="+mj-ea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AE19D5DB-237C-061B-2111-6CFCB2BA83E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064" y="1325563"/>
            <a:ext cx="8495167" cy="4351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B84181F-75CF-F41E-6BAC-34037723E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239" y="1814879"/>
            <a:ext cx="1456563" cy="5319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A0226D-2931-B58D-5785-A529970E128F}"/>
              </a:ext>
            </a:extLst>
          </p:cNvPr>
          <p:cNvSpPr txBox="1"/>
          <p:nvPr/>
        </p:nvSpPr>
        <p:spPr>
          <a:xfrm>
            <a:off x="4436732" y="5741640"/>
            <a:ext cx="33185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출처</a:t>
            </a:r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  <a:r>
              <a:rPr lang="en-US" altLang="ko-KR" sz="9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https://gaussian37.github.io/dl-concept-regularization/</a:t>
            </a:r>
            <a:endParaRPr lang="ko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B5F8447-69CF-37E3-0FF3-882E6EE51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3818" y="3011351"/>
            <a:ext cx="200053" cy="24768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394EDDC-E1F2-1576-01D0-1340B508C3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6226" y="3268790"/>
            <a:ext cx="161948" cy="20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4273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8B16A7E-4F0F-B977-CED0-C5D279183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6476" y="2268269"/>
            <a:ext cx="5926666" cy="2586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+mj-ea"/>
              </a:rPr>
              <a:t>Weight normalization</a:t>
            </a:r>
            <a:endParaRPr lang="ko-KR" altLang="en-US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DD7768-068E-EF1B-AB88-25A168CC7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382078"/>
            <a:ext cx="6055441" cy="444467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✅ 복잡한 모델로 </a:t>
            </a:r>
            <a:r>
              <a:rPr lang="en-US" altLang="ko-KR" sz="2400" b="1" dirty="0" err="1"/>
              <a:t>Overfitting</a:t>
            </a:r>
            <a:r>
              <a:rPr lang="ko-KR" altLang="en-US" sz="2400" b="1" dirty="0"/>
              <a:t>을 일으키기보다</a:t>
            </a:r>
            <a:r>
              <a:rPr lang="en-US" altLang="ko-KR" sz="2400" dirty="0"/>
              <a:t>: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약간의 정확도를 포기하고</a:t>
            </a:r>
            <a:r>
              <a:rPr lang="en-US" altLang="ko-KR" sz="2000" dirty="0"/>
              <a:t>, </a:t>
            </a:r>
            <a:r>
              <a:rPr lang="ko-KR" altLang="en-US" sz="2000" dirty="0"/>
              <a:t>모델을 단순하게 만들어 새로운 데이터에서도 잘 작동하게 함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✅ 규제를 통해 모델이 갈 수 있는 범위를 제한</a:t>
            </a:r>
            <a:r>
              <a:rPr lang="en-US" altLang="ko-KR" sz="2400" dirty="0"/>
              <a:t>: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제한된 범위 안에서 가장 좋은 위치</a:t>
            </a:r>
            <a:r>
              <a:rPr lang="en-US" altLang="ko-KR" sz="2000" dirty="0"/>
              <a:t>(Loss </a:t>
            </a:r>
            <a:r>
              <a:rPr lang="ko-KR" altLang="en-US" sz="2000" dirty="0"/>
              <a:t>최소화</a:t>
            </a:r>
            <a:r>
              <a:rPr lang="en-US" altLang="ko-KR" sz="2000" dirty="0"/>
              <a:t>)</a:t>
            </a:r>
            <a:r>
              <a:rPr lang="ko-KR" altLang="en-US" sz="2000" dirty="0"/>
              <a:t>를 찾음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이 위치는 이론적으로 가장 좋은 점</a:t>
            </a:r>
            <a:r>
              <a:rPr lang="en-US" altLang="ko-KR" sz="2000" dirty="0"/>
              <a:t>(Global Optimum)</a:t>
            </a:r>
            <a:r>
              <a:rPr lang="ko-KR" altLang="en-US" sz="2000" dirty="0"/>
              <a:t>에 최대한 가깝게 설정됨</a:t>
            </a:r>
            <a:r>
              <a:rPr lang="en-US" altLang="ko-KR" sz="20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47775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1936-481C-71EB-7D96-6C9DFC6F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00005ED-53E3-BFC8-AFAA-7BAFFA3752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7181868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8367</TotalTime>
  <Words>1642</Words>
  <Application>Microsoft Office PowerPoint</Application>
  <PresentationFormat>와이드스크린</PresentationFormat>
  <Paragraphs>269</Paragraphs>
  <Slides>36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7" baseType="lpstr">
      <vt:lpstr>G마켓 산스 TTF Bold</vt:lpstr>
      <vt:lpstr>Kim jung chul Gothic Regular</vt:lpstr>
      <vt:lpstr>Pretendard Black</vt:lpstr>
      <vt:lpstr>Pretendard Light</vt:lpstr>
      <vt:lpstr>Pretendard Medium</vt:lpstr>
      <vt:lpstr>맑은 고딕</vt:lpstr>
      <vt:lpstr>메이플스토리</vt:lpstr>
      <vt:lpstr>Arial</vt:lpstr>
      <vt:lpstr>Cambria Math</vt:lpstr>
      <vt:lpstr>Wingdings</vt:lpstr>
      <vt:lpstr>1_Office 테마</vt:lpstr>
      <vt:lpstr>x</vt:lpstr>
      <vt:lpstr>PowerPoint 프레젠테이션</vt:lpstr>
      <vt:lpstr>PowerPoint 프레젠테이션</vt:lpstr>
      <vt:lpstr>시그모이드 함수의 문제</vt:lpstr>
      <vt:lpstr>기울기 소실 Vanishing Gradient</vt:lpstr>
      <vt:lpstr>ReLU(Rectified Linear Unit) 함수</vt:lpstr>
      <vt:lpstr>Leakly ReLU 함수</vt:lpstr>
      <vt:lpstr>ReLU 함수의 종류</vt:lpstr>
      <vt:lpstr>PowerPoint 프레젠테이션</vt:lpstr>
      <vt:lpstr>BN(Batch Normalization) </vt:lpstr>
      <vt:lpstr>BN(Batch Normalization) </vt:lpstr>
      <vt:lpstr>BN(Batch Normalization) </vt:lpstr>
      <vt:lpstr>BN(Batch Normalization) </vt:lpstr>
      <vt:lpstr>BN(Batch Normalization) </vt:lpstr>
      <vt:lpstr>BN(Batch Normalization) </vt:lpstr>
      <vt:lpstr>BN(Batch Normalization) </vt:lpstr>
      <vt:lpstr>BN(Batch Normalization) </vt:lpstr>
      <vt:lpstr>LN(Layer Normalization) </vt:lpstr>
      <vt:lpstr>LN(Layer Normalization) </vt:lpstr>
      <vt:lpstr>BN vs LN</vt:lpstr>
      <vt:lpstr>PowerPoint 프레젠테이션</vt:lpstr>
      <vt:lpstr>과적합(Overfitting)</vt:lpstr>
      <vt:lpstr>과적합(Overfitting)</vt:lpstr>
      <vt:lpstr>과적합(Overfitting)</vt:lpstr>
      <vt:lpstr>과적합(Overfitting)</vt:lpstr>
      <vt:lpstr>과적합(Overfitting)</vt:lpstr>
      <vt:lpstr>PowerPoint 프레젠테이션</vt:lpstr>
      <vt:lpstr>Weight normalization</vt:lpstr>
      <vt:lpstr>Weight normalization</vt:lpstr>
      <vt:lpstr>Weight normalization</vt:lpstr>
      <vt:lpstr>Weight normalization</vt:lpstr>
      <vt:lpstr>Weight normalization</vt:lpstr>
      <vt:lpstr>Weight normalization</vt:lpstr>
      <vt:lpstr>Weight normalization</vt:lpstr>
      <vt:lpstr>Weight normalization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611</cp:revision>
  <dcterms:created xsi:type="dcterms:W3CDTF">2023-01-31T04:26:23Z</dcterms:created>
  <dcterms:modified xsi:type="dcterms:W3CDTF">2025-09-22T02:35:34Z</dcterms:modified>
</cp:coreProperties>
</file>