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64" r:id="rId2"/>
  </p:sldMasterIdLst>
  <p:notesMasterIdLst>
    <p:notesMasterId r:id="rId17"/>
  </p:notesMasterIdLst>
  <p:sldIdLst>
    <p:sldId id="1004" r:id="rId3"/>
    <p:sldId id="635" r:id="rId4"/>
    <p:sldId id="709" r:id="rId5"/>
    <p:sldId id="644" r:id="rId6"/>
    <p:sldId id="1005" r:id="rId7"/>
    <p:sldId id="1006" r:id="rId8"/>
    <p:sldId id="649" r:id="rId9"/>
    <p:sldId id="1007" r:id="rId10"/>
    <p:sldId id="1009" r:id="rId11"/>
    <p:sldId id="721" r:id="rId12"/>
    <p:sldId id="720" r:id="rId13"/>
    <p:sldId id="718" r:id="rId14"/>
    <p:sldId id="719" r:id="rId15"/>
    <p:sldId id="750" r:id="rId16"/>
  </p:sldIdLst>
  <p:sldSz cx="12192000" cy="6858000"/>
  <p:notesSz cx="6858000" cy="9144000"/>
  <p:embeddedFontLst>
    <p:embeddedFont>
      <p:font typeface="G마켓 산스 TTF Bold" panose="02000000000000000000" pitchFamily="2" charset="-127"/>
      <p:bold r:id="rId18"/>
    </p:embeddedFont>
    <p:embeddedFont>
      <p:font typeface="G마켓 산스 TTF Medium" panose="02000000000000000000" pitchFamily="2" charset="-127"/>
      <p:regular r:id="rId19"/>
    </p:embeddedFont>
    <p:embeddedFont>
      <p:font typeface="Pretendard Black" panose="02000A03000000020004" pitchFamily="2" charset="-127"/>
      <p:bold r:id="rId20"/>
    </p:embeddedFont>
    <p:embeddedFont>
      <p:font typeface="Pretendard Light" panose="02000403000000020004" pitchFamily="2" charset="-127"/>
      <p:regular r:id="rId21"/>
    </p:embeddedFont>
    <p:embeddedFont>
      <p:font typeface="Pretendard Medium" panose="02000603000000020004" pitchFamily="2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메이플스토리" panose="02000300000000000000" pitchFamily="2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19B861"/>
    <a:srgbClr val="00B050"/>
    <a:srgbClr val="2B2B2B"/>
    <a:srgbClr val="2A2A2A"/>
    <a:srgbClr val="00F209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33" autoAdjust="0"/>
    <p:restoredTop sz="84219" autoAdjust="0"/>
  </p:normalViewPr>
  <p:slideViewPr>
    <p:cSldViewPr snapToGrid="0">
      <p:cViewPr>
        <p:scale>
          <a:sx n="66" d="100"/>
          <a:sy n="66" d="100"/>
        </p:scale>
        <p:origin x="1224" y="5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0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966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966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350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922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9258741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23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728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9184632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3C6AD9-4778-56CA-F759-7A32EFD840E2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98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933C66-A987-35DC-6C51-368D59E3B2DD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1624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en.wikipedia.org/wiki/Convolutional_neural_network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196807" y="2600493"/>
            <a:ext cx="5798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딥러닝 </a:t>
            </a:r>
            <a:r>
              <a:rPr lang="ko-KR" altLang="en-US" sz="6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모델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662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165FA-6F56-C3C7-2403-F9E289E5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딥러닝 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FB50BB-423A-97AC-3219-7C6490CC5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515600" cy="486422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특징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/>
              <a:t>계층적인 구조</a:t>
            </a:r>
            <a:endParaRPr lang="en-US" altLang="ko-KR" b="1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여러 개의 은닉층으로 구성되어 있음</a:t>
            </a:r>
            <a:r>
              <a:rPr lang="en-US" altLang="ko-KR" dirty="0"/>
              <a:t>. 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각 은닉층은 이전 층의 출력을 입력으로 받아 새로운 특징을 학습</a:t>
            </a:r>
            <a:r>
              <a:rPr lang="en-US" altLang="ko-KR" dirty="0"/>
              <a:t>. 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계층적인 구조를 통해서 복잡한 패턴과 추상적인 특징 학습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 err="1"/>
              <a:t>역전파</a:t>
            </a:r>
            <a:r>
              <a:rPr lang="ko-KR" altLang="en-US" b="1" dirty="0"/>
              <a:t> 알고리즘</a:t>
            </a:r>
            <a:endParaRPr lang="en-US" altLang="ko-KR" b="1" dirty="0"/>
          </a:p>
          <a:p>
            <a:pPr lvl="2">
              <a:lnSpc>
                <a:spcPct val="150000"/>
              </a:lnSpc>
            </a:pPr>
            <a:r>
              <a:rPr lang="ko-KR" altLang="en-US" dirty="0" err="1"/>
              <a:t>역전파</a:t>
            </a:r>
            <a:r>
              <a:rPr lang="ko-KR" altLang="en-US" dirty="0"/>
              <a:t> 알고리즘을 사용하여 모델의 가중치와 편향을 조정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출력과 실제 값 사이의 오차를 역으로 전파하여 각층의 가중치를 업데이트하고</a:t>
            </a:r>
            <a:r>
              <a:rPr lang="en-US" altLang="ko-KR" dirty="0"/>
              <a:t>, </a:t>
            </a:r>
            <a:r>
              <a:rPr lang="ko-KR" altLang="en-US" dirty="0"/>
              <a:t>이를 반복하여 모델을 학습시킴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192D6-A651-FA85-BC2D-858B45C9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FA0FF6-92A7-7D16-CDB4-84A3FBC0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23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165FA-6F56-C3C7-2403-F9E289E5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딥러닝 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FB50BB-423A-97AC-3219-7C6490CC5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특징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b="1" dirty="0"/>
              <a:t>대량의 데이터와 연산</a:t>
            </a:r>
            <a:endParaRPr lang="en-US" altLang="ko-KR" b="1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대량의 데이터와 많은 연산이 필요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b="1" dirty="0"/>
              <a:t>종단간 학습</a:t>
            </a:r>
            <a:endParaRPr lang="en-US" altLang="ko-KR" b="1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입력데이터와 출력 데이터만을 사용하여 모델을 학습시킬 수 있음</a:t>
            </a:r>
            <a:r>
              <a:rPr lang="en-US" altLang="ko-KR" dirty="0"/>
              <a:t>(end-to-end)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192D6-A651-FA85-BC2D-858B45C9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FA0FF6-92A7-7D16-CDB4-84A3FBC0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73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B394F-46E9-11B0-D9BF-D8094C4D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FNN</a:t>
            </a:r>
            <a:r>
              <a:rPr lang="en-US" altLang="ko-KR" sz="4000" b="1" dirty="0"/>
              <a:t>(</a:t>
            </a:r>
            <a:r>
              <a:rPr lang="en-US" altLang="ko-KR" sz="4000" b="1" dirty="0" err="1"/>
              <a:t>Feedforward</a:t>
            </a:r>
            <a:r>
              <a:rPr lang="en-US" altLang="ko-KR" sz="4000" b="1" dirty="0"/>
              <a:t> Neural Network)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20EF-58B1-1360-C320-373184ED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983410" cy="276513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</a:t>
            </a:r>
            <a:r>
              <a:rPr lang="ko-KR" altLang="en-US" sz="2400" dirty="0"/>
              <a:t>입력층에서 출력층으로 신호가 한 방향으로만 전달되는 가장 기본적인 인공 신경망 구조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데이터가 입력층에서 시작해 </a:t>
            </a:r>
            <a:r>
              <a:rPr lang="ko-KR" altLang="en-US" sz="2000" dirty="0" err="1">
                <a:latin typeface="+mn-ea"/>
              </a:rPr>
              <a:t>은닉층</a:t>
            </a:r>
            <a:r>
              <a:rPr lang="en-US" altLang="ko-KR" sz="2000" dirty="0">
                <a:latin typeface="+mn-ea"/>
              </a:rPr>
              <a:t>(hidden layer)</a:t>
            </a:r>
            <a:r>
              <a:rPr lang="ko-KR" altLang="en-US" sz="2000" dirty="0">
                <a:latin typeface="+mn-ea"/>
              </a:rPr>
              <a:t>을 거쳐 </a:t>
            </a:r>
            <a:r>
              <a:rPr lang="ko-KR" altLang="en-US" sz="2000" dirty="0" err="1">
                <a:latin typeface="+mn-ea"/>
              </a:rPr>
              <a:t>출력층으로</a:t>
            </a:r>
            <a:r>
              <a:rPr lang="ko-KR" altLang="en-US" sz="2000" dirty="0">
                <a:latin typeface="+mn-ea"/>
              </a:rPr>
              <a:t> 순차적으로 흐름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가장 기본적인 신경망 구조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주로 분류</a:t>
            </a:r>
            <a:r>
              <a:rPr lang="en-US" altLang="ko-KR" sz="2000" dirty="0">
                <a:latin typeface="+mn-ea"/>
              </a:rPr>
              <a:t>(classification)</a:t>
            </a:r>
            <a:r>
              <a:rPr lang="ko-KR" altLang="en-US" sz="2000" dirty="0">
                <a:latin typeface="+mn-ea"/>
              </a:rPr>
              <a:t>와 회귀</a:t>
            </a:r>
            <a:r>
              <a:rPr lang="en-US" altLang="ko-KR" sz="2000" dirty="0">
                <a:latin typeface="+mn-ea"/>
              </a:rPr>
              <a:t>(regression) </a:t>
            </a:r>
            <a:r>
              <a:rPr lang="ko-KR" altLang="en-US" sz="2000" dirty="0">
                <a:latin typeface="+mn-ea"/>
              </a:rPr>
              <a:t>문제에 사용</a:t>
            </a:r>
            <a:r>
              <a:rPr lang="en-US" altLang="ko-KR" sz="20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4E5A7-5FDA-3F64-1B0F-2D7A4CC0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7C3E34-8AF5-3E90-E54D-E6EC3213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124" name="Picture 4" descr="19. Neural Network — Learning Apache Spark with Python document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506" y="3586431"/>
            <a:ext cx="6558988" cy="2582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36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4CE4DCDC-6E1D-EDD1-CA51-B6A5E81C1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601" y="3668321"/>
            <a:ext cx="7320793" cy="225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FB394F-46E9-11B0-D9BF-D8094C4D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CNN</a:t>
            </a:r>
            <a:r>
              <a:rPr lang="en-US" altLang="ko-KR" sz="4000" b="1" dirty="0"/>
              <a:t>(Convolutional Neural Network)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20EF-58B1-1360-C320-373184ED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0" y="1145407"/>
            <a:ext cx="11701221" cy="22625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</a:t>
            </a:r>
            <a:r>
              <a:rPr lang="ko-KR" altLang="en-US" sz="2400" dirty="0"/>
              <a:t>이미지나 시계열 같은 데이터의 특징을 추출하기 위해 </a:t>
            </a:r>
            <a:r>
              <a:rPr lang="ko-KR" altLang="en-US" sz="2400" dirty="0" err="1"/>
              <a:t>합성곱</a:t>
            </a:r>
            <a:r>
              <a:rPr lang="ko-KR" altLang="en-US" sz="2400" dirty="0"/>
              <a:t> 연산을 사용하는 인공 신경망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및 영상 처리에 특화된 신경망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+mn-ea"/>
              </a:rPr>
              <a:t>컨볼루션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 err="1">
                <a:latin typeface="+mn-ea"/>
              </a:rPr>
              <a:t>레이어</a:t>
            </a:r>
            <a:r>
              <a:rPr lang="en-US" altLang="ko-KR" sz="2000" dirty="0">
                <a:latin typeface="+mn-ea"/>
              </a:rPr>
              <a:t>(Convolution Layer)</a:t>
            </a:r>
            <a:r>
              <a:rPr lang="ko-KR" altLang="en-US" sz="2000" dirty="0">
                <a:latin typeface="+mn-ea"/>
              </a:rPr>
              <a:t>와 </a:t>
            </a:r>
            <a:r>
              <a:rPr lang="ko-KR" altLang="en-US" sz="2000" dirty="0" err="1">
                <a:latin typeface="+mn-ea"/>
              </a:rPr>
              <a:t>풀링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 err="1">
                <a:latin typeface="+mn-ea"/>
              </a:rPr>
              <a:t>레이어</a:t>
            </a:r>
            <a:r>
              <a:rPr lang="en-US" altLang="ko-KR" sz="2000" dirty="0">
                <a:latin typeface="+mn-ea"/>
              </a:rPr>
              <a:t>(Pooling Layer)</a:t>
            </a:r>
            <a:r>
              <a:rPr lang="ko-KR" altLang="en-US" sz="2000" dirty="0">
                <a:latin typeface="+mn-ea"/>
              </a:rPr>
              <a:t>를 통해 특징</a:t>
            </a:r>
            <a:r>
              <a:rPr lang="en-US" altLang="ko-KR" sz="2000" dirty="0">
                <a:latin typeface="+mn-ea"/>
              </a:rPr>
              <a:t>(feature)</a:t>
            </a:r>
            <a:r>
              <a:rPr lang="ko-KR" altLang="en-US" sz="2000" dirty="0">
                <a:latin typeface="+mn-ea"/>
              </a:rPr>
              <a:t>을 추출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대표적으로 이미지 분류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객체 탐지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영상 처리 등에서 사용</a:t>
            </a:r>
            <a:r>
              <a:rPr lang="en-US" altLang="ko-KR" sz="20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4E5A7-5FDA-3F64-1B0F-2D7A4CC0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7C3E34-8AF5-3E90-E54D-E6EC3213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235C93-842A-E0C4-683B-97C5A60FF9E0}"/>
              </a:ext>
            </a:extLst>
          </p:cNvPr>
          <p:cNvSpPr txBox="1"/>
          <p:nvPr/>
        </p:nvSpPr>
        <p:spPr>
          <a:xfrm>
            <a:off x="4187475" y="6063734"/>
            <a:ext cx="38042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</a:t>
            </a:r>
            <a:r>
              <a:rPr lang="en-US" altLang="ko-KR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ko-KR" sz="10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Convolutional_neural_network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397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RNN(Recurrent Neural Network)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390208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순차적인 데이터의 이전 정보를 기억하여 현재 입력 처리에 반영하는 순환 구조의 인공 신경망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시간적 데이터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시계열</a:t>
            </a:r>
            <a:r>
              <a:rPr lang="en-US" altLang="ko-KR" sz="2000" dirty="0"/>
              <a:t>, </a:t>
            </a:r>
            <a:r>
              <a:rPr lang="ko-KR" altLang="en-US" sz="2000" dirty="0"/>
              <a:t>언어 데이터</a:t>
            </a:r>
            <a:r>
              <a:rPr lang="en-US" altLang="ko-KR" sz="2000" dirty="0"/>
              <a:t>) </a:t>
            </a:r>
            <a:r>
              <a:rPr lang="ko-KR" altLang="en-US" sz="2000" dirty="0"/>
              <a:t>처리에 특화된 신경망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이전 단계의 출력을 다음 단계의 입력으로 사용하여 데이터 간 </a:t>
            </a:r>
            <a:r>
              <a:rPr lang="ko-KR" altLang="en-US" sz="2000" b="1" dirty="0"/>
              <a:t>연속성</a:t>
            </a:r>
            <a:r>
              <a:rPr lang="ko-KR" altLang="en-US" sz="2000" dirty="0"/>
              <a:t> 반영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grpSp>
        <p:nvGrpSpPr>
          <p:cNvPr id="10" name="그룹 9"/>
          <p:cNvGrpSpPr/>
          <p:nvPr/>
        </p:nvGrpSpPr>
        <p:grpSpPr>
          <a:xfrm>
            <a:off x="1776906" y="3028713"/>
            <a:ext cx="8625389" cy="2976910"/>
            <a:chOff x="1636211" y="2752560"/>
            <a:chExt cx="8625389" cy="2976910"/>
          </a:xfrm>
        </p:grpSpPr>
        <p:pic>
          <p:nvPicPr>
            <p:cNvPr id="6146" name="Picture 2" descr="Deep Learning] RNN 알고리즘 개념 이해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298"/>
            <a:stretch>
              <a:fillRect/>
            </a:stretch>
          </p:blipFill>
          <p:spPr bwMode="auto">
            <a:xfrm>
              <a:off x="1636211" y="2752560"/>
              <a:ext cx="8625389" cy="29769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4735285" y="5483249"/>
              <a:ext cx="2414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https://heytech.tistory.com/440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2215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RNN(Recurrent Neural Network)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34121"/>
            <a:ext cx="5513745" cy="43897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활용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자연어 처리</a:t>
            </a:r>
            <a:r>
              <a:rPr lang="en-US" altLang="ko-KR" sz="2000" dirty="0"/>
              <a:t>, </a:t>
            </a:r>
            <a:r>
              <a:rPr lang="ko-KR" altLang="en-US" sz="2000" dirty="0"/>
              <a:t>신호 분류</a:t>
            </a:r>
            <a:r>
              <a:rPr lang="en-US" altLang="ko-KR" sz="2000" dirty="0"/>
              <a:t>, </a:t>
            </a:r>
            <a:r>
              <a:rPr lang="ko-KR" altLang="en-US" sz="2000" dirty="0"/>
              <a:t>비디오 분석등에 사용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일대다 </a:t>
            </a:r>
            <a:r>
              <a:rPr lang="en-US" altLang="ko-KR" sz="2000" dirty="0"/>
              <a:t>: image</a:t>
            </a:r>
            <a:r>
              <a:rPr lang="ko-KR" altLang="en-US" sz="2000" dirty="0"/>
              <a:t> </a:t>
            </a:r>
            <a:r>
              <a:rPr lang="en-US" altLang="ko-KR" sz="2000" dirty="0"/>
              <a:t>to</a:t>
            </a:r>
            <a:r>
              <a:rPr lang="ko-KR" altLang="en-US" sz="2000" dirty="0"/>
              <a:t> </a:t>
            </a:r>
            <a:r>
              <a:rPr lang="en-US" altLang="ko-KR" sz="2000" dirty="0"/>
              <a:t>text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다대일 </a:t>
            </a:r>
            <a:r>
              <a:rPr lang="en-US" altLang="ko-KR" sz="2000" dirty="0"/>
              <a:t>: </a:t>
            </a:r>
            <a:r>
              <a:rPr lang="ko-KR" altLang="en-US" sz="2000" dirty="0"/>
              <a:t>문장 감정 분류</a:t>
            </a:r>
            <a:r>
              <a:rPr lang="en-US" altLang="ko-KR" sz="2000" dirty="0"/>
              <a:t>, </a:t>
            </a:r>
            <a:r>
              <a:rPr lang="ko-KR" altLang="en-US" sz="2000" dirty="0"/>
              <a:t>스팸 메일 분류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다대다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챗봇</a:t>
            </a:r>
            <a:r>
              <a:rPr lang="en-US" altLang="ko-KR" sz="2000" dirty="0"/>
              <a:t>, </a:t>
            </a:r>
            <a:r>
              <a:rPr lang="ko-KR" altLang="en-US" sz="2000" dirty="0"/>
              <a:t>번역기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한계 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길어질수록 앞의 정보가 뒤로 충분히 전달되지 못함</a:t>
            </a:r>
            <a:r>
              <a:rPr lang="en-US" altLang="ko-KR" sz="2000" dirty="0"/>
              <a:t>(</a:t>
            </a:r>
            <a:r>
              <a:rPr lang="ko-KR" altLang="en-US" sz="2000" dirty="0"/>
              <a:t>장기 의존성 문제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5929997" y="2417886"/>
            <a:ext cx="5913892" cy="2264888"/>
            <a:chOff x="3120002" y="4159319"/>
            <a:chExt cx="5799885" cy="220545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C13C21C-1661-E2D4-94A1-073730185F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002" y="4159319"/>
              <a:ext cx="5799885" cy="1933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05C17B-3487-410F-49F0-6C27CE7124D1}"/>
                </a:ext>
              </a:extLst>
            </p:cNvPr>
            <p:cNvSpPr txBox="1"/>
            <p:nvPr/>
          </p:nvSpPr>
          <p:spPr>
            <a:xfrm>
              <a:off x="4500352" y="6125011"/>
              <a:ext cx="3039184" cy="239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:https://kr.mathworks.com/discovery/rnn.html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349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트랜스포머</a:t>
            </a:r>
            <a:r>
              <a:rPr lang="en-US" altLang="ko-KR" b="1" dirty="0"/>
              <a:t>(Transformer)</a:t>
            </a:r>
            <a:r>
              <a:rPr lang="ko-KR" altLang="en-US" b="1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964598"/>
            <a:ext cx="7484014" cy="292880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ko-KR" altLang="en-US" sz="2400" b="1" dirty="0" err="1"/>
              <a:t>어텐션</a:t>
            </a:r>
            <a:r>
              <a:rPr lang="ko-KR" altLang="en-US" sz="2400" b="1" dirty="0"/>
              <a:t> 메커니즘</a:t>
            </a:r>
            <a:r>
              <a:rPr lang="ko-KR" altLang="en-US" sz="2400" dirty="0"/>
              <a:t>을 활용해 입력 전체의 관계를 병렬적으로 </a:t>
            </a:r>
            <a:br>
              <a:rPr lang="en-US" altLang="ko-KR" sz="2400" dirty="0"/>
            </a:br>
            <a:r>
              <a:rPr lang="en-US" altLang="ko-KR" sz="2400" dirty="0"/>
              <a:t>       </a:t>
            </a:r>
            <a:r>
              <a:rPr lang="ko-KR" altLang="en-US" sz="2400" dirty="0"/>
              <a:t>학습하는 인공 신경망 구조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딥러닝 기반의 자연어 처리 및 시퀀스 모델링에 사용되는 모델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2017</a:t>
            </a:r>
            <a:r>
              <a:rPr lang="ko-KR" altLang="en-US" sz="2000" dirty="0"/>
              <a:t>년 논문 </a:t>
            </a:r>
            <a:r>
              <a:rPr lang="en-US" altLang="ko-KR" sz="2000" dirty="0"/>
              <a:t>"Attention is All You Need"</a:t>
            </a:r>
            <a:r>
              <a:rPr lang="ko-KR" altLang="en-US" sz="2000" dirty="0"/>
              <a:t>에서 처음 소개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RNN</a:t>
            </a:r>
            <a:r>
              <a:rPr lang="ko-KR" altLang="en-US" sz="2000" dirty="0"/>
              <a:t>과 </a:t>
            </a:r>
            <a:r>
              <a:rPr lang="en-US" altLang="ko-KR" sz="2000" dirty="0"/>
              <a:t>CNN</a:t>
            </a:r>
            <a:r>
              <a:rPr lang="ko-KR" altLang="en-US" sz="2000" dirty="0"/>
              <a:t>을 대체하며 높은 성능과 병렬 처리 효율성 제공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CAD1C1D-8598-1D4D-4C68-E18A2E51830E}"/>
              </a:ext>
            </a:extLst>
          </p:cNvPr>
          <p:cNvGrpSpPr/>
          <p:nvPr/>
        </p:nvGrpSpPr>
        <p:grpSpPr>
          <a:xfrm>
            <a:off x="7441499" y="911235"/>
            <a:ext cx="4627076" cy="5035529"/>
            <a:chOff x="7181617" y="1115176"/>
            <a:chExt cx="4627076" cy="5035529"/>
          </a:xfrm>
        </p:grpSpPr>
        <p:pic>
          <p:nvPicPr>
            <p:cNvPr id="1026" name="Picture 2" descr="The Transformer Model - MachineLearningMastery.co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6530" y="1115176"/>
              <a:ext cx="3397250" cy="47870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7181617" y="5904484"/>
              <a:ext cx="4627076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https://machinelearningmastery.com/the-transformer-model/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127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트랜스포머</a:t>
            </a:r>
            <a:r>
              <a:rPr lang="en-US" altLang="ko-KR" b="1" dirty="0"/>
              <a:t>(Transformer)</a:t>
            </a:r>
            <a:r>
              <a:rPr lang="ko-KR" altLang="en-US" b="1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458937" cy="52488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</a:t>
            </a:r>
            <a:r>
              <a:rPr lang="ko-KR" altLang="en-US" sz="2400" b="1" dirty="0" err="1"/>
              <a:t>어텐션</a:t>
            </a:r>
            <a:r>
              <a:rPr lang="ko-KR" altLang="en-US" sz="2400" b="1" dirty="0"/>
              <a:t> 메커니즘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입력 요소들 중 중요한 부분에 더 큰 가중치를 부여해 정보를 선택적으로 집중하는 기법</a:t>
            </a:r>
            <a:endParaRPr lang="en-US" altLang="ko-KR" sz="20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트랜스포머는 </a:t>
            </a:r>
            <a:r>
              <a:rPr lang="ko-KR" altLang="en-US" sz="2000" b="1" dirty="0" err="1"/>
              <a:t>어텐션</a:t>
            </a:r>
            <a:r>
              <a:rPr lang="ko-KR" altLang="en-US" sz="2000" b="1" dirty="0"/>
              <a:t> 메커니즘</a:t>
            </a:r>
            <a:r>
              <a:rPr lang="ko-KR" altLang="en-US" sz="2000" dirty="0"/>
              <a:t>을 </a:t>
            </a:r>
            <a:r>
              <a:rPr lang="ko-KR" altLang="en-US" sz="2000" b="1" dirty="0"/>
              <a:t>기반으로 설계</a:t>
            </a:r>
            <a:r>
              <a:rPr lang="ko-KR" altLang="en-US" sz="2000" dirty="0"/>
              <a:t>된 모델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자연어 처리</a:t>
            </a:r>
            <a:r>
              <a:rPr lang="en-US" altLang="ko-KR" sz="2000" dirty="0"/>
              <a:t>(NLP)</a:t>
            </a:r>
            <a:r>
              <a:rPr lang="ko-KR" altLang="en-US" sz="2000" dirty="0"/>
              <a:t>와 컴퓨터 비전</a:t>
            </a:r>
            <a:r>
              <a:rPr lang="en-US" altLang="ko-KR" sz="2000" dirty="0"/>
              <a:t>(CV) </a:t>
            </a:r>
            <a:r>
              <a:rPr lang="ko-KR" altLang="en-US" sz="2000" dirty="0"/>
              <a:t>등 다양한 분야에서 사용</a:t>
            </a:r>
            <a:r>
              <a:rPr lang="en-US" altLang="ko-KR" sz="2000" dirty="0"/>
              <a:t>.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</a:t>
            </a:r>
            <a:r>
              <a:rPr lang="ko-KR" altLang="en-US" sz="2400" b="1" dirty="0" err="1"/>
              <a:t>어텐션이</a:t>
            </a:r>
            <a:r>
              <a:rPr lang="ko-KR" altLang="en-US" sz="2400" b="1" dirty="0"/>
              <a:t> 트랜스포머의 핵심인 이유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RNN/CNN</a:t>
            </a:r>
            <a:r>
              <a:rPr lang="ko-KR" altLang="en-US" sz="2000" b="1" dirty="0"/>
              <a:t>의 한계 극복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RNN</a:t>
            </a:r>
            <a:r>
              <a:rPr lang="ko-KR" altLang="en-US" sz="1800" dirty="0"/>
              <a:t>의 느린 학습과 장기 의존성 문제 해결</a:t>
            </a:r>
            <a:r>
              <a:rPr lang="en-US" altLang="ko-KR" sz="1800" dirty="0"/>
              <a:t>, CNN</a:t>
            </a:r>
            <a:r>
              <a:rPr lang="ko-KR" altLang="en-US" sz="1800" dirty="0"/>
              <a:t>의 국소적 한계를 넘어 전역 문맥 학습 가능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Self-Attention</a:t>
            </a:r>
            <a:r>
              <a:rPr lang="ko-KR" altLang="en-US" sz="2000" b="1" dirty="0"/>
              <a:t>의 역할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입력 데이터 간의 관계를 한 번에 계산</a:t>
            </a:r>
            <a:r>
              <a:rPr lang="en-US" altLang="ko-KR" sz="1800" dirty="0"/>
              <a:t>, </a:t>
            </a:r>
            <a:r>
              <a:rPr lang="ko-KR" altLang="en-US" sz="1800" dirty="0"/>
              <a:t>문맥 정보를 정확히 이해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618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트랜스포머</a:t>
            </a:r>
            <a:r>
              <a:rPr lang="en-US" altLang="ko-KR" b="1" dirty="0"/>
              <a:t>(Transformer)</a:t>
            </a:r>
            <a:r>
              <a:rPr lang="ko-KR" altLang="en-US" b="1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458937" cy="52488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작동 원리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관련성 계산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입력 데이터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ko-KR" altLang="en-US" sz="1800" dirty="0"/>
              <a:t>단어</a:t>
            </a:r>
            <a:r>
              <a:rPr lang="en-US" altLang="ko-KR" sz="1800" dirty="0"/>
              <a:t>) </a:t>
            </a:r>
            <a:r>
              <a:rPr lang="ko-KR" altLang="en-US" sz="1800" dirty="0"/>
              <a:t>간의 관계를 점수로 매김</a:t>
            </a:r>
            <a:r>
              <a:rPr lang="en-US" altLang="ko-KR" sz="1800" dirty="0"/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예</a:t>
            </a:r>
            <a:r>
              <a:rPr lang="en-US" altLang="ko-KR" sz="1800" dirty="0"/>
              <a:t>: "</a:t>
            </a:r>
            <a:r>
              <a:rPr lang="ko-KR" altLang="en-US" sz="1800" dirty="0"/>
              <a:t>고양이</a:t>
            </a:r>
            <a:r>
              <a:rPr lang="en-US" altLang="ko-KR" sz="1800" dirty="0"/>
              <a:t>" ↔ "</a:t>
            </a:r>
            <a:r>
              <a:rPr lang="ko-KR" altLang="en-US" sz="1800" dirty="0"/>
              <a:t>올라갔다</a:t>
            </a:r>
            <a:r>
              <a:rPr lang="en-US" altLang="ko-KR" sz="1800" dirty="0"/>
              <a:t>"</a:t>
            </a:r>
            <a:r>
              <a:rPr lang="ko-KR" altLang="en-US" sz="1800" dirty="0"/>
              <a:t>는 관련성 높음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가중치 부여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점수를 기반으로 각 단어의 중요도를 결정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정보 재조합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중요한 데이터에 더 집중해 전체 문맥 이해</a:t>
            </a:r>
            <a:r>
              <a:rPr lang="en-US" altLang="ko-KR" sz="1800" dirty="0"/>
              <a:t>.</a:t>
            </a:r>
            <a:endParaRPr lang="en-US" altLang="ko-KR" sz="1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573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트랜스포머</a:t>
            </a:r>
            <a:r>
              <a:rPr lang="en-US" altLang="ko-KR" b="1" dirty="0"/>
              <a:t>(Transformer)</a:t>
            </a:r>
            <a:r>
              <a:rPr lang="ko-KR" altLang="en-US" b="1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1534" cy="30959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📌 특징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병렬 처리 가능</a:t>
            </a:r>
            <a:r>
              <a:rPr lang="en-US" altLang="ko-KR" sz="2000" dirty="0"/>
              <a:t>: GPU </a:t>
            </a:r>
            <a:r>
              <a:rPr lang="ko-KR" altLang="en-US" sz="2000" dirty="0"/>
              <a:t>활용 효율성 극대화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확장성</a:t>
            </a:r>
            <a:r>
              <a:rPr lang="en-US" altLang="ko-KR" sz="2000" dirty="0"/>
              <a:t>: </a:t>
            </a:r>
            <a:r>
              <a:rPr lang="ko-KR" altLang="en-US" sz="2000" dirty="0"/>
              <a:t>매우 큰 모델로 확장 가능 </a:t>
            </a:r>
            <a:r>
              <a:rPr lang="en-US" altLang="ko-KR" sz="2000" dirty="0"/>
              <a:t>(BERT, GPT </a:t>
            </a:r>
            <a:r>
              <a:rPr lang="ko-KR" altLang="en-US" sz="2000" dirty="0"/>
              <a:t>등</a:t>
            </a:r>
            <a:r>
              <a:rPr lang="en-US" altLang="ko-KR" sz="2000" dirty="0"/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범용성</a:t>
            </a:r>
            <a:r>
              <a:rPr lang="en-US" altLang="ko-KR" sz="2000" dirty="0"/>
              <a:t>: </a:t>
            </a:r>
            <a:r>
              <a:rPr lang="ko-KR" altLang="en-US" sz="2000" dirty="0"/>
              <a:t>언어뿐 아니라 이미지</a:t>
            </a:r>
            <a:r>
              <a:rPr lang="en-US" altLang="ko-KR" sz="2000" dirty="0"/>
              <a:t>, </a:t>
            </a:r>
            <a:r>
              <a:rPr lang="ko-KR" altLang="en-US" sz="2000" dirty="0"/>
              <a:t>음성 등 다양한 분야에 활용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9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트랜스포머</a:t>
            </a:r>
            <a:r>
              <a:rPr lang="en-US" altLang="ko-KR" b="1" dirty="0"/>
              <a:t>(Transformer)</a:t>
            </a:r>
            <a:r>
              <a:rPr lang="ko-KR" altLang="en-US" b="1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1534" cy="30959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활용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자연어 처리</a:t>
            </a:r>
            <a:r>
              <a:rPr lang="en-US" altLang="ko-KR" sz="2000" dirty="0"/>
              <a:t>: </a:t>
            </a:r>
            <a:r>
              <a:rPr lang="ko-KR" altLang="en-US" sz="2000" dirty="0"/>
              <a:t>번역</a:t>
            </a:r>
            <a:r>
              <a:rPr lang="en-US" altLang="ko-KR" sz="2000" dirty="0"/>
              <a:t>, </a:t>
            </a:r>
            <a:r>
              <a:rPr lang="ko-KR" altLang="en-US" sz="2000" dirty="0"/>
              <a:t>요약</a:t>
            </a:r>
            <a:r>
              <a:rPr lang="en-US" altLang="ko-KR" sz="2000" dirty="0"/>
              <a:t>, </a:t>
            </a:r>
            <a:r>
              <a:rPr lang="ko-KR" altLang="en-US" sz="2000" dirty="0"/>
              <a:t>질문 응답 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ChatGPT</a:t>
            </a:r>
            <a:r>
              <a:rPr lang="en-US" altLang="ko-KR" sz="2000" dirty="0"/>
              <a:t>, BERT)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컴퓨터 비전</a:t>
            </a:r>
            <a:r>
              <a:rPr lang="en-US" altLang="ko-KR" sz="2000" dirty="0"/>
              <a:t>: </a:t>
            </a:r>
            <a:r>
              <a:rPr lang="ko-KR" altLang="en-US" sz="2000" dirty="0"/>
              <a:t>이미지 분류</a:t>
            </a:r>
            <a:r>
              <a:rPr lang="en-US" altLang="ko-KR" sz="2000" dirty="0"/>
              <a:t>, </a:t>
            </a:r>
            <a:r>
              <a:rPr lang="ko-KR" altLang="en-US" sz="2000" dirty="0"/>
              <a:t>생성 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Vision Transformer, DALL-E)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rgbClr val="FF3399"/>
                </a:solidFill>
              </a:rPr>
              <a:t>→ 표준으로 자리 잡음</a:t>
            </a:r>
            <a:endParaRPr lang="en-US" altLang="ko-KR" sz="2000" b="1" dirty="0">
              <a:solidFill>
                <a:srgbClr val="FF3399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025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364201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5943</TotalTime>
  <Words>654</Words>
  <Application>Microsoft Office PowerPoint</Application>
  <PresentationFormat>와이드스크린</PresentationFormat>
  <Paragraphs>107</Paragraphs>
  <Slides>14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G마켓 산스 TTF Medium</vt:lpstr>
      <vt:lpstr>Pretendard Light</vt:lpstr>
      <vt:lpstr>맑은 고딕</vt:lpstr>
      <vt:lpstr>Pretendard Medium</vt:lpstr>
      <vt:lpstr>G마켓 산스 TTF Bold</vt:lpstr>
      <vt:lpstr>Wingdings</vt:lpstr>
      <vt:lpstr>메이플스토리</vt:lpstr>
      <vt:lpstr>Pretendard Black</vt:lpstr>
      <vt:lpstr>Arial</vt:lpstr>
      <vt:lpstr>1_Office 테마</vt:lpstr>
      <vt:lpstr>2_Office 테마</vt:lpstr>
      <vt:lpstr>x</vt:lpstr>
      <vt:lpstr>PowerPoint 프레젠테이션</vt:lpstr>
      <vt:lpstr>딥러닝 모델</vt:lpstr>
      <vt:lpstr>딥러닝 모델</vt:lpstr>
      <vt:lpstr>FNN(Feedforward Neural Network)</vt:lpstr>
      <vt:lpstr>CNN(Convolutional Neural Network)</vt:lpstr>
      <vt:lpstr>RNN(Recurrent Neural Network)</vt:lpstr>
      <vt:lpstr>RNN(Recurrent Neural Network)</vt:lpstr>
      <vt:lpstr>트랜스포머(Transformer) </vt:lpstr>
      <vt:lpstr>트랜스포머(Transformer) </vt:lpstr>
      <vt:lpstr>트랜스포머(Transformer) </vt:lpstr>
      <vt:lpstr>트랜스포머(Transformer) </vt:lpstr>
      <vt:lpstr>트랜스포머(Transformer)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1003</cp:revision>
  <dcterms:created xsi:type="dcterms:W3CDTF">2022-06-26T11:10:22Z</dcterms:created>
  <dcterms:modified xsi:type="dcterms:W3CDTF">2025-09-22T07:37:09Z</dcterms:modified>
</cp:coreProperties>
</file>