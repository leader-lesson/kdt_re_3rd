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9"/>
  </p:notesMasterIdLst>
  <p:sldIdLst>
    <p:sldId id="1004" r:id="rId2"/>
    <p:sldId id="1016" r:id="rId3"/>
    <p:sldId id="609" r:id="rId4"/>
    <p:sldId id="610" r:id="rId5"/>
    <p:sldId id="611" r:id="rId6"/>
    <p:sldId id="624" r:id="rId7"/>
    <p:sldId id="1008" r:id="rId8"/>
    <p:sldId id="1010" r:id="rId9"/>
    <p:sldId id="1011" r:id="rId10"/>
    <p:sldId id="1012" r:id="rId11"/>
    <p:sldId id="1013" r:id="rId12"/>
    <p:sldId id="1014" r:id="rId13"/>
    <p:sldId id="1015" r:id="rId14"/>
    <p:sldId id="1034" r:id="rId15"/>
    <p:sldId id="677" r:id="rId16"/>
    <p:sldId id="1035" r:id="rId17"/>
    <p:sldId id="679" r:id="rId18"/>
    <p:sldId id="680" r:id="rId19"/>
    <p:sldId id="693" r:id="rId20"/>
    <p:sldId id="1036" r:id="rId21"/>
    <p:sldId id="690" r:id="rId22"/>
    <p:sldId id="689" r:id="rId23"/>
    <p:sldId id="682" r:id="rId24"/>
    <p:sldId id="1037" r:id="rId25"/>
    <p:sldId id="686" r:id="rId26"/>
    <p:sldId id="687" r:id="rId27"/>
    <p:sldId id="836" r:id="rId2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99"/>
    <a:srgbClr val="FF0066"/>
    <a:srgbClr val="FF5050"/>
    <a:srgbClr val="FF7C80"/>
    <a:srgbClr val="2B2B2B"/>
    <a:srgbClr val="00B050"/>
    <a:srgbClr val="ED7D31"/>
    <a:srgbClr val="0059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256" autoAdjust="0"/>
    <p:restoredTop sz="91676" autoAdjust="0"/>
  </p:normalViewPr>
  <p:slideViewPr>
    <p:cSldViewPr snapToGrid="0">
      <p:cViewPr varScale="1">
        <p:scale>
          <a:sx n="98" d="100"/>
          <a:sy n="98" d="100"/>
        </p:scale>
        <p:origin x="548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240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A13A867C-D490-40C2-AB8D-A60FA70A9BF5}" type="datetimeFigureOut">
              <a:rPr lang="ko-KR" altLang="en-US" smtClean="0"/>
              <a:pPr/>
              <a:t>2025-09-22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3E35EA20-6519-4513-9EDC-C89C5369BAE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416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2EE83-52CB-E118-49CB-3EBDD6EF2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0F83B01-3943-C359-9322-8EB719FB82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2F259CF-8156-0FB2-87BB-C2421F329E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01DD34-5BFE-877A-E657-9B3A6B1B5C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16455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E3F-2E9A-4FD8-8B8A-8619F3E161C0}" type="datetime1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1500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40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5E23C3-0E3D-4E4E-8486-D7FB4C073DC1}" type="datetime1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267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E23C3-0E3D-4E4E-8486-D7FB4C073DC1}" type="datetime1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14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zalando.com/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drive/1-Tj7QmlFH5lwbVu47AJ2hBBZ4mNkQi4M?usp=sharing" TargetMode="External"/><Relationship Id="rId2" Type="http://schemas.openxmlformats.org/officeDocument/2006/relationships/hyperlink" Target="https://colab.research.google.com/drive/1DepdQVNMmez2Z004bxrB3eETqv3WSzKd?usp=sharing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olab.research.google.com/drive/1jAbq5Y7Bt-5gsT_Ve-_b3c-qrMRasuHI?usp=sharing" TargetMode="Externa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/drive/1WtIki1KlmaZv11Wjn67fgAqPXikHaU-P?usp=sharing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drive/13IYJXQu-WrkaaNgai1rkaD4B1fX8nbZ1?usp=sharing" TargetMode="External"/><Relationship Id="rId2" Type="http://schemas.openxmlformats.org/officeDocument/2006/relationships/hyperlink" Target="https://colab.research.google.com/drive/1tf5JOPjf_ZrLgK9gCkOXR56ZzoI363q4?usp=sharing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FE122-E831-904C-0AAE-87F481BD3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561" y="2541087"/>
            <a:ext cx="853440" cy="935038"/>
          </a:xfrm>
        </p:spPr>
        <p:txBody>
          <a:bodyPr/>
          <a:lstStyle/>
          <a:p>
            <a:r>
              <a:rPr lang="en-US" altLang="ko-KR" b="1" dirty="0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F9E2036-8D3D-3C48-304C-6615D19E47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75349" y="3686684"/>
            <a:ext cx="2336503" cy="530087"/>
          </a:xfrm>
        </p:spPr>
        <p:txBody>
          <a:bodyPr wrap="square"/>
          <a:lstStyle/>
          <a:p>
            <a:pPr algn="just"/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재생에너지 </a:t>
            </a:r>
            <a:r>
              <a:rPr lang="en-US" altLang="ko-KR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3</a:t>
            </a:r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3AD1B1D-CD7D-EE4E-41B0-87A1CCAAD4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9511" y="3670957"/>
            <a:ext cx="3021223" cy="456225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FC9A9E68-1C40-179C-9126-E3D84DE20A0A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E78D3EA-D15D-AC23-FCDE-3921C4292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0" name="그림 9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A611E206-8734-8C1B-C7A0-99730D8C0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95912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37FDB-1568-389F-E123-063484337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C965670-98DC-A065-57FC-ABD7E3673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393C3F4-AD1B-C6D5-68DA-7029EF774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CB430B-31A5-D649-B6CE-DF74FA33EE32}"/>
              </a:ext>
            </a:extLst>
          </p:cNvPr>
          <p:cNvSpPr txBox="1"/>
          <p:nvPr/>
        </p:nvSpPr>
        <p:spPr>
          <a:xfrm>
            <a:off x="4736495" y="2719554"/>
            <a:ext cx="285206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5400" dirty="0" err="1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자동미분</a:t>
            </a:r>
            <a:endParaRPr lang="ko-KR" altLang="en-US" sz="54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606821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BAEF5B-FF90-92CD-0825-BA08C2F46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 err="1"/>
              <a:t>자동미분</a:t>
            </a:r>
            <a:r>
              <a:rPr lang="en-US" altLang="ko-KR" b="1" dirty="0"/>
              <a:t>(</a:t>
            </a:r>
            <a:r>
              <a:rPr lang="en-US" altLang="ko-KR" b="1" dirty="0" err="1"/>
              <a:t>Autograd</a:t>
            </a:r>
            <a:r>
              <a:rPr lang="en-US" altLang="ko-KR" b="1" dirty="0"/>
              <a:t>)</a:t>
            </a:r>
            <a:endParaRPr lang="ko-KR" altLang="en-US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2C3FC2-98E9-74BA-CED1-45D6DCAF52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701221" cy="4665797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역전파를 위해서는 </a:t>
            </a:r>
            <a:r>
              <a:rPr lang="en-US" altLang="ko-KR" dirty="0"/>
              <a:t>gradient(</a:t>
            </a:r>
            <a:r>
              <a:rPr lang="ko-KR" altLang="en-US" dirty="0"/>
              <a:t>기울기</a:t>
            </a:r>
            <a:r>
              <a:rPr lang="en-US" altLang="ko-KR" dirty="0"/>
              <a:t>)</a:t>
            </a:r>
            <a:r>
              <a:rPr lang="ko-KR" altLang="en-US" dirty="0"/>
              <a:t>를 구해야 함</a:t>
            </a:r>
            <a:r>
              <a:rPr lang="en-US" altLang="ko-KR" dirty="0"/>
              <a:t> </a:t>
            </a:r>
            <a:r>
              <a:rPr lang="ko-KR" altLang="en-US" dirty="0"/>
              <a:t>→ 미분 필요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📌 </a:t>
            </a:r>
            <a:r>
              <a:rPr lang="en-US" altLang="ko-KR" dirty="0"/>
              <a:t>tensor</a:t>
            </a:r>
            <a:r>
              <a:rPr lang="ko-KR" altLang="en-US" dirty="0"/>
              <a:t>가 미분을 하기 위한 조건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/>
              <a:t>tensor</a:t>
            </a:r>
            <a:r>
              <a:rPr lang="ko-KR" altLang="en-US" dirty="0"/>
              <a:t>의 옵션이 </a:t>
            </a:r>
            <a:r>
              <a:rPr lang="en-US" altLang="ko-KR" dirty="0" err="1">
                <a:solidFill>
                  <a:srgbClr val="FF0000"/>
                </a:solidFill>
              </a:rPr>
              <a:t>requires_grad</a:t>
            </a:r>
            <a:r>
              <a:rPr lang="en-US" altLang="ko-KR" dirty="0">
                <a:solidFill>
                  <a:srgbClr val="FF0000"/>
                </a:solidFill>
              </a:rPr>
              <a:t> = True </a:t>
            </a:r>
            <a:r>
              <a:rPr lang="ko-KR" altLang="en-US" dirty="0"/>
              <a:t>로 설정 </a:t>
            </a:r>
            <a:r>
              <a:rPr lang="en-US" altLang="ko-KR" dirty="0"/>
              <a:t>(default</a:t>
            </a:r>
            <a:r>
              <a:rPr lang="ko-KR" altLang="en-US" dirty="0"/>
              <a:t> 는 </a:t>
            </a:r>
            <a:r>
              <a:rPr lang="en-US" altLang="ko-KR" dirty="0"/>
              <a:t>False)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backpropagation </a:t>
            </a:r>
            <a:r>
              <a:rPr lang="ko-KR" altLang="en-US" dirty="0"/>
              <a:t>을 시작할 지점의 </a:t>
            </a:r>
            <a:r>
              <a:rPr lang="en-US" altLang="ko-KR" dirty="0"/>
              <a:t>output</a:t>
            </a:r>
            <a:r>
              <a:rPr lang="ko-KR" altLang="en-US" dirty="0"/>
              <a:t>은 </a:t>
            </a:r>
            <a:r>
              <a:rPr lang="en-US" altLang="ko-KR" dirty="0"/>
              <a:t>scalar </a:t>
            </a:r>
            <a:r>
              <a:rPr lang="ko-KR" altLang="en-US" dirty="0"/>
              <a:t>형태여야 함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✅ 자동 미분 방법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역전파를 시작할 지점의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tensor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에서 </a:t>
            </a:r>
            <a:r>
              <a:rPr lang="en-US" altLang="ko-KR" dirty="0">
                <a:solidFill>
                  <a:srgbClr val="FF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.backward()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함수를 호출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gradient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값을 확인하려면 </a:t>
            </a:r>
            <a:r>
              <a:rPr lang="en-US" altLang="ko-KR" dirty="0">
                <a:solidFill>
                  <a:srgbClr val="FF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.grad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값을 통해 확인 가능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79C4817-3727-4539-8CEB-409EBC857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C22F973-7A88-A30E-FD80-6520AC4C6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59323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BAEF5B-FF90-92CD-0825-BA08C2F46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 err="1"/>
              <a:t>자동미분</a:t>
            </a:r>
            <a:r>
              <a:rPr lang="en-US" altLang="ko-KR" b="1" dirty="0"/>
              <a:t>(</a:t>
            </a:r>
            <a:r>
              <a:rPr lang="en-US" altLang="ko-KR" b="1" dirty="0" err="1"/>
              <a:t>Autograd</a:t>
            </a:r>
            <a:r>
              <a:rPr lang="en-US" altLang="ko-KR" b="1" dirty="0"/>
              <a:t>)</a:t>
            </a:r>
            <a:endParaRPr lang="ko-KR" altLang="en-US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2C3FC2-98E9-74BA-CED1-45D6DCAF52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7823" y="2911203"/>
            <a:ext cx="7102377" cy="1295037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텐서에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사칙연산을 하게 되면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grad_fn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 각각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AddBackwrod0, </a:t>
            </a:r>
            <a:b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</a:b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     SubBackward0, MulBackward0, DivBackward0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과 같이 수행된 </a:t>
            </a:r>
            <a:b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</a:b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    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연산이 기록됨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79C4817-3727-4539-8CEB-409EBC857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C22F973-7A88-A30E-FD80-6520AC4C6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</a:t>
            </a:fld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CF5AEBF-748D-3927-AA96-9B65B47CDF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800" y="1114886"/>
            <a:ext cx="3851752" cy="5272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9209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BAEF5B-FF90-92CD-0825-BA08C2F46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 err="1"/>
              <a:t>자동미분</a:t>
            </a:r>
            <a:r>
              <a:rPr lang="en-US" altLang="ko-KR" b="1" dirty="0"/>
              <a:t>(</a:t>
            </a:r>
            <a:r>
              <a:rPr lang="en-US" altLang="ko-KR" b="1" dirty="0" err="1"/>
              <a:t>Autograd</a:t>
            </a:r>
            <a:r>
              <a:rPr lang="en-US" altLang="ko-KR" b="1" dirty="0"/>
              <a:t>)</a:t>
            </a:r>
            <a:endParaRPr lang="ko-KR" altLang="en-US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2C3FC2-98E9-74BA-CED1-45D6DCAF52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29193" y="4464294"/>
            <a:ext cx="6733614" cy="1761454"/>
          </a:xfrm>
        </p:spPr>
        <p:txBody>
          <a:bodyPr>
            <a:normAutofit/>
          </a:bodyPr>
          <a:lstStyle/>
          <a:p>
            <a:r>
              <a:rPr lang="en-US" altLang="ko-KR" sz="2400" dirty="0"/>
              <a:t>f(x) = 3x</a:t>
            </a:r>
            <a:r>
              <a:rPr lang="en-US" altLang="ko-KR" sz="2400" baseline="30000" dirty="0"/>
              <a:t>2</a:t>
            </a:r>
            <a:r>
              <a:rPr lang="en-US" altLang="ko-KR" sz="2400" dirty="0"/>
              <a:t>+4x+1</a:t>
            </a:r>
          </a:p>
          <a:p>
            <a:r>
              <a:rPr lang="en-US" altLang="ko-KR" sz="2400" dirty="0"/>
              <a:t>f’(x) = 6x+4</a:t>
            </a:r>
          </a:p>
          <a:p>
            <a:pPr lvl="1"/>
            <a:r>
              <a:rPr lang="en-US" altLang="ko-KR" sz="2000" dirty="0"/>
              <a:t>x=2 </a:t>
            </a:r>
            <a:r>
              <a:rPr lang="ko-KR" altLang="en-US" sz="2000" dirty="0"/>
              <a:t>라고 하면 </a:t>
            </a:r>
            <a:r>
              <a:rPr lang="en-US" altLang="ko-KR" sz="2000" dirty="0"/>
              <a:t>x=2</a:t>
            </a:r>
            <a:r>
              <a:rPr lang="ko-KR" altLang="en-US" sz="2000" dirty="0"/>
              <a:t>에서의 기울기는 </a:t>
            </a:r>
            <a:r>
              <a:rPr lang="en-US" altLang="ko-KR" sz="2000" dirty="0"/>
              <a:t>6*2+4 = </a:t>
            </a:r>
            <a:r>
              <a:rPr lang="en-US" altLang="ko-KR" sz="2000" dirty="0">
                <a:solidFill>
                  <a:srgbClr val="FF0000"/>
                </a:solidFill>
              </a:rPr>
              <a:t>16</a:t>
            </a:r>
            <a:endParaRPr lang="en-US" altLang="ko-KR" sz="20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79C4817-3727-4539-8CEB-409EBC857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C22F973-7A88-A30E-FD80-6520AC4C6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B7636EF-4A45-1362-7B58-FA5F9CDA2B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9193" y="1759578"/>
            <a:ext cx="6733614" cy="270471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DD5EA1B-DAD7-5D6F-1AA9-64398C0E225E}"/>
              </a:ext>
            </a:extLst>
          </p:cNvPr>
          <p:cNvSpPr txBox="1"/>
          <p:nvPr/>
        </p:nvSpPr>
        <p:spPr>
          <a:xfrm>
            <a:off x="2567130" y="1161739"/>
            <a:ext cx="6116854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미분 예시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16734518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BAEF5B-FF90-92CD-0825-BA08C2F46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 err="1"/>
              <a:t>자동미분</a:t>
            </a:r>
            <a:r>
              <a:rPr lang="en-US" altLang="ko-KR" b="1" dirty="0"/>
              <a:t>(</a:t>
            </a:r>
            <a:r>
              <a:rPr lang="en-US" altLang="ko-KR" b="1" dirty="0" err="1"/>
              <a:t>Autograd</a:t>
            </a:r>
            <a:r>
              <a:rPr lang="en-US" altLang="ko-KR" b="1" dirty="0"/>
              <a:t>)</a:t>
            </a:r>
            <a:endParaRPr lang="ko-KR" altLang="en-US" b="1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79C4817-3727-4539-8CEB-409EBC857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C22F973-7A88-A30E-FD80-6520AC4C6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DC50AAD-7057-A7BF-1D8A-42DD7248ED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271" y="2290813"/>
            <a:ext cx="6588014" cy="300075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253DD48-7A8A-0187-93AA-EC3D38D0E2E5}"/>
              </a:ext>
            </a:extLst>
          </p:cNvPr>
          <p:cNvSpPr txBox="1"/>
          <p:nvPr/>
        </p:nvSpPr>
        <p:spPr>
          <a:xfrm>
            <a:off x="251788" y="1566436"/>
            <a:ext cx="4650643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ko-KR" altLang="en-US" sz="2400" dirty="0" err="1"/>
              <a:t>편미분</a:t>
            </a:r>
            <a:r>
              <a:rPr lang="ko-KR" altLang="en-US" sz="2400" dirty="0"/>
              <a:t> 예시</a:t>
            </a:r>
            <a:endParaRPr lang="en-US" altLang="ko-KR" sz="2400" dirty="0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E92C3FC2-98E9-74BA-CED1-45D6DCAF52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73660" y="1757816"/>
            <a:ext cx="4203069" cy="4066743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y = x</a:t>
            </a:r>
            <a:r>
              <a:rPr lang="en-US" altLang="ko-KR" sz="2400" baseline="30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3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+ z</a:t>
            </a:r>
            <a:r>
              <a:rPr lang="en-US" altLang="ko-KR" sz="2400" baseline="30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2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x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 대해서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편미분하면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3x</a:t>
            </a:r>
            <a:r>
              <a:rPr lang="en-US" altLang="ko-KR" sz="2400" baseline="30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2</a:t>
            </a:r>
          </a:p>
          <a:p>
            <a:pPr>
              <a:lnSpc>
                <a:spcPct val="150000"/>
              </a:lnSpc>
            </a:pP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z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 대해서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편미분하면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2z</a:t>
            </a:r>
          </a:p>
          <a:p>
            <a:pPr>
              <a:lnSpc>
                <a:spcPct val="150000"/>
              </a:lnSpc>
            </a:pP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f’(</a:t>
            </a:r>
            <a:r>
              <a:rPr lang="en-US" altLang="ko-KR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x,z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 = f’(1,2)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을 한다고 하면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en-US" altLang="ko-KR" dirty="0"/>
              <a:t>x = 1 </a:t>
            </a:r>
            <a:r>
              <a:rPr lang="ko-KR" altLang="en-US" dirty="0" err="1"/>
              <a:t>일때</a:t>
            </a:r>
            <a:r>
              <a:rPr lang="ko-KR" altLang="en-US" dirty="0"/>
              <a:t> </a:t>
            </a:r>
            <a:r>
              <a:rPr lang="en-US" altLang="ko-KR" dirty="0"/>
              <a:t>y’(1) = 3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z = 2 </a:t>
            </a:r>
            <a:r>
              <a:rPr lang="ko-KR" altLang="en-US" dirty="0" err="1"/>
              <a:t>일때</a:t>
            </a:r>
            <a:r>
              <a:rPr lang="ko-KR" altLang="en-US" dirty="0"/>
              <a:t> </a:t>
            </a:r>
            <a:r>
              <a:rPr lang="en-US" altLang="ko-KR" dirty="0"/>
              <a:t>y’(2) = 4</a:t>
            </a:r>
          </a:p>
        </p:txBody>
      </p:sp>
    </p:spTree>
    <p:extLst>
      <p:ext uri="{BB962C8B-B14F-4D97-AF65-F5344CB8AC3E}">
        <p14:creationId xmlns:p14="http://schemas.microsoft.com/office/powerpoint/2010/main" val="37035003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BAEF5B-FF90-92CD-0825-BA08C2F46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 err="1"/>
              <a:t>자동미분</a:t>
            </a:r>
            <a:r>
              <a:rPr lang="en-US" altLang="ko-KR" b="1" dirty="0"/>
              <a:t>(</a:t>
            </a:r>
            <a:r>
              <a:rPr lang="en-US" altLang="ko-KR" b="1" dirty="0" err="1"/>
              <a:t>Autograd</a:t>
            </a:r>
            <a:r>
              <a:rPr lang="en-US" altLang="ko-KR" b="1" dirty="0"/>
              <a:t>)</a:t>
            </a:r>
            <a:endParaRPr lang="ko-KR" altLang="en-US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2C3FC2-98E9-74BA-CED1-45D6DCAF52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2306453"/>
            <a:ext cx="6373565" cy="224509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en-US" altLang="ko-KR" sz="2400" dirty="0" err="1"/>
              <a:t>no_grad</a:t>
            </a:r>
            <a:r>
              <a:rPr lang="en-US" altLang="ko-KR" sz="2400" dirty="0"/>
              <a:t>()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학습이 모두 끝나고 테스트를 할 때는 역전파를 하지 않아도 되므로 </a:t>
            </a:r>
            <a:r>
              <a:rPr lang="en-US" altLang="ko-KR" sz="2000" dirty="0"/>
              <a:t>gradient</a:t>
            </a:r>
            <a:r>
              <a:rPr lang="ko-KR" altLang="en-US" sz="2000" dirty="0"/>
              <a:t>를 구하고 업데이트할 필요가 없음</a:t>
            </a:r>
            <a:endParaRPr lang="en-US" altLang="ko-KR" sz="2000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/>
              <a:t>➡️ 이때 사용하는 것이 </a:t>
            </a:r>
            <a:r>
              <a:rPr lang="en-US" altLang="ko-KR" sz="2000" dirty="0" err="1">
                <a:solidFill>
                  <a:srgbClr val="FF0000"/>
                </a:solidFill>
              </a:rPr>
              <a:t>torch.no_grad</a:t>
            </a:r>
            <a:r>
              <a:rPr lang="en-US" altLang="ko-KR" sz="2000" dirty="0">
                <a:solidFill>
                  <a:srgbClr val="FF0000"/>
                </a:solidFill>
              </a:rPr>
              <a:t>()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79C4817-3727-4539-8CEB-409EBC857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C22F973-7A88-A30E-FD80-6520AC4C6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B998D01-2FF6-6F8C-5DAA-28FBC6871F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4236" y="1443790"/>
            <a:ext cx="4724400" cy="4396967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EED799A9-9502-0202-A494-E9E05CC2D20D}"/>
              </a:ext>
            </a:extLst>
          </p:cNvPr>
          <p:cNvSpPr/>
          <p:nvPr/>
        </p:nvSpPr>
        <p:spPr>
          <a:xfrm>
            <a:off x="6997700" y="3092450"/>
            <a:ext cx="3530600" cy="1459096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21591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5AF72C-B533-4FF9-A130-F648316E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90D65E-6BBD-40AD-9C36-8D87CA26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F033CAEA-B834-6A1C-5CA2-D798967C2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b="1" dirty="0">
                <a:solidFill>
                  <a:schemeClr val="accent2"/>
                </a:solidFill>
              </a:rPr>
              <a:t>실습</a:t>
            </a:r>
            <a:r>
              <a:rPr lang="en-US" altLang="ko-KR" b="1" dirty="0">
                <a:solidFill>
                  <a:schemeClr val="accent2"/>
                </a:solidFill>
              </a:rPr>
              <a:t>1. </a:t>
            </a:r>
            <a:r>
              <a:rPr lang="ko-KR" altLang="en-US" b="1" dirty="0">
                <a:solidFill>
                  <a:schemeClr val="accent2"/>
                </a:solidFill>
              </a:rPr>
              <a:t>선형 회귀 실습</a:t>
            </a: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31C931B4-5069-4FA2-8002-208CA004C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337" y="1256115"/>
            <a:ext cx="11511989" cy="186905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3200" dirty="0"/>
              <a:t>배운 내용을 바탕으로 선형 회귀 실습을 함께 진행합니다</a:t>
            </a:r>
            <a:endParaRPr lang="en-US" altLang="ko-KR" sz="3200" dirty="0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357758A3-21A6-FDE6-41B4-98F5C6ED4889}"/>
              </a:ext>
            </a:extLst>
          </p:cNvPr>
          <p:cNvSpPr/>
          <p:nvPr/>
        </p:nvSpPr>
        <p:spPr>
          <a:xfrm>
            <a:off x="267783" y="2673460"/>
            <a:ext cx="2075817" cy="151107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2800" b="1" dirty="0"/>
              <a:t>입 출력 정의</a:t>
            </a:r>
          </a:p>
        </p:txBody>
      </p:sp>
      <p:sp>
        <p:nvSpPr>
          <p:cNvPr id="3" name="화살표: 오른쪽 2">
            <a:extLst>
              <a:ext uri="{FF2B5EF4-FFF2-40B4-BE49-F238E27FC236}">
                <a16:creationId xmlns:a16="http://schemas.microsoft.com/office/drawing/2014/main" id="{63461FBD-6689-F78F-ED08-1A4306E25EA4}"/>
              </a:ext>
            </a:extLst>
          </p:cNvPr>
          <p:cNvSpPr/>
          <p:nvPr/>
        </p:nvSpPr>
        <p:spPr>
          <a:xfrm>
            <a:off x="2521698" y="3227723"/>
            <a:ext cx="714121" cy="449943"/>
          </a:xfrm>
          <a:prstGeom prst="rightArrow">
            <a:avLst>
              <a:gd name="adj1" fmla="val 50000"/>
              <a:gd name="adj2" fmla="val 79032"/>
            </a:avLst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2D74F5B3-A86D-8D69-C728-1FC60462A0B2}"/>
              </a:ext>
            </a:extLst>
          </p:cNvPr>
          <p:cNvSpPr/>
          <p:nvPr/>
        </p:nvSpPr>
        <p:spPr>
          <a:xfrm>
            <a:off x="5729414" y="3204027"/>
            <a:ext cx="714121" cy="449943"/>
          </a:xfrm>
          <a:prstGeom prst="rightArrow">
            <a:avLst>
              <a:gd name="adj1" fmla="val 50000"/>
              <a:gd name="adj2" fmla="val 79032"/>
            </a:avLst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7777984B-4B1C-3FD7-28B0-E71BC87853F8}"/>
              </a:ext>
            </a:extLst>
          </p:cNvPr>
          <p:cNvSpPr/>
          <p:nvPr/>
        </p:nvSpPr>
        <p:spPr>
          <a:xfrm>
            <a:off x="3413917" y="2697154"/>
            <a:ext cx="2075817" cy="151107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2800" b="1" dirty="0"/>
              <a:t>모델 만들기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3BF94F64-6E0A-EA44-A830-EFD638069306}"/>
              </a:ext>
            </a:extLst>
          </p:cNvPr>
          <p:cNvSpPr/>
          <p:nvPr/>
        </p:nvSpPr>
        <p:spPr>
          <a:xfrm>
            <a:off x="6560051" y="2673458"/>
            <a:ext cx="2075817" cy="151107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2800" b="1" dirty="0"/>
              <a:t>손실함수</a:t>
            </a:r>
            <a:endParaRPr lang="en-US" altLang="ko-KR" sz="2800" b="1" dirty="0"/>
          </a:p>
          <a:p>
            <a:pPr algn="ctr"/>
            <a:r>
              <a:rPr lang="ko-KR" altLang="en-US" sz="2800" b="1" dirty="0"/>
              <a:t>정의</a:t>
            </a:r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C658E1A0-E689-AB1B-F832-217B853A1308}"/>
              </a:ext>
            </a:extLst>
          </p:cNvPr>
          <p:cNvSpPr/>
          <p:nvPr/>
        </p:nvSpPr>
        <p:spPr>
          <a:xfrm>
            <a:off x="8877841" y="3227723"/>
            <a:ext cx="714121" cy="449943"/>
          </a:xfrm>
          <a:prstGeom prst="rightArrow">
            <a:avLst>
              <a:gd name="adj1" fmla="val 50000"/>
              <a:gd name="adj2" fmla="val 79032"/>
            </a:avLst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7130A2AC-5D32-63C0-2324-929C0497D3AC}"/>
              </a:ext>
            </a:extLst>
          </p:cNvPr>
          <p:cNvSpPr/>
          <p:nvPr/>
        </p:nvSpPr>
        <p:spPr>
          <a:xfrm>
            <a:off x="9833935" y="2616532"/>
            <a:ext cx="2075817" cy="151107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Weight</a:t>
            </a:r>
          </a:p>
          <a:p>
            <a:pPr algn="ctr"/>
            <a:r>
              <a:rPr lang="ko-KR" altLang="en-US" sz="2800" b="1" dirty="0"/>
              <a:t>최적화</a:t>
            </a:r>
          </a:p>
        </p:txBody>
      </p:sp>
    </p:spTree>
    <p:extLst>
      <p:ext uri="{BB962C8B-B14F-4D97-AF65-F5344CB8AC3E}">
        <p14:creationId xmlns:p14="http://schemas.microsoft.com/office/powerpoint/2010/main" val="19424010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092B1BA-157F-47E4-13B2-F0DBF1F37445}"/>
              </a:ext>
            </a:extLst>
          </p:cNvPr>
          <p:cNvSpPr txBox="1"/>
          <p:nvPr/>
        </p:nvSpPr>
        <p:spPr>
          <a:xfrm>
            <a:off x="337287" y="1035648"/>
            <a:ext cx="11517425" cy="2064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200" b="1" dirty="0"/>
              <a:t>1.</a:t>
            </a:r>
            <a:r>
              <a:rPr lang="ko-KR" altLang="en-US" sz="3200" b="1" dirty="0"/>
              <a:t> 정의</a:t>
            </a:r>
          </a:p>
          <a:p>
            <a:pPr>
              <a:lnSpc>
                <a:spcPct val="150000"/>
              </a:lnSpc>
            </a:pPr>
            <a:r>
              <a:rPr lang="ko-KR" altLang="en-US" sz="2800" dirty="0"/>
              <a:t>다중선형회귀는 여러 입력 값</a:t>
            </a:r>
            <a:r>
              <a:rPr lang="en-US" altLang="ko-KR" sz="2800" dirty="0"/>
              <a:t>(</a:t>
            </a:r>
            <a:r>
              <a:rPr lang="ko-KR" altLang="en-US" sz="2800" dirty="0"/>
              <a:t>예</a:t>
            </a:r>
            <a:r>
              <a:rPr lang="en-US" altLang="ko-KR" sz="2800" dirty="0"/>
              <a:t>: </a:t>
            </a:r>
            <a:r>
              <a:rPr lang="ko-KR" altLang="en-US" sz="2800" dirty="0"/>
              <a:t>광고비</a:t>
            </a:r>
            <a:r>
              <a:rPr lang="en-US" altLang="ko-KR" sz="2800" dirty="0"/>
              <a:t>, </a:t>
            </a:r>
            <a:r>
              <a:rPr lang="ko-KR" altLang="en-US" sz="2800" dirty="0"/>
              <a:t>공부 시간 등</a:t>
            </a:r>
            <a:r>
              <a:rPr lang="en-US" altLang="ko-KR" sz="2800" dirty="0"/>
              <a:t>)</a:t>
            </a:r>
            <a:r>
              <a:rPr lang="ko-KR" altLang="en-US" sz="2800" dirty="0"/>
              <a:t>이 결과 값</a:t>
            </a:r>
            <a:r>
              <a:rPr lang="en-US" altLang="ko-KR" sz="2800" dirty="0"/>
              <a:t>(</a:t>
            </a:r>
            <a:r>
              <a:rPr lang="ko-KR" altLang="en-US" sz="2800" dirty="0"/>
              <a:t>예</a:t>
            </a:r>
            <a:r>
              <a:rPr lang="en-US" altLang="ko-KR" sz="2800" dirty="0"/>
              <a:t>: </a:t>
            </a:r>
            <a:r>
              <a:rPr lang="ko-KR" altLang="en-US" sz="2800" dirty="0"/>
              <a:t>판매량</a:t>
            </a:r>
            <a:r>
              <a:rPr lang="en-US" altLang="ko-KR" sz="2800" dirty="0"/>
              <a:t>, </a:t>
            </a:r>
            <a:r>
              <a:rPr lang="ko-KR" altLang="en-US" sz="2800" dirty="0"/>
              <a:t>시험 점수 등</a:t>
            </a:r>
            <a:r>
              <a:rPr lang="en-US" altLang="ko-KR" sz="2800" dirty="0"/>
              <a:t>)</a:t>
            </a:r>
            <a:r>
              <a:rPr lang="ko-KR" altLang="en-US" sz="2800" dirty="0"/>
              <a:t>에 얼마나 영향을 주는지 </a:t>
            </a:r>
            <a:r>
              <a:rPr lang="ko-KR" altLang="en-US" sz="2800" b="1" dirty="0"/>
              <a:t>직선 관계로</a:t>
            </a:r>
            <a:r>
              <a:rPr lang="ko-KR" altLang="en-US" sz="2800" dirty="0"/>
              <a:t> 분석하고 예측하는 방법</a:t>
            </a:r>
            <a:endParaRPr lang="en-US" altLang="ko-KR" sz="2800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0167A6CF-13F4-E6D4-1CA7-31DC4166E3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2519" y="3370263"/>
            <a:ext cx="8306959" cy="495369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33671F4E-FE54-A86B-09BA-4832165585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0" y="4135771"/>
            <a:ext cx="5080000" cy="1924582"/>
          </a:xfrm>
          <a:prstGeom prst="rect">
            <a:avLst/>
          </a:prstGeom>
        </p:spPr>
      </p:pic>
      <p:sp>
        <p:nvSpPr>
          <p:cNvPr id="7" name="제목 1">
            <a:extLst>
              <a:ext uri="{FF2B5EF4-FFF2-40B4-BE49-F238E27FC236}">
                <a16:creationId xmlns:a16="http://schemas.microsoft.com/office/drawing/2014/main" id="{70F5E6B7-A70B-9D80-3EE4-ED3EDCEE7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b="1" dirty="0">
                <a:solidFill>
                  <a:schemeClr val="accent2"/>
                </a:solidFill>
              </a:rPr>
              <a:t>실습</a:t>
            </a:r>
            <a:r>
              <a:rPr lang="en-US" altLang="ko-KR" b="1" dirty="0">
                <a:solidFill>
                  <a:schemeClr val="accent2"/>
                </a:solidFill>
              </a:rPr>
              <a:t>2. </a:t>
            </a:r>
            <a:r>
              <a:rPr lang="ko-KR" altLang="en-US" b="1" dirty="0">
                <a:solidFill>
                  <a:schemeClr val="accent2"/>
                </a:solidFill>
              </a:rPr>
              <a:t>다중 선형 회귀 구현</a:t>
            </a:r>
          </a:p>
        </p:txBody>
      </p:sp>
    </p:spTree>
    <p:extLst>
      <p:ext uri="{BB962C8B-B14F-4D97-AF65-F5344CB8AC3E}">
        <p14:creationId xmlns:p14="http://schemas.microsoft.com/office/powerpoint/2010/main" val="35186351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0CB50CF-716C-E000-9F7C-F3231CAA9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E0AB594-7E40-66AE-FFAA-6A3833413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</a:t>
            </a:fld>
            <a:endParaRPr lang="ko-KR" altLang="en-US"/>
          </a:p>
        </p:txBody>
      </p:sp>
      <p:pic>
        <p:nvPicPr>
          <p:cNvPr id="10" name="그림 9" descr="텍스트, 스크린샷, 소프트웨어, 멀티미디어 소프트웨어이(가) 표시된 사진&#10;&#10;자동 생성된 설명">
            <a:extLst>
              <a:ext uri="{FF2B5EF4-FFF2-40B4-BE49-F238E27FC236}">
                <a16:creationId xmlns:a16="http://schemas.microsoft.com/office/drawing/2014/main" id="{D65A4A8A-33B7-3F93-4AC8-920384D416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4800" y="1325563"/>
            <a:ext cx="12801600" cy="559293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5DC6A7B-FBD9-29B3-3797-1FC8FA8874B5}"/>
              </a:ext>
            </a:extLst>
          </p:cNvPr>
          <p:cNvSpPr txBox="1"/>
          <p:nvPr/>
        </p:nvSpPr>
        <p:spPr>
          <a:xfrm>
            <a:off x="362858" y="1359355"/>
            <a:ext cx="311976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3200" b="1" dirty="0"/>
              <a:t>모델 클래스 정의</a:t>
            </a:r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70F5E6B7-A70B-9D80-3EE4-ED3EDCEE7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b="1" dirty="0">
                <a:solidFill>
                  <a:schemeClr val="accent2"/>
                </a:solidFill>
              </a:rPr>
              <a:t>실습</a:t>
            </a:r>
            <a:r>
              <a:rPr lang="en-US" altLang="ko-KR" b="1" dirty="0">
                <a:solidFill>
                  <a:schemeClr val="accent2"/>
                </a:solidFill>
              </a:rPr>
              <a:t>2. </a:t>
            </a:r>
            <a:r>
              <a:rPr lang="ko-KR" altLang="en-US" b="1" dirty="0">
                <a:solidFill>
                  <a:schemeClr val="accent2"/>
                </a:solidFill>
              </a:rPr>
              <a:t>다중 선형 회귀 구현</a:t>
            </a:r>
          </a:p>
        </p:txBody>
      </p:sp>
    </p:spTree>
    <p:extLst>
      <p:ext uri="{BB962C8B-B14F-4D97-AF65-F5344CB8AC3E}">
        <p14:creationId xmlns:p14="http://schemas.microsoft.com/office/powerpoint/2010/main" val="19654733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C2E008-8E16-B445-B32D-44A42A535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6FFCB7B-6847-FADE-7E07-5AE408BD1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E3709A0-AD2A-9D13-2314-EF36BE564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11</a:t>
            </a:fld>
            <a:endParaRPr lang="ko-KR" altLang="en-US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B1C218A8-0DC6-93E0-027B-E587E4D66F1B}"/>
              </a:ext>
            </a:extLst>
          </p:cNvPr>
          <p:cNvGraphicFramePr>
            <a:graphicFrameLocks noGrp="1"/>
          </p:cNvGraphicFramePr>
          <p:nvPr/>
        </p:nvGraphicFramePr>
        <p:xfrm>
          <a:off x="391886" y="1809807"/>
          <a:ext cx="11408228" cy="4503906"/>
        </p:xfrm>
        <a:graphic>
          <a:graphicData uri="http://schemas.openxmlformats.org/drawingml/2006/table">
            <a:tbl>
              <a:tblPr/>
              <a:tblGrid>
                <a:gridCol w="2852057">
                  <a:extLst>
                    <a:ext uri="{9D8B030D-6E8A-4147-A177-3AD203B41FA5}">
                      <a16:colId xmlns:a16="http://schemas.microsoft.com/office/drawing/2014/main" val="3982548143"/>
                    </a:ext>
                  </a:extLst>
                </a:gridCol>
                <a:gridCol w="2852057">
                  <a:extLst>
                    <a:ext uri="{9D8B030D-6E8A-4147-A177-3AD203B41FA5}">
                      <a16:colId xmlns:a16="http://schemas.microsoft.com/office/drawing/2014/main" val="1170672640"/>
                    </a:ext>
                  </a:extLst>
                </a:gridCol>
                <a:gridCol w="2852057">
                  <a:extLst>
                    <a:ext uri="{9D8B030D-6E8A-4147-A177-3AD203B41FA5}">
                      <a16:colId xmlns:a16="http://schemas.microsoft.com/office/drawing/2014/main" val="876117175"/>
                    </a:ext>
                  </a:extLst>
                </a:gridCol>
                <a:gridCol w="2852057">
                  <a:extLst>
                    <a:ext uri="{9D8B030D-6E8A-4147-A177-3AD203B41FA5}">
                      <a16:colId xmlns:a16="http://schemas.microsoft.com/office/drawing/2014/main" val="53057592"/>
                    </a:ext>
                  </a:extLst>
                </a:gridCol>
              </a:tblGrid>
              <a:tr h="40944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TV </a:t>
                      </a:r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광고비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라디오</a:t>
                      </a: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</a:t>
                      </a:r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광고비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신문</a:t>
                      </a: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</a:t>
                      </a:r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광고비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판매량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0569891"/>
                  </a:ext>
                </a:extLst>
              </a:tr>
              <a:tr h="40944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50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30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22.1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3119206"/>
                  </a:ext>
                </a:extLst>
              </a:tr>
              <a:tr h="40944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10.4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1877200"/>
                  </a:ext>
                </a:extLst>
              </a:tr>
              <a:tr h="40944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30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9.3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0380176"/>
                  </a:ext>
                </a:extLst>
              </a:tr>
              <a:tr h="40944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30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28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18.5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152532"/>
                  </a:ext>
                </a:extLst>
              </a:tr>
              <a:tr h="40944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40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15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28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12.9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5637899"/>
                  </a:ext>
                </a:extLst>
              </a:tr>
              <a:tr h="40944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60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35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40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1959735"/>
                  </a:ext>
                </a:extLst>
              </a:tr>
              <a:tr h="40944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70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30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35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27.5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7892622"/>
                  </a:ext>
                </a:extLst>
              </a:tr>
              <a:tr h="40944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15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13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5337433"/>
                  </a:ext>
                </a:extLst>
              </a:tr>
              <a:tr h="40944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18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15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3104373"/>
                  </a:ext>
                </a:extLst>
              </a:tr>
              <a:tr h="40944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45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28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30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20.5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3188096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F05120D-05C1-30A4-694E-F92A15E2A429}"/>
              </a:ext>
            </a:extLst>
          </p:cNvPr>
          <p:cNvSpPr txBox="1"/>
          <p:nvPr/>
        </p:nvSpPr>
        <p:spPr>
          <a:xfrm>
            <a:off x="391886" y="1152462"/>
            <a:ext cx="20345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dirty="0"/>
              <a:t>1. </a:t>
            </a:r>
            <a:r>
              <a:rPr lang="ko-KR" altLang="en-US" sz="3200" b="1" dirty="0"/>
              <a:t>데이터셋</a:t>
            </a:r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D449702A-9377-60B8-74BD-A7A24DC16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b="1" dirty="0">
                <a:solidFill>
                  <a:schemeClr val="accent2"/>
                </a:solidFill>
              </a:rPr>
              <a:t>실습</a:t>
            </a:r>
            <a:r>
              <a:rPr lang="en-US" altLang="ko-KR" b="1" dirty="0">
                <a:solidFill>
                  <a:schemeClr val="accent2"/>
                </a:solidFill>
              </a:rPr>
              <a:t>2. </a:t>
            </a:r>
            <a:r>
              <a:rPr lang="ko-KR" altLang="en-US" b="1" dirty="0">
                <a:solidFill>
                  <a:schemeClr val="accent2"/>
                </a:solidFill>
              </a:rPr>
              <a:t>다중 선형 회귀 구현</a:t>
            </a:r>
          </a:p>
        </p:txBody>
      </p:sp>
    </p:spTree>
    <p:extLst>
      <p:ext uri="{BB962C8B-B14F-4D97-AF65-F5344CB8AC3E}">
        <p14:creationId xmlns:p14="http://schemas.microsoft.com/office/powerpoint/2010/main" val="2122961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3587DE-B7FA-E6A0-A2F0-385627E71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BBC2669-5E0A-FF7E-09B7-9DFDF9F6D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CA0206C-5789-5DB0-9DA9-B8C6C2F06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9094E1-52C3-4819-423C-46F97E1D25E9}"/>
              </a:ext>
            </a:extLst>
          </p:cNvPr>
          <p:cNvSpPr txBox="1"/>
          <p:nvPr/>
        </p:nvSpPr>
        <p:spPr>
          <a:xfrm>
            <a:off x="415018" y="1108919"/>
            <a:ext cx="11361964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문제</a:t>
            </a:r>
            <a:endParaRPr lang="en-US" altLang="ko-KR" sz="3200" b="1" dirty="0"/>
          </a:p>
          <a:p>
            <a:endParaRPr lang="en-US" altLang="ko-KR" sz="1600" b="1" dirty="0"/>
          </a:p>
          <a:p>
            <a:pPr marL="457200" indent="-457200">
              <a:buFont typeface="+mj-lt"/>
              <a:buAutoNum type="arabicPeriod"/>
            </a:pPr>
            <a:r>
              <a:rPr lang="ko-KR" altLang="en-US" sz="2000" b="1" dirty="0"/>
              <a:t>데이터 입출력</a:t>
            </a:r>
            <a:endParaRPr lang="en-US" altLang="ko-KR" sz="2000" b="1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2000" dirty="0"/>
              <a:t>TV, </a:t>
            </a:r>
            <a:r>
              <a:rPr lang="ko-KR" altLang="en-US" sz="2000" dirty="0"/>
              <a:t>라디오</a:t>
            </a:r>
            <a:r>
              <a:rPr lang="en-US" altLang="ko-KR" sz="2000" dirty="0"/>
              <a:t>, </a:t>
            </a:r>
            <a:r>
              <a:rPr lang="ko-KR" altLang="en-US" sz="2000" dirty="0"/>
              <a:t>신문</a:t>
            </a:r>
            <a:r>
              <a:rPr lang="en-US" altLang="ko-KR" sz="2000" dirty="0"/>
              <a:t> </a:t>
            </a:r>
            <a:r>
              <a:rPr lang="ko-KR" altLang="en-US" sz="2000" dirty="0"/>
              <a:t>광고비를 입력으로 받고 판매량을</a:t>
            </a:r>
            <a:r>
              <a:rPr lang="en-US" altLang="ko-KR" sz="2000" dirty="0"/>
              <a:t> </a:t>
            </a:r>
            <a:r>
              <a:rPr lang="ko-KR" altLang="en-US" sz="2000" dirty="0"/>
              <a:t>예측합니다</a:t>
            </a:r>
            <a:r>
              <a:rPr lang="en-US" altLang="ko-KR" sz="20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b="1" dirty="0"/>
          </a:p>
          <a:p>
            <a:pPr marL="457200" indent="-457200">
              <a:buFont typeface="+mj-lt"/>
              <a:buAutoNum type="arabicPeriod" startAt="2"/>
            </a:pPr>
            <a:r>
              <a:rPr lang="ko-KR" altLang="en-US" sz="2000" b="1" dirty="0"/>
              <a:t>모델 정의</a:t>
            </a:r>
            <a:endParaRPr lang="ko-KR" alt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2000" dirty="0"/>
              <a:t>다중 선형 회귀 모델을 정의하세요</a:t>
            </a:r>
            <a:r>
              <a:rPr lang="en-US" altLang="ko-KR" sz="20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dirty="0"/>
          </a:p>
          <a:p>
            <a:pPr marL="457200" indent="-457200">
              <a:buFont typeface="+mj-lt"/>
              <a:buAutoNum type="arabicPeriod" startAt="3"/>
            </a:pPr>
            <a:r>
              <a:rPr lang="ko-KR" altLang="en-US" sz="2000" b="1" dirty="0"/>
              <a:t>손실함수 설정과 가중치 업데이트</a:t>
            </a:r>
            <a:endParaRPr lang="en-US" altLang="ko-KR" sz="2000" b="1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2000" dirty="0"/>
              <a:t>손실 함수로 </a:t>
            </a:r>
            <a:r>
              <a:rPr lang="en-US" altLang="ko-KR" sz="2000" dirty="0" err="1"/>
              <a:t>MSELoss</a:t>
            </a:r>
            <a:r>
              <a:rPr lang="ko-KR" altLang="en-US" sz="2000" dirty="0"/>
              <a:t>를 사용하고</a:t>
            </a:r>
            <a:r>
              <a:rPr lang="en-US" altLang="ko-KR" sz="2000" dirty="0"/>
              <a:t>, </a:t>
            </a:r>
            <a:r>
              <a:rPr lang="ko-KR" altLang="en-US" sz="2000" dirty="0"/>
              <a:t>최적화 알고리즘으로 </a:t>
            </a:r>
            <a:r>
              <a:rPr lang="en-US" altLang="ko-KR" sz="2000" dirty="0"/>
              <a:t>SGD</a:t>
            </a:r>
            <a:r>
              <a:rPr lang="ko-KR" altLang="en-US" sz="2000" dirty="0"/>
              <a:t>를 사용하세요</a:t>
            </a:r>
            <a:r>
              <a:rPr lang="en-US" altLang="ko-KR" sz="2000" dirty="0"/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2000" dirty="0" err="1"/>
              <a:t>학습률은</a:t>
            </a:r>
            <a:r>
              <a:rPr lang="ko-KR" altLang="en-US" sz="2000" dirty="0"/>
              <a:t> </a:t>
            </a:r>
            <a:r>
              <a:rPr lang="en-US" altLang="ko-KR" sz="2000" dirty="0"/>
              <a:t>0.0001</a:t>
            </a:r>
            <a:r>
              <a:rPr lang="ko-KR" altLang="en-US" sz="2000" dirty="0"/>
              <a:t>로 설정하세요</a:t>
            </a:r>
            <a:r>
              <a:rPr lang="en-US" altLang="ko-KR" sz="2000" dirty="0"/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2000" dirty="0"/>
              <a:t>1000</a:t>
            </a:r>
            <a:r>
              <a:rPr lang="ko-KR" altLang="en-US" sz="2000" dirty="0"/>
              <a:t>번의 </a:t>
            </a:r>
            <a:r>
              <a:rPr lang="ko-KR" altLang="en-US" sz="2000" dirty="0" err="1"/>
              <a:t>에포크</a:t>
            </a:r>
            <a:r>
              <a:rPr lang="ko-KR" altLang="en-US" sz="2000" dirty="0"/>
              <a:t> 동안 학습시키세요</a:t>
            </a:r>
            <a:r>
              <a:rPr lang="en-US" altLang="ko-KR" sz="20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dirty="0"/>
          </a:p>
          <a:p>
            <a:pPr marL="457200" indent="-457200">
              <a:buFont typeface="+mj-lt"/>
              <a:buAutoNum type="arabicPeriod" startAt="4"/>
            </a:pPr>
            <a:r>
              <a:rPr lang="ko-KR" altLang="en-US" sz="2000" b="1" dirty="0"/>
              <a:t>결과 분석</a:t>
            </a:r>
            <a:endParaRPr lang="ko-KR" alt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2000" dirty="0"/>
              <a:t>학습이 완료된 후</a:t>
            </a:r>
            <a:r>
              <a:rPr lang="en-US" altLang="ko-KR" sz="2000" dirty="0"/>
              <a:t>, </a:t>
            </a:r>
            <a:r>
              <a:rPr lang="ko-KR" altLang="en-US" sz="2000" dirty="0"/>
              <a:t>모델의 가중치와 편향을 출력하세요</a:t>
            </a:r>
            <a:r>
              <a:rPr lang="en-US" altLang="ko-KR" sz="2000" dirty="0"/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2000" dirty="0"/>
              <a:t>학습 데이터에 대한 실제 값과 예측 값을 비교하는 </a:t>
            </a:r>
            <a:r>
              <a:rPr lang="ko-KR" altLang="en-US" sz="2000" dirty="0" err="1"/>
              <a:t>산점도</a:t>
            </a:r>
            <a:r>
              <a:rPr lang="ko-KR" altLang="en-US" sz="2000" dirty="0"/>
              <a:t> 그래프를 그리세요</a:t>
            </a:r>
            <a:r>
              <a:rPr lang="en-US" altLang="ko-KR" sz="2000" dirty="0"/>
              <a:t>.</a:t>
            </a: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25AC4D90-A0D9-4ECF-0AE3-7A4575CA4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b="1" dirty="0">
                <a:solidFill>
                  <a:schemeClr val="accent2"/>
                </a:solidFill>
              </a:rPr>
              <a:t>실습</a:t>
            </a:r>
            <a:r>
              <a:rPr lang="en-US" altLang="ko-KR" b="1" dirty="0">
                <a:solidFill>
                  <a:schemeClr val="accent2"/>
                </a:solidFill>
              </a:rPr>
              <a:t>2. </a:t>
            </a:r>
            <a:r>
              <a:rPr lang="ko-KR" altLang="en-US" b="1" dirty="0">
                <a:solidFill>
                  <a:schemeClr val="accent2"/>
                </a:solidFill>
              </a:rPr>
              <a:t>다중 선형 회귀 구현</a:t>
            </a:r>
          </a:p>
        </p:txBody>
      </p:sp>
    </p:spTree>
    <p:extLst>
      <p:ext uri="{BB962C8B-B14F-4D97-AF65-F5344CB8AC3E}">
        <p14:creationId xmlns:p14="http://schemas.microsoft.com/office/powerpoint/2010/main" val="1925440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9CDA4-ECFB-4AA8-2A82-F7804AF15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4FF720-4B04-8D54-EB22-D2F44F2A3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D2EEC31-0762-E92F-6F6D-9BC2370EB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13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6021F8B-B178-AB4B-872E-BBA138B8D5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6" t="202" r="289" b="52169"/>
          <a:stretch/>
        </p:blipFill>
        <p:spPr>
          <a:xfrm>
            <a:off x="862468" y="1168426"/>
            <a:ext cx="4647120" cy="253085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665CC5B-E8B1-2E6E-2341-9B3D88051DA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5" t="51983" r="590" b="462"/>
          <a:stretch/>
        </p:blipFill>
        <p:spPr>
          <a:xfrm>
            <a:off x="862468" y="3821022"/>
            <a:ext cx="4647120" cy="253694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EFBCA1B-684E-D450-59BB-2715E1535A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3104" y="2028274"/>
            <a:ext cx="4218196" cy="3342012"/>
          </a:xfrm>
          <a:prstGeom prst="rect">
            <a:avLst/>
          </a:prstGeom>
        </p:spPr>
      </p:pic>
      <p:sp>
        <p:nvSpPr>
          <p:cNvPr id="12" name="제목 1">
            <a:extLst>
              <a:ext uri="{FF2B5EF4-FFF2-40B4-BE49-F238E27FC236}">
                <a16:creationId xmlns:a16="http://schemas.microsoft.com/office/drawing/2014/main" id="{D8E1FFFA-1A9C-70C8-27E0-4818AF7FD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5400" b="1" dirty="0">
                <a:solidFill>
                  <a:schemeClr val="accent2"/>
                </a:solidFill>
              </a:rPr>
              <a:t>실습</a:t>
            </a:r>
            <a:r>
              <a:rPr lang="en-US" altLang="ko-KR" sz="5400" b="1" dirty="0">
                <a:solidFill>
                  <a:schemeClr val="accent2"/>
                </a:solidFill>
              </a:rPr>
              <a:t>2. </a:t>
            </a:r>
            <a:r>
              <a:rPr lang="ko-KR" altLang="en-US" b="1" dirty="0">
                <a:solidFill>
                  <a:schemeClr val="accent2"/>
                </a:solidFill>
              </a:rPr>
              <a:t>다중 선형 회귀 구현</a:t>
            </a:r>
            <a:endParaRPr lang="ko-KR" altLang="en-US" sz="54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9066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86B3B-9C1E-FE99-F2D9-BAC1B9A95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8E55A1B-2FF7-A037-04AA-A6DE6D88E0A5}"/>
              </a:ext>
            </a:extLst>
          </p:cNvPr>
          <p:cNvSpPr txBox="1"/>
          <p:nvPr/>
        </p:nvSpPr>
        <p:spPr>
          <a:xfrm>
            <a:off x="337287" y="1035648"/>
            <a:ext cx="11517425" cy="2064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200" b="1" dirty="0"/>
              <a:t>1.</a:t>
            </a:r>
            <a:r>
              <a:rPr lang="ko-KR" altLang="en-US" sz="3200" b="1" dirty="0"/>
              <a:t> 정의</a:t>
            </a:r>
          </a:p>
          <a:p>
            <a:pPr>
              <a:lnSpc>
                <a:spcPct val="150000"/>
              </a:lnSpc>
            </a:pPr>
            <a:r>
              <a:rPr lang="ko-KR" altLang="en-US" sz="2800" dirty="0"/>
              <a:t>다중선형회귀는 여러 입력 값</a:t>
            </a:r>
            <a:r>
              <a:rPr lang="en-US" altLang="ko-KR" sz="2800" dirty="0"/>
              <a:t>(</a:t>
            </a:r>
            <a:r>
              <a:rPr lang="ko-KR" altLang="en-US" sz="2800" dirty="0"/>
              <a:t>예</a:t>
            </a:r>
            <a:r>
              <a:rPr lang="en-US" altLang="ko-KR" sz="2800" dirty="0"/>
              <a:t>: </a:t>
            </a:r>
            <a:r>
              <a:rPr lang="ko-KR" altLang="en-US" sz="2800" dirty="0"/>
              <a:t>광고비</a:t>
            </a:r>
            <a:r>
              <a:rPr lang="en-US" altLang="ko-KR" sz="2800" dirty="0"/>
              <a:t>, </a:t>
            </a:r>
            <a:r>
              <a:rPr lang="ko-KR" altLang="en-US" sz="2800" dirty="0"/>
              <a:t>공부 시간 등</a:t>
            </a:r>
            <a:r>
              <a:rPr lang="en-US" altLang="ko-KR" sz="2800" dirty="0"/>
              <a:t>)</a:t>
            </a:r>
            <a:r>
              <a:rPr lang="ko-KR" altLang="en-US" sz="2800" dirty="0"/>
              <a:t>이 결과 값</a:t>
            </a:r>
            <a:r>
              <a:rPr lang="en-US" altLang="ko-KR" sz="2800" dirty="0"/>
              <a:t>(</a:t>
            </a:r>
            <a:r>
              <a:rPr lang="ko-KR" altLang="en-US" sz="2800" dirty="0"/>
              <a:t>예</a:t>
            </a:r>
            <a:r>
              <a:rPr lang="en-US" altLang="ko-KR" sz="2800" dirty="0"/>
              <a:t>: </a:t>
            </a:r>
            <a:r>
              <a:rPr lang="ko-KR" altLang="en-US" sz="2800" dirty="0"/>
              <a:t>판매량</a:t>
            </a:r>
            <a:r>
              <a:rPr lang="en-US" altLang="ko-KR" sz="2800" dirty="0"/>
              <a:t>, </a:t>
            </a:r>
            <a:r>
              <a:rPr lang="ko-KR" altLang="en-US" sz="2800" dirty="0"/>
              <a:t>시험 점수 등</a:t>
            </a:r>
            <a:r>
              <a:rPr lang="en-US" altLang="ko-KR" sz="2800" dirty="0"/>
              <a:t>)</a:t>
            </a:r>
            <a:r>
              <a:rPr lang="ko-KR" altLang="en-US" sz="2800" dirty="0"/>
              <a:t>에 얼마나 영향을 주는지 </a:t>
            </a:r>
            <a:r>
              <a:rPr lang="ko-KR" altLang="en-US" sz="2800" b="1" dirty="0"/>
              <a:t>직선 관계로</a:t>
            </a:r>
            <a:r>
              <a:rPr lang="ko-KR" altLang="en-US" sz="2800" dirty="0"/>
              <a:t> 분석하고 예측하는 방법</a:t>
            </a:r>
            <a:endParaRPr lang="en-US" altLang="ko-KR" sz="2800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E00491BB-6C09-33A9-7BEF-AB0241118E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2519" y="3370263"/>
            <a:ext cx="8306959" cy="495369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E2544D89-3F0B-29A5-E1A6-A7A2AB3928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0" y="4135771"/>
            <a:ext cx="5080000" cy="1924582"/>
          </a:xfrm>
          <a:prstGeom prst="rect">
            <a:avLst/>
          </a:prstGeom>
        </p:spPr>
      </p:pic>
      <p:sp>
        <p:nvSpPr>
          <p:cNvPr id="7" name="제목 1">
            <a:extLst>
              <a:ext uri="{FF2B5EF4-FFF2-40B4-BE49-F238E27FC236}">
                <a16:creationId xmlns:a16="http://schemas.microsoft.com/office/drawing/2014/main" id="{30F3A923-1A3C-D465-AA39-F35118480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b="1" dirty="0">
                <a:solidFill>
                  <a:schemeClr val="accent2"/>
                </a:solidFill>
              </a:rPr>
              <a:t>실습</a:t>
            </a:r>
            <a:r>
              <a:rPr lang="en-US" altLang="ko-KR" b="1" dirty="0">
                <a:solidFill>
                  <a:schemeClr val="accent2"/>
                </a:solidFill>
              </a:rPr>
              <a:t>3. </a:t>
            </a:r>
            <a:r>
              <a:rPr lang="ko-KR" altLang="en-US" b="1" dirty="0">
                <a:solidFill>
                  <a:schemeClr val="accent2"/>
                </a:solidFill>
              </a:rPr>
              <a:t>로지스틱 회귀 구현</a:t>
            </a:r>
          </a:p>
        </p:txBody>
      </p:sp>
    </p:spTree>
    <p:extLst>
      <p:ext uri="{BB962C8B-B14F-4D97-AF65-F5344CB8AC3E}">
        <p14:creationId xmlns:p14="http://schemas.microsoft.com/office/powerpoint/2010/main" val="28011968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B38088-C3CE-6E88-659E-31272C164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LMH\Desktop\logistic_regression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" y="1246621"/>
            <a:ext cx="11628120" cy="5734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67DE3B-FE04-2E14-9040-8968593A7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A4FC71A-77C1-4163-E128-9707AF9DC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D1F01F-43AD-B8C2-B1A1-3D599687CA13}"/>
              </a:ext>
            </a:extLst>
          </p:cNvPr>
          <p:cNvSpPr txBox="1"/>
          <p:nvPr/>
        </p:nvSpPr>
        <p:spPr>
          <a:xfrm>
            <a:off x="362858" y="1359355"/>
            <a:ext cx="311976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3200" b="1" dirty="0"/>
              <a:t>모델 클래스 정의</a:t>
            </a:r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30F3A923-1A3C-D465-AA39-F35118480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b="1" dirty="0">
                <a:solidFill>
                  <a:schemeClr val="accent2"/>
                </a:solidFill>
              </a:rPr>
              <a:t>실습</a:t>
            </a:r>
            <a:r>
              <a:rPr lang="en-US" altLang="ko-KR" b="1" dirty="0">
                <a:solidFill>
                  <a:schemeClr val="accent2"/>
                </a:solidFill>
              </a:rPr>
              <a:t>3. </a:t>
            </a:r>
            <a:r>
              <a:rPr lang="ko-KR" altLang="en-US" b="1" dirty="0">
                <a:solidFill>
                  <a:schemeClr val="accent2"/>
                </a:solidFill>
              </a:rPr>
              <a:t>로지스틱 회귀 구현</a:t>
            </a:r>
          </a:p>
        </p:txBody>
      </p:sp>
    </p:spTree>
    <p:extLst>
      <p:ext uri="{BB962C8B-B14F-4D97-AF65-F5344CB8AC3E}">
        <p14:creationId xmlns:p14="http://schemas.microsoft.com/office/powerpoint/2010/main" val="4783702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B38088-C3CE-6E88-659E-31272C164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67DE3B-FE04-2E14-9040-8968593A7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A4FC71A-77C1-4163-E128-9707AF9DC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D1F01F-43AD-B8C2-B1A1-3D599687CA13}"/>
              </a:ext>
            </a:extLst>
          </p:cNvPr>
          <p:cNvSpPr txBox="1"/>
          <p:nvPr/>
        </p:nvSpPr>
        <p:spPr>
          <a:xfrm>
            <a:off x="362858" y="1359355"/>
            <a:ext cx="36327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3200" b="1" dirty="0"/>
              <a:t>결정 경계 함수 정의</a:t>
            </a:r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30F3A923-1A3C-D465-AA39-F35118480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b="1" dirty="0">
                <a:solidFill>
                  <a:schemeClr val="accent2"/>
                </a:solidFill>
              </a:rPr>
              <a:t>실습</a:t>
            </a:r>
            <a:r>
              <a:rPr lang="en-US" altLang="ko-KR" b="1" dirty="0">
                <a:solidFill>
                  <a:schemeClr val="accent2"/>
                </a:solidFill>
              </a:rPr>
              <a:t>3. </a:t>
            </a:r>
            <a:r>
              <a:rPr lang="ko-KR" altLang="en-US" b="1" dirty="0">
                <a:solidFill>
                  <a:schemeClr val="accent2"/>
                </a:solidFill>
              </a:rPr>
              <a:t>로지스틱 회귀 구현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CACC718E-BB2F-DC2B-B311-6BF6B2D302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210" y="2294219"/>
            <a:ext cx="5052060" cy="3362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타원 1"/>
          <p:cNvSpPr/>
          <p:nvPr/>
        </p:nvSpPr>
        <p:spPr>
          <a:xfrm>
            <a:off x="2831211" y="3737991"/>
            <a:ext cx="194818" cy="19481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/>
          <p:cNvSpPr/>
          <p:nvPr/>
        </p:nvSpPr>
        <p:spPr>
          <a:xfrm>
            <a:off x="5819140" y="1272128"/>
            <a:ext cx="6096000" cy="126188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sz="2800" b="1" dirty="0"/>
              <a:t>1. </a:t>
            </a:r>
            <a:r>
              <a:rPr lang="ko-KR" altLang="en-US" sz="2800" b="1" dirty="0" err="1"/>
              <a:t>시그모이드</a:t>
            </a:r>
            <a:r>
              <a:rPr lang="ko-KR" altLang="en-US" sz="2800" b="1" dirty="0"/>
              <a:t> 함수의 특징</a:t>
            </a:r>
            <a:r>
              <a:rPr lang="en-US" altLang="ko-KR" sz="2800" dirty="0"/>
              <a:t>:</a:t>
            </a:r>
          </a:p>
          <a:p>
            <a:r>
              <a:rPr lang="en-US" altLang="ko-KR" sz="2400" dirty="0"/>
              <a:t>z=0</a:t>
            </a:r>
            <a:r>
              <a:rPr lang="ko-KR" altLang="en-US" sz="2400" dirty="0"/>
              <a:t>일 때 </a:t>
            </a:r>
            <a:r>
              <a:rPr lang="en-US" altLang="ko-KR" sz="2400" dirty="0"/>
              <a:t>y=0.5 </a:t>
            </a:r>
            <a:r>
              <a:rPr lang="ko-KR" altLang="en-US" sz="2400" dirty="0"/>
              <a:t>즉 클래스 </a:t>
            </a:r>
            <a:r>
              <a:rPr lang="en-US" altLang="ko-KR" sz="2400" dirty="0"/>
              <a:t>0</a:t>
            </a:r>
            <a:r>
              <a:rPr lang="ko-KR" altLang="en-US" sz="2400" dirty="0"/>
              <a:t>과 클래스 </a:t>
            </a:r>
            <a:r>
              <a:rPr lang="en-US" altLang="ko-KR" sz="2400" dirty="0"/>
              <a:t>1</a:t>
            </a:r>
            <a:r>
              <a:rPr lang="ko-KR" altLang="en-US" sz="2400" dirty="0"/>
              <a:t>을 나누는 기준이 됨</a:t>
            </a:r>
            <a:endParaRPr lang="en-US" altLang="ko-KR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4847404" y="4860624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z</a:t>
            </a:r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928620" y="2362469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y</a:t>
            </a:r>
            <a:endParaRPr lang="ko-KR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3317" y="3153207"/>
            <a:ext cx="4588522" cy="640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0916" y="4426659"/>
            <a:ext cx="4893324" cy="806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직사각형 7"/>
          <p:cNvSpPr/>
          <p:nvPr/>
        </p:nvSpPr>
        <p:spPr>
          <a:xfrm>
            <a:off x="5819140" y="2712173"/>
            <a:ext cx="150073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800" b="1" dirty="0"/>
              <a:t>2. z </a:t>
            </a:r>
            <a:r>
              <a:rPr lang="ko-KR" altLang="en-US" sz="2800" b="1" dirty="0"/>
              <a:t>정의</a:t>
            </a:r>
            <a:endParaRPr lang="en-US" altLang="ko-KR" sz="2800" b="1" dirty="0"/>
          </a:p>
        </p:txBody>
      </p:sp>
      <p:sp>
        <p:nvSpPr>
          <p:cNvPr id="16" name="직사각형 15"/>
          <p:cNvSpPr/>
          <p:nvPr/>
        </p:nvSpPr>
        <p:spPr>
          <a:xfrm>
            <a:off x="5886837" y="4009008"/>
            <a:ext cx="298030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800" b="1" dirty="0"/>
              <a:t>3. </a:t>
            </a:r>
            <a:r>
              <a:rPr lang="ko-KR" altLang="en-US" sz="2800" b="1" dirty="0"/>
              <a:t>결정 경계 방정식</a:t>
            </a:r>
            <a:endParaRPr lang="en-US" altLang="ko-KR" sz="2800" b="1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5821" y="5301058"/>
            <a:ext cx="3263514" cy="10522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939666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B38088-C3CE-6E88-659E-31272C164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67DE3B-FE04-2E14-9040-8968593A7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A4FC71A-77C1-4163-E128-9707AF9DC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D1F01F-43AD-B8C2-B1A1-3D599687CA13}"/>
              </a:ext>
            </a:extLst>
          </p:cNvPr>
          <p:cNvSpPr txBox="1"/>
          <p:nvPr/>
        </p:nvSpPr>
        <p:spPr>
          <a:xfrm>
            <a:off x="362858" y="1176642"/>
            <a:ext cx="8388258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pitchFamily="2" charset="2"/>
              <a:buChar char="§"/>
            </a:pPr>
            <a:r>
              <a:rPr lang="ko-KR" altLang="en-US" sz="3200" b="1" dirty="0"/>
              <a:t>결정 경계 함수 정의</a:t>
            </a:r>
            <a:endParaRPr lang="en-US" altLang="ko-KR" sz="3200" b="1" dirty="0"/>
          </a:p>
          <a:p>
            <a:pPr marL="742950" lvl="1" indent="-285750">
              <a:buFont typeface="Arial" pitchFamily="34" charset="0"/>
              <a:buChar char="•"/>
            </a:pPr>
            <a:r>
              <a:rPr lang="en-US" altLang="ko-KR" sz="2800" dirty="0"/>
              <a:t>w = </a:t>
            </a:r>
            <a:r>
              <a:rPr lang="en-US" altLang="ko-KR" sz="2800" dirty="0" err="1"/>
              <a:t>model.linear.weight.data</a:t>
            </a:r>
            <a:r>
              <a:rPr lang="en-US" altLang="ko-KR" sz="2800" dirty="0"/>
              <a:t> </a:t>
            </a:r>
            <a:r>
              <a:rPr lang="ko-KR" altLang="en-US" sz="2800" dirty="0"/>
              <a:t>→ 모델의 가중치</a:t>
            </a:r>
            <a:endParaRPr lang="en-US" altLang="ko-KR" sz="2800" dirty="0"/>
          </a:p>
          <a:p>
            <a:pPr marL="742950" lvl="1" indent="-285750">
              <a:buFont typeface="Arial" pitchFamily="34" charset="0"/>
              <a:buChar char="•"/>
            </a:pPr>
            <a:r>
              <a:rPr lang="en-US" altLang="ko-KR" sz="2800" dirty="0"/>
              <a:t>b = </a:t>
            </a:r>
            <a:r>
              <a:rPr lang="en-US" altLang="ko-KR" sz="2800" dirty="0" err="1"/>
              <a:t>model.linear.bias.data</a:t>
            </a:r>
            <a:r>
              <a:rPr lang="en-US" altLang="ko-KR" sz="2800" dirty="0"/>
              <a:t> </a:t>
            </a:r>
            <a:r>
              <a:rPr lang="ko-KR" altLang="en-US" sz="2800" dirty="0"/>
              <a:t>→ 모델의 편향</a:t>
            </a:r>
            <a:endParaRPr lang="en-US" altLang="ko-KR" sz="2800" dirty="0"/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30F3A923-1A3C-D465-AA39-F35118480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b="1" dirty="0">
                <a:solidFill>
                  <a:schemeClr val="accent2"/>
                </a:solidFill>
              </a:rPr>
              <a:t>실습</a:t>
            </a:r>
            <a:r>
              <a:rPr lang="en-US" altLang="ko-KR" b="1" dirty="0">
                <a:solidFill>
                  <a:schemeClr val="accent2"/>
                </a:solidFill>
              </a:rPr>
              <a:t>3. </a:t>
            </a:r>
            <a:r>
              <a:rPr lang="ko-KR" altLang="en-US" b="1" dirty="0">
                <a:solidFill>
                  <a:schemeClr val="accent2"/>
                </a:solidFill>
              </a:rPr>
              <a:t>로지스틱 회귀 구현</a:t>
            </a:r>
          </a:p>
        </p:txBody>
      </p:sp>
      <p:pic>
        <p:nvPicPr>
          <p:cNvPr id="3074" name="Picture 2" descr="C:\Users\LMH\Desktop\decision boundary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113277"/>
            <a:ext cx="12192000" cy="4743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00565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B38088-C3CE-6E88-659E-31272C164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67DE3B-FE04-2E14-9040-8968593A7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A4FC71A-77C1-4163-E128-9707AF9DC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30F3A923-1A3C-D465-AA39-F35118480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b="1" dirty="0">
                <a:solidFill>
                  <a:schemeClr val="accent2"/>
                </a:solidFill>
              </a:rPr>
              <a:t>실습</a:t>
            </a:r>
            <a:r>
              <a:rPr lang="en-US" altLang="ko-KR" b="1" dirty="0">
                <a:solidFill>
                  <a:schemeClr val="accent2"/>
                </a:solidFill>
              </a:rPr>
              <a:t>3. </a:t>
            </a:r>
            <a:r>
              <a:rPr lang="ko-KR" altLang="en-US" b="1" dirty="0">
                <a:solidFill>
                  <a:schemeClr val="accent2"/>
                </a:solidFill>
              </a:rPr>
              <a:t>로지스틱 회귀 구현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381000" y="1185595"/>
            <a:ext cx="11445240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dirty="0"/>
              <a:t>주어진 </a:t>
            </a:r>
            <a:r>
              <a:rPr lang="ko-KR" altLang="en-US" sz="2800" dirty="0" err="1"/>
              <a:t>데이터셋을</a:t>
            </a:r>
            <a:r>
              <a:rPr lang="ko-KR" altLang="en-US" sz="2800" dirty="0"/>
              <a:t> 이용하여 </a:t>
            </a:r>
            <a:r>
              <a:rPr lang="ko-KR" altLang="en-US" sz="2800" dirty="0" err="1"/>
              <a:t>로지스틱</a:t>
            </a:r>
            <a:r>
              <a:rPr lang="ko-KR" altLang="en-US" sz="2800" dirty="0"/>
              <a:t> 회귀 모델을 구현해봅시다</a:t>
            </a:r>
            <a:r>
              <a:rPr lang="en-US" altLang="ko-KR" sz="2800" dirty="0"/>
              <a:t>.</a:t>
            </a:r>
          </a:p>
          <a:p>
            <a:endParaRPr lang="en-US" altLang="ko-KR" sz="2800" dirty="0"/>
          </a:p>
          <a:p>
            <a:pPr marL="514350" indent="-514350">
              <a:buFont typeface="+mj-lt"/>
              <a:buAutoNum type="arabicPeriod"/>
            </a:pPr>
            <a:r>
              <a:rPr lang="en-US" altLang="ko-KR" sz="2200" b="1" dirty="0" err="1"/>
              <a:t>PyTorch</a:t>
            </a:r>
            <a:r>
              <a:rPr lang="ko-KR" altLang="en-US" sz="2200" b="1" dirty="0"/>
              <a:t>를 사용하여 </a:t>
            </a:r>
            <a:r>
              <a:rPr lang="ko-KR" altLang="en-US" sz="2200" b="1" dirty="0" err="1"/>
              <a:t>로지스틱</a:t>
            </a:r>
            <a:r>
              <a:rPr lang="ko-KR" altLang="en-US" sz="2200" b="1" dirty="0"/>
              <a:t> 회귀 모델을 정의합니다</a:t>
            </a:r>
            <a:r>
              <a:rPr lang="en-US" altLang="ko-KR" sz="2200" b="1" dirty="0"/>
              <a:t>.</a:t>
            </a:r>
          </a:p>
          <a:p>
            <a:pPr marL="914400" lvl="1" indent="-457200">
              <a:buFont typeface="Arial" pitchFamily="34" charset="0"/>
              <a:buChar char="•"/>
            </a:pPr>
            <a:r>
              <a:rPr lang="ko-KR" altLang="en-US" sz="2200" dirty="0"/>
              <a:t>입력 크기와 출력 크기를 고려하여 모델을 정의하세요</a:t>
            </a:r>
            <a:r>
              <a:rPr lang="en-US" altLang="ko-KR" sz="2200" dirty="0"/>
              <a:t>.</a:t>
            </a:r>
          </a:p>
          <a:p>
            <a:pPr marL="914400" lvl="1" indent="-457200">
              <a:buFont typeface="Arial" pitchFamily="34" charset="0"/>
              <a:buChar char="•"/>
            </a:pPr>
            <a:r>
              <a:rPr lang="ko-KR" altLang="en-US" sz="2200" dirty="0" err="1"/>
              <a:t>시그모이드</a:t>
            </a:r>
            <a:r>
              <a:rPr lang="ko-KR" altLang="en-US" sz="2200" dirty="0"/>
              <a:t> 활성화 함수를 사용하여 출력을 제한합니다</a:t>
            </a:r>
            <a:r>
              <a:rPr lang="en-US" altLang="ko-KR" sz="2200" dirty="0"/>
              <a:t>.</a:t>
            </a:r>
          </a:p>
          <a:p>
            <a:pPr marL="914400" lvl="1" indent="-457200">
              <a:buFont typeface="Arial" pitchFamily="34" charset="0"/>
              <a:buChar char="•"/>
            </a:pPr>
            <a:endParaRPr lang="en-US" altLang="ko-KR" sz="2200" dirty="0"/>
          </a:p>
          <a:p>
            <a:pPr marL="514350" indent="-514350">
              <a:buFont typeface="+mj-lt"/>
              <a:buAutoNum type="arabicPeriod" startAt="2"/>
            </a:pPr>
            <a:r>
              <a:rPr lang="ko-KR" altLang="en-US" sz="2200" b="1" dirty="0" err="1"/>
              <a:t>로지스틱</a:t>
            </a:r>
            <a:r>
              <a:rPr lang="ko-KR" altLang="en-US" sz="2200" b="1" dirty="0"/>
              <a:t> 회귀 모델을 학습합니다</a:t>
            </a:r>
            <a:r>
              <a:rPr lang="en-US" altLang="ko-KR" sz="2200" b="1" dirty="0"/>
              <a:t>.</a:t>
            </a:r>
          </a:p>
          <a:p>
            <a:pPr marL="914400" lvl="1" indent="-457200">
              <a:buFont typeface="Arial" pitchFamily="34" charset="0"/>
              <a:buChar char="•"/>
            </a:pPr>
            <a:r>
              <a:rPr lang="ko-KR" altLang="en-US" sz="2200" dirty="0"/>
              <a:t>손실 함수로 </a:t>
            </a:r>
            <a:r>
              <a:rPr lang="en-US" altLang="ko-KR" sz="2200" dirty="0" err="1"/>
              <a:t>BCELoss</a:t>
            </a:r>
            <a:r>
              <a:rPr lang="ko-KR" altLang="en-US" sz="2200" dirty="0"/>
              <a:t>를 사용합니다</a:t>
            </a:r>
            <a:r>
              <a:rPr lang="en-US" altLang="ko-KR" sz="2200" dirty="0"/>
              <a:t>.</a:t>
            </a:r>
          </a:p>
          <a:p>
            <a:pPr marL="914400" lvl="1" indent="-457200">
              <a:buFont typeface="Arial" pitchFamily="34" charset="0"/>
              <a:buChar char="•"/>
            </a:pPr>
            <a:r>
              <a:rPr lang="ko-KR" altLang="en-US" sz="2200" dirty="0"/>
              <a:t>최적화 알고리즘으로 </a:t>
            </a:r>
            <a:r>
              <a:rPr lang="en-US" altLang="ko-KR" sz="2200" b="1" dirty="0"/>
              <a:t>SGD</a:t>
            </a:r>
            <a:r>
              <a:rPr lang="ko-KR" altLang="en-US" sz="2200" dirty="0"/>
              <a:t>를 사용하고</a:t>
            </a:r>
            <a:r>
              <a:rPr lang="en-US" altLang="ko-KR" sz="2200" dirty="0"/>
              <a:t>, </a:t>
            </a:r>
            <a:r>
              <a:rPr lang="ko-KR" altLang="en-US" sz="2200" dirty="0" err="1"/>
              <a:t>학습률은</a:t>
            </a:r>
            <a:r>
              <a:rPr lang="ko-KR" altLang="en-US" sz="2200" dirty="0"/>
              <a:t> </a:t>
            </a:r>
            <a:r>
              <a:rPr lang="en-US" altLang="ko-KR" sz="2200" dirty="0"/>
              <a:t>0.01</a:t>
            </a:r>
            <a:r>
              <a:rPr lang="ko-KR" altLang="en-US" sz="2200" dirty="0"/>
              <a:t>로 설정합니다</a:t>
            </a:r>
            <a:r>
              <a:rPr lang="en-US" altLang="ko-KR" sz="2200" dirty="0"/>
              <a:t>.</a:t>
            </a:r>
          </a:p>
          <a:p>
            <a:pPr marL="914400" lvl="1" indent="-457200">
              <a:buFont typeface="Arial" pitchFamily="34" charset="0"/>
              <a:buChar char="•"/>
            </a:pPr>
            <a:r>
              <a:rPr lang="ko-KR" altLang="en-US" sz="2200" dirty="0" err="1"/>
              <a:t>에포크</a:t>
            </a:r>
            <a:r>
              <a:rPr lang="ko-KR" altLang="en-US" sz="2200" dirty="0"/>
              <a:t> 수는 </a:t>
            </a:r>
            <a:r>
              <a:rPr lang="en-US" altLang="ko-KR" sz="2200" dirty="0"/>
              <a:t>1000</a:t>
            </a:r>
            <a:r>
              <a:rPr lang="ko-KR" altLang="en-US" sz="2200" dirty="0"/>
              <a:t>으로 설정하고</a:t>
            </a:r>
            <a:r>
              <a:rPr lang="en-US" altLang="ko-KR" sz="2200" dirty="0"/>
              <a:t>, </a:t>
            </a:r>
            <a:r>
              <a:rPr lang="ko-KR" altLang="en-US" sz="2200" dirty="0"/>
              <a:t>학습 과정에서 </a:t>
            </a:r>
            <a:r>
              <a:rPr lang="ko-KR" altLang="en-US" sz="2200" dirty="0" err="1"/>
              <a:t>손실값을</a:t>
            </a:r>
            <a:r>
              <a:rPr lang="ko-KR" altLang="en-US" sz="2200" dirty="0"/>
              <a:t> 기록합니다</a:t>
            </a:r>
            <a:r>
              <a:rPr lang="en-US" altLang="ko-KR" sz="2200" dirty="0"/>
              <a:t>.</a:t>
            </a:r>
          </a:p>
          <a:p>
            <a:pPr marL="914400" lvl="1" indent="-457200">
              <a:buFont typeface="Arial" pitchFamily="34" charset="0"/>
              <a:buChar char="•"/>
            </a:pPr>
            <a:endParaRPr lang="en-US" altLang="ko-KR" sz="2200" dirty="0"/>
          </a:p>
          <a:p>
            <a:pPr marL="514350" indent="-514350">
              <a:buFont typeface="+mj-lt"/>
              <a:buAutoNum type="arabicPeriod" startAt="3"/>
            </a:pPr>
            <a:r>
              <a:rPr lang="ko-KR" altLang="en-US" sz="2200" b="1" dirty="0"/>
              <a:t>학습된 모델의 결정 경계를 시각화합니다</a:t>
            </a:r>
            <a:r>
              <a:rPr lang="en-US" altLang="ko-KR" sz="2200" b="1" dirty="0"/>
              <a:t>.</a:t>
            </a:r>
          </a:p>
          <a:p>
            <a:pPr marL="914400" lvl="1" indent="-457200">
              <a:buFont typeface="Arial" pitchFamily="34" charset="0"/>
              <a:buChar char="•"/>
            </a:pPr>
            <a:r>
              <a:rPr lang="ko-KR" altLang="en-US" sz="2200" dirty="0"/>
              <a:t>모델의 가중치와 편향을 이용하여 결정 경계를 계산합니다</a:t>
            </a:r>
            <a:r>
              <a:rPr lang="en-US" altLang="ko-KR" sz="2200" dirty="0"/>
              <a:t>.</a:t>
            </a:r>
          </a:p>
          <a:p>
            <a:pPr marL="914400" lvl="1" indent="-457200">
              <a:buFont typeface="Arial" pitchFamily="34" charset="0"/>
              <a:buChar char="•"/>
            </a:pPr>
            <a:r>
              <a:rPr lang="ko-KR" altLang="en-US" sz="2200" dirty="0"/>
              <a:t>각 클래스 데이터를 </a:t>
            </a:r>
            <a:r>
              <a:rPr lang="ko-KR" altLang="en-US" sz="2200" dirty="0" err="1"/>
              <a:t>산점도로</a:t>
            </a:r>
            <a:r>
              <a:rPr lang="ko-KR" altLang="en-US" sz="2200" dirty="0"/>
              <a:t> 나타내고</a:t>
            </a:r>
            <a:r>
              <a:rPr lang="en-US" altLang="ko-KR" sz="2200" dirty="0"/>
              <a:t>, </a:t>
            </a:r>
            <a:r>
              <a:rPr lang="ko-KR" altLang="en-US" sz="2200" dirty="0"/>
              <a:t>결정 경계를 추가합니다</a:t>
            </a:r>
            <a:r>
              <a:rPr lang="en-US" altLang="ko-KR" sz="2200" dirty="0"/>
              <a:t>.</a:t>
            </a:r>
            <a:endParaRPr lang="ko-KR" altLang="en-US" sz="2200" dirty="0"/>
          </a:p>
        </p:txBody>
      </p:sp>
    </p:spTree>
    <p:extLst>
      <p:ext uri="{BB962C8B-B14F-4D97-AF65-F5344CB8AC3E}">
        <p14:creationId xmlns:p14="http://schemas.microsoft.com/office/powerpoint/2010/main" val="31779207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81871-4EC2-BE12-FBFE-B934EFDAF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7385DF5-2F04-AA4D-D585-D7599976B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8D98650-9CC0-7D56-B3B4-4F5685B4E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8C2863CC-E4BE-E4E8-52ED-4E8D45A92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b="1" dirty="0">
                <a:solidFill>
                  <a:schemeClr val="accent2"/>
                </a:solidFill>
              </a:rPr>
              <a:t>실습</a:t>
            </a:r>
            <a:r>
              <a:rPr lang="en-US" altLang="ko-KR" b="1" dirty="0">
                <a:solidFill>
                  <a:schemeClr val="accent2"/>
                </a:solidFill>
              </a:rPr>
              <a:t>3. </a:t>
            </a:r>
            <a:r>
              <a:rPr lang="ko-KR" altLang="en-US" b="1" dirty="0">
                <a:solidFill>
                  <a:schemeClr val="accent2"/>
                </a:solidFill>
              </a:rPr>
              <a:t>로지스틱 회귀 구현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47B9225-A6A4-9082-EB0E-282827F750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4873" y="1325563"/>
            <a:ext cx="6462254" cy="491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7266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86B3B-9C1E-FE99-F2D9-BAC1B9A95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8E55A1B-2FF7-A037-04AA-A6DE6D88E0A5}"/>
              </a:ext>
            </a:extLst>
          </p:cNvPr>
          <p:cNvSpPr txBox="1"/>
          <p:nvPr/>
        </p:nvSpPr>
        <p:spPr>
          <a:xfrm>
            <a:off x="337287" y="1035648"/>
            <a:ext cx="11517425" cy="512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400" dirty="0" err="1"/>
              <a:t>딥러닝</a:t>
            </a:r>
            <a:r>
              <a:rPr lang="ko-KR" altLang="en-US" sz="2400" dirty="0"/>
              <a:t> 모델의 학습과 테스트를 위해 사용되는 </a:t>
            </a:r>
            <a:r>
              <a:rPr lang="ko-KR" altLang="en-US" sz="2400" dirty="0" err="1"/>
              <a:t>데이터셋</a:t>
            </a:r>
            <a:endParaRPr lang="en-US" altLang="ko-KR" sz="2400" dirty="0"/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400" dirty="0" err="1"/>
              <a:t>FashionMNIST</a:t>
            </a:r>
            <a:r>
              <a:rPr lang="ko-KR" altLang="en-US" sz="2400" dirty="0"/>
              <a:t>는 </a:t>
            </a:r>
            <a:r>
              <a:rPr lang="en-US" altLang="ko-KR" sz="2400" dirty="0" err="1">
                <a:hlinkClick r:id="rId2"/>
              </a:rPr>
              <a:t>Zalando</a:t>
            </a:r>
            <a:r>
              <a:rPr lang="ko-KR" altLang="en-US" sz="2400" dirty="0"/>
              <a:t>에서 제공하는 </a:t>
            </a:r>
            <a:r>
              <a:rPr lang="ko-KR" altLang="en-US" sz="2400" dirty="0" err="1"/>
              <a:t>데이터셋으로</a:t>
            </a:r>
            <a:r>
              <a:rPr lang="en-US" altLang="ko-KR" sz="2400" dirty="0"/>
              <a:t>, </a:t>
            </a:r>
            <a:r>
              <a:rPr lang="ko-KR" altLang="en-US" sz="2400" dirty="0"/>
              <a:t>의류와 액세서리와 관련된 이미지로 구성되어 있음</a:t>
            </a:r>
            <a:endParaRPr lang="en-US" altLang="ko-KR" sz="2400" dirty="0"/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400" b="1" dirty="0"/>
              <a:t>이미지 크기와 형식</a:t>
            </a:r>
            <a:endParaRPr lang="ko-KR" altLang="en-US" sz="2400" dirty="0"/>
          </a:p>
          <a:p>
            <a:pPr marL="800100" lvl="1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000" dirty="0"/>
              <a:t>크기</a:t>
            </a:r>
            <a:r>
              <a:rPr lang="en-US" altLang="ko-KR" sz="2000" dirty="0"/>
              <a:t>: 28×28 </a:t>
            </a:r>
            <a:r>
              <a:rPr lang="ko-KR" altLang="en-US" sz="2000" dirty="0"/>
              <a:t>픽셀의 </a:t>
            </a:r>
            <a:r>
              <a:rPr lang="ko-KR" altLang="en-US" sz="2000" dirty="0" err="1"/>
              <a:t>그레이스케일</a:t>
            </a:r>
            <a:r>
              <a:rPr lang="ko-KR" altLang="en-US" sz="2000" dirty="0"/>
              <a:t> 이미지</a:t>
            </a:r>
            <a:r>
              <a:rPr lang="en-US" altLang="ko-KR" sz="2000" dirty="0"/>
              <a:t>.</a:t>
            </a:r>
          </a:p>
          <a:p>
            <a:pPr marL="800100" lvl="1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000" dirty="0"/>
              <a:t>총 데이터 포인트</a:t>
            </a:r>
            <a:r>
              <a:rPr lang="en-US" altLang="ko-KR" sz="2000" dirty="0"/>
              <a:t>: 70,000</a:t>
            </a:r>
            <a:r>
              <a:rPr lang="ko-KR" altLang="en-US" sz="2000" dirty="0"/>
              <a:t>개</a:t>
            </a:r>
            <a:r>
              <a:rPr lang="en-US" altLang="ko-KR" sz="2000" dirty="0"/>
              <a:t>(</a:t>
            </a:r>
            <a:r>
              <a:rPr lang="ko-KR" altLang="en-US" sz="2000" dirty="0"/>
              <a:t>훈련 데이터</a:t>
            </a:r>
            <a:r>
              <a:rPr lang="en-US" altLang="ko-KR" sz="2000" dirty="0"/>
              <a:t>: 60,000</a:t>
            </a:r>
            <a:r>
              <a:rPr lang="ko-KR" altLang="en-US" sz="2000" dirty="0"/>
              <a:t>개</a:t>
            </a:r>
            <a:r>
              <a:rPr lang="en-US" altLang="ko-KR" sz="2000" dirty="0"/>
              <a:t>, </a:t>
            </a:r>
            <a:r>
              <a:rPr lang="ko-KR" altLang="en-US" sz="2000" dirty="0"/>
              <a:t>테스트 데이터</a:t>
            </a:r>
            <a:r>
              <a:rPr lang="en-US" altLang="ko-KR" sz="2000" dirty="0"/>
              <a:t>: 10,000</a:t>
            </a:r>
            <a:r>
              <a:rPr lang="ko-KR" altLang="en-US" sz="2000" dirty="0"/>
              <a:t>개</a:t>
            </a:r>
            <a:r>
              <a:rPr lang="en-US" altLang="ko-KR" sz="2000" dirty="0"/>
              <a:t>)</a:t>
            </a:r>
          </a:p>
          <a:p>
            <a:pPr marL="800100" lvl="1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000" dirty="0"/>
              <a:t>각 이미지에는 하나의 클래스 레이블이 할당됨</a:t>
            </a:r>
            <a:endParaRPr lang="en-US" altLang="ko-KR" sz="2000" dirty="0"/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400" b="1" dirty="0"/>
              <a:t>클래스</a:t>
            </a:r>
            <a:endParaRPr lang="ko-KR" altLang="en-US" sz="2400" dirty="0"/>
          </a:p>
          <a:p>
            <a:pPr marL="800100" lvl="1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000" dirty="0"/>
              <a:t>의류 및 액세서리의 </a:t>
            </a:r>
            <a:r>
              <a:rPr lang="en-US" altLang="ko-KR" sz="2000" dirty="0"/>
              <a:t>10</a:t>
            </a:r>
            <a:r>
              <a:rPr lang="ko-KR" altLang="en-US" sz="2000" dirty="0"/>
              <a:t>개 클래스가 있으며</a:t>
            </a:r>
            <a:r>
              <a:rPr lang="en-US" altLang="ko-KR" sz="2000" dirty="0"/>
              <a:t>, </a:t>
            </a:r>
            <a:r>
              <a:rPr lang="ko-KR" altLang="en-US" sz="2000" dirty="0"/>
              <a:t>각 클래스는 고유한 레이블로 표시됨</a:t>
            </a:r>
            <a:endParaRPr lang="en-US" altLang="ko-KR" sz="2000" dirty="0"/>
          </a:p>
          <a:p>
            <a:pPr marL="800100" lvl="1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dirty="0"/>
              <a:t>목록 </a:t>
            </a:r>
            <a:r>
              <a:rPr lang="en-US" altLang="ko-KR" dirty="0"/>
              <a:t>: T-shirt/</a:t>
            </a:r>
            <a:r>
              <a:rPr lang="en-US" altLang="ko-KR" dirty="0" err="1"/>
              <a:t>topTrouser</a:t>
            </a:r>
            <a:r>
              <a:rPr lang="en-US" altLang="ko-KR" dirty="0"/>
              <a:t>, Pullover, Dress, Coat, Sandal, Shirt, Sneaker, </a:t>
            </a:r>
            <a:r>
              <a:rPr lang="en-US" altLang="ko-KR" dirty="0" err="1"/>
              <a:t>BagAnkle</a:t>
            </a:r>
            <a:r>
              <a:rPr lang="en-US" altLang="ko-KR" dirty="0"/>
              <a:t>, boot</a:t>
            </a: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30F3A923-1A3C-D465-AA39-F35118480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b="1" dirty="0">
                <a:solidFill>
                  <a:schemeClr val="accent2"/>
                </a:solidFill>
              </a:rPr>
              <a:t>실습</a:t>
            </a:r>
            <a:r>
              <a:rPr lang="en-US" altLang="ko-KR" b="1" dirty="0">
                <a:solidFill>
                  <a:schemeClr val="accent2"/>
                </a:solidFill>
              </a:rPr>
              <a:t>4. </a:t>
            </a:r>
            <a:r>
              <a:rPr lang="en-US" altLang="ko-KR" b="1" dirty="0" err="1">
                <a:solidFill>
                  <a:schemeClr val="accent2"/>
                </a:solidFill>
              </a:rPr>
              <a:t>FashionMNIST</a:t>
            </a:r>
            <a:r>
              <a:rPr lang="en-US" altLang="ko-KR" b="1" dirty="0">
                <a:solidFill>
                  <a:schemeClr val="accent2"/>
                </a:solidFill>
              </a:rPr>
              <a:t> </a:t>
            </a:r>
            <a:r>
              <a:rPr lang="ko-KR" altLang="en-US" b="1" dirty="0">
                <a:solidFill>
                  <a:schemeClr val="accent2"/>
                </a:solidFill>
              </a:rPr>
              <a:t>신경망 구현</a:t>
            </a:r>
          </a:p>
        </p:txBody>
      </p:sp>
    </p:spTree>
    <p:extLst>
      <p:ext uri="{BB962C8B-B14F-4D97-AF65-F5344CB8AC3E}">
        <p14:creationId xmlns:p14="http://schemas.microsoft.com/office/powerpoint/2010/main" val="14311869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86B3B-9C1E-FE99-F2D9-BAC1B9A95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30F3A923-1A3C-D465-AA39-F35118480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b="1" dirty="0">
                <a:solidFill>
                  <a:schemeClr val="accent2"/>
                </a:solidFill>
              </a:rPr>
              <a:t>실습</a:t>
            </a:r>
            <a:r>
              <a:rPr lang="en-US" altLang="ko-KR" b="1" dirty="0">
                <a:solidFill>
                  <a:schemeClr val="accent2"/>
                </a:solidFill>
              </a:rPr>
              <a:t>4. </a:t>
            </a:r>
            <a:r>
              <a:rPr lang="en-US" altLang="ko-KR" b="1" dirty="0" err="1">
                <a:solidFill>
                  <a:schemeClr val="accent2"/>
                </a:solidFill>
              </a:rPr>
              <a:t>FashionMNIST</a:t>
            </a:r>
            <a:r>
              <a:rPr lang="en-US" altLang="ko-KR" b="1" dirty="0">
                <a:solidFill>
                  <a:schemeClr val="accent2"/>
                </a:solidFill>
              </a:rPr>
              <a:t> </a:t>
            </a:r>
            <a:r>
              <a:rPr lang="ko-KR" altLang="en-US" b="1" dirty="0">
                <a:solidFill>
                  <a:schemeClr val="accent2"/>
                </a:solidFill>
              </a:rPr>
              <a:t>신경망 구현</a:t>
            </a:r>
          </a:p>
        </p:txBody>
      </p:sp>
      <p:pic>
        <p:nvPicPr>
          <p:cNvPr id="6146" name="Picture 2" descr="C:\Users\LMH\Desktop\dataset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0640" y="1205405"/>
            <a:ext cx="9570720" cy="5559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BD1F01F-43AD-B8C2-B1A1-3D599687CA13}"/>
              </a:ext>
            </a:extLst>
          </p:cNvPr>
          <p:cNvSpPr txBox="1"/>
          <p:nvPr/>
        </p:nvSpPr>
        <p:spPr>
          <a:xfrm>
            <a:off x="362858" y="1104871"/>
            <a:ext cx="27622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3200" b="1" dirty="0" err="1"/>
              <a:t>데이터셋</a:t>
            </a:r>
            <a:r>
              <a:rPr lang="ko-KR" altLang="en-US" sz="3200" b="1" dirty="0"/>
              <a:t> 정의</a:t>
            </a:r>
          </a:p>
        </p:txBody>
      </p:sp>
    </p:spTree>
    <p:extLst>
      <p:ext uri="{BB962C8B-B14F-4D97-AF65-F5344CB8AC3E}">
        <p14:creationId xmlns:p14="http://schemas.microsoft.com/office/powerpoint/2010/main" val="40808281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86B3B-9C1E-FE99-F2D9-BAC1B9A95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30F3A923-1A3C-D465-AA39-F35118480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b="1" dirty="0">
                <a:solidFill>
                  <a:schemeClr val="accent2"/>
                </a:solidFill>
              </a:rPr>
              <a:t>실습</a:t>
            </a:r>
            <a:r>
              <a:rPr lang="en-US" altLang="ko-KR" b="1" dirty="0">
                <a:solidFill>
                  <a:schemeClr val="accent2"/>
                </a:solidFill>
              </a:rPr>
              <a:t>4. </a:t>
            </a:r>
            <a:r>
              <a:rPr lang="en-US" altLang="ko-KR" b="1" dirty="0" err="1">
                <a:solidFill>
                  <a:schemeClr val="accent2"/>
                </a:solidFill>
              </a:rPr>
              <a:t>FashionMNIST</a:t>
            </a:r>
            <a:r>
              <a:rPr lang="en-US" altLang="ko-KR" b="1" dirty="0">
                <a:solidFill>
                  <a:schemeClr val="accent2"/>
                </a:solidFill>
              </a:rPr>
              <a:t> </a:t>
            </a:r>
            <a:r>
              <a:rPr lang="ko-KR" altLang="en-US" b="1" dirty="0">
                <a:solidFill>
                  <a:schemeClr val="accent2"/>
                </a:solidFill>
              </a:rPr>
              <a:t>신경망 구현</a:t>
            </a:r>
          </a:p>
        </p:txBody>
      </p:sp>
      <p:pic>
        <p:nvPicPr>
          <p:cNvPr id="5122" name="Picture 2" descr="C:\Users\LMH\Desktop\fashionMNIST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2160" y="1104871"/>
            <a:ext cx="8107680" cy="5562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BD1F01F-43AD-B8C2-B1A1-3D599687CA13}"/>
              </a:ext>
            </a:extLst>
          </p:cNvPr>
          <p:cNvSpPr txBox="1"/>
          <p:nvPr/>
        </p:nvSpPr>
        <p:spPr>
          <a:xfrm>
            <a:off x="362858" y="1104871"/>
            <a:ext cx="19960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3200" b="1" dirty="0"/>
              <a:t>모델 정의</a:t>
            </a:r>
          </a:p>
        </p:txBody>
      </p:sp>
    </p:spTree>
    <p:extLst>
      <p:ext uri="{BB962C8B-B14F-4D97-AF65-F5344CB8AC3E}">
        <p14:creationId xmlns:p14="http://schemas.microsoft.com/office/powerpoint/2010/main" val="8032377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3275360" y="2719554"/>
            <a:ext cx="577433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54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실습자료</a:t>
            </a:r>
            <a:r>
              <a:rPr lang="en-US" altLang="ko-KR" sz="54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(</a:t>
            </a:r>
            <a:r>
              <a:rPr lang="en-US" altLang="ko-KR" sz="5400" dirty="0" err="1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Colab</a:t>
            </a:r>
            <a:r>
              <a:rPr lang="en-US" altLang="ko-KR" sz="54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)</a:t>
            </a:r>
            <a:endParaRPr lang="ko-KR" altLang="en-US" sz="54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413384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666ABC-22E3-B48C-4B21-D2826FAC7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다중선형회귀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381B97-325A-76F0-2DA5-3C4704A6B2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1173797"/>
          </a:xfrm>
        </p:spPr>
        <p:txBody>
          <a:bodyPr/>
          <a:lstStyle/>
          <a:p>
            <a:r>
              <a:rPr lang="en-US" altLang="ko-KR" dirty="0">
                <a:hlinkClick r:id="rId2"/>
              </a:rPr>
              <a:t>https://colab.research.google.com/drive/1DepdQVNMmez2Z004bxrB3eETqv3WSzKd?usp=sharing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0CB50CF-716C-E000-9F7C-F3231CAA9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E0AB594-7E40-66AE-FFAA-6A3833413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74381B97-325A-76F0-2DA5-3C4704A6B26B}"/>
              </a:ext>
            </a:extLst>
          </p:cNvPr>
          <p:cNvSpPr txBox="1">
            <a:spLocks/>
          </p:cNvSpPr>
          <p:nvPr/>
        </p:nvSpPr>
        <p:spPr>
          <a:xfrm>
            <a:off x="838200" y="2747168"/>
            <a:ext cx="10515600" cy="16571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행렬 적용</a:t>
            </a:r>
            <a:endParaRPr lang="en-US" altLang="ko-KR" dirty="0"/>
          </a:p>
          <a:p>
            <a:pPr lvl="1"/>
            <a:r>
              <a:rPr lang="en-US" altLang="ko-KR" dirty="0">
                <a:hlinkClick r:id="rId3"/>
              </a:rPr>
              <a:t>https://colab.research.google.com/drive/1-Tj7QmlFH5lwbVu47AJ2hBBZ4mNkQi4M?usp=sharing</a:t>
            </a:r>
            <a:endParaRPr lang="ko-KR" altLang="en-US" dirty="0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74381B97-325A-76F0-2DA5-3C4704A6B26B}"/>
              </a:ext>
            </a:extLst>
          </p:cNvPr>
          <p:cNvSpPr txBox="1">
            <a:spLocks/>
          </p:cNvSpPr>
          <p:nvPr/>
        </p:nvSpPr>
        <p:spPr>
          <a:xfrm>
            <a:off x="838200" y="4530565"/>
            <a:ext cx="10515600" cy="16462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Class </a:t>
            </a:r>
            <a:r>
              <a:rPr lang="ko-KR" altLang="en-US" dirty="0"/>
              <a:t>적용</a:t>
            </a:r>
            <a:endParaRPr lang="en-US" altLang="ko-KR" dirty="0"/>
          </a:p>
          <a:p>
            <a:pPr lvl="1"/>
            <a:r>
              <a:rPr lang="en-US" altLang="ko-KR" dirty="0">
                <a:hlinkClick r:id="rId4"/>
              </a:rPr>
              <a:t>https://colab.research.google.com/drive/1jAbq5Y7Bt-5gsT_Ve-_b3c-qrMRasuHI?usp=sharing</a:t>
            </a:r>
            <a:endParaRPr lang="en-US" altLang="ko-KR" dirty="0"/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212252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666ABC-22E3-B48C-4B21-D2826FAC7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 err="1"/>
              <a:t>로지스틱회귀</a:t>
            </a:r>
            <a:endParaRPr lang="ko-KR" altLang="en-US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381B97-325A-76F0-2DA5-3C4704A6B2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hlinkClick r:id="rId2"/>
              </a:rPr>
              <a:t>https://colab.research.google.com/drive/1WtIki1KlmaZv11Wjn67fgAqPXikHaU-P?usp=sharing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0CB50CF-716C-E000-9F7C-F3231CAA9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E0AB594-7E40-66AE-FFAA-6A3833413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60994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666ABC-22E3-B48C-4B21-D2826FAC7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신경망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381B97-325A-76F0-2DA5-3C4704A6B2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1752917"/>
          </a:xfrm>
        </p:spPr>
        <p:txBody>
          <a:bodyPr/>
          <a:lstStyle/>
          <a:p>
            <a:r>
              <a:rPr lang="en-US" altLang="ko-KR" dirty="0"/>
              <a:t>Fashion MNIST </a:t>
            </a:r>
            <a:r>
              <a:rPr lang="ko-KR" altLang="en-US" dirty="0"/>
              <a:t>신경망</a:t>
            </a:r>
            <a:endParaRPr lang="en-US" altLang="ko-KR" dirty="0"/>
          </a:p>
          <a:p>
            <a:pPr lvl="1"/>
            <a:r>
              <a:rPr lang="en-US" altLang="ko-KR" dirty="0">
                <a:hlinkClick r:id="rId2"/>
              </a:rPr>
              <a:t>https://colab.research.google.com/drive/1tf5JOPjf_ZrLgK9gCkOXR56ZzoI363q4?usp=sharing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0CB50CF-716C-E000-9F7C-F3231CAA9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E0AB594-7E40-66AE-FFAA-6A3833413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26</a:t>
            </a:fld>
            <a:endParaRPr lang="ko-KR" altLang="en-US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74381B97-325A-76F0-2DA5-3C4704A6B26B}"/>
              </a:ext>
            </a:extLst>
          </p:cNvPr>
          <p:cNvSpPr txBox="1">
            <a:spLocks/>
          </p:cNvSpPr>
          <p:nvPr/>
        </p:nvSpPr>
        <p:spPr>
          <a:xfrm>
            <a:off x="838200" y="3429000"/>
            <a:ext cx="10515600" cy="16309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/>
              <a:t>MNIST </a:t>
            </a:r>
            <a:r>
              <a:rPr lang="ko-KR" altLang="en-US"/>
              <a:t>신경망</a:t>
            </a:r>
            <a:endParaRPr lang="en-US" altLang="ko-KR"/>
          </a:p>
          <a:p>
            <a:pPr lvl="1"/>
            <a:r>
              <a:rPr lang="en-US" altLang="ko-KR">
                <a:hlinkClick r:id="rId3"/>
              </a:rPr>
              <a:t>https://colab.research.google.com/drive/13IYJXQu-WrkaaNgai1rkaD4B1fX8nbZ1?usp=sharing</a:t>
            </a:r>
            <a:endParaRPr lang="en-US" altLang="ko-KR"/>
          </a:p>
          <a:p>
            <a:endParaRPr lang="en-US" altLang="ko-KR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55774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71936-481C-71EB-7D96-6C9DFC6F9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100005ED-53E3-BFC8-AFAA-7BAFFA3752AB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417181868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8378</TotalTime>
  <Words>963</Words>
  <Application>Microsoft Office PowerPoint</Application>
  <PresentationFormat>와이드스크린</PresentationFormat>
  <Paragraphs>211</Paragraphs>
  <Slides>27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6" baseType="lpstr">
      <vt:lpstr>G마켓 산스 TTF Bold</vt:lpstr>
      <vt:lpstr>Kim jung chul Gothic Regular</vt:lpstr>
      <vt:lpstr>Pretendard Black</vt:lpstr>
      <vt:lpstr>Pretendard Light</vt:lpstr>
      <vt:lpstr>Pretendard Medium</vt:lpstr>
      <vt:lpstr>메이플스토리</vt:lpstr>
      <vt:lpstr>Arial</vt:lpstr>
      <vt:lpstr>Wingdings</vt:lpstr>
      <vt:lpstr>1_Office 테마</vt:lpstr>
      <vt:lpstr>x</vt:lpstr>
      <vt:lpstr>PowerPoint 프레젠테이션</vt:lpstr>
      <vt:lpstr>자동미분(Autograd)</vt:lpstr>
      <vt:lpstr>자동미분(Autograd)</vt:lpstr>
      <vt:lpstr>자동미분(Autograd)</vt:lpstr>
      <vt:lpstr>자동미분(Autograd)</vt:lpstr>
      <vt:lpstr>자동미분(Autograd)</vt:lpstr>
      <vt:lpstr>실습1. 선형 회귀 실습</vt:lpstr>
      <vt:lpstr>실습2. 다중 선형 회귀 구현</vt:lpstr>
      <vt:lpstr>실습2. 다중 선형 회귀 구현</vt:lpstr>
      <vt:lpstr>실습2. 다중 선형 회귀 구현</vt:lpstr>
      <vt:lpstr>실습2. 다중 선형 회귀 구현</vt:lpstr>
      <vt:lpstr>실습2. 다중 선형 회귀 구현</vt:lpstr>
      <vt:lpstr>실습3. 로지스틱 회귀 구현</vt:lpstr>
      <vt:lpstr>실습3. 로지스틱 회귀 구현</vt:lpstr>
      <vt:lpstr>실습3. 로지스틱 회귀 구현</vt:lpstr>
      <vt:lpstr>실습3. 로지스틱 회귀 구현</vt:lpstr>
      <vt:lpstr>실습3. 로지스틱 회귀 구현</vt:lpstr>
      <vt:lpstr>실습3. 로지스틱 회귀 구현</vt:lpstr>
      <vt:lpstr>실습4. FashionMNIST 신경망 구현</vt:lpstr>
      <vt:lpstr>실습4. FashionMNIST 신경망 구현</vt:lpstr>
      <vt:lpstr>실습4. FashionMNIST 신경망 구현</vt:lpstr>
      <vt:lpstr>PowerPoint 프레젠테이션</vt:lpstr>
      <vt:lpstr>다중선형회귀</vt:lpstr>
      <vt:lpstr>로지스틱회귀</vt:lpstr>
      <vt:lpstr>신경망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</dc:title>
  <dc:creator>spreatics</dc:creator>
  <cp:lastModifiedBy>On Coding</cp:lastModifiedBy>
  <cp:revision>610</cp:revision>
  <dcterms:created xsi:type="dcterms:W3CDTF">2023-01-31T04:26:23Z</dcterms:created>
  <dcterms:modified xsi:type="dcterms:W3CDTF">2025-09-22T02:35:49Z</dcterms:modified>
</cp:coreProperties>
</file>