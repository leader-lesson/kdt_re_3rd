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3"/>
  </p:notesMasterIdLst>
  <p:sldIdLst>
    <p:sldId id="1004" r:id="rId2"/>
    <p:sldId id="677" r:id="rId3"/>
    <p:sldId id="563" r:id="rId4"/>
    <p:sldId id="1013" r:id="rId5"/>
    <p:sldId id="679" r:id="rId6"/>
    <p:sldId id="680" r:id="rId7"/>
    <p:sldId id="681" r:id="rId8"/>
    <p:sldId id="682" r:id="rId9"/>
    <p:sldId id="692" r:id="rId10"/>
    <p:sldId id="1014" r:id="rId11"/>
    <p:sldId id="836" r:id="rId12"/>
  </p:sldIdLst>
  <p:sldSz cx="12192000" cy="6858000"/>
  <p:notesSz cx="6858000" cy="9144000"/>
  <p:embeddedFontLst>
    <p:embeddedFont>
      <p:font typeface="G마켓 산스 TTF Bold" panose="02000000000000000000" pitchFamily="2" charset="-127"/>
      <p:bold r:id="rId14"/>
    </p:embeddedFont>
    <p:embeddedFont>
      <p:font typeface="Pretendard Black" panose="02000A03000000020004" pitchFamily="2" charset="-127"/>
      <p:bold r:id="rId15"/>
    </p:embeddedFont>
    <p:embeddedFont>
      <p:font typeface="Pretendard Light" panose="02000403000000020004" pitchFamily="2" charset="-127"/>
      <p:regular r:id="rId16"/>
    </p:embeddedFont>
    <p:embeddedFont>
      <p:font typeface="Pretendard Medium" panose="02000603000000020004" pitchFamily="2" charset="-127"/>
      <p:regular r:id="rId17"/>
    </p:embeddedFont>
    <p:embeddedFont>
      <p:font typeface="맑은 고딕" panose="020B0503020000020004" pitchFamily="50" charset="-127"/>
      <p:regular r:id="rId18"/>
      <p:bold r:id="rId19"/>
    </p:embeddedFont>
    <p:embeddedFont>
      <p:font typeface="메이플스토리" panose="02000300000000000000" pitchFamily="2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209"/>
    <a:srgbClr val="F9A130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84220" autoAdjust="0"/>
  </p:normalViewPr>
  <p:slideViewPr>
    <p:cSldViewPr snapToGrid="0">
      <p:cViewPr>
        <p:scale>
          <a:sx n="66" d="100"/>
          <a:sy n="66" d="100"/>
        </p:scale>
        <p:origin x="1736" y="5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2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C021-A0A2-48FA-9844-867A974E57AD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001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73DC6-58A2-4EA5-A212-0B6ECD61FDC0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382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CFA89F-766A-4215-9646-99A19D814B36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1140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FA89F-766A-4215-9646-99A19D814B36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F4B503-1034-2554-AF80-67C145D0076E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21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C7DD5B-AF47-E169-FE1C-CF22BB1229F5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AI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학습을 위한 기초 수학</a:t>
            </a:r>
          </a:p>
        </p:txBody>
      </p:sp>
    </p:spTree>
    <p:extLst>
      <p:ext uri="{BB962C8B-B14F-4D97-AF65-F5344CB8AC3E}">
        <p14:creationId xmlns:p14="http://schemas.microsoft.com/office/powerpoint/2010/main" val="31028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함수</a:t>
            </a:r>
            <a:r>
              <a:rPr lang="en-US" altLang="ko-KR" b="1" dirty="0">
                <a:latin typeface="+mj-ea"/>
              </a:rPr>
              <a:t>(</a:t>
            </a:r>
            <a:r>
              <a:rPr lang="en-US" altLang="ko-KR" b="1" dirty="0" err="1">
                <a:latin typeface="+mj-ea"/>
              </a:rPr>
              <a:t>Fucntion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51788" y="1054588"/>
            <a:ext cx="11216641" cy="3249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b="1" dirty="0"/>
              <a:t>함수</a:t>
            </a:r>
            <a:r>
              <a:rPr lang="ko-KR" altLang="en-US" sz="2800" dirty="0"/>
              <a:t>는 두 집합 사이의 관계 혹은 규칙을 나타냅니다</a:t>
            </a:r>
            <a:r>
              <a:rPr lang="en-US" altLang="ko-KR" sz="2800" dirty="0"/>
              <a:t>.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일반적으로                형태로 표현되며</a:t>
            </a:r>
            <a:r>
              <a:rPr lang="en-US" altLang="ko-KR" sz="2800" dirty="0"/>
              <a:t>, </a:t>
            </a:r>
            <a:r>
              <a:rPr lang="ko-KR" altLang="en-US" sz="2800" dirty="0"/>
              <a:t>여기서 </a:t>
            </a:r>
            <a:r>
              <a:rPr lang="en-US" altLang="ko-KR" sz="2800" b="1" dirty="0"/>
              <a:t>x</a:t>
            </a:r>
            <a:r>
              <a:rPr lang="ko-KR" altLang="en-US" sz="2800" b="1" dirty="0"/>
              <a:t>는</a:t>
            </a:r>
            <a:r>
              <a:rPr lang="ko-KR" altLang="en-US" sz="2800" dirty="0"/>
              <a:t> </a:t>
            </a:r>
            <a:r>
              <a:rPr lang="ko-KR" altLang="en-US" sz="2800" b="1" dirty="0"/>
              <a:t>입력 값</a:t>
            </a:r>
            <a:r>
              <a:rPr lang="en-US" altLang="ko-KR" sz="2800" dirty="0"/>
              <a:t>, </a:t>
            </a:r>
            <a:r>
              <a:rPr lang="en-US" altLang="ko-KR" sz="2800" b="1" dirty="0"/>
              <a:t>y</a:t>
            </a:r>
            <a:r>
              <a:rPr lang="ko-KR" altLang="en-US" sz="2800" b="1" dirty="0"/>
              <a:t>는</a:t>
            </a:r>
            <a:r>
              <a:rPr lang="ko-KR" altLang="en-US" sz="2800" dirty="0"/>
              <a:t> </a:t>
            </a:r>
            <a:r>
              <a:rPr lang="ko-KR" altLang="en-US" sz="2800" b="1" dirty="0"/>
              <a:t>출력 값임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데이터 분석에서 함수는 입력 </a:t>
            </a:r>
            <a:r>
              <a:rPr lang="en-US" altLang="ko-KR" sz="2800" dirty="0"/>
              <a:t>x(feature)</a:t>
            </a:r>
            <a:r>
              <a:rPr lang="ko-KR" altLang="en-US" sz="2800" dirty="0"/>
              <a:t>와 출력 </a:t>
            </a:r>
            <a:r>
              <a:rPr lang="en-US" altLang="ko-KR" sz="2800" dirty="0"/>
              <a:t>y(label) </a:t>
            </a:r>
            <a:r>
              <a:rPr lang="ko-KR" altLang="en-US" sz="2800" dirty="0"/>
              <a:t>간의 관계를 설명하는 데 사용됨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함수의 출력에 </a:t>
            </a:r>
            <a:r>
              <a:rPr lang="ko-KR" altLang="en-US" sz="2800" b="1" dirty="0" err="1"/>
              <a:t>예측값</a:t>
            </a:r>
            <a:r>
              <a:rPr lang="ko-KR" altLang="en-US" sz="2800" dirty="0" err="1"/>
              <a:t>을</a:t>
            </a:r>
            <a:r>
              <a:rPr lang="ko-KR" altLang="en-US" sz="2800" dirty="0"/>
              <a:t> 나타낼 때는</a:t>
            </a:r>
            <a:r>
              <a:rPr lang="en-US" altLang="ko-KR" sz="2800" dirty="0"/>
              <a:t>    </a:t>
            </a:r>
            <a:r>
              <a:rPr lang="ko-KR" altLang="en-US" sz="2800" dirty="0"/>
              <a:t>와 같이 </a:t>
            </a:r>
            <a:r>
              <a:rPr lang="ko-KR" altLang="en-US" sz="2800" dirty="0" err="1"/>
              <a:t>햇</a:t>
            </a:r>
            <a:r>
              <a:rPr lang="ko-KR" altLang="en-US" sz="2800" dirty="0"/>
              <a:t> 모양</a:t>
            </a:r>
            <a:r>
              <a:rPr lang="en-US" altLang="ko-KR" sz="2800" dirty="0"/>
              <a:t>(^)</a:t>
            </a:r>
            <a:r>
              <a:rPr lang="ko-KR" altLang="en-US" sz="2800" dirty="0"/>
              <a:t>을 씌워 표현함</a:t>
            </a:r>
            <a:endParaRPr lang="en-US" altLang="ko-KR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622" y="1898798"/>
            <a:ext cx="1266785" cy="42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012" y="3801533"/>
            <a:ext cx="220539" cy="378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590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</a:rPr>
              <a:t>1</a:t>
            </a:r>
            <a:r>
              <a:rPr lang="ko-KR" altLang="en-US" b="1" dirty="0">
                <a:latin typeface="+mj-ea"/>
              </a:rPr>
              <a:t>차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51788" y="1325538"/>
            <a:ext cx="6766562" cy="4542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b="1" dirty="0"/>
              <a:t>일차 함수</a:t>
            </a:r>
            <a:r>
              <a:rPr lang="ko-KR" altLang="en-US" sz="2800" dirty="0"/>
              <a:t>는 </a:t>
            </a:r>
            <a:r>
              <a:rPr lang="en-US" altLang="ko-KR" sz="2800" dirty="0"/>
              <a:t>y</a:t>
            </a:r>
            <a:r>
              <a:rPr lang="ko-KR" altLang="en-US" sz="2800" dirty="0"/>
              <a:t>가 </a:t>
            </a:r>
            <a:r>
              <a:rPr lang="en-US" altLang="ko-KR" sz="2800" dirty="0"/>
              <a:t>x</a:t>
            </a:r>
            <a:r>
              <a:rPr lang="ko-KR" altLang="en-US" sz="2800" dirty="0"/>
              <a:t>에 대한 </a:t>
            </a:r>
            <a:r>
              <a:rPr lang="ko-KR" altLang="en-US" sz="2800" dirty="0" err="1"/>
              <a:t>일차식으로</a:t>
            </a:r>
            <a:r>
              <a:rPr lang="ko-KR" altLang="en-US" sz="2800" dirty="0"/>
              <a:t> 표현된 경우를 말합니다</a:t>
            </a:r>
            <a:r>
              <a:rPr lang="en-US" altLang="ko-KR" sz="2800" dirty="0"/>
              <a:t>.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일반적인 형태                    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800" dirty="0"/>
              <a:t>a</a:t>
            </a:r>
            <a:r>
              <a:rPr lang="ko-KR" altLang="en-US" sz="2800" dirty="0"/>
              <a:t>는 </a:t>
            </a:r>
            <a:r>
              <a:rPr lang="ko-KR" altLang="en-US" sz="2800" b="1" dirty="0"/>
              <a:t>기울기</a:t>
            </a:r>
            <a:r>
              <a:rPr lang="ko-KR" altLang="en-US" sz="2800" dirty="0"/>
              <a:t>를 나타내며</a:t>
            </a:r>
            <a:r>
              <a:rPr lang="en-US" altLang="ko-KR" sz="2800" dirty="0"/>
              <a:t>, </a:t>
            </a:r>
            <a:r>
              <a:rPr lang="ko-KR" altLang="en-US" sz="2800" dirty="0"/>
              <a:t>직선이 얼마나 가파른지를 결정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800" dirty="0"/>
              <a:t>b</a:t>
            </a:r>
            <a:r>
              <a:rPr lang="ko-KR" altLang="en-US" sz="2800" dirty="0"/>
              <a:t>는 </a:t>
            </a:r>
            <a:r>
              <a:rPr lang="ko-KR" altLang="en-US" sz="2800" b="1" dirty="0"/>
              <a:t>절편</a:t>
            </a:r>
            <a:r>
              <a:rPr lang="ko-KR" altLang="en-US" sz="2800" dirty="0"/>
              <a:t>을 의미하며</a:t>
            </a:r>
            <a:r>
              <a:rPr lang="en-US" altLang="ko-KR" sz="2800" dirty="0"/>
              <a:t>, </a:t>
            </a:r>
            <a:r>
              <a:rPr lang="ko-KR" altLang="en-US" sz="2800" dirty="0"/>
              <a:t>그래프가 </a:t>
            </a:r>
            <a:r>
              <a:rPr lang="en-US" altLang="ko-KR" sz="2800" dirty="0"/>
              <a:t>y</a:t>
            </a:r>
            <a:r>
              <a:rPr lang="ko-KR" altLang="en-US" sz="2800" dirty="0"/>
              <a:t>축과 만나는 지점</a:t>
            </a:r>
            <a:endParaRPr lang="en-US" altLang="ko-KR" sz="28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8225021-49BE-4093-A852-2F7DA2CB276B}"/>
              </a:ext>
            </a:extLst>
          </p:cNvPr>
          <p:cNvGrpSpPr/>
          <p:nvPr/>
        </p:nvGrpSpPr>
        <p:grpSpPr>
          <a:xfrm>
            <a:off x="3162157" y="2777364"/>
            <a:ext cx="2935763" cy="411798"/>
            <a:chOff x="3386453" y="2806861"/>
            <a:chExt cx="2935763" cy="411798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6453" y="2806861"/>
              <a:ext cx="1833165" cy="4117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0819" y="2813856"/>
              <a:ext cx="1021397" cy="397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053" name="Picture 5" descr="C:\Users\LMH\Downloads\outpu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680" y="1838961"/>
            <a:ext cx="4602572" cy="3515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742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이차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51788" y="1538342"/>
            <a:ext cx="5974082" cy="389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b="1" dirty="0"/>
              <a:t>이차 함수</a:t>
            </a:r>
            <a:r>
              <a:rPr lang="ko-KR" altLang="en-US" sz="2800" dirty="0"/>
              <a:t>는 </a:t>
            </a:r>
            <a:r>
              <a:rPr lang="en-US" altLang="ko-KR" sz="2800" dirty="0"/>
              <a:t>y</a:t>
            </a:r>
            <a:r>
              <a:rPr lang="ko-KR" altLang="en-US" sz="2800" dirty="0"/>
              <a:t>가 </a:t>
            </a:r>
            <a:r>
              <a:rPr lang="en-US" altLang="ko-KR" sz="2800" dirty="0"/>
              <a:t>x</a:t>
            </a:r>
            <a:r>
              <a:rPr lang="ko-KR" altLang="en-US" sz="2800" dirty="0"/>
              <a:t>에 대한 </a:t>
            </a:r>
            <a:r>
              <a:rPr lang="ko-KR" altLang="en-US" sz="2800" b="1" dirty="0" err="1"/>
              <a:t>이차식</a:t>
            </a:r>
            <a:r>
              <a:rPr lang="ko-KR" altLang="en-US" sz="2800" dirty="0" err="1"/>
              <a:t>으로</a:t>
            </a:r>
            <a:r>
              <a:rPr lang="ko-KR" altLang="en-US" sz="2800" dirty="0"/>
              <a:t> 표현된 경우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일반적인 형태 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800" dirty="0"/>
              <a:t>a: </a:t>
            </a:r>
            <a:r>
              <a:rPr lang="ko-KR" altLang="en-US" sz="2800" b="1" dirty="0"/>
              <a:t>그래프의 모양과 방향</a:t>
            </a:r>
            <a:r>
              <a:rPr lang="ko-KR" altLang="en-US" sz="2800" dirty="0"/>
              <a:t>을 결정 </a:t>
            </a:r>
            <a:r>
              <a:rPr lang="en-US" altLang="ko-KR" sz="2800" dirty="0"/>
              <a:t>(</a:t>
            </a:r>
            <a:r>
              <a:rPr lang="ko-KR" altLang="en-US" sz="2800" dirty="0"/>
              <a:t>양수면 아래로 볼록</a:t>
            </a:r>
            <a:r>
              <a:rPr lang="en-US" altLang="ko-KR" sz="2800" dirty="0"/>
              <a:t>, </a:t>
            </a:r>
            <a:r>
              <a:rPr lang="ko-KR" altLang="en-US" sz="2800" dirty="0"/>
              <a:t>음수면 위로 볼록</a:t>
            </a:r>
            <a:r>
              <a:rPr lang="en-US" altLang="ko-KR" sz="2800" dirty="0"/>
              <a:t>)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800" dirty="0"/>
              <a:t>(</a:t>
            </a:r>
            <a:r>
              <a:rPr lang="en-US" altLang="ko-KR" sz="2800" dirty="0" err="1"/>
              <a:t>p,q</a:t>
            </a:r>
            <a:r>
              <a:rPr lang="en-US" altLang="ko-KR" sz="2800" dirty="0"/>
              <a:t>): </a:t>
            </a:r>
            <a:r>
              <a:rPr lang="ko-KR" altLang="en-US" sz="2800" b="1" dirty="0" err="1"/>
              <a:t>꼭짓점</a:t>
            </a:r>
            <a:r>
              <a:rPr lang="ko-KR" altLang="en-US" sz="2800" dirty="0" err="1"/>
              <a:t>의</a:t>
            </a:r>
            <a:r>
              <a:rPr lang="ko-KR" altLang="en-US" sz="2800" dirty="0"/>
              <a:t> 좌표</a:t>
            </a:r>
            <a:endParaRPr lang="en-US" altLang="ko-KR" sz="28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DE78CFA-760E-DD63-98DA-1A799914C26C}"/>
              </a:ext>
            </a:extLst>
          </p:cNvPr>
          <p:cNvGrpSpPr/>
          <p:nvPr/>
        </p:nvGrpSpPr>
        <p:grpSpPr>
          <a:xfrm>
            <a:off x="3067335" y="3010792"/>
            <a:ext cx="3477420" cy="475488"/>
            <a:chOff x="3342639" y="3018080"/>
            <a:chExt cx="3477420" cy="475488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2639" y="3018080"/>
              <a:ext cx="2377438" cy="475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8662" y="3056920"/>
              <a:ext cx="1021397" cy="397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1" name="Picture 3" descr="C:\Users\LMH\Downloads\output (1)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618" y="1625600"/>
            <a:ext cx="4791833" cy="38196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856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미분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51788" y="1481062"/>
            <a:ext cx="5953761" cy="389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함수                </a:t>
            </a:r>
            <a:r>
              <a:rPr lang="ko-KR" altLang="en-US" sz="2800" dirty="0" err="1"/>
              <a:t>를</a:t>
            </a:r>
            <a:r>
              <a:rPr lang="ko-KR" altLang="en-US" sz="2800" dirty="0"/>
              <a:t> 미분한다는 것은 </a:t>
            </a:r>
            <a:r>
              <a:rPr lang="ko-KR" altLang="en-US" sz="2800" b="1" dirty="0"/>
              <a:t>함수의 순간 변화율</a:t>
            </a:r>
            <a:r>
              <a:rPr lang="ko-KR" altLang="en-US" sz="2800" dirty="0"/>
              <a:t>을 구하는 것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즉</a:t>
            </a:r>
            <a:r>
              <a:rPr lang="en-US" altLang="ko-KR" sz="2800" dirty="0"/>
              <a:t>, </a:t>
            </a:r>
            <a:r>
              <a:rPr lang="ko-KR" altLang="en-US" sz="2800" dirty="0"/>
              <a:t>특정 점에서의 </a:t>
            </a:r>
            <a:r>
              <a:rPr lang="ko-KR" altLang="en-US" sz="2800" b="1" dirty="0"/>
              <a:t>기울기</a:t>
            </a:r>
            <a:r>
              <a:rPr lang="ko-KR" altLang="en-US" sz="2800" dirty="0"/>
              <a:t>를 계산하는 과정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미분을 통해 최적화나 그래프의 증가</a:t>
            </a:r>
            <a:r>
              <a:rPr lang="en-US" altLang="ko-KR" sz="2800" dirty="0"/>
              <a:t>/</a:t>
            </a:r>
            <a:r>
              <a:rPr lang="ko-KR" altLang="en-US" sz="2800" dirty="0"/>
              <a:t>감소 경향을 분석할 수 있음</a:t>
            </a:r>
            <a:endParaRPr lang="en-US" altLang="ko-KR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213" y="1654847"/>
            <a:ext cx="1323774" cy="444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 descr="C:\Users\LMH\Downloads\output (3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599" y="1346359"/>
            <a:ext cx="5319407" cy="4201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113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순간 변화율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접선의 기울기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51788" y="2773724"/>
            <a:ext cx="5953761" cy="131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800" dirty="0"/>
              <a:t>x</a:t>
            </a:r>
            <a:r>
              <a:rPr lang="ko-KR" altLang="en-US" sz="2800" dirty="0"/>
              <a:t>의 값이 미세하게 변화했을 때 </a:t>
            </a:r>
            <a:r>
              <a:rPr lang="en-US" altLang="ko-KR" sz="2800" dirty="0"/>
              <a:t>y</a:t>
            </a:r>
            <a:r>
              <a:rPr lang="ko-KR" altLang="en-US" sz="2800" dirty="0"/>
              <a:t>의 변화율</a:t>
            </a:r>
            <a:endParaRPr lang="en-US" altLang="ko-KR" sz="2800" dirty="0"/>
          </a:p>
        </p:txBody>
      </p:sp>
      <p:pic>
        <p:nvPicPr>
          <p:cNvPr id="5122" name="Picture 2" descr="주말N수학] 우리는 왜 '미분'에 관심이 생겼을까 : 동아사이언스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94"/>
          <a:stretch/>
        </p:blipFill>
        <p:spPr bwMode="auto">
          <a:xfrm>
            <a:off x="6319520" y="1412239"/>
            <a:ext cx="5486400" cy="43148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7254372" y="5751195"/>
            <a:ext cx="361669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출처</a:t>
            </a:r>
            <a:r>
              <a:rPr lang="en-US" altLang="ko-KR" sz="1000" dirty="0"/>
              <a:t>] https://m.dongascience.com/news.php?idx=61804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567990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함수의 최솟값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51788" y="2773724"/>
            <a:ext cx="5828565" cy="131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함수의 최솟값에서의 </a:t>
            </a:r>
            <a:r>
              <a:rPr lang="ko-KR" altLang="en-US" sz="2800" dirty="0" err="1"/>
              <a:t>미분값은</a:t>
            </a:r>
            <a:r>
              <a:rPr lang="ko-KR" altLang="en-US" sz="2800" dirty="0"/>
              <a:t> 항상 </a:t>
            </a:r>
            <a:r>
              <a:rPr lang="en-US" altLang="ko-KR" sz="2800" dirty="0"/>
              <a:t>0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이를 바탕으로 </a:t>
            </a:r>
            <a:r>
              <a:rPr lang="ko-KR" altLang="en-US" sz="2800" dirty="0" err="1"/>
              <a:t>최적값을</a:t>
            </a:r>
            <a:r>
              <a:rPr lang="ko-KR" altLang="en-US" sz="2800" dirty="0"/>
              <a:t> 구할 수 있음</a:t>
            </a:r>
            <a:endParaRPr lang="en-US" altLang="ko-KR" sz="2800" dirty="0"/>
          </a:p>
        </p:txBody>
      </p:sp>
      <p:pic>
        <p:nvPicPr>
          <p:cNvPr id="6146" name="Picture 2" descr="C:\Users\LMH\Downloads\output (4)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610" y="1294907"/>
            <a:ext cx="5420689" cy="42681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736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3B16C-4F84-B1C9-CF41-FA019183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편미분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6D308-9585-0E1C-DD8A-2A67C1A6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D00DF3-4BD4-55C2-22A8-85DF09AF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3E7F92-9A54-4795-0205-E320483A1815}"/>
              </a:ext>
            </a:extLst>
          </p:cNvPr>
          <p:cNvSpPr txBox="1"/>
          <p:nvPr/>
        </p:nvSpPr>
        <p:spPr>
          <a:xfrm>
            <a:off x="251788" y="1481062"/>
            <a:ext cx="6099006" cy="389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변수가 여러 개인 </a:t>
            </a:r>
            <a:r>
              <a:rPr lang="ko-KR" altLang="en-US" sz="2800" dirty="0" err="1"/>
              <a:t>다변수</a:t>
            </a:r>
            <a:r>
              <a:rPr lang="ko-KR" altLang="en-US" sz="2800" dirty="0"/>
              <a:t> 함수에 대해</a:t>
            </a:r>
            <a:r>
              <a:rPr lang="en-US" altLang="ko-KR" sz="2800" dirty="0"/>
              <a:t>,</a:t>
            </a:r>
            <a:br>
              <a:rPr lang="en-US" altLang="ko-KR" sz="2800" dirty="0"/>
            </a:br>
            <a:r>
              <a:rPr lang="en-US" altLang="ko-KR" sz="2800" dirty="0"/>
              <a:t>          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ex:</a:t>
            </a:r>
            <a:br>
              <a:rPr lang="en-US" altLang="ko-KR" sz="2800" dirty="0"/>
            </a:br>
            <a:r>
              <a:rPr lang="ko-KR" altLang="en-US" sz="2800" dirty="0"/>
              <a:t>다른 변수들은 고정시키고</a:t>
            </a:r>
            <a:r>
              <a:rPr lang="en-US" altLang="ko-KR" sz="2800" dirty="0"/>
              <a:t>, </a:t>
            </a:r>
            <a:r>
              <a:rPr lang="ko-KR" altLang="en-US" sz="2800" dirty="0"/>
              <a:t>특정 변수에 대해서만 변화율</a:t>
            </a:r>
            <a:r>
              <a:rPr lang="en-US" altLang="ko-KR" sz="2800" dirty="0"/>
              <a:t>(</a:t>
            </a:r>
            <a:r>
              <a:rPr lang="ko-KR" altLang="en-US" sz="2800" dirty="0"/>
              <a:t>기울기</a:t>
            </a:r>
            <a:r>
              <a:rPr lang="en-US" altLang="ko-KR" sz="2800" dirty="0"/>
              <a:t>)</a:t>
            </a:r>
            <a:r>
              <a:rPr lang="ko-KR" altLang="en-US" sz="2800" dirty="0"/>
              <a:t>을 구하는 것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 err="1"/>
              <a:t>다변수</a:t>
            </a:r>
            <a:r>
              <a:rPr lang="ko-KR" altLang="en-US" sz="2800" dirty="0"/>
              <a:t> 함수는 </a:t>
            </a:r>
            <a:r>
              <a:rPr lang="en-US" altLang="ko-KR" sz="2800" dirty="0"/>
              <a:t>3</a:t>
            </a:r>
            <a:r>
              <a:rPr lang="ko-KR" altLang="en-US" sz="2800" dirty="0"/>
              <a:t>차원 공간에 </a:t>
            </a:r>
            <a:r>
              <a:rPr lang="en-US" altLang="ko-KR" sz="2800" dirty="0"/>
              <a:t>"</a:t>
            </a:r>
            <a:r>
              <a:rPr lang="ko-KR" altLang="en-US" sz="2800" dirty="0"/>
              <a:t>곡면</a:t>
            </a:r>
            <a:r>
              <a:rPr lang="en-US" altLang="ko-KR" sz="2800" dirty="0"/>
              <a:t>"</a:t>
            </a:r>
            <a:r>
              <a:rPr lang="ko-KR" altLang="en-US" sz="2800" dirty="0"/>
              <a:t>으로 나타낼 수 있음</a:t>
            </a:r>
            <a:endParaRPr lang="en-US" altLang="ko-KR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2ECD0C-3030-815A-9D05-80EDF2F41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99" y="2171013"/>
            <a:ext cx="3029373" cy="60968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C01BCDC-DAC6-8C29-FD7D-35CFB39C90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192" b="37509"/>
          <a:stretch>
            <a:fillRect/>
          </a:stretch>
        </p:blipFill>
        <p:spPr>
          <a:xfrm>
            <a:off x="7845196" y="4318983"/>
            <a:ext cx="3000794" cy="970022"/>
          </a:xfrm>
          <a:prstGeom prst="rect">
            <a:avLst/>
          </a:prstGeom>
        </p:spPr>
      </p:pic>
      <p:pic>
        <p:nvPicPr>
          <p:cNvPr id="1030" name="Picture 6" descr="9장. 편미분( Partial differential) : 네이버 블로그">
            <a:extLst>
              <a:ext uri="{FF2B5EF4-FFF2-40B4-BE49-F238E27FC236}">
                <a16:creationId xmlns:a16="http://schemas.microsoft.com/office/drawing/2014/main" id="{12391890-F85C-7D45-6954-79486B1DA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573" y="1000673"/>
            <a:ext cx="3099992" cy="2428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62755B-53CB-DF57-DCFA-82C9B18E13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119"/>
          <a:stretch>
            <a:fillRect/>
          </a:stretch>
        </p:blipFill>
        <p:spPr>
          <a:xfrm>
            <a:off x="7788051" y="3648072"/>
            <a:ext cx="3000794" cy="67091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A16577A-E5CE-B08A-8B54-BD3D086875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901"/>
          <a:stretch>
            <a:fillRect/>
          </a:stretch>
        </p:blipFill>
        <p:spPr>
          <a:xfrm>
            <a:off x="7845196" y="5191005"/>
            <a:ext cx="3000794" cy="89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26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E035-6FD5-3C7F-6779-97799A8F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599D2-383C-8944-9C09-8F52B16C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편미분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FEA1C2-1364-9C45-BD26-995F4DC1E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5D888D-0E73-C866-9F77-D8AC13C0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5F055-9ED5-330A-C560-7EF83968AA3F}"/>
              </a:ext>
            </a:extLst>
          </p:cNvPr>
          <p:cNvSpPr txBox="1"/>
          <p:nvPr/>
        </p:nvSpPr>
        <p:spPr>
          <a:xfrm>
            <a:off x="251788" y="2674862"/>
            <a:ext cx="6099006" cy="131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 err="1"/>
              <a:t>그라디언트</a:t>
            </a:r>
            <a:r>
              <a:rPr lang="ko-KR" altLang="en-US" sz="2800" dirty="0"/>
              <a:t> </a:t>
            </a:r>
            <a:r>
              <a:rPr lang="en-US" altLang="ko-KR" sz="2800" dirty="0"/>
              <a:t>: </a:t>
            </a:r>
            <a:r>
              <a:rPr lang="ko-KR" altLang="en-US" sz="2800" dirty="0" err="1"/>
              <a:t>다변수</a:t>
            </a:r>
            <a:r>
              <a:rPr lang="ko-KR" altLang="en-US" sz="2800" dirty="0"/>
              <a:t> 함수의 모든 </a:t>
            </a:r>
            <a:r>
              <a:rPr lang="ko-KR" altLang="en-US" sz="2800" dirty="0" err="1"/>
              <a:t>편미분을</a:t>
            </a:r>
            <a:r>
              <a:rPr lang="ko-KR" altLang="en-US" sz="2800" dirty="0"/>
              <a:t> 모아놓은 </a:t>
            </a:r>
            <a:r>
              <a:rPr lang="ko-KR" altLang="en-US" sz="2800" b="1" dirty="0"/>
              <a:t>벡터</a:t>
            </a:r>
            <a:endParaRPr lang="en-US" altLang="ko-KR" sz="2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65E9C7-5C4B-AC94-C39D-404B52DE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266" y="1661866"/>
            <a:ext cx="3715268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94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6143</TotalTime>
  <Words>283</Words>
  <Application>Microsoft Office PowerPoint</Application>
  <PresentationFormat>와이드스크린</PresentationFormat>
  <Paragraphs>54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Arial</vt:lpstr>
      <vt:lpstr>메이플스토리</vt:lpstr>
      <vt:lpstr>맑은 고딕</vt:lpstr>
      <vt:lpstr>Pretendard Black</vt:lpstr>
      <vt:lpstr>G마켓 산스 TTF Bold</vt:lpstr>
      <vt:lpstr>Wingdings</vt:lpstr>
      <vt:lpstr>Pretendard Light</vt:lpstr>
      <vt:lpstr>Pretendard Medium</vt:lpstr>
      <vt:lpstr>1_Office 테마</vt:lpstr>
      <vt:lpstr>x</vt:lpstr>
      <vt:lpstr>PowerPoint 프레젠테이션</vt:lpstr>
      <vt:lpstr>함수(Fucntion)</vt:lpstr>
      <vt:lpstr>1차 함수</vt:lpstr>
      <vt:lpstr>이차 함수</vt:lpstr>
      <vt:lpstr>미분</vt:lpstr>
      <vt:lpstr>순간 변화율(접선의 기울기)</vt:lpstr>
      <vt:lpstr>함수의 최솟값</vt:lpstr>
      <vt:lpstr>편미분</vt:lpstr>
      <vt:lpstr>편미분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1020</cp:revision>
  <dcterms:created xsi:type="dcterms:W3CDTF">2022-06-26T11:10:22Z</dcterms:created>
  <dcterms:modified xsi:type="dcterms:W3CDTF">2025-09-18T00:02:00Z</dcterms:modified>
</cp:coreProperties>
</file>