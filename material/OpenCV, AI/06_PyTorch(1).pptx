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1004" r:id="rId2"/>
    <p:sldId id="700" r:id="rId3"/>
    <p:sldId id="701" r:id="rId4"/>
    <p:sldId id="702" r:id="rId5"/>
    <p:sldId id="703" r:id="rId6"/>
    <p:sldId id="704" r:id="rId7"/>
    <p:sldId id="707" r:id="rId8"/>
    <p:sldId id="674" r:id="rId9"/>
    <p:sldId id="672" r:id="rId10"/>
    <p:sldId id="600" r:id="rId11"/>
    <p:sldId id="673" r:id="rId12"/>
    <p:sldId id="670" r:id="rId13"/>
    <p:sldId id="671" r:id="rId14"/>
    <p:sldId id="601" r:id="rId15"/>
    <p:sldId id="676" r:id="rId16"/>
    <p:sldId id="678" r:id="rId17"/>
    <p:sldId id="677" r:id="rId18"/>
    <p:sldId id="679" r:id="rId19"/>
    <p:sldId id="675" r:id="rId20"/>
    <p:sldId id="698" r:id="rId21"/>
    <p:sldId id="699" r:id="rId22"/>
    <p:sldId id="696" r:id="rId23"/>
    <p:sldId id="602" r:id="rId24"/>
    <p:sldId id="681" r:id="rId25"/>
    <p:sldId id="682" r:id="rId26"/>
    <p:sldId id="683" r:id="rId27"/>
    <p:sldId id="684" r:id="rId28"/>
    <p:sldId id="685" r:id="rId29"/>
    <p:sldId id="686" r:id="rId30"/>
    <p:sldId id="688" r:id="rId31"/>
    <p:sldId id="680" r:id="rId32"/>
    <p:sldId id="603" r:id="rId33"/>
    <p:sldId id="605" r:id="rId34"/>
    <p:sldId id="691" r:id="rId35"/>
    <p:sldId id="695" r:id="rId36"/>
    <p:sldId id="693" r:id="rId37"/>
    <p:sldId id="694" r:id="rId38"/>
    <p:sldId id="697" r:id="rId39"/>
    <p:sldId id="836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>
        <p:scale>
          <a:sx n="66" d="100"/>
          <a:sy n="66" d="100"/>
        </p:scale>
        <p:origin x="1776" y="7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https://www.assemblyai.com/blog/pytorch-vs-tensorflow-in-2023/</a:t>
            </a:r>
            <a:endParaRPr lang="ko-KR" dirty="0"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641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>
              <a:ea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641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31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vebook.manning.com/#!/book/deep-learning-with-pytorch/welcome/v-7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get-started/locally/" TargetMode="External"/><Relationship Id="rId2" Type="http://schemas.openxmlformats.org/officeDocument/2006/relationships/hyperlink" Target="https://developer.nvidia.com/cuda-11-8-0-download-archiv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PyTorch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88166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소개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38991" y="1145407"/>
            <a:ext cx="11501122" cy="455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💡 동적 계산 그래프 기반의 오픈소스 딥러닝 프레임워크</a:t>
            </a:r>
            <a:endParaRPr lang="en-US" altLang="ko-KR" sz="2800" dirty="0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출시 배경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Facebook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2017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년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Torch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기반으로 재개발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초기 역할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과학 연산 라이브러리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발전 과정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GPU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활용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텐서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연산 및 동적 신경망 구축 지원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특징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직관적이고 유연한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스타일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고속 계산 성능 제공</a:t>
            </a:r>
          </a:p>
          <a:p>
            <a:pPr marL="1371600" lvl="2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연구와 개발에 최적화된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딥러닝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프레임워크</a:t>
            </a:r>
          </a:p>
        </p:txBody>
      </p:sp>
    </p:spTree>
    <p:extLst>
      <p:ext uri="{BB962C8B-B14F-4D97-AF65-F5344CB8AC3E}">
        <p14:creationId xmlns:p14="http://schemas.microsoft.com/office/powerpoint/2010/main" val="268002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75" y="1145407"/>
            <a:ext cx="4024596" cy="5495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  <a:ea typeface="+mn-ea"/>
              </a:rPr>
              <a:t>✅ </a:t>
            </a:r>
            <a:r>
              <a:rPr lang="en-US" altLang="ko-KR" sz="2400" dirty="0" err="1">
                <a:latin typeface="+mn-ea"/>
                <a:ea typeface="+mn-ea"/>
              </a:rPr>
              <a:t>PyTorch</a:t>
            </a:r>
            <a:r>
              <a:rPr lang="en-US" altLang="ko-KR" sz="2400" dirty="0">
                <a:latin typeface="+mn-ea"/>
                <a:ea typeface="+mn-ea"/>
              </a:rPr>
              <a:t> vs TensorFlow</a:t>
            </a:r>
            <a:endParaRPr lang="ko-KR" altLang="en-US" sz="2400" dirty="0">
              <a:latin typeface="+mn-ea"/>
              <a:ea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E4D271-0501-05AC-A364-742E2BBB9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609043"/>
              </p:ext>
            </p:extLst>
          </p:nvPr>
        </p:nvGraphicFramePr>
        <p:xfrm>
          <a:off x="302368" y="1789951"/>
          <a:ext cx="11587264" cy="4198675"/>
        </p:xfrm>
        <a:graphic>
          <a:graphicData uri="http://schemas.openxmlformats.org/drawingml/2006/table">
            <a:tbl>
              <a:tblPr/>
              <a:tblGrid>
                <a:gridCol w="1237034">
                  <a:extLst>
                    <a:ext uri="{9D8B030D-6E8A-4147-A177-3AD203B41FA5}">
                      <a16:colId xmlns:a16="http://schemas.microsoft.com/office/drawing/2014/main" val="3556737509"/>
                    </a:ext>
                  </a:extLst>
                </a:gridCol>
                <a:gridCol w="5188086">
                  <a:extLst>
                    <a:ext uri="{9D8B030D-6E8A-4147-A177-3AD203B41FA5}">
                      <a16:colId xmlns:a16="http://schemas.microsoft.com/office/drawing/2014/main" val="2928219542"/>
                    </a:ext>
                  </a:extLst>
                </a:gridCol>
                <a:gridCol w="5162144">
                  <a:extLst>
                    <a:ext uri="{9D8B030D-6E8A-4147-A177-3AD203B41FA5}">
                      <a16:colId xmlns:a16="http://schemas.microsoft.com/office/drawing/2014/main" val="889649100"/>
                    </a:ext>
                  </a:extLst>
                </a:gridCol>
              </a:tblGrid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PyTorch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TensorFlow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71052"/>
                  </a:ext>
                </a:extLst>
              </a:tr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그래프 생성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동적 계산 그래프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디버깅 및 코드 작성이 쉽고 직관적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정적 계산 그래프와 동적 계산 그래프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929129"/>
                  </a:ext>
                </a:extLst>
              </a:tr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및 배포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연구 및 개발에 강점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배포에 다소 어려움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대규모 분산 시스템 및 프로덕션 배포에 강점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089014"/>
                  </a:ext>
                </a:extLst>
              </a:tr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플랫폼 지원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TorchScript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ONNX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에서 모바일 및 임베디드 플랫폼에 모델 내보냄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TensorFlow Lite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모바일 및 임베디드 플랫폼에 모델 내보냄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358545"/>
                  </a:ext>
                </a:extLst>
              </a:tr>
              <a:tr h="839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커뮤니티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및 생태계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대학 연구 및 초기 개발 지지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빠르게 성장하고 확장 중인 생태계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Google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지원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en-US" altLang="ko-K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Keras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 고수준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API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가능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더 큰 사용자 커뮤니티</a:t>
                      </a:r>
                    </a:p>
                  </a:txBody>
                  <a:tcPr marL="5975" marR="5975" marT="5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985692"/>
                  </a:ext>
                </a:extLst>
              </a:tr>
            </a:tbl>
          </a:graphicData>
        </a:graphic>
      </p:graphicFrame>
      <p:sp>
        <p:nvSpPr>
          <p:cNvPr id="8" name="제목 7">
            <a:extLst>
              <a:ext uri="{FF2B5EF4-FFF2-40B4-BE49-F238E27FC236}">
                <a16:creationId xmlns:a16="http://schemas.microsoft.com/office/drawing/2014/main" id="{C62698AD-D230-EFB8-60A0-FF08144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소개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410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" name="AutoShape 2" descr="image.p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image.png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094" y="1303486"/>
            <a:ext cx="6138226" cy="4251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3448527" y="5779592"/>
            <a:ext cx="52933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Deep Learning with </a:t>
            </a:r>
            <a:r>
              <a:rPr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PyTorch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by Eli Stevens Luca </a:t>
            </a:r>
            <a:r>
              <a:rPr lang="en-US" altLang="ko-K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Antiga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MEAP Publication.  </a:t>
            </a:r>
          </a:p>
          <a:p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https://livebook.manning.com/#!/book/deep-learning-with-pytorch/welcome/v-7/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F05DAFB-82BE-159F-AA03-B8057450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소개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62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739" y="1152843"/>
            <a:ext cx="11526521" cy="464851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</a:t>
            </a:r>
            <a:r>
              <a:rPr lang="en-US" altLang="ko-KR" b="1" dirty="0">
                <a:latin typeface="+mn-ea"/>
              </a:rPr>
              <a:t>CUDA</a:t>
            </a:r>
            <a:r>
              <a:rPr lang="ko-KR" altLang="en-US" b="1" dirty="0">
                <a:latin typeface="+mn-ea"/>
              </a:rPr>
              <a:t> 설치 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CUDA : NVIDIA</a:t>
            </a:r>
            <a:r>
              <a:rPr lang="ko-KR" altLang="en-US" dirty="0">
                <a:latin typeface="+mn-ea"/>
              </a:rPr>
              <a:t>가 개발한 병렬 컴퓨팅 플랫폼으로</a:t>
            </a:r>
            <a:r>
              <a:rPr lang="en-US" altLang="ko-KR" dirty="0">
                <a:latin typeface="+mn-ea"/>
              </a:rPr>
              <a:t>, GPU</a:t>
            </a:r>
            <a:r>
              <a:rPr lang="ko-KR" altLang="en-US" dirty="0">
                <a:latin typeface="+mn-ea"/>
              </a:rPr>
              <a:t>를 활용해 대규모 데이터 처리와 복잡한 계산을 빠르게 수행할 수 있도록 지원함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강의에서는 </a:t>
            </a:r>
            <a:r>
              <a:rPr lang="en-US" altLang="ko-KR" dirty="0" err="1">
                <a:latin typeface="+mn-ea"/>
              </a:rPr>
              <a:t>cuda</a:t>
            </a:r>
            <a:r>
              <a:rPr lang="en-US" altLang="ko-KR" dirty="0">
                <a:latin typeface="+mn-ea"/>
              </a:rPr>
              <a:t> version 11.8 </a:t>
            </a:r>
            <a:r>
              <a:rPr lang="ko-KR" altLang="en-US" dirty="0">
                <a:latin typeface="+mn-ea"/>
              </a:rPr>
              <a:t>로 설치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  <a:hlinkClick r:id="rId2"/>
              </a:rPr>
              <a:t>https://developer.nvidia.com/cuda-11-8-0-download-archive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</a:t>
            </a:r>
            <a:r>
              <a:rPr lang="ko-KR" altLang="en-US" b="1" dirty="0"/>
              <a:t>환경에 맞는 설치 명령어 획득 가능</a:t>
            </a:r>
            <a:r>
              <a:rPr lang="en-US" altLang="ko-KR" b="1" dirty="0">
                <a:latin typeface="+mn-ea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3"/>
              </a:rPr>
              <a:t>https://pytorch.org/get-started/locally/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7403C876-D748-2647-ADE4-826E71ABB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설치하기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85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159" y="1274763"/>
            <a:ext cx="10515600" cy="455512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>
                <a:latin typeface="+mn-ea"/>
              </a:rPr>
              <a:t>✔️ 설치 없이 하기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Google </a:t>
            </a:r>
            <a:r>
              <a:rPr lang="en-US" altLang="ko-KR" dirty="0" err="1">
                <a:latin typeface="+mn-ea"/>
              </a:rPr>
              <a:t>Colab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이용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+mn-ea"/>
                <a:hlinkClick r:id="rId2"/>
              </a:rPr>
              <a:t>https://colab.research.google.com/</a:t>
            </a:r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68282B2B-A65A-C4A4-7698-62A4D30B3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j-ea"/>
              </a:rPr>
              <a:t>PyTorch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설치하기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8036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342682" y="2551837"/>
            <a:ext cx="55066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Tensor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초기화와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타입</a:t>
            </a:r>
          </a:p>
        </p:txBody>
      </p:sp>
    </p:spTree>
    <p:extLst>
      <p:ext uri="{BB962C8B-B14F-4D97-AF65-F5344CB8AC3E}">
        <p14:creationId xmlns:p14="http://schemas.microsoft.com/office/powerpoint/2010/main" val="310844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Tensor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란</a:t>
            </a:r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?</a:t>
            </a:r>
            <a:endParaRPr lang="ko-KR" altLang="en-US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0055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37940" cy="40566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💡 수학적 개념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방향성과 크기를 동시에 표현하는 다차원 배열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어원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라틴어 </a:t>
            </a:r>
            <a:r>
              <a:rPr lang="en-US" altLang="ko-KR" dirty="0" err="1">
                <a:latin typeface="+mn-ea"/>
              </a:rPr>
              <a:t>tendere</a:t>
            </a:r>
            <a:r>
              <a:rPr lang="en-US" altLang="ko-KR" dirty="0">
                <a:latin typeface="+mn-ea"/>
              </a:rPr>
              <a:t> ('</a:t>
            </a:r>
            <a:r>
              <a:rPr lang="ko-KR" altLang="en-US" dirty="0">
                <a:latin typeface="+mn-ea"/>
              </a:rPr>
              <a:t>당기다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확장하다</a:t>
            </a:r>
            <a:r>
              <a:rPr lang="en-US" altLang="ko-KR" dirty="0">
                <a:latin typeface="+mn-ea"/>
              </a:rPr>
              <a:t>')</a:t>
            </a:r>
            <a:r>
              <a:rPr lang="ko-KR" altLang="en-US" dirty="0">
                <a:latin typeface="+mn-ea"/>
              </a:rPr>
              <a:t>에서 유래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활용</a:t>
            </a:r>
            <a:r>
              <a:rPr lang="en-US" altLang="ko-KR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머신 러닝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 err="1">
                <a:latin typeface="+mn-ea"/>
              </a:rPr>
              <a:t>딥러닝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과학적 계산 등 복잡한 데이터 구조 처리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 err="1"/>
              <a:t>파이썬답게</a:t>
            </a:r>
            <a:r>
              <a:rPr lang="ko-KR" altLang="en-US" dirty="0"/>
              <a:t> 만들어졌고</a:t>
            </a:r>
            <a:r>
              <a:rPr lang="en-US" altLang="ko-KR" dirty="0"/>
              <a:t>, </a:t>
            </a:r>
            <a:r>
              <a:rPr lang="ko-KR" altLang="en-US" dirty="0"/>
              <a:t>유연하면서도 가속화된 계산 속도를 제공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425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23562" cy="48553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다차원 데이터 표현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배열이나 행렬과 유사한 자료구조로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스칼라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(0D),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벡터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(1D),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(2D), 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                           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다차원 배열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표현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역할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담기 위한 컨테이너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(container)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로서 일반적으로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데이터를 저장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유사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ndarray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비슷하지만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GPU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가속 및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딥러닝에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최적화됨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고효율 연산 지원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내적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 연산 등 다양한 연산 가능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724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8BECB-9F51-84B8-9A07-C3AAD61E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2E81C-622C-489D-405C-FC05D2D6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A6A364-4795-1064-A6CF-BA125728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5A835F-9D34-3969-A3EF-6C2EA2AF3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40E522-1390-66DA-892A-56290D267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223" y="905139"/>
            <a:ext cx="9591554" cy="509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48CEA4-5DAD-EF8C-AFB7-98DD2AD0F2CA}"/>
              </a:ext>
            </a:extLst>
          </p:cNvPr>
          <p:cNvSpPr txBox="1"/>
          <p:nvPr/>
        </p:nvSpPr>
        <p:spPr>
          <a:xfrm>
            <a:off x="2128837" y="6089257"/>
            <a:ext cx="79343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https://colab.research.google.com/drive/1dTWN0jiVIWcPUjfS7J9IT-LE4ACSB2PE?usp=sharing#scrollTo=_tOMeSz4FBV2</a:t>
            </a:r>
          </a:p>
        </p:txBody>
      </p:sp>
    </p:spTree>
    <p:extLst>
      <p:ext uri="{BB962C8B-B14F-4D97-AF65-F5344CB8AC3E}">
        <p14:creationId xmlns:p14="http://schemas.microsoft.com/office/powerpoint/2010/main" val="1152360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8BB339-7DD5-8481-1165-302D3ABF5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40C6F8-EB9A-3B9B-854C-0E0B56DA2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A0D832-542C-A5E3-73DB-CCC83CF20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1" y="1548617"/>
            <a:ext cx="11228438" cy="424690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/>
          <a:lstStyle/>
          <a:p>
            <a:r>
              <a:rPr lang="ko-KR" altLang="en-US" b="1" dirty="0"/>
              <a:t>데이터 타입</a:t>
            </a:r>
          </a:p>
        </p:txBody>
      </p:sp>
    </p:spTree>
    <p:extLst>
      <p:ext uri="{BB962C8B-B14F-4D97-AF65-F5344CB8AC3E}">
        <p14:creationId xmlns:p14="http://schemas.microsoft.com/office/powerpoint/2010/main" val="1335615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LMH\Desktop\PyTorch\1\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" t="20530" r="5625" b="19716"/>
          <a:stretch>
            <a:fillRect/>
          </a:stretch>
        </p:blipFill>
        <p:spPr bwMode="auto">
          <a:xfrm>
            <a:off x="685801" y="2506134"/>
            <a:ext cx="10820400" cy="215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95" y="4753492"/>
            <a:ext cx="10637940" cy="711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초기화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텐서에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특정 값을 채워서 생성하는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 txBox="1">
            <a:spLocks/>
          </p:cNvSpPr>
          <p:nvPr/>
        </p:nvSpPr>
        <p:spPr>
          <a:xfrm>
            <a:off x="528126" y="1939040"/>
            <a:ext cx="3044807" cy="567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Tensor </a:t>
            </a:r>
            <a:r>
              <a:rPr lang="ko-KR" altLang="en-US" sz="2400" dirty="0"/>
              <a:t>불러오기</a:t>
            </a:r>
          </a:p>
        </p:txBody>
      </p:sp>
    </p:spTree>
    <p:extLst>
      <p:ext uri="{BB962C8B-B14F-4D97-AF65-F5344CB8AC3E}">
        <p14:creationId xmlns:p14="http://schemas.microsoft.com/office/powerpoint/2010/main" val="3153966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MH\Desktop\PyTorch\1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62584"/>
            <a:ext cx="12192000" cy="307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초기화 되지 않은 </a:t>
            </a:r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05" y="1145407"/>
            <a:ext cx="11511989" cy="23341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400" b="1" dirty="0" err="1"/>
              <a:t>torch.empty</a:t>
            </a:r>
            <a:r>
              <a:rPr lang="en-US" altLang="ko-KR" sz="2400" dirty="0"/>
              <a:t>(</a:t>
            </a:r>
            <a:r>
              <a:rPr lang="en-US" altLang="ko-KR" sz="2400" i="1" dirty="0"/>
              <a:t>*size</a:t>
            </a:r>
            <a:r>
              <a:rPr lang="en-US" altLang="ko-KR" sz="2400" dirty="0"/>
              <a:t>, </a:t>
            </a:r>
            <a:r>
              <a:rPr lang="en-US" altLang="ko-KR" sz="2400" i="1" dirty="0"/>
              <a:t>*</a:t>
            </a:r>
            <a:r>
              <a:rPr lang="en-US" altLang="ko-KR" sz="2400" dirty="0"/>
              <a:t>, </a:t>
            </a:r>
            <a:r>
              <a:rPr lang="en-US" altLang="ko-KR" sz="2400" i="1" dirty="0"/>
              <a:t>out=None</a:t>
            </a:r>
            <a:r>
              <a:rPr lang="en-US" altLang="ko-KR" sz="2400" dirty="0"/>
              <a:t>, </a:t>
            </a:r>
            <a:r>
              <a:rPr lang="en-US" altLang="ko-KR" sz="2400" i="1" dirty="0" err="1"/>
              <a:t>dtype</a:t>
            </a:r>
            <a:r>
              <a:rPr lang="en-US" altLang="ko-KR" sz="2400" i="1" dirty="0"/>
              <a:t>=None</a:t>
            </a:r>
            <a:r>
              <a:rPr lang="en-US" altLang="ko-KR" sz="2400" dirty="0"/>
              <a:t>, </a:t>
            </a:r>
            <a:r>
              <a:rPr lang="en-US" altLang="ko-KR" sz="2400" i="1" dirty="0"/>
              <a:t>layout=</a:t>
            </a:r>
            <a:r>
              <a:rPr lang="en-US" altLang="ko-KR" sz="2400" i="1" dirty="0" err="1"/>
              <a:t>torch.strided</a:t>
            </a:r>
            <a:r>
              <a:rPr lang="en-US" altLang="ko-KR" sz="2400" dirty="0"/>
              <a:t>, </a:t>
            </a:r>
            <a:r>
              <a:rPr lang="en-US" altLang="ko-KR" sz="2400" i="1" dirty="0"/>
              <a:t>device=None</a:t>
            </a:r>
            <a:r>
              <a:rPr lang="en-US" altLang="ko-KR" sz="2400" dirty="0"/>
              <a:t>, </a:t>
            </a:r>
            <a:r>
              <a:rPr lang="en-US" altLang="ko-KR" sz="2400" i="1" dirty="0" err="1"/>
              <a:t>requires_grad</a:t>
            </a:r>
            <a:r>
              <a:rPr lang="en-US" altLang="ko-KR" sz="2400" i="1" dirty="0"/>
              <a:t>=False</a:t>
            </a:r>
            <a:r>
              <a:rPr lang="en-US" altLang="ko-KR" sz="2400" dirty="0"/>
              <a:t>, </a:t>
            </a:r>
            <a:r>
              <a:rPr lang="en-US" altLang="ko-KR" sz="2400" i="1" dirty="0" err="1"/>
              <a:t>pin_memory</a:t>
            </a:r>
            <a:r>
              <a:rPr lang="en-US" altLang="ko-KR" sz="2400" i="1" dirty="0"/>
              <a:t>=False</a:t>
            </a:r>
            <a:r>
              <a:rPr lang="en-US" altLang="ko-KR" sz="2400" dirty="0"/>
              <a:t>, </a:t>
            </a:r>
            <a:r>
              <a:rPr lang="en-US" altLang="ko-KR" sz="2400" i="1" dirty="0" err="1"/>
              <a:t>memory_format</a:t>
            </a:r>
            <a:r>
              <a:rPr lang="en-US" altLang="ko-KR" sz="2400" i="1" dirty="0"/>
              <a:t>=</a:t>
            </a:r>
            <a:r>
              <a:rPr lang="en-US" altLang="ko-KR" sz="2400" i="1" dirty="0" err="1"/>
              <a:t>torch.contiguous_format</a:t>
            </a:r>
            <a:r>
              <a:rPr lang="en-US" altLang="ko-KR" sz="2400" dirty="0"/>
              <a:t>) → Tensor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/>
              <a:t>초기화되지 않은 데이터로 채워진 </a:t>
            </a:r>
            <a:r>
              <a:rPr lang="ko-KR" altLang="en-US" dirty="0" err="1"/>
              <a:t>텐서</a:t>
            </a:r>
            <a:r>
              <a:rPr lang="ko-KR" altLang="en-US" dirty="0"/>
              <a:t>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193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상수로 초기화된 </a:t>
            </a:r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05" y="1215877"/>
            <a:ext cx="11511989" cy="22131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altLang="ko-KR" sz="2400" b="1" dirty="0" err="1"/>
              <a:t>torch.zeros</a:t>
            </a:r>
            <a:r>
              <a:rPr lang="en-US" altLang="ko-KR" sz="2400" dirty="0"/>
              <a:t>(*size, *, out=None, </a:t>
            </a:r>
            <a:r>
              <a:rPr lang="en-US" altLang="ko-KR" sz="2400" dirty="0" err="1"/>
              <a:t>dtype</a:t>
            </a:r>
            <a:r>
              <a:rPr lang="en-US" altLang="ko-KR" sz="2400" dirty="0"/>
              <a:t>=None, layout=</a:t>
            </a:r>
            <a:r>
              <a:rPr lang="en-US" altLang="ko-KR" sz="2400" dirty="0" err="1"/>
              <a:t>torch.strided</a:t>
            </a:r>
            <a:r>
              <a:rPr lang="en-US" altLang="ko-KR" sz="2400" dirty="0"/>
              <a:t>, device=None, </a:t>
            </a:r>
            <a:r>
              <a:rPr lang="en-US" altLang="ko-KR" sz="2400" dirty="0" err="1"/>
              <a:t>requires_grad</a:t>
            </a:r>
            <a:r>
              <a:rPr lang="en-US" altLang="ko-KR" sz="2400" dirty="0"/>
              <a:t>=False) → Tensor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altLang="ko-KR" sz="2400" b="1" dirty="0" err="1"/>
              <a:t>torch.ones</a:t>
            </a:r>
            <a:r>
              <a:rPr lang="en-US" altLang="ko-KR" sz="2400" dirty="0"/>
              <a:t>(*size, *, out=None, </a:t>
            </a:r>
            <a:r>
              <a:rPr lang="en-US" altLang="ko-KR" sz="2400" dirty="0" err="1"/>
              <a:t>dtype</a:t>
            </a:r>
            <a:r>
              <a:rPr lang="en-US" altLang="ko-KR" sz="2400" dirty="0"/>
              <a:t>=None, layout=</a:t>
            </a:r>
            <a:r>
              <a:rPr lang="en-US" altLang="ko-KR" sz="2400" dirty="0" err="1"/>
              <a:t>torch.strided</a:t>
            </a:r>
            <a:r>
              <a:rPr lang="en-US" altLang="ko-KR" sz="2400" dirty="0"/>
              <a:t>, device=None, </a:t>
            </a:r>
            <a:r>
              <a:rPr lang="en-US" altLang="ko-KR" sz="2400" dirty="0" err="1"/>
              <a:t>requires_grad</a:t>
            </a:r>
            <a:r>
              <a:rPr lang="en-US" altLang="ko-KR" sz="2400" dirty="0"/>
              <a:t>=False) → Tensor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en-US" altLang="ko-KR" dirty="0" err="1"/>
              <a:t>dtype</a:t>
            </a:r>
            <a:r>
              <a:rPr lang="ko-KR" altLang="en-US" dirty="0"/>
              <a:t>으로 데이터 타입 지정 가능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3074" name="Picture 2" descr="C:\Users\LMH\Desktop\PyTorch\1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25200"/>
            <a:ext cx="12192000" cy="333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42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무작위로 초기화된 </a:t>
            </a:r>
            <a:r>
              <a:rPr lang="en-US" altLang="ko-KR" b="1" dirty="0"/>
              <a:t>Tensor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05" y="1145407"/>
            <a:ext cx="11511989" cy="25502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2000" b="1" dirty="0" err="1"/>
              <a:t>torch.rand</a:t>
            </a:r>
            <a:r>
              <a:rPr lang="en-US" altLang="ko-KR" sz="2000" dirty="0"/>
              <a:t>(*size, *, generator=None, out=None, </a:t>
            </a:r>
            <a:r>
              <a:rPr lang="en-US" altLang="ko-KR" sz="2000" dirty="0" err="1"/>
              <a:t>dtype</a:t>
            </a:r>
            <a:r>
              <a:rPr lang="en-US" altLang="ko-KR" sz="2000" dirty="0"/>
              <a:t>=None, layout=</a:t>
            </a:r>
            <a:r>
              <a:rPr lang="en-US" altLang="ko-KR" sz="2000" dirty="0" err="1"/>
              <a:t>torch.strided</a:t>
            </a:r>
            <a:r>
              <a:rPr lang="en-US" altLang="ko-KR" sz="2000" dirty="0"/>
              <a:t>, device=None, </a:t>
            </a:r>
            <a:r>
              <a:rPr lang="en-US" altLang="ko-KR" sz="2000" dirty="0" err="1"/>
              <a:t>requires_grad</a:t>
            </a:r>
            <a:r>
              <a:rPr lang="en-US" altLang="ko-KR" sz="2000" dirty="0"/>
              <a:t>=False, </a:t>
            </a:r>
            <a:r>
              <a:rPr lang="en-US" altLang="ko-KR" sz="2000" dirty="0" err="1"/>
              <a:t>pin_memory</a:t>
            </a:r>
            <a:r>
              <a:rPr lang="en-US" altLang="ko-KR" sz="2000" dirty="0"/>
              <a:t>=False) → Tensor</a:t>
            </a:r>
          </a:p>
          <a:p>
            <a:pPr lvl="1"/>
            <a:r>
              <a:rPr lang="en-US" altLang="ko-KR" sz="2000" b="1" dirty="0"/>
              <a:t>0</a:t>
            </a:r>
            <a:r>
              <a:rPr lang="ko-KR" altLang="en-US" sz="2000" b="1" dirty="0"/>
              <a:t>과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사이의 값</a:t>
            </a:r>
            <a:r>
              <a:rPr lang="ko-KR" altLang="en-US" sz="2000" dirty="0"/>
              <a:t>으로 </a:t>
            </a:r>
            <a:r>
              <a:rPr lang="ko-KR" altLang="en-US" sz="2000" dirty="0" err="1"/>
              <a:t>랜덤하게</a:t>
            </a:r>
            <a:r>
              <a:rPr lang="ko-KR" altLang="en-US" sz="2000" dirty="0"/>
              <a:t> 초기화된 </a:t>
            </a:r>
            <a:r>
              <a:rPr lang="ko-KR" altLang="en-US" sz="2000" dirty="0" err="1"/>
              <a:t>텐서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>
              <a:buFont typeface="Wingdings" pitchFamily="2" charset="2"/>
              <a:buChar char="§"/>
            </a:pPr>
            <a:r>
              <a:rPr lang="en-US" altLang="ko-KR" sz="2000" b="1" dirty="0" err="1"/>
              <a:t>torch.randn</a:t>
            </a:r>
            <a:r>
              <a:rPr lang="en-US" altLang="ko-KR" sz="2000" dirty="0"/>
              <a:t>(*size, *, generator=None, out=None, </a:t>
            </a:r>
            <a:r>
              <a:rPr lang="en-US" altLang="ko-KR" sz="2000" dirty="0" err="1"/>
              <a:t>dtype</a:t>
            </a:r>
            <a:r>
              <a:rPr lang="en-US" altLang="ko-KR" sz="2000" dirty="0"/>
              <a:t>=None, layout=</a:t>
            </a:r>
            <a:r>
              <a:rPr lang="en-US" altLang="ko-KR" sz="2000" dirty="0" err="1"/>
              <a:t>torch.strided</a:t>
            </a:r>
            <a:r>
              <a:rPr lang="en-US" altLang="ko-KR" sz="2000" dirty="0"/>
              <a:t>, device=None, </a:t>
            </a:r>
            <a:r>
              <a:rPr lang="en-US" altLang="ko-KR" sz="2000" dirty="0" err="1"/>
              <a:t>requires_grad</a:t>
            </a:r>
            <a:r>
              <a:rPr lang="en-US" altLang="ko-KR" sz="2000" dirty="0"/>
              <a:t>=False, </a:t>
            </a:r>
            <a:r>
              <a:rPr lang="en-US" altLang="ko-KR" sz="2000" dirty="0" err="1"/>
              <a:t>pin_memory</a:t>
            </a:r>
            <a:r>
              <a:rPr lang="en-US" altLang="ko-KR" sz="2000" dirty="0"/>
              <a:t>=False) → Tensor</a:t>
            </a:r>
          </a:p>
          <a:p>
            <a:pPr lvl="1"/>
            <a:r>
              <a:rPr lang="ko-KR" altLang="en-US" sz="1800" b="1" dirty="0"/>
              <a:t>평균이 </a:t>
            </a:r>
            <a:r>
              <a:rPr lang="en-US" altLang="ko-KR" sz="1800" b="1" dirty="0"/>
              <a:t>0</a:t>
            </a:r>
            <a:r>
              <a:rPr lang="ko-KR" altLang="en-US" sz="1800" b="1" dirty="0"/>
              <a:t>이고 표준편차가 </a:t>
            </a:r>
            <a:r>
              <a:rPr lang="en-US" altLang="ko-KR" sz="1800" b="1" dirty="0"/>
              <a:t>1</a:t>
            </a:r>
            <a:r>
              <a:rPr lang="ko-KR" altLang="en-US" sz="1800" b="1" dirty="0"/>
              <a:t>인 정규분포</a:t>
            </a:r>
            <a:r>
              <a:rPr lang="ko-KR" altLang="en-US" sz="1800" dirty="0"/>
              <a:t>에서 무작위로 샘플링</a:t>
            </a:r>
          </a:p>
          <a:p>
            <a:pPr marL="457200" lvl="1" indent="0">
              <a:buNone/>
            </a:pP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2290" name="Picture 2" descr="C:\Users\LMH\Desktop\PyTorch\1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25" y="3157916"/>
            <a:ext cx="11605550" cy="3700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48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직접 입력한 값으로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970718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2400" b="1" dirty="0" err="1"/>
              <a:t>torch.tensor</a:t>
            </a:r>
            <a:r>
              <a:rPr lang="en-US" altLang="ko-KR" sz="2400" dirty="0"/>
              <a:t>(data, *, </a:t>
            </a:r>
            <a:r>
              <a:rPr lang="en-US" altLang="ko-KR" sz="2400" dirty="0" err="1"/>
              <a:t>dtype</a:t>
            </a:r>
            <a:r>
              <a:rPr lang="en-US" altLang="ko-KR" sz="2400" dirty="0"/>
              <a:t>=None, device=None, </a:t>
            </a:r>
            <a:r>
              <a:rPr lang="en-US" altLang="ko-KR" sz="2400" dirty="0" err="1"/>
              <a:t>requires_grad</a:t>
            </a:r>
            <a:r>
              <a:rPr lang="en-US" altLang="ko-KR" sz="2400" dirty="0"/>
              <a:t>=False, </a:t>
            </a:r>
            <a:r>
              <a:rPr lang="en-US" altLang="ko-KR" sz="2400" dirty="0" err="1"/>
              <a:t>pin_memory</a:t>
            </a:r>
            <a:r>
              <a:rPr lang="en-US" altLang="ko-KR" sz="2400" dirty="0"/>
              <a:t>=False) → Tensor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4098" name="Picture 2" descr="C:\Users\LMH\Desktop\PyTorch\1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465111"/>
            <a:ext cx="12192000" cy="305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209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>
                <a:latin typeface="+mn-ea"/>
              </a:rPr>
              <a:t>NumPy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배열로 부터 생성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87" y="1175091"/>
            <a:ext cx="10637940" cy="74630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3200" b="1" dirty="0" err="1">
                <a:latin typeface="+mn-ea"/>
              </a:rPr>
              <a:t>torch.from_numpy</a:t>
            </a:r>
            <a:r>
              <a:rPr lang="en-US" altLang="ko-KR" sz="3200" dirty="0">
                <a:latin typeface="+mn-ea"/>
              </a:rPr>
              <a:t>(</a:t>
            </a:r>
            <a:r>
              <a:rPr lang="en-US" altLang="ko-KR" sz="3200" dirty="0" err="1">
                <a:latin typeface="+mn-ea"/>
              </a:rPr>
              <a:t>ndarray</a:t>
            </a:r>
            <a:r>
              <a:rPr lang="en-US" altLang="ko-KR" sz="3200" dirty="0">
                <a:latin typeface="+mn-ea"/>
              </a:rPr>
              <a:t>) → Tensor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3314" name="Picture 2" descr="C:\Users\LMH\Desktop\PyTorch\1\1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5126"/>
            <a:ext cx="12192000" cy="452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527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</a:rPr>
              <a:t>Tensor</a:t>
            </a:r>
            <a:r>
              <a:rPr lang="ko-KR" altLang="en-US" b="1" dirty="0">
                <a:latin typeface="+mn-ea"/>
              </a:rPr>
              <a:t>를 </a:t>
            </a:r>
            <a:r>
              <a:rPr lang="en-US" altLang="ko-KR" b="1" dirty="0" err="1">
                <a:latin typeface="+mn-ea"/>
              </a:rPr>
              <a:t>Numpy</a:t>
            </a:r>
            <a:r>
              <a:rPr lang="ko-KR" altLang="en-US" b="1" dirty="0">
                <a:latin typeface="+mn-ea"/>
              </a:rPr>
              <a:t> 배열로 변환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87" y="1175091"/>
            <a:ext cx="10637940" cy="74630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altLang="ko-KR" sz="3200" b="1" dirty="0" err="1">
                <a:latin typeface="+mn-ea"/>
              </a:rPr>
              <a:t>Tensor.numpy</a:t>
            </a:r>
            <a:r>
              <a:rPr lang="en-US" altLang="ko-KR" sz="3200" dirty="0">
                <a:latin typeface="+mn-ea"/>
              </a:rPr>
              <a:t>(*, force=False) → </a:t>
            </a:r>
            <a:r>
              <a:rPr lang="en-US" altLang="ko-KR" sz="3200" dirty="0" err="1">
                <a:latin typeface="+mn-ea"/>
              </a:rPr>
              <a:t>numpy.ndarray</a:t>
            </a:r>
            <a:endParaRPr lang="en-US" altLang="ko-KR" sz="32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5362" name="Picture 2" descr="C:\Users\LMH\Desktop\PyTorch\1\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2569"/>
            <a:ext cx="12192000" cy="522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007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lt"/>
              </a:rPr>
              <a:t>Tensor</a:t>
            </a:r>
            <a:r>
              <a:rPr lang="ko-KR" altLang="en-US" b="1" dirty="0">
                <a:latin typeface="+mj-lt"/>
              </a:rPr>
              <a:t>와 </a:t>
            </a:r>
            <a:r>
              <a:rPr lang="en-US" altLang="ko-KR" b="1" dirty="0" err="1">
                <a:latin typeface="+mj-lt"/>
              </a:rPr>
              <a:t>Numpy</a:t>
            </a:r>
            <a:endParaRPr lang="en-US" altLang="ko-KR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20" y="1145407"/>
            <a:ext cx="11616160" cy="138291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✔️ </a:t>
            </a:r>
            <a:r>
              <a:rPr lang="en-US" altLang="ko-KR" sz="2400" b="1" dirty="0">
                <a:latin typeface="+mn-ea"/>
              </a:rPr>
              <a:t>Tensor</a:t>
            </a:r>
            <a:r>
              <a:rPr lang="ko-KR" altLang="en-US" sz="2400" b="1" dirty="0">
                <a:latin typeface="+mn-ea"/>
              </a:rPr>
              <a:t>와 </a:t>
            </a:r>
            <a:r>
              <a:rPr lang="en-US" altLang="ko-KR" sz="2400" b="1" dirty="0" err="1">
                <a:latin typeface="+mn-ea"/>
              </a:rPr>
              <a:t>NumPy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배열은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메모리를 공유 함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Tensor</a:t>
            </a:r>
            <a:r>
              <a:rPr lang="ko-KR" altLang="en-US" sz="2000" dirty="0"/>
              <a:t>를 </a:t>
            </a:r>
            <a:r>
              <a:rPr lang="en-US" altLang="ko-KR" sz="2000" dirty="0" err="1"/>
              <a:t>NumPy</a:t>
            </a:r>
            <a:r>
              <a:rPr lang="en-US" altLang="ko-KR" sz="2000" dirty="0"/>
              <a:t> </a:t>
            </a:r>
            <a:r>
              <a:rPr lang="ko-KR" altLang="en-US" sz="2000" dirty="0"/>
              <a:t>배열로 변환하거나 그 반대로 변환할 때</a:t>
            </a:r>
            <a:r>
              <a:rPr lang="en-US" altLang="ko-KR" sz="2000" dirty="0"/>
              <a:t>, </a:t>
            </a:r>
            <a:r>
              <a:rPr lang="ko-KR" altLang="en-US" sz="2000" b="1" dirty="0"/>
              <a:t>데이터를 복사하지 않고 같은 메모리 공간을 참조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6386" name="Picture 2" descr="C:\Users\LMH\Desktop\PyTorch\1\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902181"/>
            <a:ext cx="8788400" cy="489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66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1. </a:t>
            </a:r>
            <a:r>
              <a:rPr lang="ko-KR" altLang="en-US" b="1" dirty="0">
                <a:solidFill>
                  <a:schemeClr val="accent2"/>
                </a:solidFill>
              </a:rPr>
              <a:t>퀴즈</a:t>
            </a:r>
            <a:r>
              <a:rPr lang="en-US" altLang="ko-KR" b="1" dirty="0">
                <a:solidFill>
                  <a:schemeClr val="accent2"/>
                </a:solidFill>
              </a:rPr>
              <a:t>(1)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제시된 퀴즈의 문제를 풀어보세요</a:t>
            </a:r>
            <a:r>
              <a:rPr lang="en-US" altLang="ko-KR" sz="3200" dirty="0"/>
              <a:t>!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검색하지 않고 </a:t>
            </a:r>
            <a:r>
              <a:rPr lang="ko-KR" altLang="en-US" sz="3200" dirty="0" err="1"/>
              <a:t>가능한한</a:t>
            </a:r>
            <a:r>
              <a:rPr lang="ko-KR" altLang="en-US" sz="3200" dirty="0"/>
              <a:t> 스스로 풀어보도록 합시다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555610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속성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122" name="Picture 2" descr="C:\Users\LMH\Desktop\PyTorch\1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4878"/>
            <a:ext cx="12192000" cy="38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193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특정 타입의 </a:t>
            </a:r>
            <a:r>
              <a:rPr lang="en-US" altLang="ko-KR" b="1" dirty="0"/>
              <a:t>Tensor</a:t>
            </a:r>
            <a:r>
              <a:rPr lang="ko-KR" altLang="en-US" b="1" dirty="0"/>
              <a:t>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26" name="Picture 2" descr="C:\Users\LMH\Desktop\PyTorch\1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2991"/>
            <a:ext cx="12192000" cy="360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133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MH\Desktop\PyTorch\1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6115"/>
            <a:ext cx="12192000" cy="528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데이터 타입 캐스팅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69" y="1410119"/>
            <a:ext cx="5778663" cy="6189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Tensor.</a:t>
            </a:r>
            <a:r>
              <a:rPr lang="ko-KR" altLang="en-US" sz="2400" dirty="0"/>
              <a:t>변경할</a:t>
            </a:r>
            <a:r>
              <a:rPr lang="en-US" altLang="ko-KR" sz="2400" dirty="0"/>
              <a:t>type() </a:t>
            </a:r>
            <a:r>
              <a:rPr lang="ko-KR" altLang="en-US" sz="2400" dirty="0"/>
              <a:t>형태로 변환 가능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26416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95" y="1527581"/>
            <a:ext cx="4687800" cy="15946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0D Tensor(Scalar)</a:t>
            </a:r>
            <a:endParaRPr lang="ko-KR" altLang="en-US" b="1" dirty="0"/>
          </a:p>
          <a:p>
            <a:pPr lvl="1"/>
            <a:r>
              <a:rPr lang="ko-KR" altLang="en-US" dirty="0"/>
              <a:t>하나의 숫자를 담고 있는 </a:t>
            </a:r>
            <a:r>
              <a:rPr lang="ko-KR" altLang="en-US" dirty="0" err="1"/>
              <a:t>텐서</a:t>
            </a:r>
            <a:endParaRPr lang="ko-KR" altLang="en-US" dirty="0"/>
          </a:p>
          <a:p>
            <a:pPr lvl="1"/>
            <a:r>
              <a:rPr lang="ko-KR" altLang="en-US" dirty="0"/>
              <a:t>축과 형상이 없음</a:t>
            </a:r>
          </a:p>
        </p:txBody>
      </p:sp>
      <p:pic>
        <p:nvPicPr>
          <p:cNvPr id="3074" name="Picture 2" descr="C:\Users\LMH\Desktop\PyTorch\1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8652"/>
            <a:ext cx="12192000" cy="360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404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LMH\Desktop\PyTorch\1\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8057"/>
            <a:ext cx="12192000" cy="360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969" y="1528176"/>
            <a:ext cx="5274941" cy="15946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1D Tensor(Vector)</a:t>
            </a:r>
            <a:endParaRPr lang="ko-KR" altLang="en-US" b="1" dirty="0"/>
          </a:p>
          <a:p>
            <a:pPr lvl="1"/>
            <a:r>
              <a:rPr lang="ko-KR" altLang="en-US" dirty="0"/>
              <a:t>값들을 저장한 리스트와 유사한 </a:t>
            </a:r>
            <a:r>
              <a:rPr lang="ko-KR" altLang="en-US" dirty="0" err="1"/>
              <a:t>텐서</a:t>
            </a:r>
            <a:endParaRPr lang="ko-KR" altLang="en-US" dirty="0"/>
          </a:p>
          <a:p>
            <a:pPr lvl="1"/>
            <a:r>
              <a:rPr lang="ko-KR" altLang="en-US" dirty="0"/>
              <a:t>하나의 축이 존재</a:t>
            </a:r>
          </a:p>
        </p:txBody>
      </p:sp>
    </p:spTree>
    <p:extLst>
      <p:ext uri="{BB962C8B-B14F-4D97-AF65-F5344CB8AC3E}">
        <p14:creationId xmlns:p14="http://schemas.microsoft.com/office/powerpoint/2010/main" val="2070589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LMH\Desktop\PyTorch\1\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75" y="2796612"/>
            <a:ext cx="11883850" cy="406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475" y="1256114"/>
            <a:ext cx="7864137" cy="2172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2D Tensor(Matrix)</a:t>
            </a:r>
            <a:endParaRPr lang="ko-KR" altLang="en-US" b="1" dirty="0"/>
          </a:p>
          <a:p>
            <a:pPr lvl="1"/>
            <a:r>
              <a:rPr lang="ko-KR" altLang="en-US" dirty="0"/>
              <a:t>행렬과 같은 모양으로 </a:t>
            </a:r>
            <a:r>
              <a:rPr lang="ko-KR" altLang="en-US" dirty="0" err="1"/>
              <a:t>두개의</a:t>
            </a:r>
            <a:r>
              <a:rPr lang="ko-KR" altLang="en-US" dirty="0"/>
              <a:t> 축이 존재</a:t>
            </a:r>
          </a:p>
          <a:p>
            <a:pPr lvl="1"/>
            <a:r>
              <a:rPr lang="ko-KR" altLang="en-US" dirty="0"/>
              <a:t>일반적인 수치</a:t>
            </a:r>
            <a:r>
              <a:rPr lang="en-US" altLang="ko-KR" dirty="0"/>
              <a:t>, </a:t>
            </a:r>
            <a:r>
              <a:rPr lang="ko-KR" altLang="en-US" dirty="0"/>
              <a:t>통계 </a:t>
            </a:r>
            <a:r>
              <a:rPr lang="ko-KR" altLang="en-US" dirty="0" err="1"/>
              <a:t>데이터셋</a:t>
            </a:r>
            <a:endParaRPr lang="ko-KR" altLang="en-US" dirty="0"/>
          </a:p>
          <a:p>
            <a:pPr lvl="1"/>
            <a:r>
              <a:rPr lang="ko-KR" altLang="en-US" dirty="0"/>
              <a:t>주로 샘플</a:t>
            </a:r>
            <a:r>
              <a:rPr lang="en-US" altLang="ko-KR" dirty="0"/>
              <a:t>(Sample)</a:t>
            </a:r>
            <a:r>
              <a:rPr lang="ko-KR" altLang="en-US" dirty="0"/>
              <a:t>과 특성</a:t>
            </a:r>
            <a:r>
              <a:rPr lang="en-US" altLang="ko-KR" dirty="0"/>
              <a:t>(Feature)</a:t>
            </a:r>
            <a:r>
              <a:rPr lang="ko-KR" altLang="en-US" dirty="0"/>
              <a:t>을 가진 구조로 사용</a:t>
            </a:r>
          </a:p>
        </p:txBody>
      </p:sp>
    </p:spTree>
    <p:extLst>
      <p:ext uri="{BB962C8B-B14F-4D97-AF65-F5344CB8AC3E}">
        <p14:creationId xmlns:p14="http://schemas.microsoft.com/office/powerpoint/2010/main" val="351554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826" y="1066896"/>
            <a:ext cx="9872348" cy="22047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3D Tensor</a:t>
            </a:r>
            <a:endParaRPr lang="ko-KR" altLang="en-US" b="1" dirty="0"/>
          </a:p>
          <a:p>
            <a:pPr lvl="1"/>
            <a:r>
              <a:rPr lang="ko-KR" altLang="en-US" dirty="0" err="1"/>
              <a:t>큐브</a:t>
            </a:r>
            <a:r>
              <a:rPr lang="en-US" altLang="ko-KR" dirty="0"/>
              <a:t>(cube)</a:t>
            </a:r>
            <a:r>
              <a:rPr lang="ko-KR" altLang="en-US" dirty="0"/>
              <a:t>와 같은 모양으로 </a:t>
            </a:r>
            <a:r>
              <a:rPr lang="ko-KR" altLang="en-US" dirty="0" err="1"/>
              <a:t>세개의</a:t>
            </a:r>
            <a:r>
              <a:rPr lang="ko-KR" altLang="en-US" dirty="0"/>
              <a:t> 축이 존재</a:t>
            </a:r>
          </a:p>
          <a:p>
            <a:pPr lvl="1"/>
            <a:r>
              <a:rPr lang="ko-KR" altLang="en-US" dirty="0"/>
              <a:t>데이터가 연속된 시퀀스 데이터나 시간 축이 포함된 </a:t>
            </a:r>
            <a:r>
              <a:rPr lang="ko-KR" altLang="en-US" dirty="0" err="1"/>
              <a:t>시계열</a:t>
            </a:r>
            <a:r>
              <a:rPr lang="ko-KR" altLang="en-US" dirty="0"/>
              <a:t> 데이터에 해당</a:t>
            </a:r>
          </a:p>
          <a:p>
            <a:pPr lvl="1"/>
            <a:r>
              <a:rPr lang="ko-KR" altLang="en-US" dirty="0"/>
              <a:t>주로 샘플</a:t>
            </a:r>
            <a:r>
              <a:rPr lang="en-US" altLang="ko-KR" dirty="0"/>
              <a:t>, </a:t>
            </a:r>
            <a:r>
              <a:rPr lang="ko-KR" altLang="en-US" dirty="0"/>
              <a:t>타입스텝</a:t>
            </a:r>
            <a:r>
              <a:rPr lang="en-US" altLang="ko-KR" dirty="0"/>
              <a:t>, </a:t>
            </a:r>
            <a:r>
              <a:rPr lang="ko-KR" altLang="en-US" dirty="0"/>
              <a:t>특성을 가진 구조로 사용 </a:t>
            </a:r>
            <a:r>
              <a:rPr lang="en-US" altLang="ko-KR" sz="2000" dirty="0"/>
              <a:t>ex) </a:t>
            </a:r>
            <a:r>
              <a:rPr lang="ko-KR" altLang="en-US" sz="2000" dirty="0"/>
              <a:t>주식 가격</a:t>
            </a:r>
            <a:r>
              <a:rPr lang="en-US" altLang="ko-KR" sz="2000" dirty="0"/>
              <a:t>, </a:t>
            </a:r>
            <a:r>
              <a:rPr lang="ko-KR" altLang="en-US" sz="2000" dirty="0"/>
              <a:t>질병 발병 데이터 등</a:t>
            </a:r>
          </a:p>
        </p:txBody>
      </p:sp>
      <p:pic>
        <p:nvPicPr>
          <p:cNvPr id="6146" name="Picture 2" descr="C:\Users\LMH\Desktop\PyTorch\1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148" y="2761969"/>
            <a:ext cx="8625704" cy="3933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613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다차원 </a:t>
            </a:r>
            <a:r>
              <a:rPr lang="en-US" altLang="ko-KR" b="1" dirty="0"/>
              <a:t>Tensor </a:t>
            </a:r>
            <a:r>
              <a:rPr lang="ko-KR" altLang="en-US" b="1" dirty="0"/>
              <a:t>표현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005" y="989895"/>
            <a:ext cx="11511989" cy="49594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4D Tensor</a:t>
            </a:r>
            <a:endParaRPr lang="ko-KR" altLang="en-US" b="1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개의 축</a:t>
            </a:r>
          </a:p>
          <a:p>
            <a:pPr lvl="1"/>
            <a:r>
              <a:rPr lang="ko-KR" altLang="en-US" dirty="0"/>
              <a:t>컬러 이미지가 대표적인 사례</a:t>
            </a:r>
            <a:r>
              <a:rPr lang="en-US" altLang="ko-KR" dirty="0"/>
              <a:t>(</a:t>
            </a:r>
            <a:r>
              <a:rPr lang="ko-KR" altLang="en-US" dirty="0"/>
              <a:t>흑백 이미지 데이터는 </a:t>
            </a:r>
            <a:r>
              <a:rPr lang="en-US" altLang="ko-KR" dirty="0"/>
              <a:t>3D Tensor</a:t>
            </a:r>
            <a:r>
              <a:rPr lang="ko-KR" altLang="en-US" dirty="0"/>
              <a:t>로 가능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주로 샘플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, </a:t>
            </a:r>
            <a:r>
              <a:rPr lang="ko-KR" altLang="en-US" dirty="0"/>
              <a:t>너비</a:t>
            </a:r>
            <a:r>
              <a:rPr lang="en-US" altLang="ko-KR" dirty="0"/>
              <a:t>, </a:t>
            </a:r>
            <a:r>
              <a:rPr lang="ko-KR" altLang="en-US" dirty="0"/>
              <a:t>컬러 채널을 가진 구조로 사용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5D Tensor</a:t>
            </a:r>
            <a:endParaRPr lang="ko-KR" altLang="en-US" b="1" dirty="0"/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개의 축</a:t>
            </a:r>
          </a:p>
          <a:p>
            <a:pPr lvl="1"/>
            <a:r>
              <a:rPr lang="ko-KR" altLang="en-US" dirty="0"/>
              <a:t>비디오 데이터가 대표적인 사례</a:t>
            </a:r>
          </a:p>
          <a:p>
            <a:pPr lvl="1"/>
            <a:r>
              <a:rPr lang="ko-KR" altLang="en-US" dirty="0"/>
              <a:t>주로 샘플</a:t>
            </a:r>
            <a:r>
              <a:rPr lang="en-US" altLang="ko-KR" dirty="0"/>
              <a:t>, </a:t>
            </a:r>
            <a:r>
              <a:rPr lang="ko-KR" altLang="en-US" dirty="0"/>
              <a:t>프레임</a:t>
            </a:r>
            <a:r>
              <a:rPr lang="en-US" altLang="ko-KR" dirty="0"/>
              <a:t>, </a:t>
            </a:r>
            <a:r>
              <a:rPr lang="ko-KR" altLang="en-US" dirty="0"/>
              <a:t>높이</a:t>
            </a:r>
            <a:r>
              <a:rPr lang="en-US" altLang="ko-KR" dirty="0"/>
              <a:t>, </a:t>
            </a:r>
            <a:r>
              <a:rPr lang="ko-KR" altLang="en-US" dirty="0"/>
              <a:t>너비</a:t>
            </a:r>
            <a:r>
              <a:rPr lang="en-US" altLang="ko-KR" dirty="0"/>
              <a:t>, </a:t>
            </a:r>
            <a:r>
              <a:rPr lang="ko-KR" altLang="en-US" dirty="0"/>
              <a:t>컬러 채널을 가진 구조로 사용</a:t>
            </a:r>
          </a:p>
        </p:txBody>
      </p:sp>
    </p:spTree>
    <p:extLst>
      <p:ext uri="{BB962C8B-B14F-4D97-AF65-F5344CB8AC3E}">
        <p14:creationId xmlns:p14="http://schemas.microsoft.com/office/powerpoint/2010/main" val="28012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12549" y="2859254"/>
            <a:ext cx="4366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Tensor </a:t>
            </a:r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연산</a:t>
            </a:r>
          </a:p>
        </p:txBody>
      </p:sp>
    </p:spTree>
    <p:extLst>
      <p:ext uri="{BB962C8B-B14F-4D97-AF65-F5344CB8AC3E}">
        <p14:creationId xmlns:p14="http://schemas.microsoft.com/office/powerpoint/2010/main" val="2939637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 descr="C:\Users\LMH\Desktop\PyTorch\1\2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40" y="1923127"/>
            <a:ext cx="11217120" cy="480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828" y="1250145"/>
            <a:ext cx="9764972" cy="15333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✅ 기본적으로 </a:t>
            </a:r>
            <a:r>
              <a:rPr lang="ko-KR" altLang="en-US" dirty="0" err="1">
                <a:latin typeface="+mn-ea"/>
              </a:rPr>
              <a:t>텐서는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CPU</a:t>
            </a:r>
            <a:r>
              <a:rPr lang="ko-KR" altLang="en-US" dirty="0">
                <a:latin typeface="+mn-ea"/>
              </a:rPr>
              <a:t>에 생성</a:t>
            </a:r>
            <a:r>
              <a:rPr lang="en-US" altLang="ko-KR" dirty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latin typeface="+mn-ea"/>
              </a:rPr>
              <a:t>	</a:t>
            </a:r>
            <a:r>
              <a:rPr lang="ko-KR" altLang="en-US" dirty="0">
                <a:latin typeface="+mn-ea"/>
              </a:rPr>
              <a:t>➡️ </a:t>
            </a:r>
            <a:r>
              <a:rPr lang="en-US" altLang="ko-KR" dirty="0">
                <a:latin typeface="+mn-ea"/>
              </a:rPr>
              <a:t>GPU</a:t>
            </a:r>
            <a:r>
              <a:rPr lang="ko-KR" altLang="en-US" dirty="0">
                <a:latin typeface="+mn-ea"/>
              </a:rPr>
              <a:t>로 </a:t>
            </a:r>
            <a:r>
              <a:rPr lang="ko-KR" altLang="en-US" dirty="0" err="1">
                <a:latin typeface="+mn-ea"/>
              </a:rPr>
              <a:t>텐서를</a:t>
            </a:r>
            <a:r>
              <a:rPr lang="ko-KR" altLang="en-US" dirty="0">
                <a:latin typeface="+mn-ea"/>
              </a:rPr>
              <a:t> 명시적으로 이동 가능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906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산술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170" name="Picture 2" descr="C:\Users\LMH\Desktop\PyTorch\1\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6026"/>
            <a:ext cx="12192000" cy="38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436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산술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8194" name="Picture 2" descr="C:\Users\LMH\Desktop\PyTorch\1\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9992"/>
            <a:ext cx="12192000" cy="611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0751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바꿔 치기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11266" name="Picture 2" descr="C:\Users\LMH\Desktop\PyTorch\1\1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9905"/>
            <a:ext cx="12192000" cy="416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345" y="1327856"/>
            <a:ext cx="3908154" cy="10240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✅ 연산 뒤에 </a:t>
            </a:r>
            <a:r>
              <a:rPr lang="en-US" altLang="ko-KR" sz="2400" dirty="0"/>
              <a:t>_</a:t>
            </a:r>
            <a:r>
              <a:rPr lang="ko-KR" altLang="en-US" sz="2400" dirty="0"/>
              <a:t>를 추가함</a:t>
            </a:r>
            <a:endParaRPr lang="en-US" altLang="ko-KR" sz="2400" dirty="0"/>
          </a:p>
          <a:p>
            <a:pPr lvl="1"/>
            <a:r>
              <a:rPr lang="ko-KR" altLang="en-US" sz="2000" dirty="0"/>
              <a:t>기존 변수에 값을 덮어 씌움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75705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각종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9218" name="Picture 2" descr="C:\Users\LMH\Desktop\PyTorch\1\1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0771"/>
            <a:ext cx="12192000" cy="38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310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77EE1-CD64-4261-8AA7-250D0F78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Tensor </a:t>
            </a:r>
            <a:r>
              <a:rPr lang="ko-KR" altLang="en-US" b="1" dirty="0"/>
              <a:t>각종 연산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10242" name="Picture 2" descr="C:\Users\LMH\Desktop\PyTorch\1\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5221"/>
            <a:ext cx="12192000" cy="444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7083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5AF72C-B533-4FF9-A130-F648316E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90D65E-6BBD-40AD-9C36-8D87CA26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033CAEA-B834-6A1C-5CA2-D798967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 b="1" dirty="0">
                <a:solidFill>
                  <a:schemeClr val="accent2"/>
                </a:solidFill>
              </a:rPr>
              <a:t>실습</a:t>
            </a:r>
            <a:r>
              <a:rPr lang="en-US" altLang="ko-KR" sz="5400" b="1" dirty="0">
                <a:solidFill>
                  <a:schemeClr val="accent2"/>
                </a:solidFill>
              </a:rPr>
              <a:t>2. </a:t>
            </a:r>
            <a:r>
              <a:rPr lang="ko-KR" altLang="en-US" b="1" dirty="0">
                <a:solidFill>
                  <a:schemeClr val="accent2"/>
                </a:solidFill>
              </a:rPr>
              <a:t>퀴즈</a:t>
            </a:r>
            <a:r>
              <a:rPr lang="en-US" altLang="ko-KR" b="1" dirty="0">
                <a:solidFill>
                  <a:schemeClr val="accent2"/>
                </a:solidFill>
              </a:rPr>
              <a:t>(2)</a:t>
            </a:r>
            <a:endParaRPr lang="ko-KR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1C931B4-5069-4FA2-8002-208CA004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37" y="1256115"/>
            <a:ext cx="11511989" cy="18690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제시된 퀴즈의 문제를 풀어보세요</a:t>
            </a:r>
            <a:r>
              <a:rPr lang="en-US" altLang="ko-KR" sz="3200" dirty="0"/>
              <a:t>!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3200" dirty="0"/>
              <a:t>검색하지 않고 </a:t>
            </a:r>
            <a:r>
              <a:rPr lang="ko-KR" altLang="en-US" sz="3200" dirty="0" err="1"/>
              <a:t>가능한한</a:t>
            </a:r>
            <a:r>
              <a:rPr lang="ko-KR" altLang="en-US" sz="3200" dirty="0"/>
              <a:t> 스스로 풀어보도록 합시다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945957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8225</TotalTime>
  <Words>1144</Words>
  <Application>Microsoft Office PowerPoint</Application>
  <PresentationFormat>와이드스크린</PresentationFormat>
  <Paragraphs>215</Paragraphs>
  <Slides>39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9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Wingdings</vt:lpstr>
      <vt:lpstr>1_Office 테마</vt:lpstr>
      <vt:lpstr>x</vt:lpstr>
      <vt:lpstr>PowerPoint 프레젠테이션</vt:lpstr>
      <vt:lpstr>PyTorch 소개</vt:lpstr>
      <vt:lpstr>PyTorch 소개</vt:lpstr>
      <vt:lpstr>PyTorch 소개</vt:lpstr>
      <vt:lpstr>PyTorch 설치하기</vt:lpstr>
      <vt:lpstr>PyTorch 설치하기</vt:lpstr>
      <vt:lpstr>PowerPoint 프레젠테이션</vt:lpstr>
      <vt:lpstr>PowerPoint 프레젠테이션</vt:lpstr>
      <vt:lpstr>Tensor</vt:lpstr>
      <vt:lpstr>Tensor</vt:lpstr>
      <vt:lpstr>Tensor</vt:lpstr>
      <vt:lpstr>데이터 타입</vt:lpstr>
      <vt:lpstr>Tensor 초기화</vt:lpstr>
      <vt:lpstr>초기화 되지 않은 Tensor</vt:lpstr>
      <vt:lpstr>상수로 초기화된 Tensor</vt:lpstr>
      <vt:lpstr>무작위로 초기화된 Tensor</vt:lpstr>
      <vt:lpstr>직접 입력한 값으로 초기화</vt:lpstr>
      <vt:lpstr>NumPy 배열로 부터 생성</vt:lpstr>
      <vt:lpstr>Tensor를 Numpy 배열로 변환</vt:lpstr>
      <vt:lpstr>Tensor와 Numpy</vt:lpstr>
      <vt:lpstr>실습1. 퀴즈(1)</vt:lpstr>
      <vt:lpstr>Tensor 속성</vt:lpstr>
      <vt:lpstr>특정 타입의 Tensor 생성</vt:lpstr>
      <vt:lpstr>데이터 타입 캐스팅</vt:lpstr>
      <vt:lpstr>다차원 Tensor 표현</vt:lpstr>
      <vt:lpstr>다차원 Tensor 표현</vt:lpstr>
      <vt:lpstr>다차원 Tensor 표현</vt:lpstr>
      <vt:lpstr>다차원 Tensor 표현</vt:lpstr>
      <vt:lpstr>다차원 Tensor 표현</vt:lpstr>
      <vt:lpstr>PowerPoint 프레젠테이션</vt:lpstr>
      <vt:lpstr>Tensor 연산</vt:lpstr>
      <vt:lpstr>Tensor 산술 연산</vt:lpstr>
      <vt:lpstr>Tensor 산술 연산</vt:lpstr>
      <vt:lpstr>Tensor 바꿔 치기 연산</vt:lpstr>
      <vt:lpstr>Tensor 각종 연산</vt:lpstr>
      <vt:lpstr>Tensor 각종 연산</vt:lpstr>
      <vt:lpstr>실습2. 퀴즈(2)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591</cp:revision>
  <dcterms:created xsi:type="dcterms:W3CDTF">2023-01-31T04:26:23Z</dcterms:created>
  <dcterms:modified xsi:type="dcterms:W3CDTF">2025-09-11T08:10:19Z</dcterms:modified>
</cp:coreProperties>
</file>