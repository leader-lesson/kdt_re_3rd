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5"/>
  </p:notesMasterIdLst>
  <p:sldIdLst>
    <p:sldId id="1004" r:id="rId2"/>
    <p:sldId id="719" r:id="rId3"/>
    <p:sldId id="837" r:id="rId4"/>
    <p:sldId id="720" r:id="rId5"/>
    <p:sldId id="670" r:id="rId6"/>
    <p:sldId id="1005" r:id="rId7"/>
    <p:sldId id="764" r:id="rId8"/>
    <p:sldId id="726" r:id="rId9"/>
    <p:sldId id="723" r:id="rId10"/>
    <p:sldId id="753" r:id="rId11"/>
    <p:sldId id="754" r:id="rId12"/>
    <p:sldId id="676" r:id="rId13"/>
    <p:sldId id="755" r:id="rId14"/>
    <p:sldId id="678" r:id="rId15"/>
    <p:sldId id="772" r:id="rId16"/>
    <p:sldId id="725" r:id="rId17"/>
    <p:sldId id="728" r:id="rId18"/>
    <p:sldId id="773" r:id="rId19"/>
    <p:sldId id="768" r:id="rId20"/>
    <p:sldId id="766" r:id="rId21"/>
    <p:sldId id="765" r:id="rId22"/>
    <p:sldId id="756" r:id="rId23"/>
    <p:sldId id="1006" r:id="rId24"/>
    <p:sldId id="757" r:id="rId25"/>
    <p:sldId id="758" r:id="rId26"/>
    <p:sldId id="759" r:id="rId27"/>
    <p:sldId id="760" r:id="rId28"/>
    <p:sldId id="750" r:id="rId29"/>
    <p:sldId id="735" r:id="rId30"/>
    <p:sldId id="767" r:id="rId31"/>
    <p:sldId id="761" r:id="rId32"/>
    <p:sldId id="751" r:id="rId33"/>
    <p:sldId id="752" r:id="rId34"/>
    <p:sldId id="762" r:id="rId35"/>
    <p:sldId id="771" r:id="rId36"/>
    <p:sldId id="1007" r:id="rId37"/>
    <p:sldId id="1008" r:id="rId38"/>
    <p:sldId id="797" r:id="rId39"/>
    <p:sldId id="798" r:id="rId40"/>
    <p:sldId id="739" r:id="rId41"/>
    <p:sldId id="1009" r:id="rId42"/>
    <p:sldId id="834" r:id="rId43"/>
    <p:sldId id="777" r:id="rId44"/>
    <p:sldId id="776" r:id="rId45"/>
    <p:sldId id="832" r:id="rId46"/>
    <p:sldId id="833" r:id="rId47"/>
    <p:sldId id="747" r:id="rId48"/>
    <p:sldId id="749" r:id="rId49"/>
    <p:sldId id="817" r:id="rId50"/>
    <p:sldId id="1010" r:id="rId51"/>
    <p:sldId id="820" r:id="rId52"/>
    <p:sldId id="821" r:id="rId53"/>
    <p:sldId id="1011" r:id="rId54"/>
    <p:sldId id="769" r:id="rId55"/>
    <p:sldId id="818" r:id="rId56"/>
    <p:sldId id="822" r:id="rId57"/>
    <p:sldId id="1012" r:id="rId58"/>
    <p:sldId id="831" r:id="rId59"/>
    <p:sldId id="823" r:id="rId60"/>
    <p:sldId id="824" r:id="rId61"/>
    <p:sldId id="825" r:id="rId62"/>
    <p:sldId id="774" r:id="rId63"/>
    <p:sldId id="836" r:id="rId6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6"/>
    </p:embeddedFont>
    <p:embeddedFont>
      <p:font typeface="Pretendard Black" panose="02000A03000000020004" pitchFamily="2" charset="-127"/>
      <p:bold r:id="rId67"/>
    </p:embeddedFont>
    <p:embeddedFont>
      <p:font typeface="Pretendard Light" panose="02000403000000020004" pitchFamily="2" charset="-127"/>
      <p:regular r:id="rId68"/>
    </p:embeddedFont>
    <p:embeddedFont>
      <p:font typeface="Pretendard Medium" panose="02000603000000020004" pitchFamily="2" charset="-127"/>
      <p:regular r:id="rId69"/>
    </p:embeddedFont>
    <p:embeddedFont>
      <p:font typeface="맑은 고딕" panose="020B0503020000020004" pitchFamily="50" charset="-127"/>
      <p:regular r:id="rId70"/>
      <p:bold r:id="rId71"/>
    </p:embeddedFont>
    <p:embeddedFont>
      <p:font typeface="메이플스토리" panose="02000300000000000000" pitchFamily="2" charset="-127"/>
      <p:regular r:id="rId72"/>
      <p:bold r:id="rId7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84220" autoAdjust="0"/>
  </p:normalViewPr>
  <p:slideViewPr>
    <p:cSldViewPr snapToGrid="0">
      <p:cViewPr varScale="1">
        <p:scale>
          <a:sx n="89" d="100"/>
          <a:sy n="89" d="100"/>
        </p:scale>
        <p:origin x="856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346C-1767-D560-12D7-71B5C2CF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1741A0-FE33-2388-418D-85B96D291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368538-1855-8CC2-4916-BBFFA62D0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63D4F-1E5A-2151-AC88-0EEDAFFC6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09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53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7038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58E8-B2D6-5D31-FEED-62B17839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D027E3-D764-2144-E7E3-936BC3E13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89500E-65E1-D598-C27A-83186C639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6B533-F6A1-FEA1-47EC-CA0167725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3088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636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721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4AEF-A9A5-B1BD-D606-3F6F1152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F79B5-5040-389F-DD1B-191E4FA40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F6F09-A7BE-3A5D-CBC6-AAD0AA806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F95C1-97C2-A82D-84AF-69C36C2B6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745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589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301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B6EE-A705-CE06-E2DC-37D5FD08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ED12E-6721-C440-A953-748445DB9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03C6F1-B9FF-E48D-5C07-E5A210BC8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83C52E-968C-CFBF-A4D5-87CFF73B6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18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5306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753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6267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184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1686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529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A329-DB8F-A042-2BD9-0C59621B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C671E-9F4C-EC7A-A801-BFF068617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A22C2-E763-4BAD-2EC9-2F0D72D12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51B1FF-A21D-0D28-0C50-B00948818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88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56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87AB-E2D3-1385-FA36-6785086D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691A25-433B-011B-73F2-FE96A99D0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6C390-10D3-24E5-ADF0-08ABF9D6C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DCD8C-37E6-B780-69F3-09A653E1F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076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07191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979D-82A1-9AEC-8BD1-8C312199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499AFD-2249-EC64-B21E-CFEA1890F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DF94E1-F197-FFBE-BEE0-FC1A4E385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5C3A4-F427-D443-7048-38787D836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6494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26685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173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649-F9D0-3E62-ACFB-F1DEC7B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E6A5F-927E-AD9E-52A2-E57AE99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71033-3C58-0804-CEC5-AB4EE1627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첫날이니까 간단하게 </a:t>
            </a:r>
            <a:r>
              <a:rPr lang="ko-KR" altLang="en-US" dirty="0" err="1"/>
              <a:t>개념먼</a:t>
            </a:r>
            <a:r>
              <a:rPr lang="en-US" altLang="ko-KR" dirty="0"/>
              <a:t>,, </a:t>
            </a:r>
            <a:r>
              <a:rPr lang="ko-KR" altLang="en-US" dirty="0" err="1"/>
              <a:t>머나아나어ㅓ어어아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95131-1FDD-B26F-13CB-72902E47B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11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C021-A0A2-48FA-9844-867A974E57AD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00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73DC6-58A2-4EA5-A212-0B6ECD61FDC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38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CFA89F-766A-4215-9646-99A19D814B36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140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A89F-766A-4215-9646-99A19D814B36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4B503-1034-2554-AF80-67C145D0076E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1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hyperlink" Target="https://docs.opencv.org/4.10.0/d6/d00/tutorial_py_root.html" TargetMode="External"/><Relationship Id="rId4" Type="http://schemas.openxmlformats.org/officeDocument/2006/relationships/hyperlink" Target="https://opencv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hyperlink" Target="https://www.pexels.com/ko-kr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cv.org/4.x/d8/d01/group__imgproc__color__conversions.html#ga4e0972be5de079fed4e3a10e24ef5ef0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OpenCV </a:t>
            </a:r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기초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501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AFBDD17-7ADA-4E12-B1D9-10F05DF9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E27AA-98F2-07C2-5656-D45A44DBC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OpenCV </a:t>
            </a:r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소개 및 설치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A4802A-4BF2-12A7-B793-A9B1AA13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350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penCV - Wikipedia">
            <a:extLst>
              <a:ext uri="{FF2B5EF4-FFF2-40B4-BE49-F238E27FC236}">
                <a16:creationId xmlns:a16="http://schemas.microsoft.com/office/drawing/2014/main" id="{474D762E-77A3-C4F9-7BF4-E9AEFFF2D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09" y="1192213"/>
            <a:ext cx="2234708" cy="275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C1E07-3EAA-F335-F44F-E2F56B55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477169"/>
            <a:ext cx="8424339" cy="39036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dirty="0">
                <a:latin typeface="+mn-ea"/>
                <a:ea typeface="+mn-ea"/>
                <a:cs typeface="Pretendard Medium" panose="02000603000000020004" pitchFamily="2" charset="-127"/>
              </a:rPr>
              <a:t>OpenCV : </a:t>
            </a:r>
            <a:r>
              <a:rPr lang="en-US" altLang="ko-KR" dirty="0">
                <a:latin typeface="+mn-ea"/>
                <a:ea typeface="+mn-ea"/>
                <a:cs typeface="Pretendard Light" panose="02000403000000020004" pitchFamily="2" charset="-127"/>
              </a:rPr>
              <a:t>Open Source Computer Vision Library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Intel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최초 개발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(1999)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 비전 분야를 발전시키기 위한 목적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C/C++, C#, Python, Java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500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가지가 넘는 영상 처리 알고리즘이 최적화 되어있음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GPU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가속 모듈을 지원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머신러닝과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관련된 모듈을 포함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146" name="Picture 2" descr="무료 고무 스탬프. 레드 무료 고무 그런 지 스탬프 인감 벡터 일러스트 레이 션 - 벡터 로열티 무료 사진, 그림, 이미지 그리고  스톡포토그래피. Image 142206133">
            <a:extLst>
              <a:ext uri="{FF2B5EF4-FFF2-40B4-BE49-F238E27FC236}">
                <a16:creationId xmlns:a16="http://schemas.microsoft.com/office/drawing/2014/main" id="{CBE40B12-2560-E90B-B9C8-410BAB9EFF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t="7209" r="14242" b="5393"/>
          <a:stretch/>
        </p:blipFill>
        <p:spPr bwMode="auto">
          <a:xfrm>
            <a:off x="9209809" y="4196209"/>
            <a:ext cx="2234708" cy="163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111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225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238508"/>
            <a:ext cx="10515600" cy="27897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공식 홈페이지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4"/>
              </a:rPr>
              <a:t>https://opencv.org/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파이썬 튜토리얼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5"/>
              </a:rPr>
              <a:t>https://docs.opencv.org/4.10.0/d6/d00/tutorial_py_root.html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111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660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1926-7AFA-4EA8-327B-5BAE13E6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5A8A9D-9A98-15B0-AD93-ED5A3A26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3A762-F940-995F-58C1-C404686308B3}"/>
              </a:ext>
            </a:extLst>
          </p:cNvPr>
          <p:cNvSpPr txBox="1"/>
          <p:nvPr/>
        </p:nvSpPr>
        <p:spPr>
          <a:xfrm>
            <a:off x="200677" y="110919"/>
            <a:ext cx="4985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사용준비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8" name="그림 7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C838E4-B4AC-E883-4C1B-19A98498F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3257550"/>
            <a:ext cx="8801100" cy="360045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53F99-7CC4-F4FF-C6D1-E8C221A33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762225"/>
            <a:ext cx="8801100" cy="3600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ADD155-1F83-442A-D392-39116284B781}"/>
              </a:ext>
            </a:extLst>
          </p:cNvPr>
          <p:cNvSpPr txBox="1"/>
          <p:nvPr/>
        </p:nvSpPr>
        <p:spPr>
          <a:xfrm>
            <a:off x="2428875" y="108594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OpenCV </a:t>
            </a:r>
            <a:r>
              <a:rPr lang="ko-KR" altLang="en-US" sz="2400" dirty="0"/>
              <a:t>설치</a:t>
            </a:r>
            <a:endParaRPr lang="en-US" altLang="ko-KR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BD85D-A98E-A867-7939-D36486809267}"/>
              </a:ext>
            </a:extLst>
          </p:cNvPr>
          <p:cNvSpPr txBox="1"/>
          <p:nvPr/>
        </p:nvSpPr>
        <p:spPr>
          <a:xfrm>
            <a:off x="2428875" y="35812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OpenCV </a:t>
            </a:r>
            <a:r>
              <a:rPr lang="ko-KR" altLang="en-US" sz="2400" dirty="0"/>
              <a:t>불러오기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23691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8A1EF7-5FCB-287E-CA68-C4C4709F1A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입력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1229125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0C287B4-5A4A-1773-E1F1-DA25CED2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7" y="743138"/>
            <a:ext cx="10716126" cy="573657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5609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기본 코드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86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A9F91A-A47D-F7B2-85F5-7852EE0B088D}"/>
              </a:ext>
            </a:extLst>
          </p:cNvPr>
          <p:cNvSpPr/>
          <p:nvPr/>
        </p:nvSpPr>
        <p:spPr>
          <a:xfrm>
            <a:off x="200677" y="1055157"/>
            <a:ext cx="11637885" cy="5128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💡 </a:t>
            </a:r>
            <a:r>
              <a:rPr lang="en-US" altLang="ko-KR" sz="2400" b="1" dirty="0"/>
              <a:t>cv2.namedWindow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winname</a:t>
            </a:r>
            <a:r>
              <a:rPr lang="en-US" altLang="ko-KR" sz="2400" dirty="0"/>
              <a:t>[,flags=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WINDOW_AUTOSIZE | </a:t>
            </a:r>
          </a:p>
          <a:p>
            <a:r>
              <a:rPr lang="en-US" altLang="ko-KR" sz="2400" dirty="0">
                <a:solidFill>
                  <a:srgbClr val="000000"/>
                </a:solidFill>
              </a:rPr>
              <a:t>       			       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WINDOW_KEEPRATIO | WINDOW_GUI_EXPANDED]</a:t>
            </a:r>
            <a:r>
              <a:rPr lang="en-US" altLang="ko-KR" sz="24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윈도우를 만들 때 적용할 초기 상태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WINDOW_NORMAL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유저가 윈도우 크기 변경 가능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전체화면 변경 가능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WINDOW_AUTOSIZE 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유저가 윈도우 크기 변경 불가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WINDOW_OPENGL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OPENGL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지원하는 윈도우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WINDOW_FULLSCREEN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전체화면 윈도우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WINDOW_FREERATIO 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비율 상관없이 확장됨</a:t>
            </a:r>
            <a:endParaRPr lang="en-US" altLang="ko-KR" sz="1600" b="0" i="0" dirty="0">
              <a:solidFill>
                <a:srgbClr val="00000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WINDOW_KEEPRAT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IO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비율 고정</a:t>
            </a:r>
            <a:endParaRPr lang="en-US" altLang="ko-KR" sz="1600" b="0" i="0" dirty="0">
              <a:solidFill>
                <a:srgbClr val="00000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WINDOW_GUI_EXPANDED : status bar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tool bar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WINDOW_GUI_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NORMAL 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예전 방식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441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윈도우 만들기</a:t>
            </a:r>
          </a:p>
        </p:txBody>
      </p:sp>
    </p:spTree>
    <p:extLst>
      <p:ext uri="{BB962C8B-B14F-4D97-AF65-F5344CB8AC3E}">
        <p14:creationId xmlns:p14="http://schemas.microsoft.com/office/powerpoint/2010/main" val="1031137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3B56211-F057-D638-4D0B-FBFB09D0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66F5-84B8-8AFA-BCDB-7CBBC8729121}"/>
              </a:ext>
            </a:extLst>
          </p:cNvPr>
          <p:cNvSpPr/>
          <p:nvPr/>
        </p:nvSpPr>
        <p:spPr>
          <a:xfrm>
            <a:off x="200677" y="941916"/>
            <a:ext cx="11613810" cy="364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cv2.imread</a:t>
            </a:r>
            <a:r>
              <a:rPr lang="en-US" altLang="ko-KR" sz="2400" dirty="0">
                <a:latin typeface="+mn-ea"/>
              </a:rPr>
              <a:t>(path[,flags=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IMREAD_ANYCOLOR]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읽기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path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파일의 상대 경로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경로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이미지를 불러올 때 적용할 초기 상태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IMREAD_ANYCOLOR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default,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가능한 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 이미지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IMREAD_COLOR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 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BGR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UNCHANGED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그대로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Exif orientation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무시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IMREAD_GRAYSCALE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채널이 하나인 회색 이미지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입력</a:t>
            </a:r>
          </a:p>
        </p:txBody>
      </p:sp>
    </p:spTree>
    <p:extLst>
      <p:ext uri="{BB962C8B-B14F-4D97-AF65-F5344CB8AC3E}">
        <p14:creationId xmlns:p14="http://schemas.microsoft.com/office/powerpoint/2010/main" val="367507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CB8B3DC-ADB3-5CB2-F5D0-D809E71D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583D06-4D48-B931-853D-2A225B2F1830}"/>
              </a:ext>
            </a:extLst>
          </p:cNvPr>
          <p:cNvSpPr/>
          <p:nvPr/>
        </p:nvSpPr>
        <p:spPr>
          <a:xfrm>
            <a:off x="200677" y="941916"/>
            <a:ext cx="10070805" cy="197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cv2.imshow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winname</a:t>
            </a:r>
            <a:r>
              <a:rPr lang="en-US" altLang="ko-KR" sz="2400" dirty="0">
                <a:latin typeface="+mn-ea"/>
              </a:rPr>
              <a:t>, mat)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보여질 이미지의 배열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</p:spTree>
    <p:extLst>
      <p:ext uri="{BB962C8B-B14F-4D97-AF65-F5344CB8AC3E}">
        <p14:creationId xmlns:p14="http://schemas.microsoft.com/office/powerpoint/2010/main" val="102604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24034" cy="29336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cv2.waitKey</a:t>
            </a:r>
            <a:r>
              <a:rPr lang="en-US" altLang="ko-KR" sz="2400" dirty="0">
                <a:latin typeface="+mn-ea"/>
              </a:rPr>
              <a:t>([,delay=0])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키보드 입력을 기다림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누른 키의 코드를 반환하거나 지정된 시간이 경과하기 전에 </a:t>
            </a:r>
            <a:r>
              <a:rPr lang="ko-KR" altLang="en-US" sz="2000" dirty="0" err="1">
                <a:solidFill>
                  <a:srgbClr val="000000"/>
                </a:solidFill>
              </a:rPr>
              <a:t>아무키도</a:t>
            </a:r>
            <a:r>
              <a:rPr lang="ko-KR" altLang="en-US" sz="2000" dirty="0">
                <a:solidFill>
                  <a:srgbClr val="000000"/>
                </a:solidFill>
              </a:rPr>
              <a:t> 누르지 않은 경우 </a:t>
            </a:r>
            <a:r>
              <a:rPr lang="en-US" altLang="ko-KR" sz="2000" b="1" dirty="0">
                <a:solidFill>
                  <a:srgbClr val="000000"/>
                </a:solidFill>
              </a:rPr>
              <a:t>-1</a:t>
            </a:r>
            <a:r>
              <a:rPr lang="ko-KR" altLang="en-US" sz="2000" b="1" dirty="0">
                <a:solidFill>
                  <a:srgbClr val="000000"/>
                </a:solidFill>
              </a:rPr>
              <a:t>을 반환</a:t>
            </a:r>
            <a:endParaRPr lang="en-US" altLang="ko-KR" sz="2000" b="1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키 누르기를 기다리지 않으려면 </a:t>
            </a:r>
            <a:r>
              <a:rPr lang="en-US" altLang="ko-KR" sz="2000" dirty="0" err="1">
                <a:solidFill>
                  <a:srgbClr val="000000"/>
                </a:solidFill>
              </a:rPr>
              <a:t>pollKey</a:t>
            </a:r>
            <a:r>
              <a:rPr lang="en-US" altLang="ko-KR" sz="2000" dirty="0">
                <a:solidFill>
                  <a:srgbClr val="000000"/>
                </a:solidFill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</a:rPr>
              <a:t>를 사용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000000"/>
                </a:solidFill>
              </a:rPr>
              <a:t>📌 </a:t>
            </a:r>
            <a:r>
              <a:rPr lang="en-US" altLang="ko-KR" sz="2000" b="1" dirty="0">
                <a:solidFill>
                  <a:srgbClr val="000000"/>
                </a:solidFill>
              </a:rPr>
              <a:t>0</a:t>
            </a:r>
            <a:r>
              <a:rPr lang="ko-KR" altLang="en-US" sz="2000" b="1" dirty="0">
                <a:solidFill>
                  <a:srgbClr val="000000"/>
                </a:solidFill>
              </a:rPr>
              <a:t>은</a:t>
            </a:r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‘</a:t>
            </a:r>
            <a:r>
              <a:rPr lang="ko-KR" altLang="en-US" sz="2000" dirty="0">
                <a:solidFill>
                  <a:srgbClr val="000000"/>
                </a:solidFill>
              </a:rPr>
              <a:t>영원히</a:t>
            </a:r>
            <a:r>
              <a:rPr lang="en-US" altLang="ko-KR" sz="2000" dirty="0">
                <a:solidFill>
                  <a:srgbClr val="000000"/>
                </a:solidFill>
              </a:rPr>
              <a:t>’</a:t>
            </a:r>
            <a:r>
              <a:rPr lang="ko-KR" altLang="en-US" sz="2000" dirty="0">
                <a:solidFill>
                  <a:srgbClr val="000000"/>
                </a:solidFill>
              </a:rPr>
              <a:t>를 의미하는 특별한 값 →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</a:rPr>
              <a:t>무한 대기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932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키보드 입력</a:t>
            </a:r>
          </a:p>
        </p:txBody>
      </p:sp>
    </p:spTree>
    <p:extLst>
      <p:ext uri="{BB962C8B-B14F-4D97-AF65-F5344CB8AC3E}">
        <p14:creationId xmlns:p14="http://schemas.microsoft.com/office/powerpoint/2010/main" val="1691358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4EA3F8B-4C51-C677-3ADC-8E184B39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85B46-0DE8-7155-6712-966E08A9D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104" y="2357285"/>
            <a:ext cx="5257800" cy="2070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 err="1">
                <a:latin typeface="+mn-ea"/>
              </a:rPr>
              <a:t>ord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 lvl="1"/>
            <a:r>
              <a:rPr lang="ko-KR" altLang="en-US" sz="2000" dirty="0">
                <a:latin typeface="+mn-ea"/>
              </a:rPr>
              <a:t>문자의 아스키 코드 획득</a:t>
            </a:r>
            <a:endParaRPr lang="en-US" altLang="ko-KR" sz="2000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chr()</a:t>
            </a:r>
          </a:p>
          <a:p>
            <a:pPr lvl="1"/>
            <a:r>
              <a:rPr lang="ko-KR" altLang="en-US" sz="2000" dirty="0">
                <a:latin typeface="+mn-ea"/>
              </a:rPr>
              <a:t>아스키 코드를 문자로 변경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B98B2D-3DCF-6288-184A-925C8EE8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932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키보드 입력</a:t>
            </a:r>
          </a:p>
        </p:txBody>
      </p:sp>
      <p:pic>
        <p:nvPicPr>
          <p:cNvPr id="2050" name="Picture 2" descr="https://postfiles.pstatic.net/20150122_206/ouwukwfy_1421898380619oE3vf_JPEG/%BE%C6%BD%BA%C5%B0%C4%DA%B5%E5%C7%A5_02.jpg?type=w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456" y="1677741"/>
            <a:ext cx="6177440" cy="34299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7897099" y="5276566"/>
            <a:ext cx="1406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📌아스키 코드</a:t>
            </a:r>
          </a:p>
        </p:txBody>
      </p:sp>
    </p:spTree>
    <p:extLst>
      <p:ext uri="{BB962C8B-B14F-4D97-AF65-F5344CB8AC3E}">
        <p14:creationId xmlns:p14="http://schemas.microsoft.com/office/powerpoint/2010/main" val="3095358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9921"/>
            <a:ext cx="10515600" cy="3518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cv2.destroyAllWinows</a:t>
            </a:r>
            <a:r>
              <a:rPr lang="en-US" altLang="ko-KR" sz="2400" dirty="0">
                <a:latin typeface="+mn-ea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모든 창을 닫음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endParaRPr lang="en-US" altLang="ko-KR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cv2.destroyWinow(</a:t>
            </a:r>
            <a:r>
              <a:rPr lang="en-US" altLang="ko-KR" sz="2400" b="1" dirty="0" err="1">
                <a:latin typeface="+mn-ea"/>
              </a:rPr>
              <a:t>winname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지정된 창을 닫음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winname</a:t>
            </a:r>
            <a:r>
              <a:rPr lang="en-US" altLang="ko-KR" sz="2000" dirty="0"/>
              <a:t> : </a:t>
            </a:r>
            <a:r>
              <a:rPr lang="ko-KR" altLang="en-US" sz="2000" dirty="0"/>
              <a:t>닫을 창의 이름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1960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창 닫기</a:t>
            </a:r>
          </a:p>
        </p:txBody>
      </p:sp>
    </p:spTree>
    <p:extLst>
      <p:ext uri="{BB962C8B-B14F-4D97-AF65-F5344CB8AC3E}">
        <p14:creationId xmlns:p14="http://schemas.microsoft.com/office/powerpoint/2010/main" val="122406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3F56496-9473-B38C-E32C-219C3353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50D58AC-9F2E-F7B2-3A82-85135EE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835EF-9E0A-309A-D49F-41423DF4ED1D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168D0FFF-E4EF-A6C6-CD1C-12494E525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10" y="781346"/>
            <a:ext cx="8983580" cy="5880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576087-A4AD-B6EA-6A5D-C0027E7F4375}"/>
              </a:ext>
            </a:extLst>
          </p:cNvPr>
          <p:cNvSpPr txBox="1"/>
          <p:nvPr/>
        </p:nvSpPr>
        <p:spPr>
          <a:xfrm>
            <a:off x="2107531" y="1005791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2A2A2A"/>
                </a:solidFill>
                <a:latin typeface="+mn-ea"/>
                <a:cs typeface="Pretendard Black" panose="02000A03000000020004" pitchFamily="2" charset="-127"/>
              </a:rPr>
              <a:t>✅ 이미지 출력 기본 코드</a:t>
            </a:r>
          </a:p>
        </p:txBody>
      </p:sp>
    </p:spTree>
    <p:extLst>
      <p:ext uri="{BB962C8B-B14F-4D97-AF65-F5344CB8AC3E}">
        <p14:creationId xmlns:p14="http://schemas.microsoft.com/office/powerpoint/2010/main" val="33590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C7556E-452A-8F1F-0F8E-0C7EBAADB203}"/>
              </a:ext>
            </a:extLst>
          </p:cNvPr>
          <p:cNvGrpSpPr/>
          <p:nvPr/>
        </p:nvGrpSpPr>
        <p:grpSpPr>
          <a:xfrm>
            <a:off x="1400299" y="1584434"/>
            <a:ext cx="9391401" cy="4124107"/>
            <a:chOff x="1323102" y="1585238"/>
            <a:chExt cx="9391401" cy="412410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530B900-30FA-B097-9646-FB5893273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0272" y="2178571"/>
              <a:ext cx="4284231" cy="303108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4326E1-706C-B21B-8C8A-F65B30B8C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5028" y="2178571"/>
              <a:ext cx="4284231" cy="306660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654024" y="5340013"/>
              <a:ext cx="18261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IMREAD_COLOR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338042" y="5340013"/>
              <a:ext cx="23471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IMREAD_GRAYSCALE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817453-D711-6590-DE89-7454E0015239}"/>
                </a:ext>
              </a:extLst>
            </p:cNvPr>
            <p:cNvSpPr txBox="1"/>
            <p:nvPr/>
          </p:nvSpPr>
          <p:spPr>
            <a:xfrm>
              <a:off x="1323102" y="1585238"/>
              <a:ext cx="41376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rgbClr val="2A2A2A"/>
                  </a:solidFill>
                  <a:latin typeface="+mn-ea"/>
                  <a:cs typeface="Pretendard Black" panose="02000A03000000020004" pitchFamily="2" charset="-127"/>
                </a:rPr>
                <a:t>✅ 이미지 입력 옵션에 따른 차이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3134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8DFE3B10-4115-A6BA-B1D2-E2685D213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328"/>
            <a:ext cx="12192000" cy="6035343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849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Shape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0770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9233AF4-AEEB-8677-BD4B-44E082E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44DFE16-F0EC-814E-F85F-D0DECA9D6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7865"/>
            <a:ext cx="12192000" cy="344226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D57C24-C35E-DE54-BE72-0949CA30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B8A96-0030-9CEC-68FD-644100E2C94A}"/>
              </a:ext>
            </a:extLst>
          </p:cNvPr>
          <p:cNvSpPr txBox="1"/>
          <p:nvPr/>
        </p:nvSpPr>
        <p:spPr>
          <a:xfrm>
            <a:off x="200677" y="110919"/>
            <a:ext cx="3849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Shape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08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6C72787-6C62-33C0-A2A7-586B5E061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32" y="1865301"/>
            <a:ext cx="10491536" cy="477832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733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파일로 쓰기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55B2583-F2C1-EA3C-6F1C-54CF727B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3647423" cy="12583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</a:t>
            </a:r>
            <a:r>
              <a:rPr lang="ko-KR" altLang="en-US" sz="2400" dirty="0" err="1"/>
              <a:t>im</a:t>
            </a:r>
            <a:r>
              <a:rPr lang="en-US" altLang="ko-KR" sz="2400" dirty="0"/>
              <a:t>write</a:t>
            </a:r>
            <a:r>
              <a:rPr lang="en-US" altLang="ko-KR" sz="2400" dirty="0">
                <a:latin typeface="+mn-ea"/>
              </a:rPr>
              <a:t>(path)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지정한 경로로 파일 저장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40741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8EB691-A75D-84A1-F2FC-69ABCD2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F928F-902F-AA2B-322A-C5C801C3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원하는 이미지 띄우기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27222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원하는 이미지를 찾아서 기본 이미지와 흑백 이미지 각각 띄우기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📌</a:t>
            </a:r>
            <a:r>
              <a:rPr lang="ko-KR" altLang="en-US" dirty="0"/>
              <a:t> </a:t>
            </a:r>
            <a:r>
              <a:rPr lang="en-US" altLang="ko-KR" dirty="0" err="1"/>
              <a:t>Pixabay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 err="1"/>
              <a:t>Pexels</a:t>
            </a:r>
            <a:r>
              <a:rPr lang="ko-KR" altLang="en-US" dirty="0"/>
              <a:t>이용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 err="1"/>
              <a:t>Pixabay</a:t>
            </a:r>
            <a:r>
              <a:rPr lang="en-US" altLang="ko-KR" b="1" dirty="0"/>
              <a:t>: </a:t>
            </a:r>
            <a:r>
              <a:rPr lang="en-US" altLang="ko-KR" b="1" dirty="0">
                <a:hlinkClick r:id="rId3"/>
              </a:rPr>
              <a:t>https://pixabay.com/ko/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 err="1"/>
              <a:t>Pexels</a:t>
            </a:r>
            <a:r>
              <a:rPr lang="en-US" altLang="ko-KR" b="1" dirty="0"/>
              <a:t>: </a:t>
            </a:r>
            <a:r>
              <a:rPr lang="en-US" altLang="ko-KR" b="1" dirty="0">
                <a:hlinkClick r:id="rId4"/>
              </a:rPr>
              <a:t>https://www.pexels.com/ko-kr/</a:t>
            </a:r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48EAF-7835-F8EF-F1AF-551E2EF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45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BF064D8-80D6-86D0-950F-A158F2509ACC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영상 입력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1739243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731B33-C532-9300-9FC4-292B9DF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A2A54-E7D5-AD96-04EA-A1C5703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99" y="941916"/>
            <a:ext cx="11691387" cy="51156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cv2.VideoCapture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String</a:t>
            </a:r>
            <a:r>
              <a:rPr lang="ko-KR" altLang="en-US" sz="2400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filename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apiPreference</a:t>
            </a:r>
            <a:r>
              <a:rPr lang="en-US" altLang="ko-KR" sz="2400" dirty="0">
                <a:latin typeface="+mn-ea"/>
              </a:rPr>
              <a:t>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CAP_ANY</a:t>
            </a:r>
            <a:r>
              <a:rPr lang="en-US" altLang="ko-KR" sz="2400" dirty="0">
                <a:latin typeface="+mn-ea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			</a:t>
            </a:r>
            <a:r>
              <a:rPr lang="ko-KR" altLang="en-US" sz="2400" dirty="0">
                <a:latin typeface="+mn-ea"/>
              </a:rPr>
              <a:t> 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VideoCapture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비디오</a:t>
            </a:r>
            <a:r>
              <a:rPr lang="ko-KR" altLang="en-US" sz="2000" dirty="0"/>
              <a:t> 읽기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Filename : </a:t>
            </a:r>
            <a:r>
              <a:rPr lang="ko-KR" altLang="en-US" sz="2000" b="1" dirty="0"/>
              <a:t>비디오 파일의 이름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Url</a:t>
            </a:r>
            <a:r>
              <a:rPr lang="en-US" altLang="ko-KR" sz="2000" b="1" dirty="0"/>
              <a:t> or</a:t>
            </a:r>
            <a:r>
              <a:rPr lang="ko-KR" altLang="en-US" sz="2000" b="1" dirty="0"/>
              <a:t> 이미지의 배열</a:t>
            </a:r>
            <a:r>
              <a:rPr lang="en-US" altLang="ko-KR" sz="2000" b="1" dirty="0"/>
              <a:t> or</a:t>
            </a:r>
            <a:r>
              <a:rPr lang="ko-KR" altLang="en-US" sz="2000" b="1" dirty="0"/>
              <a:t> </a:t>
            </a:r>
            <a:r>
              <a:rPr lang="en-US" altLang="ko-KR" sz="2000" b="1" dirty="0" err="1"/>
              <a:t>Gstreamer</a:t>
            </a:r>
            <a:r>
              <a:rPr lang="en-US" altLang="ko-KR" sz="2000" b="1" dirty="0"/>
              <a:t> pipeline string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apiPreference</a:t>
            </a:r>
            <a:r>
              <a:rPr lang="en-US" altLang="ko-KR" sz="2000" dirty="0"/>
              <a:t> : </a:t>
            </a:r>
            <a:r>
              <a:rPr lang="ko-KR" altLang="en-US" sz="2000" dirty="0"/>
              <a:t>옵션</a:t>
            </a:r>
            <a:r>
              <a:rPr lang="en-US" altLang="ko-KR" sz="2000" dirty="0"/>
              <a:t>, </a:t>
            </a:r>
            <a:r>
              <a:rPr lang="ko-KR" altLang="en-US" sz="2000" dirty="0"/>
              <a:t>사용할 캡쳐 </a:t>
            </a:r>
            <a:r>
              <a:rPr lang="en-US" altLang="ko-KR" sz="2000" dirty="0"/>
              <a:t>API backend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 반환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E1E83-F736-D428-C891-FCC709BF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242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3432719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C660CCC-9469-5828-75F3-7B0EC6A6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8993B-B0F7-20C6-148B-45E791F7D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691387" cy="51156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cv2.VideoCapture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int</a:t>
            </a:r>
            <a:r>
              <a:rPr lang="ko-KR" altLang="en-US" sz="2400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index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apiPreference</a:t>
            </a:r>
            <a:r>
              <a:rPr lang="en-US" altLang="ko-KR" sz="2400" dirty="0">
                <a:latin typeface="+mn-ea"/>
              </a:rPr>
              <a:t>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CAP_ANY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VideoCapture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카메라</a:t>
            </a:r>
            <a:r>
              <a:rPr lang="ko-KR" altLang="en-US" sz="2000" dirty="0">
                <a:latin typeface="+mn-ea"/>
              </a:rPr>
              <a:t> 읽기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index : </a:t>
            </a:r>
            <a:r>
              <a:rPr lang="ko-KR" altLang="en-US" sz="2000" b="1" dirty="0"/>
              <a:t>비디오를 </a:t>
            </a:r>
            <a:r>
              <a:rPr lang="ko-KR" altLang="en-US" sz="2000" b="1" dirty="0" err="1"/>
              <a:t>읽어들일</a:t>
            </a:r>
            <a:r>
              <a:rPr lang="ko-KR" altLang="en-US" sz="2000" b="1" dirty="0"/>
              <a:t> 장치의 </a:t>
            </a:r>
            <a:r>
              <a:rPr lang="en-US" altLang="ko-KR" sz="2000" b="1" dirty="0"/>
              <a:t>id, </a:t>
            </a:r>
            <a:r>
              <a:rPr lang="ko-KR" altLang="en-US" sz="2000" b="1" dirty="0"/>
              <a:t>기본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카메라의 경우는 </a:t>
            </a:r>
            <a:r>
              <a:rPr lang="en-US" altLang="ko-KR" sz="2000" b="1" dirty="0"/>
              <a:t>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apiPreference</a:t>
            </a:r>
            <a:r>
              <a:rPr lang="en-US" altLang="ko-KR" sz="2000" dirty="0"/>
              <a:t> : </a:t>
            </a:r>
            <a:r>
              <a:rPr lang="ko-KR" altLang="en-US" sz="2000" dirty="0"/>
              <a:t>옵션</a:t>
            </a:r>
            <a:r>
              <a:rPr lang="en-US" altLang="ko-KR" sz="2000" dirty="0"/>
              <a:t>, </a:t>
            </a:r>
            <a:r>
              <a:rPr lang="ko-KR" altLang="en-US" sz="2000" dirty="0"/>
              <a:t>사용할 캡쳐 </a:t>
            </a:r>
            <a:r>
              <a:rPr lang="en-US" altLang="ko-KR" sz="2000" dirty="0"/>
              <a:t>API backend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 반환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38445-7865-5247-6D63-FE062DDF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D8C30-1A2B-20DE-A760-F35A16A0FAEA}"/>
              </a:ext>
            </a:extLst>
          </p:cNvPr>
          <p:cNvSpPr txBox="1"/>
          <p:nvPr/>
        </p:nvSpPr>
        <p:spPr>
          <a:xfrm>
            <a:off x="200677" y="110919"/>
            <a:ext cx="42242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147050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62BFF46-26FA-7B4B-68E9-5895DDE8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0CD96F-CFAF-82F1-9C39-B953D79E0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23408"/>
            <a:ext cx="11478638" cy="4963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VideoCapture.set</a:t>
            </a:r>
            <a:r>
              <a:rPr lang="en-US" altLang="ko-KR" sz="2400" dirty="0">
                <a:latin typeface="+mn-ea"/>
              </a:rPr>
              <a:t>(int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propId</a:t>
            </a:r>
            <a:r>
              <a:rPr lang="en-US" altLang="ko-KR" sz="2400" dirty="0">
                <a:latin typeface="+mn-ea"/>
              </a:rPr>
              <a:t>, double value)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캡쳐 속성 설정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propId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속성 </a:t>
            </a:r>
            <a:r>
              <a:rPr lang="en-US" altLang="ko-KR" sz="2000" dirty="0"/>
              <a:t>ID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CAP_PROP_POS_MSEC : msec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단위의 위치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CAP_PROP_POS_FRAMES </a:t>
            </a:r>
            <a:r>
              <a:rPr lang="en-US" altLang="ko-KR" sz="1800" dirty="0">
                <a:solidFill>
                  <a:srgbClr val="000000"/>
                </a:solidFill>
              </a:rPr>
              <a:t>: frame </a:t>
            </a:r>
            <a:r>
              <a:rPr lang="ko-KR" altLang="en-US" sz="1800" dirty="0">
                <a:solidFill>
                  <a:srgbClr val="000000"/>
                </a:solidFill>
              </a:rPr>
              <a:t>단위의 위치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CAP_PROP_FRAME_WIDTH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프레임의 넓이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CAP_PROP_FRAME_HEIGHT :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프레임의 높이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CAP_PROP_FPS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프레임 </a:t>
            </a:r>
            <a:r>
              <a:rPr lang="ko-KR" altLang="en-US" sz="1800" dirty="0" err="1">
                <a:solidFill>
                  <a:srgbClr val="000000"/>
                </a:solidFill>
              </a:rPr>
              <a:t>레이트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CAP_PROP_FRAME_COUNT :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총 프레임 개수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CAP_PROP_BRIGHTNESS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이미지의</a:t>
            </a:r>
            <a:r>
              <a:rPr lang="en-US" altLang="ko-KR" sz="1800" dirty="0">
                <a:solidFill>
                  <a:srgbClr val="000000"/>
                </a:solidFill>
              </a:rPr>
              <a:t> </a:t>
            </a:r>
            <a:r>
              <a:rPr lang="ko-KR" altLang="en-US" sz="1800" dirty="0">
                <a:solidFill>
                  <a:srgbClr val="000000"/>
                </a:solidFill>
              </a:rPr>
              <a:t>밝기 </a:t>
            </a:r>
            <a:r>
              <a:rPr lang="en-US" altLang="ko-KR" sz="1800" dirty="0">
                <a:solidFill>
                  <a:srgbClr val="000000"/>
                </a:solidFill>
              </a:rPr>
              <a:t>(</a:t>
            </a:r>
            <a:r>
              <a:rPr lang="ko-KR" altLang="en-US" sz="1800" dirty="0">
                <a:solidFill>
                  <a:srgbClr val="000000"/>
                </a:solidFill>
              </a:rPr>
              <a:t>카메라가 지원할 경우에</a:t>
            </a:r>
            <a:r>
              <a:rPr lang="en-US" altLang="ko-KR" sz="1800" dirty="0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ko-KR" altLang="en-US" sz="1800" dirty="0">
                <a:solidFill>
                  <a:srgbClr val="000000"/>
                </a:solidFill>
              </a:rPr>
              <a:t>등등</a:t>
            </a:r>
            <a:r>
              <a:rPr lang="en-US" altLang="ko-KR" sz="1800" dirty="0">
                <a:solidFill>
                  <a:srgbClr val="000000"/>
                </a:solidFill>
              </a:rPr>
              <a:t>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0000"/>
                </a:solidFill>
              </a:rPr>
              <a:t>value : </a:t>
            </a:r>
            <a:r>
              <a:rPr lang="ko-KR" altLang="en-US" sz="2000" dirty="0">
                <a:solidFill>
                  <a:srgbClr val="000000"/>
                </a:solidFill>
              </a:rPr>
              <a:t>설정할 속성 값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D3E23-D6BE-AA66-318D-A85821F8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762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818319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47331C-F254-CC3B-447A-E1E69F3A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BB3D-B17D-AA6E-F04F-FF1E4518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53217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VideoCapture.get</a:t>
            </a:r>
            <a:r>
              <a:rPr lang="en-US" altLang="ko-KR" sz="2400" dirty="0">
                <a:latin typeface="+mn-ea"/>
              </a:rPr>
              <a:t>(int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propId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영상 속성 얻기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propId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속성 </a:t>
            </a:r>
            <a:r>
              <a:rPr lang="en-US" altLang="ko-KR" sz="2000" dirty="0"/>
              <a:t>Id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retvalue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얻어온 속성 값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69EB1F-86A0-C209-74FD-4DCB6F06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정보 얻기</a:t>
            </a:r>
          </a:p>
        </p:txBody>
      </p:sp>
    </p:spTree>
    <p:extLst>
      <p:ext uri="{BB962C8B-B14F-4D97-AF65-F5344CB8AC3E}">
        <p14:creationId xmlns:p14="http://schemas.microsoft.com/office/powerpoint/2010/main" val="3196848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8EEACE-FD50-DC63-BB4D-056E7335F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965F6-0DC5-8CF2-50EE-4140E05CF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631038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VideoCapture.read</a:t>
            </a:r>
            <a:r>
              <a:rPr lang="en-US" altLang="ko-KR" sz="2400" dirty="0">
                <a:latin typeface="+mn-ea"/>
              </a:rPr>
              <a:t>([,image])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r>
              <a:rPr lang="en-US" altLang="ko-KR" sz="2400" dirty="0">
                <a:latin typeface="+mn-ea"/>
              </a:rPr>
              <a:t>, image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영상 읽기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retval</a:t>
            </a:r>
            <a:r>
              <a:rPr lang="en-US" altLang="ko-KR" sz="2000" dirty="0">
                <a:latin typeface="+mn-ea"/>
              </a:rPr>
              <a:t> : false – </a:t>
            </a:r>
            <a:r>
              <a:rPr lang="ko-KR" altLang="en-US" sz="2000" dirty="0">
                <a:latin typeface="+mn-ea"/>
              </a:rPr>
              <a:t>만약에 출력할 프레임이 없다면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[out] image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출력할 이미지 배열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grap</a:t>
            </a:r>
            <a:r>
              <a:rPr lang="en-US" altLang="ko-KR" sz="2000" dirty="0">
                <a:solidFill>
                  <a:srgbClr val="000000"/>
                </a:solidFill>
              </a:rPr>
              <a:t>()(</a:t>
            </a:r>
            <a:r>
              <a:rPr lang="ko-KR" altLang="en-US" sz="2000" dirty="0">
                <a:solidFill>
                  <a:srgbClr val="000000"/>
                </a:solidFill>
              </a:rPr>
              <a:t>다음 프레임을 캡쳐</a:t>
            </a:r>
            <a:r>
              <a:rPr lang="en-US" altLang="ko-KR" sz="2000" dirty="0">
                <a:solidFill>
                  <a:srgbClr val="000000"/>
                </a:solidFill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</a:rPr>
              <a:t>과 </a:t>
            </a:r>
            <a:r>
              <a:rPr lang="en-US" altLang="ko-KR" sz="2000" dirty="0">
                <a:solidFill>
                  <a:srgbClr val="000000"/>
                </a:solidFill>
              </a:rPr>
              <a:t>retrieve()(</a:t>
            </a:r>
            <a:r>
              <a:rPr lang="ko-KR" altLang="en-US" sz="2000" dirty="0" err="1">
                <a:solidFill>
                  <a:srgbClr val="000000"/>
                </a:solidFill>
              </a:rPr>
              <a:t>디코드</a:t>
            </a:r>
            <a:r>
              <a:rPr lang="en-US" altLang="ko-KR" sz="2000" dirty="0">
                <a:solidFill>
                  <a:srgbClr val="000000"/>
                </a:solidFill>
              </a:rPr>
              <a:t>)</a:t>
            </a:r>
            <a:r>
              <a:rPr lang="ko-KR" altLang="en-US" sz="2000" dirty="0">
                <a:solidFill>
                  <a:srgbClr val="000000"/>
                </a:solidFill>
              </a:rPr>
              <a:t>의 함수를 묶은 함수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F444A-1568-7AEC-6284-144B5BEE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515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</a:p>
        </p:txBody>
      </p:sp>
    </p:spTree>
    <p:extLst>
      <p:ext uri="{BB962C8B-B14F-4D97-AF65-F5344CB8AC3E}">
        <p14:creationId xmlns:p14="http://schemas.microsoft.com/office/powerpoint/2010/main" val="2440021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66E854E-0E21-0731-D26B-987901CA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A5DE5-F1F7-CA7B-3733-892EF06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04579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VideoCapture.release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비디오 파일이나 입력 디바이스 닫기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클래스가 </a:t>
            </a:r>
            <a:r>
              <a:rPr lang="en-US" altLang="ko-KR" sz="2000" dirty="0">
                <a:solidFill>
                  <a:srgbClr val="000000"/>
                </a:solidFill>
              </a:rPr>
              <a:t>open</a:t>
            </a:r>
            <a:r>
              <a:rPr lang="ko-KR" altLang="en-US" sz="2000" dirty="0">
                <a:solidFill>
                  <a:srgbClr val="000000"/>
                </a:solidFill>
              </a:rPr>
              <a:t>되면 소멸자에서 자동으로 호출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1E977A-6683-FB5D-773C-D8C3AA3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661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 종료</a:t>
            </a:r>
          </a:p>
        </p:txBody>
      </p:sp>
    </p:spTree>
    <p:extLst>
      <p:ext uri="{BB962C8B-B14F-4D97-AF65-F5344CB8AC3E}">
        <p14:creationId xmlns:p14="http://schemas.microsoft.com/office/powerpoint/2010/main" val="187741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237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비디오 파일 출력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935024-AACE-A7BA-9591-86B5D9FE4734}"/>
              </a:ext>
            </a:extLst>
          </p:cNvPr>
          <p:cNvGrpSpPr/>
          <p:nvPr/>
        </p:nvGrpSpPr>
        <p:grpSpPr>
          <a:xfrm>
            <a:off x="1840706" y="1046692"/>
            <a:ext cx="8510588" cy="4431702"/>
            <a:chOff x="1343025" y="1066800"/>
            <a:chExt cx="9420225" cy="4905375"/>
          </a:xfrm>
        </p:grpSpPr>
        <p:pic>
          <p:nvPicPr>
            <p:cNvPr id="7" name="그림 6" descr="텍스트, 스크린샷, 소프트웨어, 디스플레이이(가) 표시된 사진&#10;&#10;자동 생성된 설명">
              <a:extLst>
                <a:ext uri="{FF2B5EF4-FFF2-40B4-BE49-F238E27FC236}">
                  <a16:creationId xmlns:a16="http://schemas.microsoft.com/office/drawing/2014/main" id="{64247A0B-ABF6-EBAC-1F69-70633DA33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37" t="9030" r="5455" b="8995"/>
            <a:stretch>
              <a:fillRect/>
            </a:stretch>
          </p:blipFill>
          <p:spPr>
            <a:xfrm>
              <a:off x="1343025" y="1066800"/>
              <a:ext cx="9420225" cy="4905375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9AA2238-7562-6B86-86A8-E2E2BBA2EC41}"/>
                </a:ext>
              </a:extLst>
            </p:cNvPr>
            <p:cNvSpPr/>
            <p:nvPr/>
          </p:nvSpPr>
          <p:spPr>
            <a:xfrm>
              <a:off x="1838324" y="2452688"/>
              <a:ext cx="1866901" cy="209550"/>
            </a:xfrm>
            <a:prstGeom prst="rect">
              <a:avLst/>
            </a:prstGeom>
            <a:noFill/>
            <a:ln w="254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4F1B3B-EA5E-9DBE-4B32-74ABF208240A}"/>
                </a:ext>
              </a:extLst>
            </p:cNvPr>
            <p:cNvSpPr/>
            <p:nvPr/>
          </p:nvSpPr>
          <p:spPr>
            <a:xfrm>
              <a:off x="2281009" y="4310516"/>
              <a:ext cx="2421619" cy="209550"/>
            </a:xfrm>
            <a:prstGeom prst="rect">
              <a:avLst/>
            </a:prstGeom>
            <a:noFill/>
            <a:ln w="254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D1A2457-0E1B-6BFA-37CA-2E25498D6DC9}"/>
              </a:ext>
            </a:extLst>
          </p:cNvPr>
          <p:cNvSpPr txBox="1"/>
          <p:nvPr/>
        </p:nvSpPr>
        <p:spPr>
          <a:xfrm>
            <a:off x="1727125" y="5421244"/>
            <a:ext cx="8649569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문으로 영상의 모든 프레임이 재생될 때 까지 계속 실행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waitKey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waitKey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따라 프레임의 재생 속도가 달라짐</a:t>
            </a:r>
          </a:p>
        </p:txBody>
      </p:sp>
    </p:spTree>
    <p:extLst>
      <p:ext uri="{BB962C8B-B14F-4D97-AF65-F5344CB8AC3E}">
        <p14:creationId xmlns:p14="http://schemas.microsoft.com/office/powerpoint/2010/main" val="4211885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15BB76-7998-3987-6879-3407E118A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31" y="1229796"/>
            <a:ext cx="7925938" cy="459812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237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비디오 파일 출력</a:t>
            </a:r>
          </a:p>
        </p:txBody>
      </p:sp>
    </p:spTree>
    <p:extLst>
      <p:ext uri="{BB962C8B-B14F-4D97-AF65-F5344CB8AC3E}">
        <p14:creationId xmlns:p14="http://schemas.microsoft.com/office/powerpoint/2010/main" val="2245579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66E854E-0E21-0731-D26B-987901CA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A5DE5-F1F7-CA7B-3733-892EF06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72672" cy="4689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VideoCapture.get</a:t>
            </a:r>
            <a:r>
              <a:rPr lang="en-US" altLang="ko-KR" sz="2400" b="1" dirty="0">
                <a:latin typeface="+mn-ea"/>
              </a:rPr>
              <a:t>(cv2.CAP_PROP_FPS) </a:t>
            </a:r>
          </a:p>
          <a:p>
            <a:pPr lvl="1"/>
            <a:r>
              <a:rPr lang="ko-KR" altLang="en-US" sz="2000" dirty="0">
                <a:latin typeface="+mn-ea"/>
              </a:rPr>
              <a:t>입력된 비디오의 프레임을 불러옴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1E977A-6683-FB5D-773C-D8C3AA3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983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프레임 불러오기</a:t>
            </a:r>
          </a:p>
        </p:txBody>
      </p:sp>
    </p:spTree>
    <p:extLst>
      <p:ext uri="{BB962C8B-B14F-4D97-AF65-F5344CB8AC3E}">
        <p14:creationId xmlns:p14="http://schemas.microsoft.com/office/powerpoint/2010/main" val="1505385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8EB691-A75D-84A1-F2FC-69ABCD2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F928F-902F-AA2B-322A-C5C801C3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영상 프레임 조절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C9D6D-28B2-6FA5-47F6-21C2C582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595" y="1349442"/>
            <a:ext cx="11114809" cy="641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✅아래의 소스코드를 참고하여 프레임을 좀 더 빠르게 하거나 느리게 해봅시다</a:t>
            </a:r>
            <a:endParaRPr lang="en-US" altLang="ko-KR" dirty="0">
              <a:latin typeface="+mn-ea"/>
            </a:endParaRPr>
          </a:p>
          <a:p>
            <a:pPr marL="457200" lvl="1" indent="0">
              <a:buNone/>
            </a:pPr>
            <a:endParaRPr lang="ko-KR" altLang="en-US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48EAF-7835-F8EF-F1AF-551E2EF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D826C0-C5DF-E3A5-2FB5-D78BF2F9B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253" y="2170461"/>
            <a:ext cx="5913493" cy="37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68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63289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웹 캠에 연결</a:t>
            </a:r>
          </a:p>
        </p:txBody>
      </p:sp>
      <p:pic>
        <p:nvPicPr>
          <p:cNvPr id="5" name="그림 4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76972D06-9CE3-FE18-9438-9620139F3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9" y="640855"/>
            <a:ext cx="10074442" cy="5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1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9752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웹 캠으로 사진 찍기</a:t>
            </a:r>
          </a:p>
        </p:txBody>
      </p:sp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C00487-4354-4BC6-47C4-F1612C7C4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09" y="487670"/>
            <a:ext cx="10469382" cy="637033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D127DBF-874D-80A3-7906-A7C1A360C505}"/>
              </a:ext>
            </a:extLst>
          </p:cNvPr>
          <p:cNvSpPr/>
          <p:nvPr/>
        </p:nvSpPr>
        <p:spPr>
          <a:xfrm>
            <a:off x="3361216" y="4655820"/>
            <a:ext cx="3953984" cy="251460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76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B03DBDB-D345-B99F-43C6-ABF80298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18E97-FF7F-AE82-1F74-BB7FAF0B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카메라 컨트롤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4AC14A-B214-C81A-2CAB-085289B7F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650" y="1167871"/>
            <a:ext cx="4838700" cy="1998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 ✅아래의 소스코드를 참고하여 </a:t>
            </a:r>
            <a:endParaRPr lang="en-US" altLang="ko-KR" dirty="0">
              <a:latin typeface="+mn-ea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latin typeface="+mn-ea"/>
              </a:rPr>
              <a:t>캠 화면 프레임 조절</a:t>
            </a:r>
            <a:endParaRPr lang="en-US" altLang="ko-KR" dirty="0">
              <a:latin typeface="+mn-ea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latin typeface="+mn-ea"/>
              </a:rPr>
              <a:t>캠 화면 크기 조절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DD9686-7B6D-6D65-3331-8D5B2E09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6FE8AA-78FA-B92B-C079-242F26128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286" y="3071283"/>
            <a:ext cx="431542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65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731B33-C532-9300-9FC4-292B9DF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A2A54-E7D5-AD96-04EA-A1C5703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078668"/>
            <a:ext cx="11504579" cy="515068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cv2.VideoWriter(</a:t>
            </a:r>
            <a:r>
              <a:rPr lang="en-US" altLang="ko-KR" b="1" dirty="0" err="1"/>
              <a:t>outputFile</a:t>
            </a:r>
            <a:r>
              <a:rPr lang="en-US" altLang="ko-KR" b="1" dirty="0"/>
              <a:t>, </a:t>
            </a:r>
            <a:r>
              <a:rPr lang="en-US" altLang="ko-KR" b="1" dirty="0" err="1"/>
              <a:t>fourcc</a:t>
            </a:r>
            <a:r>
              <a:rPr lang="en-US" altLang="ko-KR" b="1" dirty="0"/>
              <a:t>, frame, size)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outputFile</a:t>
            </a:r>
            <a:r>
              <a:rPr lang="en-US" altLang="ko-KR" dirty="0"/>
              <a:t>: </a:t>
            </a:r>
            <a:r>
              <a:rPr lang="ko-KR" altLang="en-US" dirty="0"/>
              <a:t>저장할 파일명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fourcc</a:t>
            </a:r>
            <a:r>
              <a:rPr lang="en-US" altLang="ko-KR" dirty="0"/>
              <a:t> : </a:t>
            </a:r>
            <a:r>
              <a:rPr lang="ko-KR" altLang="en-US" dirty="0"/>
              <a:t>비디오 </a:t>
            </a:r>
            <a:r>
              <a:rPr lang="ko-KR" altLang="en-US" dirty="0" err="1"/>
              <a:t>코덱</a:t>
            </a:r>
            <a:r>
              <a:rPr lang="ko-KR" altLang="en-US" dirty="0"/>
              <a:t> 정보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frame 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초당 저장될 영상 프레임</a:t>
            </a:r>
            <a:endParaRPr lang="en-US" altLang="ko-KR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size : </a:t>
            </a:r>
            <a:r>
              <a:rPr lang="ko-KR" altLang="en-US" dirty="0"/>
              <a:t>저장될</a:t>
            </a:r>
            <a:r>
              <a:rPr lang="en-US" altLang="ko-KR" dirty="0"/>
              <a:t> </a:t>
            </a:r>
            <a:r>
              <a:rPr lang="ko-KR" altLang="en-US" dirty="0"/>
              <a:t>영상의 화면 사이즈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cv2.VideoWriter_fourcc(</a:t>
            </a:r>
            <a:r>
              <a:rPr lang="en-US" altLang="ko-KR" b="1" dirty="0" err="1"/>
              <a:t>fourcc</a:t>
            </a:r>
            <a:r>
              <a:rPr lang="en-US" altLang="ko-KR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fourcc</a:t>
            </a:r>
            <a:r>
              <a:rPr lang="en-US" altLang="ko-KR" dirty="0"/>
              <a:t>:  </a:t>
            </a:r>
            <a:r>
              <a:rPr lang="ko-KR" altLang="en-US" dirty="0" err="1"/>
              <a:t>코덱</a:t>
            </a:r>
            <a:r>
              <a:rPr lang="ko-KR" altLang="en-US" dirty="0"/>
              <a:t> 정보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00"/>
                </a:solidFill>
              </a:rPr>
              <a:t>DIVX, H264 </a:t>
            </a:r>
            <a:r>
              <a:rPr lang="ko-KR" altLang="en-US" dirty="0">
                <a:solidFill>
                  <a:srgbClr val="000000"/>
                </a:solidFill>
              </a:rPr>
              <a:t>등 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E1E83-F736-D428-C891-FCC709BF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파일로 쓰기</a:t>
            </a:r>
          </a:p>
        </p:txBody>
      </p:sp>
    </p:spTree>
    <p:extLst>
      <p:ext uri="{BB962C8B-B14F-4D97-AF65-F5344CB8AC3E}">
        <p14:creationId xmlns:p14="http://schemas.microsoft.com/office/powerpoint/2010/main" val="2221689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E678-958A-817E-91BF-972000C7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0854B6-E31E-678E-E6B8-DF595331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AAD8C-C26B-462B-1289-01B60C274315}"/>
              </a:ext>
            </a:extLst>
          </p:cNvPr>
          <p:cNvSpPr txBox="1"/>
          <p:nvPr/>
        </p:nvSpPr>
        <p:spPr>
          <a:xfrm>
            <a:off x="200677" y="11091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파일로 쓰기</a:t>
            </a:r>
          </a:p>
        </p:txBody>
      </p:sp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BBF1D7-EBE4-7F7F-8BB8-2D51EE9C6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885" y="562717"/>
            <a:ext cx="7344230" cy="60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75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728963D-5671-6419-2F06-BDC6C55C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166A02-E186-A23B-4718-88A3748D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22EE2FF-BD2C-C768-A6B2-45105E68D70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픽셀 접근</a:t>
            </a:r>
          </a:p>
        </p:txBody>
      </p:sp>
    </p:spTree>
    <p:extLst>
      <p:ext uri="{BB962C8B-B14F-4D97-AF65-F5344CB8AC3E}">
        <p14:creationId xmlns:p14="http://schemas.microsoft.com/office/powerpoint/2010/main" val="1234480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C330-60D7-D216-0B00-411E3101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4934533-AE98-E156-DA08-0592E4C70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15951" r="7344" b="16043"/>
          <a:stretch>
            <a:fillRect/>
          </a:stretch>
        </p:blipFill>
        <p:spPr>
          <a:xfrm>
            <a:off x="890587" y="1034249"/>
            <a:ext cx="10410826" cy="398145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65754-93F8-572E-8D47-54627ABE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8F129-94EE-FCB2-CD16-2D46BC24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0B335-308B-DE91-0108-8DC6C1657A5A}"/>
              </a:ext>
            </a:extLst>
          </p:cNvPr>
          <p:cNvSpPr txBox="1"/>
          <p:nvPr/>
        </p:nvSpPr>
        <p:spPr>
          <a:xfrm>
            <a:off x="200677" y="110919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빈 화면 만들기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C58576-3BA0-AABB-99A5-20FD7C1765E4}"/>
              </a:ext>
            </a:extLst>
          </p:cNvPr>
          <p:cNvSpPr txBox="1"/>
          <p:nvPr/>
        </p:nvSpPr>
        <p:spPr>
          <a:xfrm>
            <a:off x="774625" y="5015699"/>
            <a:ext cx="8649569" cy="12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np.zeros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((460, 640, 3),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dtype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=np.uint8)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640,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460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생성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uint8 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OpenCV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이미지를 다룰 때 픽셀 데이터를 </a:t>
            </a:r>
            <a:r>
              <a:rPr lang="en-US" altLang="ko-KR" sz="1600" dirty="0">
                <a:solidFill>
                  <a:srgbClr val="FF0066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unint8</a:t>
            </a:r>
            <a:r>
              <a:rPr lang="ko-KR" altLang="en-US" sz="1600" dirty="0">
                <a:solidFill>
                  <a:srgbClr val="FF0066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기본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함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(0~255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6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97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F1B4-DEC1-6678-1021-15E07939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6AA03-F31E-75AC-7FD1-187968CD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B21AAE-913B-9D88-0BCF-501A5756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B3632-0111-EF64-A5D8-C9678EDC3084}"/>
              </a:ext>
            </a:extLst>
          </p:cNvPr>
          <p:cNvSpPr txBox="1"/>
          <p:nvPr/>
        </p:nvSpPr>
        <p:spPr>
          <a:xfrm>
            <a:off x="200677" y="110919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일부 영역 색칠</a:t>
            </a:r>
          </a:p>
        </p:txBody>
      </p:sp>
      <p:pic>
        <p:nvPicPr>
          <p:cNvPr id="3" name="그림 2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08E2AF53-3746-0A4B-667B-66F648B01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15302" r="7348" b="15370"/>
          <a:stretch>
            <a:fillRect/>
          </a:stretch>
        </p:blipFill>
        <p:spPr>
          <a:xfrm>
            <a:off x="886690" y="1316716"/>
            <a:ext cx="10418619" cy="43133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521706-8DE5-98A9-874B-4B12643BE8D4}"/>
              </a:ext>
            </a:extLst>
          </p:cNvPr>
          <p:cNvSpPr txBox="1"/>
          <p:nvPr/>
        </p:nvSpPr>
        <p:spPr>
          <a:xfrm>
            <a:off x="774624" y="5655069"/>
            <a:ext cx="8649569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슬라이싱으로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 선택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F909CF-E683-4716-94A6-E4B7C1AEB552}"/>
              </a:ext>
            </a:extLst>
          </p:cNvPr>
          <p:cNvSpPr/>
          <p:nvPr/>
        </p:nvSpPr>
        <p:spPr>
          <a:xfrm>
            <a:off x="1703866" y="3448887"/>
            <a:ext cx="5852634" cy="339755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64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0677" y="1034249"/>
            <a:ext cx="11456554" cy="4014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얕은 복사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깊은 복사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얕은 복사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(Shallow Copy)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이미지와 복사본이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메모리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공유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복사본에서 이미지를 수정하면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원본도 함께 바뀜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shallow_copy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image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깊은 복사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(Deep Copy)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이미지를 완전히 복사하여 별도의 메모리에 저장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복사본에서 이미지를 수정해도 원본에는 영향을 주지 않음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deep_copy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image.copy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복사</a:t>
            </a:r>
          </a:p>
        </p:txBody>
      </p:sp>
    </p:spTree>
    <p:extLst>
      <p:ext uri="{BB962C8B-B14F-4D97-AF65-F5344CB8AC3E}">
        <p14:creationId xmlns:p14="http://schemas.microsoft.com/office/powerpoint/2010/main" val="379359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FFA2-3B01-E11D-4D5A-73F7051F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D687D3-94C7-43EC-C1A0-4B96F3BB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67B4AC3-3B7E-ED70-A1F9-D7511D768F6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이미지와 색상</a:t>
            </a:r>
          </a:p>
        </p:txBody>
      </p:sp>
    </p:spTree>
    <p:extLst>
      <p:ext uri="{BB962C8B-B14F-4D97-AF65-F5344CB8AC3E}">
        <p14:creationId xmlns:p14="http://schemas.microsoft.com/office/powerpoint/2010/main" val="2594491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3F39-3B13-8B18-5562-7E7C14A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F075-E1BF-8E5A-E38C-2D2B7EC4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34249"/>
            <a:ext cx="11347373" cy="527364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RGB : </a:t>
            </a:r>
            <a:r>
              <a:rPr lang="ko-KR" altLang="en-US" sz="2400" dirty="0"/>
              <a:t>이미지를 표현하는 방식으로</a:t>
            </a:r>
            <a:r>
              <a:rPr lang="en-US" altLang="ko-KR" sz="2400" dirty="0"/>
              <a:t>, </a:t>
            </a:r>
            <a:r>
              <a:rPr lang="en-US" altLang="ko-KR" sz="2400" b="1" dirty="0"/>
              <a:t>Red(</a:t>
            </a:r>
            <a:r>
              <a:rPr lang="ko-KR" altLang="en-US" sz="2400" b="1" dirty="0"/>
              <a:t>빨강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Green(</a:t>
            </a:r>
            <a:r>
              <a:rPr lang="ko-KR" altLang="en-US" sz="2400" b="1" dirty="0"/>
              <a:t>초록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Blue(</a:t>
            </a:r>
            <a:r>
              <a:rPr lang="ko-KR" altLang="en-US" sz="2400" b="1" dirty="0"/>
              <a:t>파랑</a:t>
            </a:r>
            <a:r>
              <a:rPr lang="en-US" altLang="ko-KR" sz="2400" b="1" dirty="0"/>
              <a:t>)</a:t>
            </a:r>
            <a:r>
              <a:rPr lang="ko-KR" altLang="en-US" sz="2400" dirty="0"/>
              <a:t> 세 가지 기본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색상을 조합하여 다양한 색상을 만듦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각 채널은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255</a:t>
            </a:r>
            <a:r>
              <a:rPr lang="ko-KR" altLang="en-US" dirty="0"/>
              <a:t>까지의 값을 가지며</a:t>
            </a:r>
            <a:r>
              <a:rPr lang="en-US" altLang="ko-KR" dirty="0"/>
              <a:t>, </a:t>
            </a:r>
            <a:r>
              <a:rPr lang="ko-KR" altLang="en-US" dirty="0"/>
              <a:t>값이 클수록 해당 색상의 강도가 높아짐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(255, 0, 0)</a:t>
            </a:r>
            <a:r>
              <a:rPr lang="ko-KR" altLang="en-US" dirty="0"/>
              <a:t>은 순수한 빨강</a:t>
            </a:r>
            <a:r>
              <a:rPr lang="en-US" altLang="ko-KR" dirty="0"/>
              <a:t>, (0, 255, 0)</a:t>
            </a:r>
            <a:r>
              <a:rPr lang="ko-KR" altLang="en-US" dirty="0"/>
              <a:t>은 순수한 초록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RGB </a:t>
            </a:r>
            <a:r>
              <a:rPr lang="ko-KR" altLang="en-US" dirty="0"/>
              <a:t>조합</a:t>
            </a:r>
            <a:r>
              <a:rPr lang="en-US" altLang="ko-KR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(255, 255, 255): </a:t>
            </a:r>
            <a:r>
              <a:rPr lang="ko-KR" altLang="en-US" dirty="0"/>
              <a:t>흰색 </a:t>
            </a:r>
            <a:r>
              <a:rPr lang="en-US" altLang="ko-KR" dirty="0"/>
              <a:t>(</a:t>
            </a:r>
            <a:r>
              <a:rPr lang="ko-KR" altLang="en-US" dirty="0"/>
              <a:t>모든 색상이 최대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(0, 0, 0): </a:t>
            </a:r>
            <a:r>
              <a:rPr lang="ko-KR" altLang="en-US" dirty="0"/>
              <a:t>검정색 </a:t>
            </a:r>
            <a:r>
              <a:rPr lang="en-US" altLang="ko-KR" dirty="0"/>
              <a:t>(</a:t>
            </a:r>
            <a:r>
              <a:rPr lang="ko-KR" altLang="en-US" dirty="0"/>
              <a:t>모든 색상이 </a:t>
            </a:r>
            <a:r>
              <a:rPr lang="en-US" altLang="ko-KR" dirty="0"/>
              <a:t>0)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(255, 255, 0): </a:t>
            </a:r>
            <a:r>
              <a:rPr lang="ko-KR" altLang="en-US" dirty="0"/>
              <a:t>노란색 </a:t>
            </a:r>
            <a:r>
              <a:rPr lang="en-US" altLang="ko-KR" dirty="0"/>
              <a:t>(</a:t>
            </a:r>
            <a:r>
              <a:rPr lang="ko-KR" altLang="en-US" dirty="0"/>
              <a:t>빨강 </a:t>
            </a:r>
            <a:r>
              <a:rPr lang="en-US" altLang="ko-KR" dirty="0"/>
              <a:t>+ </a:t>
            </a:r>
            <a:r>
              <a:rPr lang="ko-KR" altLang="en-US" dirty="0"/>
              <a:t>초록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rgbClr val="FF0066"/>
                </a:solidFill>
                <a:latin typeface="+mn-ea"/>
              </a:rPr>
              <a:t>➡️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OpenCV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는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RGB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가 아닌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BGR 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포맷을 기본으로 사용</a:t>
            </a:r>
            <a:endParaRPr lang="en-US" altLang="ko-KR" dirty="0">
              <a:solidFill>
                <a:srgbClr val="FF0066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065B-B7B8-E3D9-7D62-2436DDE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BFBFEB-1518-CA0C-0F33-4E44F9BE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323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이미지와 색상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RGB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383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3F39-3B13-8B18-5562-7E7C14A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F075-E1BF-8E5A-E38C-2D2B7EC4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347373" cy="54268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cv2.cvtColor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code[,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dstCn</a:t>
            </a:r>
            <a:r>
              <a:rPr lang="en-US" altLang="ko-KR" sz="2400" dirty="0">
                <a:latin typeface="+mn-ea"/>
              </a:rPr>
              <a:t>=0]])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이미지 </a:t>
            </a:r>
            <a:r>
              <a:rPr lang="en-US" altLang="ko-KR" sz="2000" dirty="0"/>
              <a:t>color space </a:t>
            </a:r>
            <a:r>
              <a:rPr lang="ko-KR" altLang="en-US" sz="2000" dirty="0"/>
              <a:t>변경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src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입력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</a:t>
            </a:r>
            <a:r>
              <a:rPr lang="en-US" altLang="ko-KR" sz="2000" dirty="0"/>
              <a:t> : </a:t>
            </a:r>
            <a:r>
              <a:rPr lang="ko-KR" altLang="en-US" sz="2000" dirty="0"/>
              <a:t>출력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code : </a:t>
            </a:r>
            <a:r>
              <a:rPr lang="ko-KR" altLang="en-US" sz="2000" dirty="0"/>
              <a:t>변경할 </a:t>
            </a:r>
            <a:r>
              <a:rPr lang="en-US" altLang="ko-KR" sz="2000" dirty="0"/>
              <a:t>color space code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BGR→Gray</a:t>
            </a:r>
            <a:r>
              <a:rPr lang="en-US" altLang="ko-KR" sz="1600" dirty="0"/>
              <a:t>: cv2.COLOR_BGR2GRAY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/>
              <a:t>BGR→RGB: cv2.COLOR_BGR2RGB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ko-KR" altLang="en-US" sz="1400" dirty="0"/>
              <a:t>🔗 참고 </a:t>
            </a:r>
            <a:r>
              <a:rPr lang="en-US" altLang="ko-KR" sz="1400" dirty="0">
                <a:hlinkClick r:id="rId2"/>
              </a:rPr>
              <a:t>https://docs.opencv.org/4.x/d8/d01/group__imgproc__color__conversions.html#ga4e0972be5de079fed4e3a10e24ef5ef0</a:t>
            </a:r>
            <a:endParaRPr lang="en-US" altLang="ko-KR" sz="1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dstCn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변경할 이미지의 채널 개수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065B-B7B8-E3D9-7D62-2436DDE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BFBFEB-1518-CA0C-0F33-4E44F9BE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색상 변경</a:t>
            </a:r>
          </a:p>
        </p:txBody>
      </p:sp>
    </p:spTree>
    <p:extLst>
      <p:ext uri="{BB962C8B-B14F-4D97-AF65-F5344CB8AC3E}">
        <p14:creationId xmlns:p14="http://schemas.microsoft.com/office/powerpoint/2010/main" val="2552748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F85B4-FB6E-540A-E51E-B138ABB58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0515600" cy="51343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cv2.split</a:t>
            </a:r>
            <a:r>
              <a:rPr lang="en-US" altLang="ko-KR" sz="2400" dirty="0">
                <a:latin typeface="+mn-ea"/>
              </a:rPr>
              <a:t>(m[,mv])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mv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채널 분리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이미지 </a:t>
            </a:r>
            <a:r>
              <a:rPr lang="en-US" altLang="ko-KR" sz="2000" dirty="0">
                <a:latin typeface="+mn-ea"/>
              </a:rPr>
              <a:t>(multi channel array)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mv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출력 어레이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cv2.merge</a:t>
            </a:r>
            <a:r>
              <a:rPr lang="en-US" altLang="ko-KR" sz="2400" dirty="0">
                <a:latin typeface="+mn-ea"/>
              </a:rPr>
              <a:t>(mv[,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채널 병합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mv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병합할 매트릭스</a:t>
            </a:r>
            <a:r>
              <a:rPr lang="en-US" altLang="ko-KR" sz="2000" dirty="0">
                <a:latin typeface="+mn-ea"/>
              </a:rPr>
              <a:t>, size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가 동일해야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입력과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가 같은 출력 </a:t>
            </a:r>
            <a:r>
              <a:rPr lang="en-US" altLang="ko-KR" sz="2000" dirty="0">
                <a:latin typeface="+mn-ea"/>
              </a:rPr>
              <a:t>array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</p:spTree>
    <p:extLst>
      <p:ext uri="{BB962C8B-B14F-4D97-AF65-F5344CB8AC3E}">
        <p14:creationId xmlns:p14="http://schemas.microsoft.com/office/powerpoint/2010/main" val="516326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  <p:pic>
        <p:nvPicPr>
          <p:cNvPr id="10242" name="Picture 2" descr="C:\Users\LMH\Desktop\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" y="864026"/>
            <a:ext cx="11490960" cy="599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885830" y="1121333"/>
            <a:ext cx="1867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cv2.split</a:t>
            </a:r>
            <a:endParaRPr lang="ko-KR" altLang="en-US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016E57-7B36-BD01-FB1F-3DCBFABF82F0}"/>
              </a:ext>
            </a:extLst>
          </p:cNvPr>
          <p:cNvSpPr/>
          <p:nvPr/>
        </p:nvSpPr>
        <p:spPr>
          <a:xfrm>
            <a:off x="1752599" y="3521880"/>
            <a:ext cx="2771776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21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69073" y="1691473"/>
            <a:ext cx="2173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cv2.merge</a:t>
            </a:r>
            <a:endParaRPr lang="ko-KR" altLang="en-US" sz="2400" dirty="0"/>
          </a:p>
        </p:txBody>
      </p:sp>
      <p:pic>
        <p:nvPicPr>
          <p:cNvPr id="11266" name="Picture 2" descr="C:\Users\LMH\Desktop\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6" y="1452244"/>
            <a:ext cx="11186794" cy="444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EFA6795-C033-C7E2-1EA6-8A23DA1E7C4B}"/>
              </a:ext>
            </a:extLst>
          </p:cNvPr>
          <p:cNvSpPr/>
          <p:nvPr/>
        </p:nvSpPr>
        <p:spPr>
          <a:xfrm>
            <a:off x="1777998" y="3217080"/>
            <a:ext cx="3675065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813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231" y="1281095"/>
            <a:ext cx="498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800" b="1" dirty="0"/>
              <a:t>이미지의 흑백을 반전시켜 보자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728663" y="2093090"/>
            <a:ext cx="10734673" cy="3743830"/>
            <a:chOff x="969647" y="2093090"/>
            <a:chExt cx="10239153" cy="336153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647" y="2093090"/>
              <a:ext cx="4942088" cy="3361536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975" y="2093090"/>
              <a:ext cx="4900825" cy="3361536"/>
            </a:xfrm>
            <a:prstGeom prst="rect">
              <a:avLst/>
            </a:prstGeom>
          </p:spPr>
        </p:pic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 흑백 반전</a:t>
            </a:r>
          </a:p>
        </p:txBody>
      </p:sp>
    </p:spTree>
    <p:extLst>
      <p:ext uri="{BB962C8B-B14F-4D97-AF65-F5344CB8AC3E}">
        <p14:creationId xmlns:p14="http://schemas.microsoft.com/office/powerpoint/2010/main" val="2692532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LMH\Desktop\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31" y="1148431"/>
            <a:ext cx="11277600" cy="560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58745" y="1325563"/>
            <a:ext cx="498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✅ 이미지 흑백 반전</a:t>
            </a:r>
            <a:r>
              <a:rPr lang="en-US" altLang="ko-KR" sz="2800" dirty="0"/>
              <a:t>(</a:t>
            </a:r>
            <a:r>
              <a:rPr lang="ko-KR" altLang="en-US" sz="2800" dirty="0"/>
              <a:t>코드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 흑백 반전</a:t>
            </a:r>
          </a:p>
        </p:txBody>
      </p:sp>
    </p:spTree>
    <p:extLst>
      <p:ext uri="{BB962C8B-B14F-4D97-AF65-F5344CB8AC3E}">
        <p14:creationId xmlns:p14="http://schemas.microsoft.com/office/powerpoint/2010/main" val="7620742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E92A-04E1-792F-DF49-CF1F4D0A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조정</a:t>
            </a:r>
          </a:p>
        </p:txBody>
      </p:sp>
    </p:spTree>
    <p:extLst>
      <p:ext uri="{BB962C8B-B14F-4D97-AF65-F5344CB8AC3E}">
        <p14:creationId xmlns:p14="http://schemas.microsoft.com/office/powerpoint/2010/main" val="29722264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05BAC-452A-3EF7-2C51-C990D870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23572" cy="550965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cv2.resize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fx</a:t>
            </a:r>
            <a:r>
              <a:rPr lang="en-US" altLang="ko-KR" sz="2400" dirty="0">
                <a:latin typeface="+mn-ea"/>
              </a:rPr>
              <a:t>=0[, </a:t>
            </a:r>
            <a:r>
              <a:rPr lang="en-US" altLang="ko-KR" sz="2400" dirty="0" err="1">
                <a:latin typeface="+mn-ea"/>
              </a:rPr>
              <a:t>fy</a:t>
            </a:r>
            <a:r>
              <a:rPr lang="en-US" altLang="ko-KR" sz="2400" dirty="0">
                <a:latin typeface="+mn-ea"/>
              </a:rPr>
              <a:t>=0[,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interpolation=INTER_LINEAR]]]])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 조정 함수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출력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출력 이미지 크기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fx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가로축에 대한 </a:t>
            </a:r>
            <a:r>
              <a:rPr lang="en-US" altLang="ko-KR" sz="2000" dirty="0">
                <a:latin typeface="+mn-ea"/>
              </a:rPr>
              <a:t>scale factor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fy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세로축에 대한 </a:t>
            </a:r>
            <a:r>
              <a:rPr lang="en-US" altLang="ko-KR" sz="2000" dirty="0">
                <a:latin typeface="+mn-ea"/>
              </a:rPr>
              <a:t>scale factor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 err="1">
                <a:latin typeface="+mn-ea"/>
              </a:rPr>
              <a:t>dsize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또는 </a:t>
            </a:r>
            <a:r>
              <a:rPr lang="en-US" altLang="ko-KR" sz="1600" dirty="0" err="1">
                <a:latin typeface="+mn-ea"/>
              </a:rPr>
              <a:t>fx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fy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는 모두 </a:t>
            </a:r>
            <a:r>
              <a:rPr lang="en-US" altLang="ko-KR" sz="1600" dirty="0">
                <a:latin typeface="+mn-ea"/>
              </a:rPr>
              <a:t>0</a:t>
            </a:r>
            <a:r>
              <a:rPr lang="ko-KR" altLang="en-US" sz="1600" dirty="0">
                <a:latin typeface="+mn-ea"/>
              </a:rPr>
              <a:t>이 </a:t>
            </a:r>
            <a:r>
              <a:rPr lang="ko-KR" altLang="en-US" sz="1600" dirty="0" err="1">
                <a:latin typeface="+mn-ea"/>
              </a:rPr>
              <a:t>아니어야함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interpolation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보간법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72602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LMH\Desktop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2887"/>
            <a:ext cx="12192000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리사이즈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5785" y="1584696"/>
            <a:ext cx="2683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 고정 크기로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EA322A-F74C-D751-E8D6-8E6252FA3E9B}"/>
              </a:ext>
            </a:extLst>
          </p:cNvPr>
          <p:cNvSpPr/>
          <p:nvPr/>
        </p:nvSpPr>
        <p:spPr>
          <a:xfrm>
            <a:off x="3821430" y="3495635"/>
            <a:ext cx="1124132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24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4662"/>
            <a:ext cx="12192000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7677" y="1584696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 비율로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FA17CA-7C28-56E0-DEAF-321318577652}"/>
              </a:ext>
            </a:extLst>
          </p:cNvPr>
          <p:cNvSpPr/>
          <p:nvPr/>
        </p:nvSpPr>
        <p:spPr>
          <a:xfrm>
            <a:off x="3790950" y="3495635"/>
            <a:ext cx="2731770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272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7A9B-6FBE-971C-3CB8-3FC5E0F8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D694F-7421-B4C9-6350-ADF26EED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1353800" cy="24916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이미지를 조정할 때 생기는 픽셀 사이의 빈 공간을 채우는 방법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이미지에 없는 새로운 픽셀 값을 채우는 기술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이미지의 크기를 조절하거나 변형할 때 최대한 자연스럽게 보이도록 함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18693-5AA5-394C-F7E2-D2FAAABB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D92FAE-A2DE-C02C-B2FD-92FCE4B0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8D9BCC-3C70-D317-C50A-D6F8288835DE}"/>
              </a:ext>
            </a:extLst>
          </p:cNvPr>
          <p:cNvGrpSpPr/>
          <p:nvPr/>
        </p:nvGrpSpPr>
        <p:grpSpPr>
          <a:xfrm>
            <a:off x="1688976" y="3685599"/>
            <a:ext cx="8814048" cy="2307490"/>
            <a:chOff x="1767361" y="3525942"/>
            <a:chExt cx="8814048" cy="2307490"/>
          </a:xfrm>
        </p:grpSpPr>
        <p:grpSp>
          <p:nvGrpSpPr>
            <p:cNvPr id="15" name="그룹 14"/>
            <p:cNvGrpSpPr/>
            <p:nvPr/>
          </p:nvGrpSpPr>
          <p:grpSpPr>
            <a:xfrm>
              <a:off x="1767361" y="3532731"/>
              <a:ext cx="3567683" cy="2300701"/>
              <a:chOff x="1376609" y="2610677"/>
              <a:chExt cx="4029075" cy="2579358"/>
            </a:xfrm>
          </p:grpSpPr>
          <p:pic>
            <p:nvPicPr>
              <p:cNvPr id="7" name="Picture 2" descr="&quot;Nearest Neighbor Interpolation&quot;">
                <a:extLst>
                  <a:ext uri="{FF2B5EF4-FFF2-40B4-BE49-F238E27FC236}">
                    <a16:creationId xmlns:a16="http://schemas.microsoft.com/office/drawing/2014/main" id="{64F87AA8-D75B-E628-ADF1-776186533B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6609" y="3075485"/>
                <a:ext cx="4029075" cy="2114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A2F6CE-C57F-A984-F585-80094288C0DD}"/>
                  </a:ext>
                </a:extLst>
              </p:cNvPr>
              <p:cNvSpPr txBox="1"/>
              <p:nvPr/>
            </p:nvSpPr>
            <p:spPr>
              <a:xfrm>
                <a:off x="2918228" y="2610677"/>
                <a:ext cx="945836" cy="319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nearest</a:t>
                </a:r>
                <a:endParaRPr lang="ko-KR" altLang="en-US" sz="2000" b="1" dirty="0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6725023" y="3525942"/>
              <a:ext cx="3856386" cy="2300701"/>
              <a:chOff x="6827800" y="2610677"/>
              <a:chExt cx="4029075" cy="2579358"/>
            </a:xfrm>
          </p:grpSpPr>
          <p:pic>
            <p:nvPicPr>
              <p:cNvPr id="2" name="Picture 4" descr="&quot;Bilinear Interpolation&quot;">
                <a:extLst>
                  <a:ext uri="{FF2B5EF4-FFF2-40B4-BE49-F238E27FC236}">
                    <a16:creationId xmlns:a16="http://schemas.microsoft.com/office/drawing/2014/main" id="{3BB68C71-E8C6-FD3B-C8B3-28CFA13F58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27800" y="3075485"/>
                <a:ext cx="4029075" cy="2114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A02298-136F-C90F-5CD6-5E0FB674D03F}"/>
                  </a:ext>
                </a:extLst>
              </p:cNvPr>
              <p:cNvSpPr txBox="1"/>
              <p:nvPr/>
            </p:nvSpPr>
            <p:spPr>
              <a:xfrm>
                <a:off x="8432236" y="2610677"/>
                <a:ext cx="820204" cy="319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bilinear</a:t>
                </a:r>
                <a:endParaRPr lang="ko-KR" altLang="en-US" sz="20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5128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DA229-8689-44B6-8125-C53216A0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C8FBC-E804-AF99-E29F-C49AEC597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0515600" cy="33586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종류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i="0" dirty="0">
                <a:solidFill>
                  <a:srgbClr val="282828"/>
                </a:solidFill>
                <a:effectLst/>
              </a:rPr>
              <a:t>INTER_NEAREST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 :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최근방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이웃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endParaRPr lang="en-US" altLang="ko-KR" sz="2000" b="0" i="0" dirty="0">
              <a:solidFill>
                <a:srgbClr val="282828"/>
              </a:solidFill>
              <a:effectLst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INTER_LINEAR :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양선형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(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기본값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 (2x2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  <a:endParaRPr lang="en-US" altLang="ko-KR" sz="2000" dirty="0">
              <a:solidFill>
                <a:srgbClr val="282828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INTER_CUBIC : 3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차회선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(4x4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  <a:endParaRPr lang="en-US" altLang="ko-KR" sz="2000" dirty="0">
              <a:solidFill>
                <a:srgbClr val="282828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INTER_LANCZOS4 :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랑코즈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 (8x8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INTER_AREA  </a:t>
            </a:r>
            <a:r>
              <a:rPr lang="en-US" altLang="ko-KR" sz="2000" dirty="0">
                <a:solidFill>
                  <a:srgbClr val="282828"/>
                </a:solidFill>
              </a:rPr>
              <a:t>:</a:t>
            </a:r>
            <a:r>
              <a:rPr lang="ko-KR" altLang="en-US" sz="2000" dirty="0">
                <a:solidFill>
                  <a:srgbClr val="282828"/>
                </a:solidFill>
              </a:rPr>
              <a:t> 영상 </a:t>
            </a:r>
            <a:r>
              <a:rPr lang="ko-KR" altLang="en-US" sz="2000" dirty="0" err="1">
                <a:solidFill>
                  <a:srgbClr val="282828"/>
                </a:solidFill>
              </a:rPr>
              <a:t>축소시</a:t>
            </a:r>
            <a:r>
              <a:rPr lang="ko-KR" altLang="en-US" sz="2000" dirty="0">
                <a:solidFill>
                  <a:srgbClr val="282828"/>
                </a:solidFill>
              </a:rPr>
              <a:t> 주로 사용</a:t>
            </a:r>
            <a:endParaRPr lang="en-US" altLang="ko-KR" sz="2000" dirty="0">
              <a:solidFill>
                <a:srgbClr val="282828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65C1D-DE70-B056-D707-88A3F784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857B71-74A9-DCEE-8720-0E82C786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2860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937F-AF63-AB48-C4DE-75C38B3B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B79D4-1823-AF13-3523-A7B68D69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6C19C7-CAFC-FE2C-2307-A2FFCACD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6" name="Picture 2" descr="undefined">
            <a:extLst>
              <a:ext uri="{FF2B5EF4-FFF2-40B4-BE49-F238E27FC236}">
                <a16:creationId xmlns:a16="http://schemas.microsoft.com/office/drawing/2014/main" id="{7C4B67D2-0B45-574A-237D-C03420CB5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53" y="1654628"/>
            <a:ext cx="6940294" cy="46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462E0-DDB3-6C3C-77EB-03988C31E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0515600" cy="5768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종류</a:t>
            </a:r>
            <a:endParaRPr lang="en-US" altLang="ko-K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25947-4A70-10CF-03CF-44CC416F379B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9336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5. </a:t>
            </a:r>
            <a:r>
              <a:rPr lang="ko-KR" altLang="en-US" b="1" dirty="0">
                <a:solidFill>
                  <a:schemeClr val="accent2"/>
                </a:solidFill>
              </a:rPr>
              <a:t>영상 </a:t>
            </a:r>
            <a:r>
              <a:rPr lang="ko-KR" altLang="en-US" b="1" dirty="0" err="1">
                <a:solidFill>
                  <a:schemeClr val="accent2"/>
                </a:solidFill>
              </a:rPr>
              <a:t>리사이즈</a:t>
            </a:r>
            <a:r>
              <a:rPr lang="ko-KR" altLang="en-US" b="1" dirty="0">
                <a:solidFill>
                  <a:schemeClr val="accent2"/>
                </a:solidFill>
              </a:rPr>
              <a:t> 해서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92" y="1420155"/>
            <a:ext cx="10181897" cy="27892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600" dirty="0"/>
              <a:t>마음에 드는 영상을 선택하고</a:t>
            </a:r>
            <a:endParaRPr lang="en-US" altLang="ko-KR" sz="3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600" dirty="0"/>
              <a:t>이미지 </a:t>
            </a:r>
            <a:r>
              <a:rPr lang="ko-KR" altLang="en-US" sz="3600" dirty="0" err="1"/>
              <a:t>리사이즈</a:t>
            </a:r>
            <a:r>
              <a:rPr lang="ko-KR" altLang="en-US" sz="3600" dirty="0"/>
              <a:t> 방법을 참고해서</a:t>
            </a:r>
            <a:endParaRPr lang="en-US" altLang="ko-KR" sz="3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600" dirty="0"/>
              <a:t>영상의 크기를 </a:t>
            </a:r>
            <a:r>
              <a:rPr lang="en-US" altLang="ko-KR" sz="3600" dirty="0"/>
              <a:t>1.5</a:t>
            </a:r>
            <a:r>
              <a:rPr lang="ko-KR" altLang="en-US" sz="3600" dirty="0"/>
              <a:t>배로 </a:t>
            </a:r>
            <a:r>
              <a:rPr lang="ko-KR" altLang="en-US" sz="3600" dirty="0" err="1"/>
              <a:t>리사이즈</a:t>
            </a:r>
            <a:r>
              <a:rPr lang="ko-KR" altLang="en-US" sz="3600" dirty="0"/>
              <a:t> 해서 출력하기</a:t>
            </a:r>
            <a:endParaRPr lang="en-US" altLang="ko-KR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3533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694-8C47-5DFE-032E-CDBCB101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3851B-295D-15CB-0336-42CCC7531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50"/>
            <a:ext cx="11461531" cy="4307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cv2.pyrUp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]]]) -&gt;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크기를 키우는 함수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 이미지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결과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이미지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결과 이미지의 크기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borderType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경계 </a:t>
            </a:r>
            <a:r>
              <a:rPr lang="en-US" altLang="ko-KR" sz="2000" dirty="0">
                <a:latin typeface="+mn-ea"/>
              </a:rPr>
              <a:t>type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cv2.pyrDown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]]]) -&gt;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크기를 줄이는 함수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➡️ 기본적으로 </a:t>
            </a:r>
            <a:r>
              <a:rPr lang="en-US" altLang="ko-KR" sz="2400" b="1" dirty="0">
                <a:latin typeface="+mn-ea"/>
              </a:rPr>
              <a:t>2</a:t>
            </a:r>
            <a:r>
              <a:rPr lang="ko-KR" altLang="en-US" sz="2400" b="1" dirty="0">
                <a:latin typeface="+mn-ea"/>
              </a:rPr>
              <a:t>배씩 확대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축소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10549-6E57-AAB8-2A15-39EF4B79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05E3A-13AB-49FF-58CD-B0B82C20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피라미드</a:t>
            </a:r>
          </a:p>
        </p:txBody>
      </p:sp>
    </p:spTree>
    <p:extLst>
      <p:ext uri="{BB962C8B-B14F-4D97-AF65-F5344CB8AC3E}">
        <p14:creationId xmlns:p14="http://schemas.microsoft.com/office/powerpoint/2010/main" val="33927351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694-8C47-5DFE-032E-CDBCB101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10549-6E57-AAB8-2A15-39EF4B79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05E3A-13AB-49FF-58CD-B0B82C20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피라미드</a:t>
            </a:r>
          </a:p>
        </p:txBody>
      </p:sp>
      <p:pic>
        <p:nvPicPr>
          <p:cNvPr id="8194" name="Picture 2" descr="C:\Users\LMH\Desktop\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9505"/>
            <a:ext cx="12192000" cy="514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433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9425-3B4F-7086-DF10-1A1FDF95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EFBFD-198D-A88E-DE1B-F20F4784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134" y="1034249"/>
            <a:ext cx="7805420" cy="23947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282828"/>
                </a:solidFill>
                <a:latin typeface="+mn-ea"/>
              </a:rPr>
              <a:t>💡 </a:t>
            </a:r>
            <a:r>
              <a:rPr lang="en-US" altLang="ko-KR" sz="2400" b="1" dirty="0">
                <a:solidFill>
                  <a:srgbClr val="282828"/>
                </a:solidFill>
                <a:latin typeface="+mn-ea"/>
              </a:rPr>
              <a:t>cropped = </a:t>
            </a:r>
            <a:r>
              <a:rPr lang="en-US" altLang="ko-KR" sz="2400" b="1" dirty="0" err="1">
                <a:solidFill>
                  <a:srgbClr val="282828"/>
                </a:solidFill>
                <a:latin typeface="+mn-ea"/>
              </a:rPr>
              <a:t>src</a:t>
            </a:r>
            <a:r>
              <a:rPr lang="en-US" altLang="ko-KR" sz="2400" b="1" dirty="0">
                <a:solidFill>
                  <a:srgbClr val="282828"/>
                </a:solidFill>
                <a:latin typeface="+mn-ea"/>
              </a:rPr>
              <a:t>[100:200, 200:300]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배열 </a:t>
            </a:r>
            <a:r>
              <a:rPr lang="ko-KR" altLang="en-US" sz="2000" dirty="0" err="1"/>
              <a:t>슬라이싱을</a:t>
            </a:r>
            <a:r>
              <a:rPr lang="ko-KR" altLang="en-US" sz="2000" dirty="0"/>
              <a:t> 이용하여 </a:t>
            </a:r>
            <a:r>
              <a:rPr lang="en-US" altLang="ko-KR" sz="2000" dirty="0"/>
              <a:t>[y1:y2, x1:x2] </a:t>
            </a:r>
            <a:r>
              <a:rPr lang="ko-KR" altLang="en-US" sz="2000" dirty="0"/>
              <a:t>형식으로 특정 영역을 추출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y1:y2 → </a:t>
            </a:r>
            <a:r>
              <a:rPr lang="ko-KR" altLang="en-US" dirty="0"/>
              <a:t>세로 범위 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x1:x2 → </a:t>
            </a:r>
            <a:r>
              <a:rPr lang="ko-KR" altLang="en-US" dirty="0"/>
              <a:t>가로 범위 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)</a:t>
            </a:r>
            <a:endParaRPr lang="en-US" altLang="ko-KR" dirty="0">
              <a:solidFill>
                <a:srgbClr val="282828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9A061-5C01-60CE-5797-E1276763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553A3D-29AB-EE47-362D-0A54D00F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자르기</a:t>
            </a:r>
          </a:p>
        </p:txBody>
      </p:sp>
      <p:pic>
        <p:nvPicPr>
          <p:cNvPr id="3075" name="Picture 3" descr="C:\Users\LMH\Desktop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43" y="2763739"/>
            <a:ext cx="8853714" cy="391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079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C8BB6-CD6F-F072-0C7A-B3DB53C1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6040466" cy="37409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cv2.flip</a:t>
            </a:r>
            <a:r>
              <a:rPr lang="en-US" altLang="ko-KR" sz="2400" dirty="0">
                <a:latin typeface="+mn-ea"/>
              </a:rPr>
              <a:t>(input, </a:t>
            </a:r>
            <a:r>
              <a:rPr lang="en-US" altLang="ko-KR" sz="2400" dirty="0" err="1">
                <a:latin typeface="+mn-ea"/>
              </a:rPr>
              <a:t>flipCode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input : </a:t>
            </a:r>
            <a:r>
              <a:rPr lang="ko-KR" altLang="en-US" sz="2000" dirty="0">
                <a:latin typeface="+mn-ea"/>
              </a:rPr>
              <a:t>원본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원본과 동일한 크기의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flipCode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어떻게 </a:t>
            </a:r>
            <a:r>
              <a:rPr lang="en-US" altLang="ko-KR" sz="2000" dirty="0">
                <a:latin typeface="+mn-ea"/>
              </a:rPr>
              <a:t>flip </a:t>
            </a:r>
            <a:r>
              <a:rPr lang="ko-KR" altLang="en-US" sz="2000" dirty="0">
                <a:latin typeface="+mn-ea"/>
              </a:rPr>
              <a:t>시킬지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&gt; 0 : y</a:t>
            </a:r>
            <a:r>
              <a:rPr lang="ko-KR" altLang="en-US" sz="1800" dirty="0">
                <a:latin typeface="+mn-ea"/>
              </a:rPr>
              <a:t>축 반전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좌우 반전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== 0 : x</a:t>
            </a:r>
            <a:r>
              <a:rPr lang="ko-KR" altLang="en-US" sz="1800" dirty="0">
                <a:latin typeface="+mn-ea"/>
              </a:rPr>
              <a:t>축 반전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상하 반전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&lt; 0 : </a:t>
            </a:r>
            <a:r>
              <a:rPr lang="en-US" altLang="ko-KR" sz="1800" dirty="0" err="1">
                <a:latin typeface="+mn-ea"/>
              </a:rPr>
              <a:t>x,y</a:t>
            </a:r>
            <a:r>
              <a:rPr lang="ko-KR" altLang="en-US" sz="1800" dirty="0">
                <a:latin typeface="+mn-ea"/>
              </a:rPr>
              <a:t>축 반전 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상하좌우 반전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28DA3-D714-8439-C728-DDC5B118366F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대칭</a:t>
            </a:r>
          </a:p>
        </p:txBody>
      </p:sp>
    </p:spTree>
    <p:extLst>
      <p:ext uri="{BB962C8B-B14F-4D97-AF65-F5344CB8AC3E}">
        <p14:creationId xmlns:p14="http://schemas.microsoft.com/office/powerpoint/2010/main" val="11284977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LMH\Desktop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946772"/>
            <a:ext cx="11826240" cy="493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대칭</a:t>
            </a:r>
          </a:p>
        </p:txBody>
      </p:sp>
    </p:spTree>
    <p:extLst>
      <p:ext uri="{BB962C8B-B14F-4D97-AF65-F5344CB8AC3E}">
        <p14:creationId xmlns:p14="http://schemas.microsoft.com/office/powerpoint/2010/main" val="2679955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6. </a:t>
            </a:r>
            <a:r>
              <a:rPr lang="ko-KR" altLang="en-US" b="1" dirty="0">
                <a:solidFill>
                  <a:schemeClr val="accent2"/>
                </a:solidFill>
              </a:rPr>
              <a:t>이미지 조정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92" y="1295501"/>
            <a:ext cx="6187440" cy="244220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원본 이미지를 가로 세로 </a:t>
            </a:r>
            <a:r>
              <a:rPr lang="en-US" altLang="ko-KR" dirty="0"/>
              <a:t>½</a:t>
            </a:r>
            <a:r>
              <a:rPr lang="ko-KR" altLang="en-US" dirty="0"/>
              <a:t>로 축소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1</a:t>
            </a:r>
            <a:r>
              <a:rPr lang="ko-KR" altLang="en-US" dirty="0"/>
              <a:t>번의 이미지를 좌우 반전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번의 이미지를 원본과 동일한 크기의 복사 이미지의 </a:t>
            </a:r>
            <a:r>
              <a:rPr lang="ko-KR" altLang="en-US" dirty="0" err="1"/>
              <a:t>우하단에</a:t>
            </a:r>
            <a:r>
              <a:rPr lang="ko-KR" altLang="en-US" dirty="0"/>
              <a:t> 배치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0EED45-8B5B-6CC6-75CD-147D5A60B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548" y="1295501"/>
            <a:ext cx="3628252" cy="474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82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6703</TotalTime>
  <Words>1941</Words>
  <Application>Microsoft Office PowerPoint</Application>
  <PresentationFormat>와이드스크린</PresentationFormat>
  <Paragraphs>384</Paragraphs>
  <Slides>63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2" baseType="lpstr">
      <vt:lpstr>Pretendard Medium</vt:lpstr>
      <vt:lpstr>Arial</vt:lpstr>
      <vt:lpstr>메이플스토리</vt:lpstr>
      <vt:lpstr>Pretendard Black</vt:lpstr>
      <vt:lpstr>Pretendard Light</vt:lpstr>
      <vt:lpstr>맑은 고딕</vt:lpstr>
      <vt:lpstr>Wingdings</vt:lpstr>
      <vt:lpstr>G마켓 산스 TTF Bold</vt:lpstr>
      <vt:lpstr>1_Office 테마</vt:lpstr>
      <vt:lpstr>x</vt:lpstr>
      <vt:lpstr>OpenCV 기초</vt:lpstr>
      <vt:lpstr>OpenCV 소개 및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실습1. 원하는 이미지 띄우기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실습2. 영상 프레임 조절</vt:lpstr>
      <vt:lpstr>PowerPoint 프레젠테이션</vt:lpstr>
      <vt:lpstr>PowerPoint 프레젠테이션</vt:lpstr>
      <vt:lpstr>실습3. 카메라 컨트롤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실습4. 이미지 흑백 반전</vt:lpstr>
      <vt:lpstr>실습4. 이미지 흑백 반전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실습5. 영상 리사이즈 해서 출력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실습6. 이미지 조정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1021</cp:revision>
  <dcterms:created xsi:type="dcterms:W3CDTF">2022-06-26T11:10:22Z</dcterms:created>
  <dcterms:modified xsi:type="dcterms:W3CDTF">2025-09-08T09:02:39Z</dcterms:modified>
</cp:coreProperties>
</file>