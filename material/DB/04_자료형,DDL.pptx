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990" r:id="rId2"/>
    <p:sldId id="257" r:id="rId3"/>
    <p:sldId id="963" r:id="rId4"/>
    <p:sldId id="421" r:id="rId5"/>
    <p:sldId id="964" r:id="rId6"/>
    <p:sldId id="965" r:id="rId7"/>
    <p:sldId id="976" r:id="rId8"/>
    <p:sldId id="977" r:id="rId9"/>
    <p:sldId id="980" r:id="rId10"/>
    <p:sldId id="979" r:id="rId11"/>
    <p:sldId id="978" r:id="rId12"/>
    <p:sldId id="966" r:id="rId13"/>
    <p:sldId id="968" r:id="rId14"/>
    <p:sldId id="410" r:id="rId15"/>
    <p:sldId id="969" r:id="rId16"/>
    <p:sldId id="412" r:id="rId17"/>
    <p:sldId id="967" r:id="rId18"/>
    <p:sldId id="944" r:id="rId19"/>
    <p:sldId id="970" r:id="rId20"/>
    <p:sldId id="981" r:id="rId21"/>
    <p:sldId id="988" r:id="rId22"/>
    <p:sldId id="971" r:id="rId23"/>
    <p:sldId id="973" r:id="rId24"/>
    <p:sldId id="422" r:id="rId25"/>
    <p:sldId id="975" r:id="rId26"/>
    <p:sldId id="574" r:id="rId27"/>
    <p:sldId id="983" r:id="rId28"/>
    <p:sldId id="984" r:id="rId29"/>
    <p:sldId id="985" r:id="rId30"/>
    <p:sldId id="986" r:id="rId31"/>
    <p:sldId id="987" r:id="rId32"/>
    <p:sldId id="591" r:id="rId33"/>
    <p:sldId id="982" r:id="rId34"/>
    <p:sldId id="592" r:id="rId35"/>
    <p:sldId id="989" r:id="rId36"/>
    <p:sldId id="81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ED7D31"/>
    <a:srgbClr val="FF5050"/>
    <a:srgbClr val="66FF99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27" autoAdjust="0"/>
    <p:restoredTop sz="80248" autoAdjust="0"/>
  </p:normalViewPr>
  <p:slideViewPr>
    <p:cSldViewPr snapToGrid="0">
      <p:cViewPr varScale="1">
        <p:scale>
          <a:sx n="41" d="100"/>
          <a:sy n="41" d="100"/>
        </p:scale>
        <p:origin x="1022" y="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242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BD2F-573F-A968-24A7-0515F684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0379D0-E2FC-992B-499E-39FFAB1ED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C70362-D5F5-5BBA-2C71-D5DAB90AF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77F35-4EAA-A428-3ED6-A8CF50E54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75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61FF-0B8A-DDD7-9725-7E8521D6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B99FFD-FED1-1E0E-EF30-207E03809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CD6F6B-207E-B4E5-96F3-7FEA18921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69AD6-5D73-1250-64B1-0A1AAD9C8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001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8CC9-BE68-9A51-A78F-740544D7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6313E2-1D40-530F-D239-3EC58FCFC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B43770-89BD-C4B6-D2ED-BD6D9237B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BC092-CAA9-2531-50EE-448BBB96C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07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9218-AF4D-1304-B410-1B5E7984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A1450-A961-58FD-DC9D-79E34B6AC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BF89F-55A4-1AC5-7DBB-BD0294882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B7BF3-6694-A8B4-F7EA-4E7C4BA6E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119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C9218-AF4D-1304-B410-1B5E7984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A1450-A961-58FD-DC9D-79E34B6AC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BF89F-55A4-1AC5-7DBB-BD0294882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B7BF3-6694-A8B4-F7EA-4E7C4BA6E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119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BB85-BAD5-E4E1-E9BC-5470711B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75D014-026C-ABF8-BFB2-3EAAB35EE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0FC921-FAE9-039D-7CA1-B34E03A13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E1300-ADF0-B8B6-00B4-AD71F3218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614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B403-F496-BA5A-9F18-BE9F3E74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2BE52-ECC2-79DD-435A-AC165C99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5F77DC-B06B-70D5-7BB6-D5D677080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3446A3-6B3D-0EA4-5F3B-C1011B0FB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87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093F-2AA0-0E31-A61F-28599B38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C9012-398D-6556-F64C-4CF1DC37B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16C8FB-007E-48BB-01C5-81903DC6A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66C3E-949B-BA1B-51D7-4AC35B943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90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22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15D6-3F89-59A0-8720-E27C7FA3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7BBDD5-2EA7-1424-8267-8394019E4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8481C2-CE7D-CAE9-51A8-FE6ADCF18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43B52-9096-2158-A5BA-A2A9D3B92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50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97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F883-9D13-2812-9336-5E3BB63A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76A447-648D-8D18-EECD-E359B22B1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7A2D0A-F82E-B6BB-12EC-52BD2E00C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90863-21EF-9CDB-79D2-17E65470A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70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8D68-9613-69D1-1125-51952D66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B0A2DC-BC51-1AF3-39A4-CAF611482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FD8D24-15C5-096B-EC47-24C2693E0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DFBEE-DD60-11B1-C10A-80CD8C5EA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857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553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553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47B7-433A-7EB6-766B-21CB0F37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18A011-1DD3-F540-38C6-DEBDE9BC6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C0831-42B1-9C61-1BB0-F7FA9698C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BF7E34-77DD-0E1D-1D51-99BAF216C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901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898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766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080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3E0C-D55B-F3C6-E94E-E57211D5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1EBA8-C1FF-6DEB-4338-0E24ACE7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244496-897E-97B7-486C-26864942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E8D12-1EA2-0521-4AE4-A94DAD473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2893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DDL_example.sql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DROP DATABASE IF EXISTS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my_shop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;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CREATE DATABASE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my_shop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DEFAULT CHARACTER SET utf8mb4 COLLATE utf8mb4_unicode_ci;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USE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my_shop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;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</a:br>
            <a:endParaRPr lang="en-US" altLang="ko-KR" sz="1200" b="0" kern="1200" dirty="0">
              <a:solidFill>
                <a:schemeClr val="tx1"/>
              </a:solidFill>
              <a:effectLst/>
              <a:latin typeface="Kim jung chul Gothic Regular" panose="020B0503000000000000" pitchFamily="50" charset="-127"/>
              <a:ea typeface="Kim jung chul Gothic Regular" panose="020B0503000000000000" pitchFamily="50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-- customer table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생성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CREATE TABLE customer (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cust_id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CHAR(10) NOT NULL PRIMARY KEY,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cust_name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VARCHAR(10) NOT NULL,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address CHAR(10) NOT NULL,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phone CHAR(11),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birth DATE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26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-- orders table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생성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CREATE TABLE orders (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order_id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INT NOT NULL PRIMARY KEY AUTO_INCREMENT,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cust_id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CHAR(10) NOT NULL,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prod_name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CHAR(6) NOT NULL,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price INT NOT NULL,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amount SMALLINT NOT NULL,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FOREIGN KEY (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cust_id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 REFERENCES customer(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cust_id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ON DELETE CASCADE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    ON UPDATE CASCADE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);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26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4380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30071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3461004C-8186-96F2-8923-668AA8F20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74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600251" y="2600493"/>
            <a:ext cx="29915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DDL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F17B-DBDF-8A51-7B0E-832EA6D7B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99E1E-21D5-CFB0-6287-0285F14D8F8B}"/>
              </a:ext>
            </a:extLst>
          </p:cNvPr>
          <p:cNvSpPr txBox="1"/>
          <p:nvPr/>
        </p:nvSpPr>
        <p:spPr>
          <a:xfrm>
            <a:off x="4892801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59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D5E41-FBDA-C510-8B02-B8304F8E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- </a:t>
            </a:r>
            <a:r>
              <a:rPr lang="ko-KR" altLang="en-US" dirty="0"/>
              <a:t>숫자형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2D5FDC-C57D-54C9-BB6F-A48ADDA293B8}"/>
              </a:ext>
            </a:extLst>
          </p:cNvPr>
          <p:cNvSpPr txBox="1">
            <a:spLocks/>
          </p:cNvSpPr>
          <p:nvPr/>
        </p:nvSpPr>
        <p:spPr>
          <a:xfrm>
            <a:off x="251788" y="999067"/>
            <a:ext cx="11701221" cy="8781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정수형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37B839-528A-4D1B-2EA0-43E7188F2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71727"/>
              </p:ext>
            </p:extLst>
          </p:nvPr>
        </p:nvGraphicFramePr>
        <p:xfrm>
          <a:off x="398991" y="1756832"/>
          <a:ext cx="11394018" cy="3539070"/>
        </p:xfrm>
        <a:graphic>
          <a:graphicData uri="http://schemas.openxmlformats.org/drawingml/2006/table">
            <a:tbl>
              <a:tblPr/>
              <a:tblGrid>
                <a:gridCol w="2644457">
                  <a:extLst>
                    <a:ext uri="{9D8B030D-6E8A-4147-A177-3AD203B41FA5}">
                      <a16:colId xmlns:a16="http://schemas.microsoft.com/office/drawing/2014/main" val="1548445836"/>
                    </a:ext>
                  </a:extLst>
                </a:gridCol>
                <a:gridCol w="1991505">
                  <a:extLst>
                    <a:ext uri="{9D8B030D-6E8A-4147-A177-3AD203B41FA5}">
                      <a16:colId xmlns:a16="http://schemas.microsoft.com/office/drawing/2014/main" val="3630644642"/>
                    </a:ext>
                  </a:extLst>
                </a:gridCol>
                <a:gridCol w="3656533">
                  <a:extLst>
                    <a:ext uri="{9D8B030D-6E8A-4147-A177-3AD203B41FA5}">
                      <a16:colId xmlns:a16="http://schemas.microsoft.com/office/drawing/2014/main" val="229478209"/>
                    </a:ext>
                  </a:extLst>
                </a:gridCol>
                <a:gridCol w="3101523">
                  <a:extLst>
                    <a:ext uri="{9D8B030D-6E8A-4147-A177-3AD203B41FA5}">
                      <a16:colId xmlns:a16="http://schemas.microsoft.com/office/drawing/2014/main" val="2617371712"/>
                    </a:ext>
                  </a:extLst>
                </a:gridCol>
              </a:tblGrid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크기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Byte)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표현 범위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SIGNED)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442187"/>
                  </a:ext>
                </a:extLst>
              </a:tr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TINYINT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-128 ~ 127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작은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0788"/>
                  </a:ext>
                </a:extLst>
              </a:tr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SMALLINT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-32,768 ~ 32,767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비교적 작은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915979"/>
                  </a:ext>
                </a:extLst>
              </a:tr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MEDIUMINT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-8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백만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중간 크기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60614"/>
                  </a:ext>
                </a:extLst>
              </a:tr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 / INTEGER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-21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억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 21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억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일반적인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888511"/>
                  </a:ext>
                </a:extLst>
              </a:tr>
              <a:tr h="5898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BIGINT</a:t>
                      </a:r>
                    </a:p>
                  </a:txBody>
                  <a:tcPr marL="72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매우 큰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64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비트 정수</a:t>
                      </a:r>
                    </a:p>
                  </a:txBody>
                  <a:tcPr marL="828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212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3B91D4-4AE8-783E-111D-579ED66EE28B}"/>
              </a:ext>
            </a:extLst>
          </p:cNvPr>
          <p:cNvSpPr txBox="1"/>
          <p:nvPr/>
        </p:nvSpPr>
        <p:spPr>
          <a:xfrm>
            <a:off x="338872" y="5363947"/>
            <a:ext cx="10405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저장할 데이터의 유형에 따라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카카오톡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같은 거대한 서비스에서 나이를 저장하는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컬럼을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만든다면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39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6180-4845-2AEF-57E9-D41828E9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213F9-8A31-348B-BEB6-12790B78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- </a:t>
            </a:r>
            <a:r>
              <a:rPr lang="ko-KR" altLang="en-US" dirty="0"/>
              <a:t>숫자형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596BEC-C6EE-D2BA-FEC2-A76D2BBD0029}"/>
              </a:ext>
            </a:extLst>
          </p:cNvPr>
          <p:cNvSpPr txBox="1">
            <a:spLocks/>
          </p:cNvSpPr>
          <p:nvPr/>
        </p:nvSpPr>
        <p:spPr>
          <a:xfrm>
            <a:off x="251788" y="999067"/>
            <a:ext cx="11701221" cy="8781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실수형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5B12EA2-DDA8-96CD-FA45-1602478ED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397348"/>
              </p:ext>
            </p:extLst>
          </p:nvPr>
        </p:nvGraphicFramePr>
        <p:xfrm>
          <a:off x="406399" y="1877193"/>
          <a:ext cx="11319933" cy="2762540"/>
        </p:xfrm>
        <a:graphic>
          <a:graphicData uri="http://schemas.openxmlformats.org/drawingml/2006/table">
            <a:tbl>
              <a:tblPr/>
              <a:tblGrid>
                <a:gridCol w="2940242">
                  <a:extLst>
                    <a:ext uri="{9D8B030D-6E8A-4147-A177-3AD203B41FA5}">
                      <a16:colId xmlns:a16="http://schemas.microsoft.com/office/drawing/2014/main" val="3495978713"/>
                    </a:ext>
                  </a:extLst>
                </a:gridCol>
                <a:gridCol w="8379691">
                  <a:extLst>
                    <a:ext uri="{9D8B030D-6E8A-4147-A177-3AD203B41FA5}">
                      <a16:colId xmlns:a16="http://schemas.microsoft.com/office/drawing/2014/main" val="2736885595"/>
                    </a:ext>
                  </a:extLst>
                </a:gridCol>
              </a:tblGrid>
              <a:tr h="6906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980606"/>
                  </a:ext>
                </a:extLst>
              </a:tr>
              <a:tr h="690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단정도 실수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정밀도 낮음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395984"/>
                  </a:ext>
                </a:extLst>
              </a:tr>
              <a:tr h="690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DOUBLE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배정도 실수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정밀도 높음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81949"/>
                  </a:ext>
                </a:extLst>
              </a:tr>
              <a:tr h="6906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DECIMAL(p, 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고정 소수점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정밀 계산에 적합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금융 관련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07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91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913A-97CD-B769-F56C-FB241EC0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FA80F-B479-2401-6A35-CA8B2C50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- </a:t>
            </a:r>
            <a:r>
              <a:rPr lang="ko-KR" altLang="en-US" dirty="0"/>
              <a:t>문자형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A4D08C-C986-A7DF-4DFE-9C7580E7F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01620"/>
              </p:ext>
            </p:extLst>
          </p:nvPr>
        </p:nvGraphicFramePr>
        <p:xfrm>
          <a:off x="393700" y="1753394"/>
          <a:ext cx="11366499" cy="3936204"/>
        </p:xfrm>
        <a:graphic>
          <a:graphicData uri="http://schemas.openxmlformats.org/drawingml/2006/table">
            <a:tbl>
              <a:tblPr/>
              <a:tblGrid>
                <a:gridCol w="2747531">
                  <a:extLst>
                    <a:ext uri="{9D8B030D-6E8A-4147-A177-3AD203B41FA5}">
                      <a16:colId xmlns:a16="http://schemas.microsoft.com/office/drawing/2014/main" val="1513814683"/>
                    </a:ext>
                  </a:extLst>
                </a:gridCol>
                <a:gridCol w="3989566">
                  <a:extLst>
                    <a:ext uri="{9D8B030D-6E8A-4147-A177-3AD203B41FA5}">
                      <a16:colId xmlns:a16="http://schemas.microsoft.com/office/drawing/2014/main" val="3377894226"/>
                    </a:ext>
                  </a:extLst>
                </a:gridCol>
                <a:gridCol w="4629402">
                  <a:extLst>
                    <a:ext uri="{9D8B030D-6E8A-4147-A177-3AD203B41FA5}">
                      <a16:colId xmlns:a16="http://schemas.microsoft.com/office/drawing/2014/main" val="852181745"/>
                    </a:ext>
                  </a:extLst>
                </a:gridCol>
              </a:tblGrid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10636"/>
                  </a:ext>
                </a:extLst>
              </a:tr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CHAR(n)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고정 길이 문자열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바이트 항상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06175"/>
                  </a:ext>
                </a:extLst>
              </a:tr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VARCHAR(n)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 길이 문자열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길이에 따라 저장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016083"/>
                  </a:ext>
                </a:extLst>
              </a:tr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최대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65,535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 저장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긴 텍스트 저장용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555433"/>
                  </a:ext>
                </a:extLst>
              </a:tr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ENUM('A','B')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지정된 값 중 하나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선택지 저장에 적합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03184"/>
                  </a:ext>
                </a:extLst>
              </a:tr>
              <a:tr h="6560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SET('A','B','C')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개 선택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복수 선택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0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16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8697-9A82-D20F-C501-56C7D130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F033-8F14-3F9C-FB71-BF76ED7A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CHAR vs VARCHAR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9B121-6283-BC97-AB0E-CE35A997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43" y="1144203"/>
            <a:ext cx="6742907" cy="441839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dirty="0"/>
              <a:t>✅ </a:t>
            </a:r>
            <a:r>
              <a:rPr lang="en-US" altLang="ko-KR" dirty="0"/>
              <a:t>CHAR</a:t>
            </a:r>
            <a:r>
              <a:rPr lang="ko-KR" altLang="en-US" dirty="0"/>
              <a:t>의 특징</a:t>
            </a:r>
            <a:endParaRPr lang="en-US" altLang="ko-KR" dirty="0"/>
          </a:p>
          <a:p>
            <a:pPr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장점</a:t>
            </a:r>
            <a:r>
              <a:rPr lang="en-US" altLang="ko-KR" sz="2400" dirty="0"/>
              <a:t>:</a:t>
            </a:r>
          </a:p>
          <a:p>
            <a:pPr lvl="1"/>
            <a:r>
              <a:rPr lang="ko-KR" altLang="en-US" dirty="0"/>
              <a:t>고정 길이이므로 정렬</a:t>
            </a:r>
            <a:r>
              <a:rPr lang="en-US" altLang="ko-KR" dirty="0"/>
              <a:t>, </a:t>
            </a:r>
            <a:r>
              <a:rPr lang="ko-KR" altLang="en-US" dirty="0"/>
              <a:t>인덱싱 속도가 빠름</a:t>
            </a:r>
          </a:p>
          <a:p>
            <a:pPr lvl="1"/>
            <a:r>
              <a:rPr lang="ko-KR" altLang="en-US" dirty="0"/>
              <a:t>데이터 길이가 일정할 경우 성능이 안정적</a:t>
            </a:r>
          </a:p>
          <a:p>
            <a:pPr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단점</a:t>
            </a:r>
            <a:r>
              <a:rPr lang="en-US" altLang="ko-KR" sz="2400" dirty="0"/>
              <a:t>:</a:t>
            </a:r>
          </a:p>
          <a:p>
            <a:pPr lvl="1"/>
            <a:r>
              <a:rPr lang="ko-KR" altLang="en-US" dirty="0"/>
              <a:t>길이가 짧은 데이터를 저장해도 공간 낭비</a:t>
            </a:r>
          </a:p>
          <a:p>
            <a:pPr lvl="1"/>
            <a:r>
              <a:rPr lang="ko-KR" altLang="en-US" dirty="0"/>
              <a:t>저장 시 자동으로 공백 </a:t>
            </a:r>
            <a:r>
              <a:rPr lang="ko-KR" altLang="en-US" dirty="0" err="1"/>
              <a:t>패딩됨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→ 의도하지 않은 동작 발생 가능</a:t>
            </a:r>
          </a:p>
        </p:txBody>
      </p:sp>
    </p:spTree>
    <p:extLst>
      <p:ext uri="{BB962C8B-B14F-4D97-AF65-F5344CB8AC3E}">
        <p14:creationId xmlns:p14="http://schemas.microsoft.com/office/powerpoint/2010/main" val="286037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885D-91F8-FCE8-2259-537C6DCAC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2B271-FAC0-0ED7-B54B-1CDEE579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CHAR vs VARCHAR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4A4BFC-F6D7-C8B9-12C7-B9723BBB6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>
              <a:buNone/>
            </a:pPr>
            <a:r>
              <a:rPr lang="ko-KR" altLang="en-US" dirty="0"/>
              <a:t>✅ </a:t>
            </a:r>
            <a:r>
              <a:rPr lang="en-US" altLang="ko-KR" dirty="0"/>
              <a:t>VARCHAR</a:t>
            </a:r>
            <a:r>
              <a:rPr lang="ko-KR" altLang="en-US" dirty="0"/>
              <a:t>의 특징</a:t>
            </a:r>
            <a:endParaRPr lang="en-US" altLang="ko-KR" dirty="0"/>
          </a:p>
          <a:p>
            <a:pPr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장점</a:t>
            </a:r>
            <a:r>
              <a:rPr lang="en-US" altLang="ko-KR" sz="2400" dirty="0"/>
              <a:t>:</a:t>
            </a:r>
          </a:p>
          <a:p>
            <a:pPr lvl="1"/>
            <a:r>
              <a:rPr lang="ko-KR" altLang="en-US" dirty="0"/>
              <a:t>가변 길이 문자열로</a:t>
            </a:r>
            <a:r>
              <a:rPr lang="en-US" altLang="ko-KR" dirty="0"/>
              <a:t>, </a:t>
            </a:r>
            <a:r>
              <a:rPr lang="ko-KR" altLang="en-US" dirty="0"/>
              <a:t>저장 공간을 효율적으로 사용</a:t>
            </a:r>
          </a:p>
          <a:p>
            <a:pPr lvl="1"/>
            <a:r>
              <a:rPr lang="ko-KR" altLang="en-US" dirty="0"/>
              <a:t>다양한 길이의 데이터를 저장하기 적합 </a:t>
            </a:r>
          </a:p>
          <a:p>
            <a:pPr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단점</a:t>
            </a:r>
            <a:r>
              <a:rPr lang="en-US" altLang="ko-KR" sz="2400" dirty="0"/>
              <a:t>:</a:t>
            </a:r>
          </a:p>
          <a:p>
            <a:pPr lvl="1"/>
            <a:r>
              <a:rPr lang="ko-KR" altLang="en-US" dirty="0"/>
              <a:t>가변 길이로 인해 정렬</a:t>
            </a:r>
            <a:r>
              <a:rPr lang="en-US" altLang="ko-KR" dirty="0"/>
              <a:t>, </a:t>
            </a:r>
            <a:r>
              <a:rPr lang="ko-KR" altLang="en-US" dirty="0"/>
              <a:t>검색 시 성능이 떨어질 수 있음</a:t>
            </a:r>
          </a:p>
          <a:p>
            <a:pPr lvl="1"/>
            <a:r>
              <a:rPr lang="ko-KR" altLang="en-US" dirty="0"/>
              <a:t>길이에 따라 저장 구조가 달라지므로 내부 처리 복잡도 증가</a:t>
            </a:r>
          </a:p>
        </p:txBody>
      </p:sp>
    </p:spTree>
    <p:extLst>
      <p:ext uri="{BB962C8B-B14F-4D97-AF65-F5344CB8AC3E}">
        <p14:creationId xmlns:p14="http://schemas.microsoft.com/office/powerpoint/2010/main" val="202585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885D-91F8-FCE8-2259-537C6DCAC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2B271-FAC0-0ED7-B54B-1CDEE579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CHAR vs VARCHAR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918029"/>
              </p:ext>
            </p:extLst>
          </p:nvPr>
        </p:nvGraphicFramePr>
        <p:xfrm>
          <a:off x="3441614" y="2843009"/>
          <a:ext cx="7264490" cy="2053929"/>
        </p:xfrm>
        <a:graphic>
          <a:graphicData uri="http://schemas.openxmlformats.org/drawingml/2006/table">
            <a:tbl>
              <a:tblPr/>
              <a:tblGrid>
                <a:gridCol w="726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4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846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</a:t>
                      </a: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</a:t>
                      </a: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643">
                <a:tc>
                  <a:txBody>
                    <a:bodyPr/>
                    <a:lstStyle/>
                    <a:p>
                      <a:pPr algn="ctr" fontAlgn="ctr"/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224" marR="8224" marT="82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6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</a:t>
                      </a: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8224" marR="8224" marT="8224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오른쪽 중괄호 5"/>
          <p:cNvSpPr/>
          <p:nvPr/>
        </p:nvSpPr>
        <p:spPr>
          <a:xfrm rot="16200000">
            <a:off x="8485939" y="859069"/>
            <a:ext cx="247651" cy="356402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075002" y="1889065"/>
            <a:ext cx="1069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+mj-ea"/>
                <a:ea typeface="+mj-ea"/>
              </a:rPr>
              <a:t>공간낭비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5203" y="2962215"/>
            <a:ext cx="1447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00B050"/>
                </a:solidFill>
                <a:latin typeface="+mj-ea"/>
                <a:ea typeface="+mj-ea"/>
              </a:rPr>
              <a:t>CHAR(10)</a:t>
            </a:r>
            <a:endParaRPr lang="ko-KR" altLang="en-US" sz="2000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5203" y="4342401"/>
            <a:ext cx="2066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B050"/>
                </a:solidFill>
                <a:latin typeface="+mj-ea"/>
                <a:ea typeface="+mj-ea"/>
              </a:rPr>
              <a:t>VARCHAR(10)</a:t>
            </a:r>
            <a:endParaRPr lang="ko-KR" altLang="en-US" sz="2000" dirty="0">
              <a:solidFill>
                <a:srgbClr val="00B0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4978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1051-24AF-6C0C-E86B-39E6D880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4916C-1FCC-50AB-C41E-C749CDCD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CHAR vs VARCHAR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1B9B83-8839-A885-55E4-0A48D1522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09657"/>
              </p:ext>
            </p:extLst>
          </p:nvPr>
        </p:nvGraphicFramePr>
        <p:xfrm>
          <a:off x="383721" y="1755206"/>
          <a:ext cx="11424557" cy="4137592"/>
        </p:xfrm>
        <a:graphic>
          <a:graphicData uri="http://schemas.openxmlformats.org/drawingml/2006/table">
            <a:tbl>
              <a:tblPr/>
              <a:tblGrid>
                <a:gridCol w="1772558">
                  <a:extLst>
                    <a:ext uri="{9D8B030D-6E8A-4147-A177-3AD203B41FA5}">
                      <a16:colId xmlns:a16="http://schemas.microsoft.com/office/drawing/2014/main" val="133405271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795008974"/>
                    </a:ext>
                  </a:extLst>
                </a:gridCol>
                <a:gridCol w="5384799">
                  <a:extLst>
                    <a:ext uri="{9D8B030D-6E8A-4147-A177-3AD203B41FA5}">
                      <a16:colId xmlns:a16="http://schemas.microsoft.com/office/drawing/2014/main" val="52795022"/>
                    </a:ext>
                  </a:extLst>
                </a:gridCol>
              </a:tblGrid>
              <a:tr h="5171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VARCHAR(n)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742615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 설명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고정 길이 문자열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 길이 문자열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354114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 방식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항상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바이트 고정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입력된 길이에 따라 저장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236199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공백 처리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입력값이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짧으면 공백으로 채움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패딩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입력값 그대로 저장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193379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속도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빠름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길이가 고정되어 있어서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상대적으로 느림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길이가 가변적이어서 처리 복잡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514202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공간 효율성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공간 낭비 가능성 있음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 공간을 효율적으로 사용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63520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최대 길이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255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일반적으로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16,383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자까지 가능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30997"/>
                  </a:ext>
                </a:extLst>
              </a:tr>
              <a:tr h="5171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정렬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검색 성능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일정한 길이로 정렬 시 유리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길이가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제각각이라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약간 불리할 수 있음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1831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044E3A-5261-57A3-5F1F-4FA540F8792F}"/>
              </a:ext>
            </a:extLst>
          </p:cNvPr>
          <p:cNvSpPr txBox="1"/>
          <p:nvPr/>
        </p:nvSpPr>
        <p:spPr>
          <a:xfrm>
            <a:off x="251788" y="1145407"/>
            <a:ext cx="6117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CHAR vs VARCHAR </a:t>
            </a:r>
            <a:r>
              <a:rPr lang="ko-KR" altLang="en-US" sz="2400" dirty="0"/>
              <a:t>비교 정리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3870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A056-26DE-8A7F-7383-3A29B335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1F952-52E8-7F5E-E563-8F37D9CC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CHAR vs VARCHAR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6BBE3-7DBD-F4CE-EF91-DDBF488E5CC3}"/>
              </a:ext>
            </a:extLst>
          </p:cNvPr>
          <p:cNvSpPr txBox="1"/>
          <p:nvPr/>
        </p:nvSpPr>
        <p:spPr>
          <a:xfrm>
            <a:off x="251788" y="1145407"/>
            <a:ext cx="6117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CHAR vs VARCHAR </a:t>
            </a:r>
            <a:r>
              <a:rPr lang="ko-KR" altLang="en-US" sz="2400" dirty="0"/>
              <a:t>비교 정리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2030033-3FFC-C24E-CFC1-996C935EF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5384"/>
              </p:ext>
            </p:extLst>
          </p:nvPr>
        </p:nvGraphicFramePr>
        <p:xfrm>
          <a:off x="398236" y="1766937"/>
          <a:ext cx="11343821" cy="3522211"/>
        </p:xfrm>
        <a:graphic>
          <a:graphicData uri="http://schemas.openxmlformats.org/drawingml/2006/table">
            <a:tbl>
              <a:tblPr/>
              <a:tblGrid>
                <a:gridCol w="5712278">
                  <a:extLst>
                    <a:ext uri="{9D8B030D-6E8A-4147-A177-3AD203B41FA5}">
                      <a16:colId xmlns:a16="http://schemas.microsoft.com/office/drawing/2014/main" val="4133783643"/>
                    </a:ext>
                  </a:extLst>
                </a:gridCol>
                <a:gridCol w="2075543">
                  <a:extLst>
                    <a:ext uri="{9D8B030D-6E8A-4147-A177-3AD203B41FA5}">
                      <a16:colId xmlns:a16="http://schemas.microsoft.com/office/drawing/2014/main" val="81570526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07313416"/>
                    </a:ext>
                  </a:extLst>
                </a:gridCol>
              </a:tblGrid>
              <a:tr h="569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추천 자료형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541658"/>
                  </a:ext>
                </a:extLst>
              </a:tr>
              <a:tr h="7380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주민등록번호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우편번호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전화번호 등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길이가 항상 일정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경우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CHAR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고정 길이 → 속도 안정성 ↑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656700"/>
                  </a:ext>
                </a:extLst>
              </a:tr>
              <a:tr h="7380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이름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이메일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주소 등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길이가 유동적인 문자열</a:t>
                      </a:r>
                      <a:endParaRPr lang="ko-KR" altLang="en-US" sz="16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VARCHAR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 길이 → 저장 공간 절약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455658"/>
                  </a:ext>
                </a:extLst>
              </a:tr>
              <a:tr h="7380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로그 데이터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댓글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자유 입력 텍스트 등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VARCHAR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내용이 길고 유동적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857866"/>
                  </a:ext>
                </a:extLst>
              </a:tr>
              <a:tr h="7380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문자열에 대한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빈번한 정렬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검색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필요한 경우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CHAR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고려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일정한 길이 → 인덱스 성능 향상</a:t>
                      </a:r>
                    </a:p>
                  </a:txBody>
                  <a:tcPr marL="21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83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8BB2-16AB-4D25-D087-0B5ADB18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BED05-1257-ECA6-C083-22EFA5A1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</a:t>
            </a:r>
            <a:r>
              <a:rPr lang="en-US" altLang="ko-KR" dirty="0"/>
              <a:t>– </a:t>
            </a:r>
            <a:r>
              <a:rPr lang="ko-KR" altLang="en-US" dirty="0"/>
              <a:t>날짜 및 시간형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99F6D3-018A-2743-194E-0D09601A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75202"/>
              </p:ext>
            </p:extLst>
          </p:nvPr>
        </p:nvGraphicFramePr>
        <p:xfrm>
          <a:off x="429683" y="1418562"/>
          <a:ext cx="11332634" cy="4020876"/>
        </p:xfrm>
        <a:graphic>
          <a:graphicData uri="http://schemas.openxmlformats.org/drawingml/2006/table">
            <a:tbl>
              <a:tblPr/>
              <a:tblGrid>
                <a:gridCol w="2812479">
                  <a:extLst>
                    <a:ext uri="{9D8B030D-6E8A-4147-A177-3AD203B41FA5}">
                      <a16:colId xmlns:a16="http://schemas.microsoft.com/office/drawing/2014/main" val="1461756432"/>
                    </a:ext>
                  </a:extLst>
                </a:gridCol>
                <a:gridCol w="8520155">
                  <a:extLst>
                    <a:ext uri="{9D8B030D-6E8A-4147-A177-3AD203B41FA5}">
                      <a16:colId xmlns:a16="http://schemas.microsoft.com/office/drawing/2014/main" val="3490068171"/>
                    </a:ext>
                  </a:extLst>
                </a:gridCol>
              </a:tblGrid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979951"/>
                  </a:ext>
                </a:extLst>
              </a:tr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YYYY-MM-DD)</a:t>
                      </a:r>
                    </a:p>
                  </a:txBody>
                  <a:tcPr marL="72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448793"/>
                  </a:ext>
                </a:extLst>
              </a:tr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HH:MM:SS)</a:t>
                      </a:r>
                    </a:p>
                  </a:txBody>
                  <a:tcPr marL="72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67536"/>
                  </a:ext>
                </a:extLst>
              </a:tr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날짜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(YYYY-MM-DD HH:MM:SS)</a:t>
                      </a:r>
                    </a:p>
                  </a:txBody>
                  <a:tcPr marL="72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62632"/>
                  </a:ext>
                </a:extLst>
              </a:tr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TIMESTAMP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UNIX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시간 기반 타임스탬프</a:t>
                      </a:r>
                    </a:p>
                  </a:txBody>
                  <a:tcPr marL="72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358828"/>
                  </a:ext>
                </a:extLst>
              </a:tr>
              <a:tr h="670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연도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YYYY)</a:t>
                      </a:r>
                    </a:p>
                  </a:txBody>
                  <a:tcPr marL="720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4383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3B91D4-4AE8-783E-111D-579ED66EE28B}"/>
              </a:ext>
            </a:extLst>
          </p:cNvPr>
          <p:cNvSpPr txBox="1"/>
          <p:nvPr/>
        </p:nvSpPr>
        <p:spPr>
          <a:xfrm>
            <a:off x="338873" y="5556080"/>
            <a:ext cx="86272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저장할 데이터의 유형에 따라 자료형을 선택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시간만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날짜와 시간 모두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8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E29D4-AEE6-2E0C-6E41-9327627A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03F97E-E5A5-9146-B299-426DF677D295}"/>
              </a:ext>
            </a:extLst>
          </p:cNvPr>
          <p:cNvSpPr txBox="1"/>
          <p:nvPr/>
        </p:nvSpPr>
        <p:spPr>
          <a:xfrm>
            <a:off x="5085160" y="2600493"/>
            <a:ext cx="20217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93389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BB773-54B9-7B9F-A27C-21233F1D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SQL(Structured Query Language)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C65B9-1DD6-C390-DDEE-F46657AF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관계형 데이터베이스에서 데이터를 정의</a:t>
            </a:r>
            <a:r>
              <a:rPr lang="en-US" altLang="ko-KR" dirty="0"/>
              <a:t>, </a:t>
            </a:r>
            <a:r>
              <a:rPr lang="ko-KR" altLang="en-US" dirty="0"/>
              <a:t>조작</a:t>
            </a:r>
            <a:r>
              <a:rPr lang="en-US" altLang="ko-KR" dirty="0"/>
              <a:t>, </a:t>
            </a:r>
            <a:r>
              <a:rPr lang="ko-KR" altLang="en-US" dirty="0"/>
              <a:t>제어하기 위한 표준 언어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SQL</a:t>
            </a:r>
            <a:r>
              <a:rPr lang="ko-KR" altLang="en-US" dirty="0"/>
              <a:t>은 </a:t>
            </a:r>
            <a:r>
              <a:rPr lang="ko-KR" altLang="en-US" b="1" dirty="0" err="1">
                <a:solidFill>
                  <a:srgbClr val="00B050"/>
                </a:solidFill>
              </a:rPr>
              <a:t>비절차적</a:t>
            </a:r>
            <a:r>
              <a:rPr lang="ko-KR" altLang="en-US" dirty="0" err="1"/>
              <a:t>인</a:t>
            </a:r>
            <a:r>
              <a:rPr lang="ko-KR" altLang="en-US" dirty="0"/>
              <a:t> 언어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비절차적 </a:t>
            </a:r>
            <a:r>
              <a:rPr lang="en-US" altLang="ko-KR" sz="2000" dirty="0"/>
              <a:t>: </a:t>
            </a:r>
            <a:r>
              <a:rPr lang="ko-KR" altLang="en-US" sz="2000" dirty="0"/>
              <a:t>무엇을 할지</a:t>
            </a:r>
            <a:r>
              <a:rPr lang="en-US" altLang="ko-KR" sz="2000" dirty="0"/>
              <a:t>(What)</a:t>
            </a:r>
            <a:r>
              <a:rPr lang="ko-KR" altLang="en-US" sz="2000" dirty="0"/>
              <a:t>를 기술하고</a:t>
            </a:r>
            <a:r>
              <a:rPr lang="en-US" altLang="ko-KR" sz="2000" dirty="0"/>
              <a:t>, </a:t>
            </a:r>
            <a:r>
              <a:rPr lang="ko-KR" altLang="en-US" sz="2000" dirty="0"/>
              <a:t>어떻게 처리할지는 시스템</a:t>
            </a:r>
            <a:r>
              <a:rPr lang="en-US" altLang="ko-KR" sz="2000" dirty="0"/>
              <a:t>(DMBS)</a:t>
            </a:r>
            <a:r>
              <a:rPr lang="ko-KR" altLang="en-US" sz="2000" dirty="0"/>
              <a:t>이 알아서 수행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67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E685-50BC-F885-5536-6D0D1B0B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66C8C-3857-C890-0AC8-46BF1A18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SQL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구성요소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903974-7646-E78B-36A6-444102F7F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511167"/>
            <a:ext cx="7034536" cy="436024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SQL</a:t>
            </a:r>
            <a:r>
              <a:rPr lang="ko-KR" altLang="en-US" dirty="0"/>
              <a:t>의 주요 구성 요소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0" dirty="0"/>
              <a:t>데이터 </a:t>
            </a:r>
            <a:r>
              <a:rPr lang="ko-KR" altLang="en-US" b="0" dirty="0" err="1"/>
              <a:t>정의어</a:t>
            </a:r>
            <a:r>
              <a:rPr lang="ko-KR" altLang="en-US" b="0" dirty="0"/>
              <a:t> </a:t>
            </a:r>
            <a:r>
              <a:rPr lang="en-US" altLang="ko-KR" dirty="0"/>
              <a:t>(DDL) : </a:t>
            </a:r>
            <a:r>
              <a:rPr lang="ko-KR" altLang="en-US" dirty="0"/>
              <a:t>데이터베이스의 구조</a:t>
            </a:r>
            <a:r>
              <a:rPr lang="en-US" altLang="ko-KR" dirty="0"/>
              <a:t>(</a:t>
            </a:r>
            <a:r>
              <a:rPr lang="ko-KR" altLang="en-US" dirty="0"/>
              <a:t>스키마</a:t>
            </a:r>
            <a:r>
              <a:rPr lang="en-US" altLang="ko-KR" dirty="0"/>
              <a:t>)</a:t>
            </a:r>
            <a:r>
              <a:rPr lang="ko-KR" altLang="en-US" dirty="0"/>
              <a:t>를 정의하는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ko-KR" altLang="en-US" dirty="0"/>
              <a:t> </a:t>
            </a:r>
            <a:r>
              <a:rPr lang="en-US" altLang="ko-KR" dirty="0"/>
              <a:t>(DML) : </a:t>
            </a:r>
            <a:r>
              <a:rPr lang="ko-KR" altLang="en-US" dirty="0"/>
              <a:t>테이블의 데이터를 조작하는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ko-KR" altLang="en-US" dirty="0"/>
              <a:t> </a:t>
            </a:r>
            <a:r>
              <a:rPr lang="en-US" altLang="ko-KR" dirty="0"/>
              <a:t>(DCL) : </a:t>
            </a:r>
            <a:r>
              <a:rPr lang="ko-KR" altLang="en-US" dirty="0"/>
              <a:t>데이터베이스의 접근 권한을 관리하는 명령어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926" y="2421527"/>
            <a:ext cx="4523286" cy="253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06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구성요소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16" y="1938838"/>
            <a:ext cx="11440168" cy="29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21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DA5F-CC35-933A-6F00-E566CED3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3B20F-4E71-2B06-887A-518E1A885085}"/>
              </a:ext>
            </a:extLst>
          </p:cNvPr>
          <p:cNvSpPr txBox="1"/>
          <p:nvPr/>
        </p:nvSpPr>
        <p:spPr>
          <a:xfrm>
            <a:off x="2259065" y="2600493"/>
            <a:ext cx="767389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정의어</a:t>
            </a:r>
            <a:b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sz="3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(DDL, Data Definition Language)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512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F3DB-62D3-FE19-43D9-7D465921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ED71C-6997-06A7-E9FF-6BAE333D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DDL</a:t>
            </a:r>
            <a:endParaRPr lang="ko-KR" altLang="en-US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3279F0D-E4D6-D2B4-72D2-2931A2CABF43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DDL (Data Definition Language): </a:t>
            </a:r>
            <a:r>
              <a:rPr lang="ko-KR" altLang="en-US" dirty="0"/>
              <a:t>데이터베이스의 구조를 정의하는 언어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주요 명령어</a:t>
            </a:r>
            <a:r>
              <a:rPr lang="en-US" altLang="ko-KR" dirty="0"/>
              <a:t>: CREATE, ALTER, DROP, RENAME, TRUNCATE</a:t>
            </a:r>
          </a:p>
        </p:txBody>
      </p:sp>
    </p:spTree>
    <p:extLst>
      <p:ext uri="{BB962C8B-B14F-4D97-AF65-F5344CB8AC3E}">
        <p14:creationId xmlns:p14="http://schemas.microsoft.com/office/powerpoint/2010/main" val="300748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ECCC-A50D-0788-ED16-7A6D0F7D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56220-5F8C-FA84-65B5-D9194C7C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CREATE </a:t>
            </a:r>
            <a:r>
              <a:rPr lang="ko-KR" altLang="en-US" dirty="0"/>
              <a:t>문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AAF229B-5D9C-BB90-0E4C-A50DA969BFB4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2093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b="1" dirty="0"/>
              <a:t>💡 데이터베이스와 테이블을 생성하는 명령어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테이블 이름</a:t>
            </a:r>
            <a:r>
              <a:rPr lang="en-US" altLang="ko-KR" dirty="0"/>
              <a:t>, </a:t>
            </a:r>
            <a:r>
              <a:rPr lang="ko-KR" altLang="en-US" dirty="0"/>
              <a:t>열 이름</a:t>
            </a:r>
            <a:r>
              <a:rPr lang="en-US" altLang="ko-KR" dirty="0"/>
              <a:t>, </a:t>
            </a:r>
            <a:r>
              <a:rPr lang="ko-KR" altLang="en-US" dirty="0"/>
              <a:t>데이터 형식 등을 지정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기본키</a:t>
            </a:r>
            <a:r>
              <a:rPr lang="en-US" altLang="ko-KR" dirty="0"/>
              <a:t>, </a:t>
            </a:r>
            <a:r>
              <a:rPr lang="ko-KR" altLang="en-US" dirty="0" err="1"/>
              <a:t>외래키</a:t>
            </a:r>
            <a:r>
              <a:rPr lang="ko-KR" altLang="en-US" dirty="0"/>
              <a:t> 정의</a:t>
            </a:r>
          </a:p>
        </p:txBody>
      </p:sp>
    </p:spTree>
    <p:extLst>
      <p:ext uri="{BB962C8B-B14F-4D97-AF65-F5344CB8AC3E}">
        <p14:creationId xmlns:p14="http://schemas.microsoft.com/office/powerpoint/2010/main" val="2858343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5864" y="1117726"/>
            <a:ext cx="11701221" cy="247980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데이터베이스 생성 </a:t>
            </a:r>
            <a:r>
              <a:rPr lang="en-US" altLang="ko-KR" dirty="0"/>
              <a:t>+ </a:t>
            </a:r>
            <a:r>
              <a:rPr lang="ko-KR" altLang="en-US" dirty="0"/>
              <a:t>한글 인코딩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2D2C12-C5B6-53B1-1C9A-3BD9DE56A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86" y="1967478"/>
            <a:ext cx="11221431" cy="800261"/>
          </a:xfrm>
          <a:prstGeom prst="rect">
            <a:avLst/>
          </a:prstGeom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847748"/>
              </p:ext>
            </p:extLst>
          </p:nvPr>
        </p:nvGraphicFramePr>
        <p:xfrm>
          <a:off x="533400" y="4152898"/>
          <a:ext cx="11149517" cy="1933576"/>
        </p:xfrm>
        <a:graphic>
          <a:graphicData uri="http://schemas.openxmlformats.org/drawingml/2006/table">
            <a:tbl>
              <a:tblPr/>
              <a:tblGrid>
                <a:gridCol w="1657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2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문자셋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latin1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영어만 저장 가능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(1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바이트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utf8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대부분의 언어 저장 가능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최대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바이트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utf8mb4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이모지까지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저장 가능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최대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바이트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 ✔️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추천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!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내용 개체 틀 2"/>
          <p:cNvSpPr txBox="1">
            <a:spLocks/>
          </p:cNvSpPr>
          <p:nvPr/>
        </p:nvSpPr>
        <p:spPr>
          <a:xfrm>
            <a:off x="245389" y="3106800"/>
            <a:ext cx="11701221" cy="1120649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  <a:cs typeface="Pretendard Light" pitchFamily="2" charset="-127"/>
              </a:rPr>
              <a:t>✔️ </a:t>
            </a:r>
            <a:r>
              <a:rPr lang="en-US" altLang="ko-KR" sz="2400" dirty="0">
                <a:latin typeface="+mn-ea"/>
                <a:ea typeface="+mn-ea"/>
                <a:cs typeface="Pretendard Light" pitchFamily="2" charset="-127"/>
              </a:rPr>
              <a:t>CHARSET (</a:t>
            </a:r>
            <a:r>
              <a:rPr lang="ko-KR" altLang="en-US" sz="2400" dirty="0" err="1">
                <a:latin typeface="+mn-ea"/>
                <a:ea typeface="+mn-ea"/>
                <a:cs typeface="Pretendard Light" pitchFamily="2" charset="-127"/>
              </a:rPr>
              <a:t>문자셋</a:t>
            </a:r>
            <a:r>
              <a:rPr lang="en-US" altLang="ko-KR" sz="2400" dirty="0">
                <a:latin typeface="+mn-ea"/>
                <a:ea typeface="+mn-ea"/>
                <a:cs typeface="Pretendard Light" pitchFamily="2" charset="-127"/>
              </a:rPr>
              <a:t>)</a:t>
            </a:r>
          </a:p>
          <a:p>
            <a:pPr lvl="1"/>
            <a:r>
              <a:rPr lang="ko-KR" altLang="en-US" sz="2000" b="1" dirty="0"/>
              <a:t>어떤 문자를 어떻게 저장할 것인가를 정의하는 규칙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219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1589" y="1146301"/>
            <a:ext cx="11701221" cy="1006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</a:t>
            </a:r>
            <a:r>
              <a:rPr lang="ko-KR" altLang="en-US" sz="2400" dirty="0"/>
              <a:t> </a:t>
            </a:r>
            <a:r>
              <a:rPr lang="en-US" altLang="ko-KR" sz="2400" dirty="0"/>
              <a:t>COLLATE (</a:t>
            </a:r>
            <a:r>
              <a:rPr lang="ko-KR" altLang="en-US" sz="2400" dirty="0"/>
              <a:t>정렬 규칙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문자를 어떻게 비교하고 정렬할지 정하는 규칙</a:t>
            </a:r>
            <a:endParaRPr lang="en-US" altLang="ko-KR" sz="2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47515"/>
              </p:ext>
            </p:extLst>
          </p:nvPr>
        </p:nvGraphicFramePr>
        <p:xfrm>
          <a:off x="433387" y="2359184"/>
          <a:ext cx="11325225" cy="3127216"/>
        </p:xfrm>
        <a:graphic>
          <a:graphicData uri="http://schemas.openxmlformats.org/drawingml/2006/table">
            <a:tbl>
              <a:tblPr/>
              <a:tblGrid>
                <a:gridCol w="2337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1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Collation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대소문자 구분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utf8mb4_general_ci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❌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구분 안 함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Case Insensitive)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빠르고 단순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utf8mb4_unicode_ci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❌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구분 안 함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유니코드 규칙에 따라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더 정확하게 정렬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utf8mb4_bin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✅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구분함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Binary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비교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대소문자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공백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특수문자까지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엄격 비교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349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51CF-67BA-1118-F36F-AED6E691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6382F-B8A9-0AEE-7E1B-133CCAEC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D831D-6D8D-09EE-D39D-18C55A823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35" y="1145408"/>
            <a:ext cx="11701221" cy="596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테이블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4EEB2A-E977-47AD-E3CF-F843915A22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077"/>
          <a:stretch/>
        </p:blipFill>
        <p:spPr>
          <a:xfrm>
            <a:off x="1590440" y="1956829"/>
            <a:ext cx="8981610" cy="24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34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ALTER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693019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💡</a:t>
            </a:r>
            <a:r>
              <a:rPr lang="ko-KR" altLang="en-US" dirty="0"/>
              <a:t>생성된 테이블의 속성과 속성에 대한 제약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ko-KR" altLang="en-US" dirty="0" err="1"/>
              <a:t>기본키</a:t>
            </a:r>
            <a:r>
              <a:rPr lang="en-US" altLang="ko-KR" dirty="0"/>
              <a:t>,</a:t>
            </a:r>
            <a:r>
              <a:rPr lang="ko-KR" altLang="en-US" dirty="0"/>
              <a:t> 외래키를 변경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CA94C2-AE83-D80F-893E-AC192315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2" y="2983832"/>
            <a:ext cx="11284696" cy="146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5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DROP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1240911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💡</a:t>
            </a:r>
            <a:r>
              <a:rPr lang="ko-KR" altLang="en-US" dirty="0"/>
              <a:t>생성된 테이블 삭제</a:t>
            </a:r>
            <a:endParaRPr lang="en-US" altLang="ko-KR" dirty="0"/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주의</a:t>
            </a:r>
            <a:r>
              <a:rPr lang="en-US" altLang="ko-KR" dirty="0"/>
              <a:t>) </a:t>
            </a:r>
            <a:r>
              <a:rPr lang="ko-KR" altLang="en-US" b="1" dirty="0">
                <a:solidFill>
                  <a:srgbClr val="FF5050"/>
                </a:solidFill>
              </a:rPr>
              <a:t>테이블 구조와 데이터 모두 삭제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49464195-E7D9-600F-5912-E2B01433B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600822"/>
              </p:ext>
            </p:extLst>
          </p:nvPr>
        </p:nvGraphicFramePr>
        <p:xfrm>
          <a:off x="1368377" y="4082664"/>
          <a:ext cx="3770085" cy="146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6695">
                  <a:extLst>
                    <a:ext uri="{9D8B030D-6E8A-4147-A177-3AD203B41FA5}">
                      <a16:colId xmlns:a16="http://schemas.microsoft.com/office/drawing/2014/main" val="1328174968"/>
                    </a:ext>
                  </a:extLst>
                </a:gridCol>
                <a:gridCol w="1256695">
                  <a:extLst>
                    <a:ext uri="{9D8B030D-6E8A-4147-A177-3AD203B41FA5}">
                      <a16:colId xmlns:a16="http://schemas.microsoft.com/office/drawing/2014/main" val="493165482"/>
                    </a:ext>
                  </a:extLst>
                </a:gridCol>
                <a:gridCol w="1256695">
                  <a:extLst>
                    <a:ext uri="{9D8B030D-6E8A-4147-A177-3AD203B41FA5}">
                      <a16:colId xmlns:a16="http://schemas.microsoft.com/office/drawing/2014/main" val="1092824114"/>
                    </a:ext>
                  </a:extLst>
                </a:gridCol>
              </a:tblGrid>
              <a:tr h="350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462496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이진영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8235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김찬희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424544"/>
                  </a:ext>
                </a:extLst>
              </a:tr>
              <a:tr h="3507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유지은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838825"/>
                  </a:ext>
                </a:extLst>
              </a:tr>
            </a:tbl>
          </a:graphicData>
        </a:graphic>
      </p:graphicFrame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3157572-5158-33B2-0993-659C791BEA58}"/>
              </a:ext>
            </a:extLst>
          </p:cNvPr>
          <p:cNvSpPr/>
          <p:nvPr/>
        </p:nvSpPr>
        <p:spPr>
          <a:xfrm>
            <a:off x="5408753" y="4481432"/>
            <a:ext cx="1319025" cy="66550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DROP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F48B68-A3ED-EEB3-5EE5-3EEDD22D904B}"/>
              </a:ext>
            </a:extLst>
          </p:cNvPr>
          <p:cNvSpPr/>
          <p:nvPr/>
        </p:nvSpPr>
        <p:spPr>
          <a:xfrm>
            <a:off x="7074306" y="4082664"/>
            <a:ext cx="3770085" cy="14630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삭제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77" y="2873975"/>
            <a:ext cx="4081990" cy="91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6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8C0C63-4006-15B0-281F-059E458F0C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70"/>
          <a:stretch/>
        </p:blipFill>
        <p:spPr>
          <a:xfrm>
            <a:off x="2137580" y="3333629"/>
            <a:ext cx="7916840" cy="16860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TRUNCATE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17325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💡</a:t>
            </a:r>
            <a:r>
              <a:rPr lang="ko-KR" altLang="en-US" dirty="0"/>
              <a:t>데이터만 삭제</a:t>
            </a:r>
            <a:r>
              <a:rPr lang="en-US" altLang="ko-KR" dirty="0"/>
              <a:t>, </a:t>
            </a:r>
            <a:r>
              <a:rPr lang="ko-KR" altLang="en-US" dirty="0"/>
              <a:t>구조는 유지</a:t>
            </a:r>
            <a:endParaRPr lang="en-US" altLang="ko-KR" dirty="0"/>
          </a:p>
          <a:p>
            <a:pPr lvl="1"/>
            <a:r>
              <a:rPr lang="en-US" altLang="ko-KR" dirty="0"/>
              <a:t>DELETE</a:t>
            </a:r>
            <a:r>
              <a:rPr lang="ko-KR" altLang="en-US" dirty="0"/>
              <a:t>와 다르게 로그를 남기지 않으며</a:t>
            </a:r>
            <a:r>
              <a:rPr lang="en-US" altLang="ko-KR" dirty="0"/>
              <a:t>, </a:t>
            </a:r>
            <a:r>
              <a:rPr lang="ko-KR" altLang="en-US" dirty="0"/>
              <a:t>빠름</a:t>
            </a:r>
          </a:p>
          <a:p>
            <a:pPr lvl="1"/>
            <a:r>
              <a:rPr lang="en-US" altLang="ko-KR" dirty="0"/>
              <a:t>TRUNCATE</a:t>
            </a:r>
            <a:r>
              <a:rPr lang="ko-KR" altLang="en-US" dirty="0"/>
              <a:t>는 복구가 불가능하므로 주의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9149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1509B-A956-42E7-F5E1-5A9F3FD5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DROP</a:t>
            </a:r>
            <a:r>
              <a:rPr lang="en-US" altLang="ko-KR" dirty="0"/>
              <a:t> vs. </a:t>
            </a:r>
            <a:r>
              <a:rPr lang="en-US" altLang="ko-KR" b="1" dirty="0"/>
              <a:t>TRUNCATE</a:t>
            </a:r>
            <a:endParaRPr lang="ko-KR" altLang="en-US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C682665-79D3-A0E3-BE1D-B421994CD0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"/>
          <a:stretch/>
        </p:blipFill>
        <p:spPr>
          <a:xfrm>
            <a:off x="1170078" y="3764040"/>
            <a:ext cx="9851843" cy="2157504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807861C-60E0-A0FF-4C7A-5CE3B68A6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943" y="2781156"/>
            <a:ext cx="4738128" cy="9162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800" dirty="0"/>
              <a:t>테이블 </a:t>
            </a:r>
            <a:r>
              <a:rPr lang="ko-KR" altLang="en-US" sz="1800" b="1" dirty="0">
                <a:highlight>
                  <a:srgbClr val="FFC000"/>
                </a:highlight>
              </a:rPr>
              <a:t>삭제</a:t>
            </a:r>
            <a:r>
              <a:rPr lang="ko-KR" altLang="en-US" sz="1800" dirty="0"/>
              <a:t>하기</a:t>
            </a: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1800" dirty="0"/>
              <a:t>테이블을 잘못 만들었거나 더 이상 필요 없는 경우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A602420F-591B-48FB-E591-6D43D4130FBF}"/>
              </a:ext>
            </a:extLst>
          </p:cNvPr>
          <p:cNvSpPr txBox="1">
            <a:spLocks/>
          </p:cNvSpPr>
          <p:nvPr/>
        </p:nvSpPr>
        <p:spPr>
          <a:xfrm>
            <a:off x="6663893" y="2782964"/>
            <a:ext cx="3402371" cy="916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테이블 </a:t>
            </a:r>
            <a:r>
              <a:rPr lang="ko-KR" altLang="en-US" sz="1800" b="1" dirty="0">
                <a:highlight>
                  <a:srgbClr val="FFC000"/>
                </a:highlight>
              </a:rPr>
              <a:t>초기화</a:t>
            </a:r>
            <a:r>
              <a:rPr lang="ko-KR" altLang="en-US" sz="1800" dirty="0"/>
              <a:t>하기 </a:t>
            </a:r>
            <a:endParaRPr lang="en-US" altLang="ko-KR" sz="1800" dirty="0"/>
          </a:p>
          <a:p>
            <a:r>
              <a:rPr lang="ko-KR" altLang="en-US" sz="1800" dirty="0"/>
              <a:t>테이블의 모든 행</a:t>
            </a:r>
            <a:r>
              <a:rPr lang="en-US" altLang="ko-KR" sz="1800" dirty="0"/>
              <a:t>(row) </a:t>
            </a:r>
            <a:r>
              <a:rPr lang="ko-KR" altLang="en-US" sz="1800" dirty="0"/>
              <a:t>일괄</a:t>
            </a:r>
            <a:r>
              <a:rPr lang="en-US" altLang="ko-KR" sz="1800" dirty="0"/>
              <a:t> </a:t>
            </a:r>
            <a:r>
              <a:rPr lang="ko-KR" altLang="en-US" sz="1800" dirty="0"/>
              <a:t>삭제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43" y="1659028"/>
            <a:ext cx="4081990" cy="9180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5"/>
          <a:srcRect b="11770"/>
          <a:stretch/>
        </p:blipFill>
        <p:spPr>
          <a:xfrm>
            <a:off x="6663893" y="1660836"/>
            <a:ext cx="4302164" cy="916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B7AD36-E206-41F4-C29A-C14FCF3B12D9}"/>
              </a:ext>
            </a:extLst>
          </p:cNvPr>
          <p:cNvSpPr txBox="1"/>
          <p:nvPr/>
        </p:nvSpPr>
        <p:spPr>
          <a:xfrm>
            <a:off x="7847463" y="5790739"/>
            <a:ext cx="31744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</a:rPr>
              <a:t>이미지 출처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: https://lee-mandu.tistory.com/476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361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FOREIGN KEY </a:t>
            </a:r>
            <a:r>
              <a:rPr lang="ko-KR" altLang="en-US" dirty="0"/>
              <a:t>만들기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740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💡</a:t>
            </a:r>
            <a:r>
              <a:rPr lang="en-US" altLang="ko-KR" dirty="0"/>
              <a:t>CREATE TABLE </a:t>
            </a:r>
            <a:r>
              <a:rPr lang="ko-KR" altLang="en-US" dirty="0"/>
              <a:t>시 외래 키 설정</a:t>
            </a:r>
            <a:endParaRPr lang="en-US" altLang="ko-K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755" y="1885950"/>
            <a:ext cx="8206488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992755" y="4896535"/>
            <a:ext cx="8132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부모 테이블의 참조 대상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컬럼이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Primary Key </a:t>
            </a: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또는 </a:t>
            </a:r>
            <a:r>
              <a:rPr lang="en-US" altLang="ko-KR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Unique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여야 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두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컬럼의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자료형과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길이가 </a:t>
            </a: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완전히 일치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해야 함</a:t>
            </a:r>
          </a:p>
        </p:txBody>
      </p:sp>
    </p:spTree>
    <p:extLst>
      <p:ext uri="{BB962C8B-B14F-4D97-AF65-F5344CB8AC3E}">
        <p14:creationId xmlns:p14="http://schemas.microsoft.com/office/powerpoint/2010/main" val="1476049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FOREIGN KEY </a:t>
            </a:r>
            <a:r>
              <a:rPr lang="ko-KR" altLang="en-US" dirty="0"/>
              <a:t>만들기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740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dirty="0"/>
              <a:t>✅ON DELETE / ON UPDATE </a:t>
            </a:r>
            <a:r>
              <a:rPr lang="ko-KR" altLang="en-US" dirty="0"/>
              <a:t>옵션 추가 예시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940912"/>
              </p:ext>
            </p:extLst>
          </p:nvPr>
        </p:nvGraphicFramePr>
        <p:xfrm>
          <a:off x="428624" y="1835307"/>
          <a:ext cx="11401425" cy="1593692"/>
        </p:xfrm>
        <a:graphic>
          <a:graphicData uri="http://schemas.openxmlformats.org/drawingml/2006/table">
            <a:tbl>
              <a:tblPr/>
              <a:tblGrid>
                <a:gridCol w="2590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4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옵션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의미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CASCADE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부모 레코드 삭제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수정 시 자식도 같이 삭제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수정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SET NULL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부모가 삭제되면 자식의 외래 키를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NULL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로 변경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RESTRICT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부모 삭제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/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수정 불가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기본값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48" y="3697299"/>
            <a:ext cx="7810502" cy="237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2202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FOREIGN KEY </a:t>
            </a:r>
            <a:r>
              <a:rPr lang="ko-KR" altLang="en-US" dirty="0"/>
              <a:t>만들기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1169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💡</a:t>
            </a:r>
            <a:r>
              <a:rPr lang="ko-KR" altLang="en-US" dirty="0"/>
              <a:t> </a:t>
            </a:r>
            <a:r>
              <a:rPr lang="en-US" altLang="ko-KR" dirty="0"/>
              <a:t>ALTER TABLE </a:t>
            </a:r>
            <a:r>
              <a:rPr lang="ko-KR" altLang="en-US" dirty="0"/>
              <a:t>시 외래 키 추가</a:t>
            </a:r>
            <a:endParaRPr lang="en-US" altLang="ko-KR" dirty="0"/>
          </a:p>
          <a:p>
            <a:pPr lvl="1"/>
            <a:r>
              <a:rPr lang="ko-KR" altLang="en-US" dirty="0"/>
              <a:t>이미 만들어진 테이블에 나중에 외래 키를 추가하는 방식</a:t>
            </a:r>
            <a:endParaRPr lang="en-US" altLang="ko-K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82" y="2375037"/>
            <a:ext cx="9850436" cy="2984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7654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FOREIGN KEY </a:t>
            </a:r>
            <a:r>
              <a:rPr lang="ko-KR" altLang="en-US" dirty="0"/>
              <a:t>만들기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1169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dirty="0"/>
              <a:t>✅ON DELETE / ON UPDATE </a:t>
            </a:r>
            <a:r>
              <a:rPr lang="ko-KR" altLang="en-US" dirty="0"/>
              <a:t>옵션 추가 예시</a:t>
            </a:r>
            <a:endParaRPr lang="en-US" altLang="ko-K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745" y="1800225"/>
            <a:ext cx="955651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2026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416D-2A23-3963-134B-D39BAD0A4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783D-E3D4-94E6-B01F-02B7339E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FOREIGN KEY </a:t>
            </a:r>
            <a:r>
              <a:rPr lang="ko-KR" altLang="en-US" dirty="0"/>
              <a:t>삭제하기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77F5-AF30-E505-25BA-D0686DC8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664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dirty="0"/>
              <a:t>✅</a:t>
            </a:r>
            <a:r>
              <a:rPr lang="ko-KR" altLang="en-US" dirty="0"/>
              <a:t>외래 키 삭제</a:t>
            </a:r>
            <a:endParaRPr lang="en-US" altLang="ko-K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85" y="2219326"/>
            <a:ext cx="11455644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926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03CF2F4-7172-5244-CB08-74133A4D4DA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</a:t>
            </a:r>
            <a:r>
              <a:rPr lang="ko-KR" altLang="en-US" dirty="0">
                <a:solidFill>
                  <a:srgbClr val="ED7D31"/>
                </a:solidFill>
              </a:rPr>
              <a:t> 연습하기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09479CA-1802-B617-A327-9AAAE3D021FC}"/>
              </a:ext>
            </a:extLst>
          </p:cNvPr>
          <p:cNvSpPr txBox="1">
            <a:spLocks/>
          </p:cNvSpPr>
          <p:nvPr/>
        </p:nvSpPr>
        <p:spPr>
          <a:xfrm>
            <a:off x="401977" y="1145406"/>
            <a:ext cx="10365411" cy="49791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데이터베이스 생성</a:t>
            </a:r>
            <a:r>
              <a:rPr lang="en-US" altLang="ko-KR" dirty="0"/>
              <a:t>: </a:t>
            </a:r>
            <a:r>
              <a:rPr lang="en-US" altLang="ko-KR" dirty="0" err="1"/>
              <a:t>my_shop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customer </a:t>
            </a:r>
            <a:r>
              <a:rPr lang="ko-KR" altLang="en-US" dirty="0"/>
              <a:t>테이블 생성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/>
              <a:t>cust_id</a:t>
            </a:r>
            <a:r>
              <a:rPr lang="en-US" altLang="ko-KR" sz="2000" dirty="0"/>
              <a:t>(</a:t>
            </a:r>
            <a:r>
              <a:rPr lang="ko-KR" altLang="en-US" sz="2000" dirty="0"/>
              <a:t>고객번호</a:t>
            </a:r>
            <a:r>
              <a:rPr lang="en-US" altLang="ko-KR" sz="2000" dirty="0"/>
              <a:t>) CHAR(10), NOT NULL </a:t>
            </a:r>
            <a:r>
              <a:rPr lang="ko-KR" altLang="en-US" sz="2000" dirty="0"/>
              <a:t>제약조건</a:t>
            </a:r>
            <a:r>
              <a:rPr lang="en-US" altLang="ko-KR" sz="2000" dirty="0"/>
              <a:t>, PK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/>
              <a:t>cust_name</a:t>
            </a:r>
            <a:r>
              <a:rPr lang="en-US" altLang="ko-KR" sz="2000" dirty="0"/>
              <a:t>(</a:t>
            </a:r>
            <a:r>
              <a:rPr lang="ko-KR" altLang="en-US" sz="2000" dirty="0"/>
              <a:t>고객이름</a:t>
            </a:r>
            <a:r>
              <a:rPr lang="en-US" altLang="ko-KR" sz="2000" dirty="0"/>
              <a:t>) VARCHAR(10), NOT NULL </a:t>
            </a:r>
            <a:r>
              <a:rPr lang="ko-KR" altLang="en-US" sz="2000" dirty="0"/>
              <a:t>제약조건</a:t>
            </a:r>
            <a:endParaRPr lang="en-US" altLang="ko-K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address (</a:t>
            </a:r>
            <a:r>
              <a:rPr lang="ko-KR" altLang="en-US" sz="2000" dirty="0"/>
              <a:t>주소</a:t>
            </a:r>
            <a:r>
              <a:rPr lang="en-US" altLang="ko-KR" sz="2000" dirty="0"/>
              <a:t>) CHAR(10), NOT NULL </a:t>
            </a:r>
            <a:r>
              <a:rPr lang="ko-KR" altLang="en-US" sz="2000" dirty="0"/>
              <a:t>제약조건 </a:t>
            </a:r>
            <a:endParaRPr lang="en-US" altLang="ko-KR" sz="2000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phone (</a:t>
            </a:r>
            <a:r>
              <a:rPr lang="ko-KR" altLang="en-US" sz="2000" dirty="0"/>
              <a:t>연락처</a:t>
            </a:r>
            <a:r>
              <a:rPr lang="en-US" altLang="ko-KR" sz="2000" dirty="0"/>
              <a:t>) CHAR(11)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 birth (</a:t>
            </a:r>
            <a:r>
              <a:rPr lang="ko-KR" altLang="en-US" sz="2000" dirty="0"/>
              <a:t>생년월일</a:t>
            </a:r>
            <a:r>
              <a:rPr lang="en-US" altLang="ko-KR" sz="2000" dirty="0"/>
              <a:t>) DATE</a:t>
            </a:r>
          </a:p>
        </p:txBody>
      </p:sp>
    </p:spTree>
    <p:extLst>
      <p:ext uri="{BB962C8B-B14F-4D97-AF65-F5344CB8AC3E}">
        <p14:creationId xmlns:p14="http://schemas.microsoft.com/office/powerpoint/2010/main" val="691624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03CF2F4-7172-5244-CB08-74133A4D4DA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DDL</a:t>
            </a:r>
            <a:r>
              <a:rPr lang="ko-KR" altLang="en-US" dirty="0">
                <a:solidFill>
                  <a:srgbClr val="ED7D31"/>
                </a:solidFill>
              </a:rPr>
              <a:t> 연습하기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09479CA-1802-B617-A327-9AAAE3D021FC}"/>
              </a:ext>
            </a:extLst>
          </p:cNvPr>
          <p:cNvSpPr txBox="1">
            <a:spLocks/>
          </p:cNvSpPr>
          <p:nvPr/>
        </p:nvSpPr>
        <p:spPr>
          <a:xfrm>
            <a:off x="401977" y="1145406"/>
            <a:ext cx="10365411" cy="49791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dirty="0"/>
              <a:t>orders </a:t>
            </a:r>
            <a:r>
              <a:rPr lang="ko-KR" altLang="en-US" dirty="0"/>
              <a:t>테이블 생성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order_id</a:t>
            </a:r>
            <a:r>
              <a:rPr lang="en-US" altLang="ko-KR" dirty="0"/>
              <a:t> INT, NOT NULL </a:t>
            </a:r>
            <a:r>
              <a:rPr lang="ko-KR" altLang="en-US" dirty="0"/>
              <a:t>제약조건</a:t>
            </a:r>
            <a:r>
              <a:rPr lang="en-US" altLang="ko-KR" dirty="0"/>
              <a:t>, PK, </a:t>
            </a:r>
            <a:r>
              <a:rPr lang="ko-KR" altLang="en-US" dirty="0"/>
              <a:t>숫자 자동 증가 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cust_id</a:t>
            </a:r>
            <a:r>
              <a:rPr lang="en-US" altLang="ko-KR" dirty="0"/>
              <a:t> CHAR(10), NOT NULL </a:t>
            </a:r>
            <a:r>
              <a:rPr lang="ko-KR" altLang="en-US" dirty="0"/>
              <a:t>제약조건 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prod_name</a:t>
            </a:r>
            <a:r>
              <a:rPr lang="en-US" altLang="ko-KR" dirty="0"/>
              <a:t> CHAR(6), NOT NULL </a:t>
            </a:r>
            <a:r>
              <a:rPr lang="ko-KR" altLang="en-US" dirty="0"/>
              <a:t>제약조건 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price INT, NOT NULL </a:t>
            </a:r>
            <a:r>
              <a:rPr lang="ko-KR" altLang="en-US" dirty="0"/>
              <a:t>제약조건 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amount </a:t>
            </a:r>
            <a:r>
              <a:rPr lang="en-US" altLang="ko-KR" dirty="0" err="1"/>
              <a:t>smallint</a:t>
            </a:r>
            <a:r>
              <a:rPr lang="en-US" altLang="ko-KR" dirty="0"/>
              <a:t>, NOT NULL </a:t>
            </a:r>
            <a:r>
              <a:rPr lang="ko-KR" altLang="en-US" dirty="0"/>
              <a:t>제약조건</a:t>
            </a:r>
            <a:endParaRPr lang="en-US" altLang="ko-KR" dirty="0"/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err="1"/>
              <a:t>cust_id</a:t>
            </a:r>
            <a:r>
              <a:rPr lang="ko-KR" altLang="en-US" dirty="0"/>
              <a:t>는 </a:t>
            </a:r>
            <a:r>
              <a:rPr lang="en-US" altLang="ko-KR" dirty="0"/>
              <a:t>customer </a:t>
            </a:r>
            <a:r>
              <a:rPr lang="ko-KR" altLang="en-US" dirty="0"/>
              <a:t>테이블과 </a:t>
            </a:r>
            <a:r>
              <a:rPr lang="ko-KR" altLang="en-US" dirty="0" err="1"/>
              <a:t>외래키로</a:t>
            </a:r>
            <a:r>
              <a:rPr lang="ko-KR" altLang="en-US" dirty="0"/>
              <a:t> 연결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FOREIGN KEY(</a:t>
            </a:r>
            <a:r>
              <a:rPr lang="ko-KR" altLang="en-US" sz="1600" dirty="0"/>
              <a:t>열</a:t>
            </a:r>
            <a:r>
              <a:rPr lang="en-US" altLang="ko-KR" sz="1600" dirty="0"/>
              <a:t>_</a:t>
            </a:r>
            <a:r>
              <a:rPr lang="ko-KR" altLang="en-US" sz="1600" dirty="0"/>
              <a:t>이름</a:t>
            </a:r>
            <a:r>
              <a:rPr lang="en-US" altLang="ko-KR" sz="1600" dirty="0"/>
              <a:t>) REFERENCES </a:t>
            </a:r>
            <a:r>
              <a:rPr lang="ko-KR" altLang="en-US" sz="1600" dirty="0"/>
              <a:t>기준</a:t>
            </a:r>
            <a:r>
              <a:rPr lang="en-US" altLang="ko-KR" sz="1600" dirty="0"/>
              <a:t>_</a:t>
            </a:r>
            <a:r>
              <a:rPr lang="ko-KR" altLang="en-US" sz="1600" dirty="0"/>
              <a:t>테이블</a:t>
            </a:r>
            <a:r>
              <a:rPr lang="en-US" altLang="ko-KR" sz="1600" dirty="0"/>
              <a:t>(</a:t>
            </a:r>
            <a:r>
              <a:rPr lang="ko-KR" altLang="en-US" sz="1600" dirty="0"/>
              <a:t>열</a:t>
            </a:r>
            <a:r>
              <a:rPr lang="en-US" altLang="ko-KR" sz="1600" dirty="0"/>
              <a:t>_</a:t>
            </a:r>
            <a:r>
              <a:rPr lang="ko-KR" altLang="en-US" sz="1600" dirty="0"/>
              <a:t>이름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9665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DDL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51788" y="1001048"/>
            <a:ext cx="1152873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다음 조건을 만족하는 두 개의 테이블을 생성하고</a:t>
            </a:r>
            <a:r>
              <a:rPr lang="en-US" altLang="ko-KR" sz="2000" dirty="0"/>
              <a:t>, </a:t>
            </a:r>
            <a:r>
              <a:rPr lang="ko-KR" altLang="en-US" sz="2000" dirty="0"/>
              <a:t>외래 키 제약조건을 </a:t>
            </a:r>
            <a:r>
              <a:rPr lang="en-US" altLang="ko-KR" sz="2000" dirty="0"/>
              <a:t>ALTER TABLE</a:t>
            </a:r>
            <a:r>
              <a:rPr lang="ko-KR" altLang="en-US" sz="2000" dirty="0"/>
              <a:t>을 이용해 추가하시오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실습용 데이터베이스 </a:t>
            </a:r>
            <a:r>
              <a:rPr lang="en-US" altLang="ko-KR" sz="2000" dirty="0" err="1"/>
              <a:t>university_db</a:t>
            </a:r>
            <a:r>
              <a:rPr lang="ko-KR" altLang="en-US" sz="2000" dirty="0"/>
              <a:t>를 생성하시오</a:t>
            </a:r>
            <a:r>
              <a:rPr lang="en-US" altLang="ko-KR" sz="20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문자셋은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utf8mb4,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정렬 방식은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utf8mb4_unicode_ci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설정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2000" dirty="0"/>
              <a:t>students </a:t>
            </a:r>
            <a:r>
              <a:rPr lang="ko-KR" altLang="en-US" sz="2000" dirty="0"/>
              <a:t>테이블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student_id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정수형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기본키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자동 증가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name: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50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NULL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불가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email: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100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유일한 값이어야 함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major: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advisor_id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정수형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NULL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가능 → 나중에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professors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professor_id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참조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created_at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DATETIME,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기본값은 현재 시간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439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F8C313D-308D-A91D-DB60-E20F00CD5CC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DDL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51788" y="889288"/>
            <a:ext cx="11528732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2000" dirty="0"/>
              <a:t>professors </a:t>
            </a:r>
            <a:r>
              <a:rPr lang="ko-KR" altLang="en-US" sz="2000" dirty="0"/>
              <a:t>테이블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professor_id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정수형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기본키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자동 증가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name: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50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NULL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불가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email: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100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유일한 값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department: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문자열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최대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30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mentee_id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정수형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NULL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가능 → 나중에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students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참조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joined_at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DATE,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기본값 없음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ko-KR" alt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/>
              <a:t>다음 관계가 만족되어야 함</a:t>
            </a:r>
            <a:r>
              <a:rPr lang="en-US" altLang="ko-KR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students.advisor_id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professors.professor_id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참조할 것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교수 정보가 삭제되면 해당 학생의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advisor_id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NULL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설정될 것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professors.mentee_id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students.student_id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참조할 것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학생 정보가 삭제되면 해당 교수의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mentee_id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도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NULL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설정될 것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637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3381</TotalTime>
  <Words>1620</Words>
  <Application>Microsoft Office PowerPoint</Application>
  <PresentationFormat>와이드스크린</PresentationFormat>
  <Paragraphs>359</Paragraphs>
  <Slides>36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자료형 - 숫자형</vt:lpstr>
      <vt:lpstr>자료형 - 숫자형</vt:lpstr>
      <vt:lpstr>자료형 - 문자형</vt:lpstr>
      <vt:lpstr>자료형 – CHAR vs VARCHAR</vt:lpstr>
      <vt:lpstr>자료형 – CHAR vs VARCHAR</vt:lpstr>
      <vt:lpstr>자료형 – CHAR vs VARCHAR</vt:lpstr>
      <vt:lpstr>자료형 – CHAR vs VARCHAR</vt:lpstr>
      <vt:lpstr>자료형 – CHAR vs VARCHAR</vt:lpstr>
      <vt:lpstr>자료형 – 날짜 및 시간형</vt:lpstr>
      <vt:lpstr>PowerPoint 프레젠테이션</vt:lpstr>
      <vt:lpstr>SQL(Structured Query Language) </vt:lpstr>
      <vt:lpstr>SQL의  구성요소</vt:lpstr>
      <vt:lpstr>SQL의  구성요소</vt:lpstr>
      <vt:lpstr>PowerPoint 프레젠테이션</vt:lpstr>
      <vt:lpstr>DDL</vt:lpstr>
      <vt:lpstr>CREATE 문</vt:lpstr>
      <vt:lpstr>CREATE 문</vt:lpstr>
      <vt:lpstr>CREATE 문</vt:lpstr>
      <vt:lpstr>CREATE 문</vt:lpstr>
      <vt:lpstr>ALTER 문</vt:lpstr>
      <vt:lpstr>DROP 문</vt:lpstr>
      <vt:lpstr>TRUNCATE 문</vt:lpstr>
      <vt:lpstr>DROP vs. TRUNCATE</vt:lpstr>
      <vt:lpstr>FOREIGN KEY 만들기(1)</vt:lpstr>
      <vt:lpstr>FOREIGN KEY 만들기(1)</vt:lpstr>
      <vt:lpstr>FOREIGN KEY 만들기(2)</vt:lpstr>
      <vt:lpstr>FOREIGN KEY 만들기(2)</vt:lpstr>
      <vt:lpstr>FOREIGN KEY 삭제하기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299</cp:revision>
  <dcterms:created xsi:type="dcterms:W3CDTF">2023-01-31T04:26:23Z</dcterms:created>
  <dcterms:modified xsi:type="dcterms:W3CDTF">2025-10-20T01:48:15Z</dcterms:modified>
</cp:coreProperties>
</file>