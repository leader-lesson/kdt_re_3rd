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2"/>
  </p:notesMasterIdLst>
  <p:sldIdLst>
    <p:sldId id="790" r:id="rId2"/>
    <p:sldId id="257" r:id="rId3"/>
    <p:sldId id="989" r:id="rId4"/>
    <p:sldId id="991" r:id="rId5"/>
    <p:sldId id="996" r:id="rId6"/>
    <p:sldId id="993" r:id="rId7"/>
    <p:sldId id="994" r:id="rId8"/>
    <p:sldId id="995" r:id="rId9"/>
    <p:sldId id="997" r:id="rId10"/>
    <p:sldId id="998" r:id="rId11"/>
    <p:sldId id="999" r:id="rId12"/>
    <p:sldId id="1000" r:id="rId13"/>
    <p:sldId id="1001" r:id="rId14"/>
    <p:sldId id="990" r:id="rId15"/>
    <p:sldId id="1002" r:id="rId16"/>
    <p:sldId id="1007" r:id="rId17"/>
    <p:sldId id="1012" r:id="rId18"/>
    <p:sldId id="1013" r:id="rId19"/>
    <p:sldId id="1014" r:id="rId20"/>
    <p:sldId id="1015" r:id="rId21"/>
    <p:sldId id="1021" r:id="rId22"/>
    <p:sldId id="1008" r:id="rId23"/>
    <p:sldId id="1009" r:id="rId24"/>
    <p:sldId id="1010" r:id="rId25"/>
    <p:sldId id="1011" r:id="rId26"/>
    <p:sldId id="1016" r:id="rId27"/>
    <p:sldId id="1017" r:id="rId28"/>
    <p:sldId id="1018" r:id="rId29"/>
    <p:sldId id="1019" r:id="rId30"/>
    <p:sldId id="1020" r:id="rId31"/>
    <p:sldId id="1031" r:id="rId32"/>
    <p:sldId id="1003" r:id="rId33"/>
    <p:sldId id="1004" r:id="rId34"/>
    <p:sldId id="1005" r:id="rId35"/>
    <p:sldId id="1006" r:id="rId36"/>
    <p:sldId id="1022" r:id="rId37"/>
    <p:sldId id="1023" r:id="rId38"/>
    <p:sldId id="1024" r:id="rId39"/>
    <p:sldId id="1025" r:id="rId40"/>
    <p:sldId id="1026" r:id="rId41"/>
    <p:sldId id="1027" r:id="rId42"/>
    <p:sldId id="1028" r:id="rId43"/>
    <p:sldId id="1029" r:id="rId44"/>
    <p:sldId id="1030" r:id="rId45"/>
    <p:sldId id="1032" r:id="rId46"/>
    <p:sldId id="1041" r:id="rId47"/>
    <p:sldId id="1033" r:id="rId48"/>
    <p:sldId id="1035" r:id="rId49"/>
    <p:sldId id="1034" r:id="rId50"/>
    <p:sldId id="1036" r:id="rId51"/>
    <p:sldId id="1037" r:id="rId52"/>
    <p:sldId id="1038" r:id="rId53"/>
    <p:sldId id="1039" r:id="rId54"/>
    <p:sldId id="1040" r:id="rId55"/>
    <p:sldId id="1042" r:id="rId56"/>
    <p:sldId id="1046" r:id="rId57"/>
    <p:sldId id="1043" r:id="rId58"/>
    <p:sldId id="1044" r:id="rId59"/>
    <p:sldId id="1045" r:id="rId60"/>
    <p:sldId id="813" r:id="rId6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F5050"/>
    <a:srgbClr val="00599C"/>
    <a:srgbClr val="ED7D31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03" autoAdjust="0"/>
    <p:restoredTop sz="76545" autoAdjust="0"/>
  </p:normalViewPr>
  <p:slideViewPr>
    <p:cSldViewPr snapToGrid="0">
      <p:cViewPr varScale="1">
        <p:scale>
          <a:sx n="72" d="100"/>
          <a:sy n="72" d="100"/>
        </p:scale>
        <p:origin x="642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2025-10-27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2844E-6422-DC26-5D5E-64320B1CA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43460B-49EB-C8AD-BA80-C6021362EF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224DFAA-BADB-ACCB-0F4A-B9E1A1E1C7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설치 전 파이썬 버전 확인</a:t>
            </a:r>
            <a:r>
              <a:rPr lang="en-US" altLang="ko-KR" dirty="0"/>
              <a:t>!</a:t>
            </a:r>
          </a:p>
          <a:p>
            <a:r>
              <a:rPr lang="en-US" altLang="ko-KR" dirty="0"/>
              <a:t>3.9 </a:t>
            </a:r>
            <a:r>
              <a:rPr lang="ko-KR" altLang="en-US" dirty="0"/>
              <a:t>이상 되도록 </a:t>
            </a:r>
            <a:r>
              <a:rPr lang="en-US" altLang="ko-KR" dirty="0"/>
              <a:t>(3.8 </a:t>
            </a:r>
            <a:r>
              <a:rPr lang="ko-KR" altLang="en-US" dirty="0"/>
              <a:t>지원 종료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87E69B-4827-778E-84A2-F635CAF18A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61813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FE2A0-5F1E-CFF2-BD88-27C009038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EC58F36-6AAC-4263-1BDB-95BE590F58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674700-2CE8-3254-69B5-032B59BD5D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08_python.sql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C7D177-10FB-4938-E083-987D90B20F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94026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A30D2-BC4B-431C-BC57-4E0D935A5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CF8205-9443-9738-EB53-2911C62DFA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50963B-211B-E062-208A-8DE17FA6C9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08_python_db.py</a:t>
            </a:r>
          </a:p>
          <a:p>
            <a:endParaRPr lang="en-US" altLang="ko-KR" dirty="0"/>
          </a:p>
          <a:p>
            <a:r>
              <a:rPr lang="en-US" altLang="ko-KR" dirty="0"/>
              <a:t>User </a:t>
            </a:r>
            <a:r>
              <a:rPr lang="ko-KR" altLang="en-US" dirty="0"/>
              <a:t>생성 먼저 하기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2272F3-8289-B85B-5AD6-6F252357E6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2370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B3D7F-DDA5-87A4-395C-04F736DAB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BE2CEC-6978-23DE-F31C-5B47F0A1DA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0666091-719B-C40A-1430-9A2B2B3904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BFE42F-A71F-5775-0E8B-7DB91F06F0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8641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B744D-CEE8-2D90-FFE6-BFBCA282A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C1FE6C6-14A0-E71E-3FAC-63B390A64E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77AA58-1358-0377-FF8B-CA5E251709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Try</a:t>
            </a:r>
            <a:r>
              <a:rPr lang="ko-KR" altLang="en-US" dirty="0"/>
              <a:t> 안에 쿼리 실행 코드 추가하기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6FD460-E613-62E3-3B5D-96816E0CD8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03363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5EF80-5BF1-245E-1E87-D0F883CC7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D69728F-9650-A007-3A64-507CC93014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D7D8A9F-F549-09F2-B3DD-E9F3793A2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9A9987-0F26-513F-ECF4-419E3FC5DD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8860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5EE08-7286-5BF8-E87C-D5E79E77C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F560E8-CC62-4565-7B78-438F3660BD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59803E-521B-45F1-007C-30D95D9B51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2B87A6-397B-D235-64D6-826BC42140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41957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FB120-5B6E-BB03-8808-0D47FF1FD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5E37E5D-355F-6E68-D9D0-6A8C3B557E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FC27E4-590B-146A-FCAF-0203FCF0C1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FA9774-9C06-0DCE-AEE5-9774F1DA6D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13122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CA56D-AD1A-297B-5DCC-3AFE71AB5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2D1E9E-541F-9A96-8AE2-89FB5305FA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886E83-78F9-4AF4-72BF-610A60B35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0B725D-CA6C-D2E8-F8FF-B957B76C73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3671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607B4-E6F3-41BA-ECE0-31F34CE1E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AC950F-65C8-93D5-6F0F-648714DE43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BAE5B84-BD93-B03B-5923-C53202ECAF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F159C3-9653-1915-9A88-F2E3164D4B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65338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세가지 비교 설명</a:t>
            </a:r>
            <a:endParaRPr lang="en-US" altLang="ko-KR" dirty="0"/>
          </a:p>
          <a:p>
            <a:r>
              <a:rPr lang="en-US" altLang="ko-KR" dirty="0"/>
              <a:t>https://www.hanbit.co.kr/channel/view.html?cmscode=CMS5997817104</a:t>
            </a:r>
          </a:p>
          <a:p>
            <a:r>
              <a:rPr lang="en-US" altLang="ko-KR" dirty="0"/>
              <a:t>https://blog.jetbrains.com/ko/pycharm/2025/06/which-is-the-best-python-web-framework-django-flask-or-fastapi/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55020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57881-A8E6-A0D6-B97A-EA26C730B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F16AB54-BB23-1F1D-D68F-FE5A66A26B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1AC905-F303-2295-6ED3-2EA5FBDEBC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EE2ABC-17B3-86C6-7CEF-0A5DAA714E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30897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6DC31-96EE-0F63-4843-F2B2A2D8C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A7CC94-81C3-B3D3-55B0-C4A5DFE0BD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B70423E-8875-2753-A3F6-3208C0E4A5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64A09C-5D63-2BED-45CE-F5EDC54845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55756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3268D-7C91-1C7E-F82A-C66C5467A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CCCB84-0EEB-FAD4-ABDD-2C1BCB3A6B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CF14B9-0CCB-F8C1-C537-CF34EE659C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C1B55C-CADA-1B7F-D290-06F843695B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69187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2C0D2-497F-EA27-D7C7-689BB8942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4DEA9C-299B-50C2-FA17-2CDCC5EEA3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6413104-B1DB-4CA7-B931-CFB4B3FDBE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455C2F-628A-DE4E-C2DD-2EC1C54863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1110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C7305-5A8B-3785-6DD3-7EE96EC65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C2E958-C5CB-B440-690E-54C460A1E3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09653DC-29F2-34E7-5A83-33B1F55D45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58C262-19CA-ADCD-10C0-3C85DAA5B3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76765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6D066-2200-E567-7F98-8AC13FACA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14A9C3-5E16-BECC-4EB7-E372A6D648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D918A0E-67D0-9D94-6532-DCC74BDF0E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EE304B-9A03-2A7F-E39E-3CE51BBEDE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02655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317E3-88BF-1F73-CDE7-780696E3B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17403C-A78F-6C17-2AB7-6FD41A5D01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5BE7AEB-8A95-2838-6948-2D70794D63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E5886A-1348-4CC2-D7D3-4A94D05F8C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51873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EC3DC-4177-FE0E-FA21-AAE631EC1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BD2045-7489-B3F1-A455-974E63C661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C61EC02-EAFB-447D-8657-650FC72C0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6F1A02-C654-021B-6528-4BAFA2AED6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49462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1CBC6-EAB8-E80E-AAFF-2C746A75B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13FFFC-083F-F402-121C-D1472CC7F2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040630-8B35-8CDF-D5FA-3AEF4D7328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160C96-5B42-4D45-87D7-2DCF17C6B7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39300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9CF45-DFDA-123D-6B82-B03269DB9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4BFAC40-D257-2080-B5E2-1E48DFBF18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80072C-F9F9-382A-6573-6826B00AB3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8235EA-EF4C-7996-CBEF-7C4B10E039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04413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127D0-DFED-3713-8E34-29C494BBA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6245FA-87C4-7D8A-33EF-C8244BB187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34C700-A45B-1854-8347-60B13779B9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15ACCE-5384-E055-9B1E-AB606A619F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33926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88675-9924-F4AA-3897-CCB775A8F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E0EAC86-A9B1-0A2B-26DD-97BB668F70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407FBA-6150-D581-5EE7-3AC7368132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58AE2B-5ED7-AA87-3E7C-5717BD6B54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72394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8D3C5-4BCB-A28F-BE05-E6FC9EE4A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50E352-B5C7-75EA-D8B7-C4FD166211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E1CB19B-0147-CC81-5B8D-6F995CF266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C765FF-9CB5-CB5B-18DD-E514935FBE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41683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57F4C-6356-AE3A-34F0-464D698FB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A786DA-6A00-EAD2-6FB4-FACE03E7AD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B69DED9-6A3C-F004-6A2A-26BA2D123F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F763F9-0C36-1F7A-FFE4-4835DEA390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082828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9D10F-F602-3AA1-0011-D5BDC7BD6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1914AEF-A184-B244-A3F6-0C07B2F3D9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61BBAA-7E52-C91D-1513-501181F963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1EA429-BD42-D4BB-1E95-1081B8AE90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92385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C1D17-C9AA-1467-01D9-70C20B793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8DA910-7C21-A0A6-986E-3E8ACF2FE9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F4802ED-1B9A-AC23-89A3-667FACFE3B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C04E4F-2250-6A96-6446-A47305D72C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08999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04940-C8D2-BEF5-199B-71B01BAE9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6DE100E-87BB-6ECB-0FC0-E60F6DFE91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C4D9189-4559-F9EB-E3DE-DC5E42A2D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4E7BBA-9403-A5C9-99A2-A97FEA94A2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613865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9E6FD-96EC-D559-59D5-6F9CEE525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187998B-FE03-E109-B770-897D47D84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83A2AC4-56D7-F7F5-826E-77A64ABCBD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F2906F-079E-A87B-D418-587D3DEDC4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58433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EAD22-D92C-343E-52B3-BD01E5B53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AF301B-6AD4-5DCF-B37A-FBF05668E0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FED91B-0F61-D776-3CE1-E2720C959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599AC1-208C-BA3A-2CD9-9EA9CBAC2F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98571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AD476-EDBC-0C7A-B22A-7FAB566F9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9D3AD2-648A-A347-AB72-85438C5F60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9D5DF9-9674-EE64-E1D9-EDA21254DB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40A31B-BB1C-4BEA-853F-A6BBA0800A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3131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5997E-B081-6642-B5E7-A52A307EB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E5A8E89-791D-2844-C836-CA7B6D620F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993447-FDC3-C517-8DC3-AE7D6094C0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60EF5D-E866-228B-F693-DE3D340593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66083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fastapi.tiangolo.com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www.postman.com/downloads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qlalchemy.org/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s://aws.amazon.com/ko/rds/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669" y="3664694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7" name="부제목 6">
            <a:extLst>
              <a:ext uri="{FF2B5EF4-FFF2-40B4-BE49-F238E27FC236}">
                <a16:creationId xmlns:a16="http://schemas.microsoft.com/office/drawing/2014/main" id="{6C336D0B-7E17-EA90-9936-59BFA672CC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037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2344824" y="2600493"/>
            <a:ext cx="75023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8. </a:t>
            </a:r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파이썬과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함께 쓰기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D0BA0-662B-3134-7B5B-AF37D9484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3535ADF-92FC-22E6-EEEE-CA7A7156ABF1}"/>
              </a:ext>
            </a:extLst>
          </p:cNvPr>
          <p:cNvSpPr txBox="1"/>
          <p:nvPr/>
        </p:nvSpPr>
        <p:spPr>
          <a:xfrm>
            <a:off x="2826530" y="2600493"/>
            <a:ext cx="653897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파이썬과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함께 쓰기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5617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9647A-BB7A-421F-58BE-71C625418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239CC3-E097-C0DB-8F4D-E965DF1F8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패키지 설치</a:t>
            </a:r>
            <a:r>
              <a:rPr lang="en-US" altLang="ko-KR" dirty="0"/>
              <a:t>(</a:t>
            </a:r>
            <a:r>
              <a:rPr lang="en-US" altLang="ko-KR" dirty="0" err="1"/>
              <a:t>mysql</a:t>
            </a:r>
            <a:r>
              <a:rPr lang="en-US" altLang="ko-KR" dirty="0"/>
              <a:t>-connector)</a:t>
            </a:r>
            <a:endParaRPr lang="en-US" altLang="ko-KR" b="1" dirty="0"/>
          </a:p>
        </p:txBody>
      </p:sp>
      <p:pic>
        <p:nvPicPr>
          <p:cNvPr id="4" name="그림 3" descr="텍스트, 스크린샷, 폰트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8374822-BC5D-8707-A997-BDB9C6E4CC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3910"/>
            <a:ext cx="12192000" cy="443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666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349FE-4E21-A2BF-CABD-BA7D35D81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14DE52-6E53-C56C-AF36-38DE032A1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CRUD </a:t>
            </a:r>
            <a:r>
              <a:rPr lang="ko-KR" altLang="en-US" b="1" dirty="0"/>
              <a:t>테스트 테이블 만들기</a:t>
            </a:r>
            <a:endParaRPr lang="en-US" altLang="ko-KR" b="1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6B888A5-DF57-12D0-E027-98F38234A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994766"/>
            <a:ext cx="10541000" cy="507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72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13BFB-7773-D260-DCAD-DB9253350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8E6202-5345-D2B8-FF76-0A2E07139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DB</a:t>
            </a:r>
            <a:r>
              <a:rPr lang="ko-KR" altLang="en-US" b="1" dirty="0"/>
              <a:t>와 연결하기</a:t>
            </a:r>
            <a:r>
              <a:rPr lang="en-US" altLang="ko-KR" b="1" dirty="0"/>
              <a:t>(1)</a:t>
            </a:r>
          </a:p>
        </p:txBody>
      </p:sp>
      <p:pic>
        <p:nvPicPr>
          <p:cNvPr id="4" name="그림 3" descr="텍스트, 스크린샷, 소프트웨어, 디스플레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19390A1-5E4A-ACF9-34F8-DDC11CF2D5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733" y="572704"/>
            <a:ext cx="8754534" cy="541882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9753C861-9BF5-F665-16C8-C95E7F8A948E}"/>
              </a:ext>
            </a:extLst>
          </p:cNvPr>
          <p:cNvSpPr/>
          <p:nvPr/>
        </p:nvSpPr>
        <p:spPr>
          <a:xfrm>
            <a:off x="1375817" y="5401512"/>
            <a:ext cx="9440365" cy="4185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cursor : DB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서버와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Python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프로그램 사이에서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SQL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문을 실행하고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그 결과를 가져오는 역할을 하는 중간 관리자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5B7F431-44BA-09D3-ABAB-0A61A40A2FCF}"/>
              </a:ext>
            </a:extLst>
          </p:cNvPr>
          <p:cNvSpPr/>
          <p:nvPr/>
        </p:nvSpPr>
        <p:spPr>
          <a:xfrm>
            <a:off x="2942914" y="1955800"/>
            <a:ext cx="2450354" cy="245533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FBD374-34BD-3EA6-B634-97A68F46304D}"/>
              </a:ext>
            </a:extLst>
          </p:cNvPr>
          <p:cNvSpPr txBox="1"/>
          <p:nvPr/>
        </p:nvSpPr>
        <p:spPr>
          <a:xfrm>
            <a:off x="5410202" y="1913467"/>
            <a:ext cx="20730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</a:rPr>
              <a:t>← 라이브러리 불러오기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4B31E5C-A90A-D40C-EB24-0B32A88677EE}"/>
              </a:ext>
            </a:extLst>
          </p:cNvPr>
          <p:cNvSpPr/>
          <p:nvPr/>
        </p:nvSpPr>
        <p:spPr>
          <a:xfrm>
            <a:off x="2959848" y="2735713"/>
            <a:ext cx="3212352" cy="245533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4BFB52-7899-20A1-5365-FDE1614C29FD}"/>
              </a:ext>
            </a:extLst>
          </p:cNvPr>
          <p:cNvSpPr txBox="1"/>
          <p:nvPr/>
        </p:nvSpPr>
        <p:spPr>
          <a:xfrm>
            <a:off x="6199813" y="2689202"/>
            <a:ext cx="12747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</a:rPr>
              <a:t>← </a:t>
            </a:r>
            <a:r>
              <a:rPr lang="en-US" altLang="ko-KR" sz="1600" dirty="0">
                <a:solidFill>
                  <a:schemeClr val="bg1"/>
                </a:solidFill>
              </a:rPr>
              <a:t>DB</a:t>
            </a:r>
            <a:r>
              <a:rPr lang="ko-KR" altLang="en-US" sz="1600" dirty="0">
                <a:solidFill>
                  <a:schemeClr val="bg1"/>
                </a:solidFill>
              </a:rPr>
              <a:t>와 연결</a:t>
            </a:r>
          </a:p>
        </p:txBody>
      </p:sp>
    </p:spTree>
    <p:extLst>
      <p:ext uri="{BB962C8B-B14F-4D97-AF65-F5344CB8AC3E}">
        <p14:creationId xmlns:p14="http://schemas.microsoft.com/office/powerpoint/2010/main" val="1629908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8E725-D686-1C4A-68F3-2B5F36F84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A1E87-1C0D-4954-4267-AE5E0914F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DB</a:t>
            </a:r>
            <a:r>
              <a:rPr lang="ko-KR" altLang="en-US" b="1" dirty="0"/>
              <a:t>와 연결하기</a:t>
            </a:r>
            <a:r>
              <a:rPr lang="en-US" altLang="ko-KR" b="1" dirty="0"/>
              <a:t>(2)</a:t>
            </a:r>
          </a:p>
        </p:txBody>
      </p:sp>
      <p:pic>
        <p:nvPicPr>
          <p:cNvPr id="5" name="그림 4" descr="텍스트, 스크린샷, 소프트웨어, 디스플레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3F6A0BB-8449-2B84-BA8D-F6D52B8DF2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333" y="877904"/>
            <a:ext cx="10329334" cy="535304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7DB6D54B-7587-D46E-21DC-86D20D4BAF14}"/>
              </a:ext>
            </a:extLst>
          </p:cNvPr>
          <p:cNvSpPr/>
          <p:nvPr/>
        </p:nvSpPr>
        <p:spPr>
          <a:xfrm>
            <a:off x="1537026" y="5356285"/>
            <a:ext cx="3972562" cy="874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fetchone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결과에서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개 행만 반환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fetchall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결과 전체를 리스트로 반환</a:t>
            </a:r>
            <a:endParaRPr lang="en-US" altLang="ko-KR" sz="1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AE12A0F4-EC35-CEFA-BB8F-AF9FA3E38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348" y="1061281"/>
            <a:ext cx="7417518" cy="7296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dirty="0"/>
              <a:t>✅ 결과 출력</a:t>
            </a:r>
          </a:p>
        </p:txBody>
      </p:sp>
    </p:spTree>
    <p:extLst>
      <p:ext uri="{BB962C8B-B14F-4D97-AF65-F5344CB8AC3E}">
        <p14:creationId xmlns:p14="http://schemas.microsoft.com/office/powerpoint/2010/main" val="2987407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CB71A-40DE-8807-0CBC-79FE7B72B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1F350F0-DFBA-A642-2F91-514D996F72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88" y="752170"/>
            <a:ext cx="10600624" cy="610583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4F404C9-C3D3-233A-5A25-F025FD20F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DB</a:t>
            </a:r>
            <a:r>
              <a:rPr lang="ko-KR" altLang="en-US" b="1" dirty="0"/>
              <a:t>와 연결하기</a:t>
            </a:r>
            <a:r>
              <a:rPr lang="en-US" altLang="ko-KR" b="1" dirty="0"/>
              <a:t>(3)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0B9D60-E20B-FE0C-8FA1-0746746B1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5737" y="965028"/>
            <a:ext cx="7417518" cy="7296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dirty="0"/>
              <a:t>✅ 예외 처리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21B9E8F-ED8D-A890-6FFC-9AB6EBC29663}"/>
              </a:ext>
            </a:extLst>
          </p:cNvPr>
          <p:cNvSpPr/>
          <p:nvPr/>
        </p:nvSpPr>
        <p:spPr>
          <a:xfrm>
            <a:off x="2317272" y="2416408"/>
            <a:ext cx="4154648" cy="245533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EAEC74-2009-EE0A-7BCF-4D6BD789ACE2}"/>
              </a:ext>
            </a:extLst>
          </p:cNvPr>
          <p:cNvSpPr txBox="1"/>
          <p:nvPr/>
        </p:nvSpPr>
        <p:spPr>
          <a:xfrm>
            <a:off x="6471920" y="2369897"/>
            <a:ext cx="19447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</a:rPr>
              <a:t>← 에러 객체 불러오기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6BB2882-E962-B7B6-9944-FD28B2A85548}"/>
              </a:ext>
            </a:extLst>
          </p:cNvPr>
          <p:cNvSpPr/>
          <p:nvPr/>
        </p:nvSpPr>
        <p:spPr>
          <a:xfrm>
            <a:off x="2317271" y="3646727"/>
            <a:ext cx="4481461" cy="549333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1D681D-8566-9C91-888E-F2E8DB1DD096}"/>
              </a:ext>
            </a:extLst>
          </p:cNvPr>
          <p:cNvSpPr txBox="1"/>
          <p:nvPr/>
        </p:nvSpPr>
        <p:spPr>
          <a:xfrm>
            <a:off x="6798732" y="3752116"/>
            <a:ext cx="17668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</a:rPr>
              <a:t>← 에러 메시지 출력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1DD92DA-D561-C355-9C17-F03CDB3ECD1C}"/>
              </a:ext>
            </a:extLst>
          </p:cNvPr>
          <p:cNvSpPr/>
          <p:nvPr/>
        </p:nvSpPr>
        <p:spPr>
          <a:xfrm>
            <a:off x="2317270" y="4250383"/>
            <a:ext cx="5395863" cy="1540818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33C0BF-6F91-6C98-BC7D-5C0E1B276D1E}"/>
              </a:ext>
            </a:extLst>
          </p:cNvPr>
          <p:cNvSpPr txBox="1"/>
          <p:nvPr/>
        </p:nvSpPr>
        <p:spPr>
          <a:xfrm>
            <a:off x="7744580" y="4851515"/>
            <a:ext cx="28841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</a:rPr>
              <a:t>← 최종적으로 실행되는 코드 </a:t>
            </a:r>
            <a:r>
              <a:rPr lang="ko-KR" altLang="en-US" sz="1600" dirty="0" err="1">
                <a:solidFill>
                  <a:schemeClr val="bg1"/>
                </a:solidFill>
              </a:rPr>
              <a:t>블럭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1767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59AAD-A342-6575-5E89-25BEDD59B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0707B3-0040-008E-2AB6-B4EBB8412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CRUD(1) - INSERT</a:t>
            </a:r>
          </a:p>
        </p:txBody>
      </p:sp>
      <p:pic>
        <p:nvPicPr>
          <p:cNvPr id="4" name="그림 3" descr="텍스트, 스크린샷, 멀티미디어 소프트웨어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1BE4B8D-824F-38C5-6031-862E09D98F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5349"/>
            <a:ext cx="12192000" cy="4558103"/>
          </a:xfrm>
          <a:prstGeom prst="rect">
            <a:avLst/>
          </a:prstGeom>
        </p:spPr>
      </p:pic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0498C624-89E9-F101-8943-3C5792A3C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537" y="1532295"/>
            <a:ext cx="7417518" cy="7296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dirty="0"/>
              <a:t>✅ 사용자 정보 입력 받기</a:t>
            </a:r>
          </a:p>
        </p:txBody>
      </p:sp>
    </p:spTree>
    <p:extLst>
      <p:ext uri="{BB962C8B-B14F-4D97-AF65-F5344CB8AC3E}">
        <p14:creationId xmlns:p14="http://schemas.microsoft.com/office/powerpoint/2010/main" val="2850097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284BF-1754-1349-CA50-CCB17F52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소프트웨어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AA503FB-505C-0F7F-0703-F0DE4A2E2A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533" y="755155"/>
            <a:ext cx="9922934" cy="534769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0242BE3-AB36-93CB-1D2E-39291A349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CRUD(1) - INSERT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2EF0F601-94C8-D130-1887-4B63723E8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5137" y="916806"/>
            <a:ext cx="7417518" cy="7296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dirty="0"/>
              <a:t>✅ </a:t>
            </a:r>
            <a:r>
              <a:rPr lang="en-US" altLang="ko-KR" dirty="0"/>
              <a:t>INSERT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39966CE-7348-D78A-F955-C08E65CB2F96}"/>
              </a:ext>
            </a:extLst>
          </p:cNvPr>
          <p:cNvSpPr/>
          <p:nvPr/>
        </p:nvSpPr>
        <p:spPr>
          <a:xfrm>
            <a:off x="1731759" y="5330564"/>
            <a:ext cx="7471917" cy="874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excute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: SQL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쿼리를 실행하고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DB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명령을 전달하는 메서드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commit() 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현재 세션에 있는 모든 변경사항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추가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수정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삭제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DB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반영</a:t>
            </a:r>
            <a:endParaRPr lang="en-US" altLang="ko-KR" sz="1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5662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7BC5C-E9F8-73C1-08E4-59721130F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텍스트, 스크린샷, 소프트웨어, 디스플레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CC91302-4488-3B05-07D0-9C7D70E8A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7776"/>
            <a:ext cx="12192000" cy="612022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4FAB109-5E33-79A0-0395-624CA05D2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CRUD(2) - SELECT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E9272417-7558-B3BF-9949-12E7122A8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817" y="980662"/>
            <a:ext cx="7417518" cy="7296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dirty="0"/>
              <a:t>✅ </a:t>
            </a:r>
            <a:r>
              <a:rPr lang="en-US" altLang="ko-KR" dirty="0"/>
              <a:t>SELECT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51F643A-6943-1D7D-CC8A-9DD144B64822}"/>
              </a:ext>
            </a:extLst>
          </p:cNvPr>
          <p:cNvSpPr/>
          <p:nvPr/>
        </p:nvSpPr>
        <p:spPr>
          <a:xfrm>
            <a:off x="1502355" y="3943019"/>
            <a:ext cx="3068798" cy="256448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AA9D12-1D89-4AE3-8D85-CD32D93AF3C1}"/>
              </a:ext>
            </a:extLst>
          </p:cNvPr>
          <p:cNvSpPr txBox="1"/>
          <p:nvPr/>
        </p:nvSpPr>
        <p:spPr>
          <a:xfrm>
            <a:off x="4571153" y="3901966"/>
            <a:ext cx="19447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</a:rPr>
              <a:t>← 하나의 값만 가져옴</a:t>
            </a:r>
          </a:p>
        </p:txBody>
      </p:sp>
    </p:spTree>
    <p:extLst>
      <p:ext uri="{BB962C8B-B14F-4D97-AF65-F5344CB8AC3E}">
        <p14:creationId xmlns:p14="http://schemas.microsoft.com/office/powerpoint/2010/main" val="2488640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85857-2E68-A45E-D1EC-57A9AB5D6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CC389DB-B978-94D0-3561-79ADADD068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52770"/>
            <a:ext cx="12192000" cy="527739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244D1F1-565D-9723-F6A2-79E34B448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CRUD(3) – UPDATE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EE0D76F4-1C78-B8E6-9DE2-0693D1C55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550" y="1336262"/>
            <a:ext cx="7417518" cy="7296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dirty="0"/>
              <a:t>✅ </a:t>
            </a:r>
            <a:r>
              <a:rPr lang="en-US" altLang="ko-KR" dirty="0"/>
              <a:t>UPDATE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5121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11CDA-1484-30BB-7AA3-FF89368CE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12F0C14-A497-06AA-EACD-5EDFEA6F6C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9091"/>
            <a:ext cx="12192000" cy="428461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3CB7094-5DAD-1258-9BC3-408876240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CRUD(4) – DELETE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6834D140-42A6-F960-CD3E-02BA78DCC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550" y="1734196"/>
            <a:ext cx="7417518" cy="7296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dirty="0"/>
              <a:t>✅ </a:t>
            </a:r>
            <a:r>
              <a:rPr lang="en-US" altLang="ko-KR" dirty="0"/>
              <a:t>DELETE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6707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CAD6F-7830-6E6A-59B9-8E52BA071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0B9FF3-C0CD-4503-A531-4216A917E9A8}"/>
              </a:ext>
            </a:extLst>
          </p:cNvPr>
          <p:cNvSpPr txBox="1"/>
          <p:nvPr/>
        </p:nvSpPr>
        <p:spPr>
          <a:xfrm>
            <a:off x="2269491" y="2600493"/>
            <a:ext cx="765305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FastAPI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와 함께 쓰기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77538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438B5F92-5817-3A73-A1A4-AE58A4720589}"/>
              </a:ext>
            </a:extLst>
          </p:cNvPr>
          <p:cNvGrpSpPr/>
          <p:nvPr/>
        </p:nvGrpSpPr>
        <p:grpSpPr>
          <a:xfrm>
            <a:off x="771377" y="2628297"/>
            <a:ext cx="10649246" cy="1601405"/>
            <a:chOff x="543687" y="2628297"/>
            <a:chExt cx="10649246" cy="1601405"/>
          </a:xfrm>
        </p:grpSpPr>
        <p:pic>
          <p:nvPicPr>
            <p:cNvPr id="1026" name="Picture 2" descr="Django - 나무위키">
              <a:extLst>
                <a:ext uri="{FF2B5EF4-FFF2-40B4-BE49-F238E27FC236}">
                  <a16:creationId xmlns:a16="http://schemas.microsoft.com/office/drawing/2014/main" id="{E26CB09E-64C0-7C67-4E61-C7886F6E5F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687" y="2868849"/>
              <a:ext cx="3093381" cy="10689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9C38F448-5E1B-1EE5-39B7-6FD5C1C61B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51017" y="2883218"/>
              <a:ext cx="3214158" cy="10401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FastAPI">
              <a:extLst>
                <a:ext uri="{FF2B5EF4-FFF2-40B4-BE49-F238E27FC236}">
                  <a16:creationId xmlns:a16="http://schemas.microsoft.com/office/drawing/2014/main" id="{FECA2AF1-90FC-E139-33F2-5513F288F5A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307" r="10247"/>
            <a:stretch/>
          </p:blipFill>
          <p:spPr bwMode="auto">
            <a:xfrm>
              <a:off x="7662333" y="2628297"/>
              <a:ext cx="3530600" cy="16014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" name="제목 1">
            <a:extLst>
              <a:ext uri="{FF2B5EF4-FFF2-40B4-BE49-F238E27FC236}">
                <a16:creationId xmlns:a16="http://schemas.microsoft.com/office/drawing/2014/main" id="{A57BADA5-7129-89FB-E9F5-889E596F3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en-US" altLang="ko-KR" b="1" dirty="0"/>
              <a:t>Python </a:t>
            </a:r>
            <a:r>
              <a:rPr lang="ko-KR" altLang="en-US" b="1" dirty="0"/>
              <a:t>웹 프레임워크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38660903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57A25-5CDE-300B-E4F7-54551EEF0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A2323AD7-E9B9-CFF1-D17C-21FB2202E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en-US" altLang="ko-KR" b="1" dirty="0" err="1"/>
              <a:t>FastAPI</a:t>
            </a:r>
            <a:endParaRPr lang="en-US" altLang="ko-KR" b="1" dirty="0"/>
          </a:p>
        </p:txBody>
      </p:sp>
      <p:sp>
        <p:nvSpPr>
          <p:cNvPr id="2" name="내용 개체 틀 3">
            <a:extLst>
              <a:ext uri="{FF2B5EF4-FFF2-40B4-BE49-F238E27FC236}">
                <a16:creationId xmlns:a16="http://schemas.microsoft.com/office/drawing/2014/main" id="{BA4A2FBE-9302-AE9E-E3DE-A4A40332C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165385"/>
            <a:ext cx="11700727" cy="482054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</a:t>
            </a:r>
            <a:r>
              <a:rPr lang="ko-KR" altLang="en-US" dirty="0"/>
              <a:t> </a:t>
            </a:r>
            <a:r>
              <a:rPr lang="en-US" altLang="ko-KR" dirty="0"/>
              <a:t>Python </a:t>
            </a:r>
            <a:r>
              <a:rPr lang="ko-KR" altLang="en-US" dirty="0"/>
              <a:t>기반의 고성능 웹 프레임워크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특징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RESTful API </a:t>
            </a:r>
            <a:r>
              <a:rPr lang="ko-KR" altLang="en-US" dirty="0"/>
              <a:t>서버 구축에 최적화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비동기</a:t>
            </a:r>
            <a:r>
              <a:rPr lang="en-US" altLang="ko-KR" dirty="0"/>
              <a:t>(async/await) </a:t>
            </a:r>
            <a:r>
              <a:rPr lang="ko-KR" altLang="en-US" dirty="0"/>
              <a:t>완벽 지원 → 빠른 처리 속도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 err="1"/>
              <a:t>Pydantic</a:t>
            </a:r>
            <a:r>
              <a:rPr lang="en-US" altLang="ko-KR" dirty="0"/>
              <a:t> </a:t>
            </a:r>
            <a:r>
              <a:rPr lang="ko-KR" altLang="en-US" dirty="0"/>
              <a:t>기반 타입 검증 → 자동 데이터 유효성 검사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자동 문서화 기능 제공 → </a:t>
            </a:r>
            <a:r>
              <a:rPr lang="en-US" altLang="ko-KR" dirty="0"/>
              <a:t>Swagger / </a:t>
            </a:r>
            <a:r>
              <a:rPr lang="en-US" altLang="ko-KR" dirty="0" err="1"/>
              <a:t>ReDoc</a:t>
            </a:r>
            <a:r>
              <a:rPr lang="en-US" altLang="ko-KR" dirty="0"/>
              <a:t> </a:t>
            </a:r>
            <a:r>
              <a:rPr lang="ko-KR" altLang="en-US" dirty="0"/>
              <a:t>자동 생성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🔗 공식 사이트 </a:t>
            </a:r>
            <a:r>
              <a:rPr lang="en-US" altLang="ko-KR" dirty="0"/>
              <a:t>: </a:t>
            </a:r>
            <a:r>
              <a:rPr lang="en-US" altLang="ko-KR" dirty="0">
                <a:hlinkClick r:id="rId2"/>
              </a:rPr>
              <a:t>https://fastapi.tiangolo.com</a:t>
            </a:r>
            <a:r>
              <a:rPr lang="en-US" altLang="ko-K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813610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F66A0-BA46-0776-FADC-2B9D26B8C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43DE82C-9BD4-DEC3-9F21-9E8763848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en-US" altLang="ko-KR" b="1" dirty="0" err="1"/>
              <a:t>RestfulAPI</a:t>
            </a:r>
            <a:endParaRPr lang="en-US" altLang="ko-KR" b="1" dirty="0"/>
          </a:p>
        </p:txBody>
      </p:sp>
      <p:sp>
        <p:nvSpPr>
          <p:cNvPr id="2" name="내용 개체 틀 3">
            <a:extLst>
              <a:ext uri="{FF2B5EF4-FFF2-40B4-BE49-F238E27FC236}">
                <a16:creationId xmlns:a16="http://schemas.microsoft.com/office/drawing/2014/main" id="{EC1A8544-E1D0-C33F-3A1C-9F326D1A5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165385"/>
            <a:ext cx="11700727" cy="482054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</a:t>
            </a:r>
            <a:r>
              <a:rPr lang="ko-KR" altLang="en-US" dirty="0"/>
              <a:t> </a:t>
            </a:r>
            <a:r>
              <a:rPr lang="en-US" altLang="ko-KR" dirty="0"/>
              <a:t>REST : </a:t>
            </a:r>
            <a:r>
              <a:rPr lang="en-US" altLang="ko-KR" b="1" dirty="0" err="1"/>
              <a:t>RE</a:t>
            </a:r>
            <a:r>
              <a:rPr lang="en-US" altLang="ko-KR" dirty="0" err="1"/>
              <a:t>presentational</a:t>
            </a:r>
            <a:r>
              <a:rPr lang="en-US" altLang="ko-KR" b="1" dirty="0"/>
              <a:t> S</a:t>
            </a:r>
            <a:r>
              <a:rPr lang="en-US" altLang="ko-KR" dirty="0"/>
              <a:t>tate </a:t>
            </a:r>
            <a:r>
              <a:rPr lang="en-US" altLang="ko-KR" b="1" dirty="0"/>
              <a:t>T</a:t>
            </a:r>
            <a:r>
              <a:rPr lang="en-US" altLang="ko-KR" dirty="0"/>
              <a:t>ransfer</a:t>
            </a:r>
            <a:r>
              <a:rPr lang="ko-KR" altLang="en-US" dirty="0"/>
              <a:t>의 약자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➡️ 자원을 </a:t>
            </a:r>
            <a:r>
              <a:rPr lang="en-US" altLang="ko-KR" dirty="0"/>
              <a:t>HTTP URI</a:t>
            </a:r>
            <a:r>
              <a:rPr lang="ko-KR" altLang="en-US" dirty="0"/>
              <a:t>로 표현하고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      ➡️ </a:t>
            </a:r>
            <a:r>
              <a:rPr lang="en-US" altLang="ko-KR" dirty="0"/>
              <a:t>HTTP </a:t>
            </a:r>
            <a:r>
              <a:rPr lang="ko-KR" altLang="en-US" dirty="0"/>
              <a:t>메서드를 이용해 자원을 조작하는 방식의 </a:t>
            </a:r>
            <a:r>
              <a:rPr lang="en-US" altLang="ko-KR" dirty="0"/>
              <a:t>API </a:t>
            </a:r>
            <a:r>
              <a:rPr lang="ko-KR" altLang="en-US" dirty="0"/>
              <a:t>설계 원칙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</a:t>
            </a:r>
            <a:r>
              <a:rPr lang="ko-KR" altLang="en-US" dirty="0"/>
              <a:t> </a:t>
            </a:r>
            <a:r>
              <a:rPr lang="en-US" altLang="ko-KR" dirty="0"/>
              <a:t>RESTful API : </a:t>
            </a:r>
            <a:r>
              <a:rPr lang="en-US" altLang="ko-KR" b="1" dirty="0"/>
              <a:t>REST </a:t>
            </a:r>
            <a:r>
              <a:rPr lang="ko-KR" altLang="en-US" b="1" dirty="0"/>
              <a:t>원칙을 지키며 설계된 </a:t>
            </a:r>
            <a:r>
              <a:rPr lang="en-US" altLang="ko-KR" b="1" dirty="0"/>
              <a:t>API</a:t>
            </a:r>
            <a:r>
              <a:rPr lang="ko-KR" altLang="en-US" b="1" dirty="0"/>
              <a:t>를 의미함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565672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3C167-040A-C3A2-68B3-BD5BED489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CA46CF6-5A8D-F142-C179-FAA209C9F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en-US" altLang="ko-KR" b="1" dirty="0" err="1"/>
              <a:t>RestfulAPI</a:t>
            </a:r>
            <a:endParaRPr lang="en-US" altLang="ko-KR" b="1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D9D65F9-48CA-0A7C-41DC-F601E5E755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394769"/>
              </p:ext>
            </p:extLst>
          </p:nvPr>
        </p:nvGraphicFramePr>
        <p:xfrm>
          <a:off x="371475" y="1875098"/>
          <a:ext cx="11449050" cy="3741937"/>
        </p:xfrm>
        <a:graphic>
          <a:graphicData uri="http://schemas.openxmlformats.org/drawingml/2006/table">
            <a:tbl>
              <a:tblPr/>
              <a:tblGrid>
                <a:gridCol w="3156631">
                  <a:extLst>
                    <a:ext uri="{9D8B030D-6E8A-4147-A177-3AD203B41FA5}">
                      <a16:colId xmlns:a16="http://schemas.microsoft.com/office/drawing/2014/main" val="2066828950"/>
                    </a:ext>
                  </a:extLst>
                </a:gridCol>
                <a:gridCol w="3432210">
                  <a:extLst>
                    <a:ext uri="{9D8B030D-6E8A-4147-A177-3AD203B41FA5}">
                      <a16:colId xmlns:a16="http://schemas.microsoft.com/office/drawing/2014/main" val="2128132629"/>
                    </a:ext>
                  </a:extLst>
                </a:gridCol>
                <a:gridCol w="4860209">
                  <a:extLst>
                    <a:ext uri="{9D8B030D-6E8A-4147-A177-3AD203B41FA5}">
                      <a16:colId xmlns:a16="http://schemas.microsoft.com/office/drawing/2014/main" val="936360360"/>
                    </a:ext>
                  </a:extLst>
                </a:gridCol>
              </a:tblGrid>
              <a:tr h="64690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구성 요소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638403"/>
                  </a:ext>
                </a:extLst>
              </a:tr>
              <a:tr h="103167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자원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Resource)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/users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무엇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을 다루는지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(ex: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사용자 목록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endParaRPr lang="ko-KR" altLang="en-US" sz="1800" b="1" i="0" u="none" strike="noStrike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7221442"/>
                  </a:ext>
                </a:extLst>
              </a:tr>
              <a:tr h="103167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행위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Method)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GET, POST, PUT, DELETE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무엇을 할 건지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0045920"/>
                  </a:ext>
                </a:extLst>
              </a:tr>
              <a:tr h="103167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표현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Representation)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JSON, XML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등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자원을 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어떻게 주고받을지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3554034"/>
                  </a:ext>
                </a:extLst>
              </a:tr>
            </a:tbl>
          </a:graphicData>
        </a:graphic>
      </p:graphicFrame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8DDF4384-9BBD-84D5-A190-D959646E1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988" y="1145407"/>
            <a:ext cx="7417518" cy="7296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dirty="0"/>
              <a:t>✅ 핵심 구성 요소</a:t>
            </a:r>
          </a:p>
        </p:txBody>
      </p:sp>
    </p:spTree>
    <p:extLst>
      <p:ext uri="{BB962C8B-B14F-4D97-AF65-F5344CB8AC3E}">
        <p14:creationId xmlns:p14="http://schemas.microsoft.com/office/powerpoint/2010/main" val="22858726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9BA12-915F-118B-4F85-E31B3401B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7B3C1250-0FD6-E451-724C-00EA473A1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en-US" altLang="ko-KR" b="1" dirty="0" err="1"/>
              <a:t>RestfulAPI</a:t>
            </a:r>
            <a:endParaRPr lang="en-US" altLang="ko-KR" b="1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0DBA719F-2C64-A966-CE23-8780F8E25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988" y="1145407"/>
            <a:ext cx="7417518" cy="7296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dirty="0"/>
              <a:t>✅ </a:t>
            </a:r>
            <a:r>
              <a:rPr lang="en-US" altLang="ko-KR" dirty="0"/>
              <a:t>HTTP </a:t>
            </a:r>
            <a:r>
              <a:rPr lang="ko-KR" altLang="en-US" dirty="0"/>
              <a:t>메서드와 의미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D016475-7E7F-0F16-2DFC-F8F929A885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883814"/>
              </p:ext>
            </p:extLst>
          </p:nvPr>
        </p:nvGraphicFramePr>
        <p:xfrm>
          <a:off x="361950" y="1875098"/>
          <a:ext cx="11468100" cy="3547800"/>
        </p:xfrm>
        <a:graphic>
          <a:graphicData uri="http://schemas.openxmlformats.org/drawingml/2006/table">
            <a:tbl>
              <a:tblPr/>
              <a:tblGrid>
                <a:gridCol w="3691786">
                  <a:extLst>
                    <a:ext uri="{9D8B030D-6E8A-4147-A177-3AD203B41FA5}">
                      <a16:colId xmlns:a16="http://schemas.microsoft.com/office/drawing/2014/main" val="1524258825"/>
                    </a:ext>
                  </a:extLst>
                </a:gridCol>
                <a:gridCol w="7776314">
                  <a:extLst>
                    <a:ext uri="{9D8B030D-6E8A-4147-A177-3AD203B41FA5}">
                      <a16:colId xmlns:a16="http://schemas.microsoft.com/office/drawing/2014/main" val="3518895624"/>
                    </a:ext>
                  </a:extLst>
                </a:gridCol>
              </a:tblGrid>
              <a:tr h="5913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메서드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501663"/>
                  </a:ext>
                </a:extLst>
              </a:tr>
              <a:tr h="5913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GET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데이터 조회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9261728"/>
                  </a:ext>
                </a:extLst>
              </a:tr>
              <a:tr h="5913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POST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새 데이터 생성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703843"/>
                  </a:ext>
                </a:extLst>
              </a:tr>
              <a:tr h="5913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PUT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데이터 전체 수정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4464927"/>
                  </a:ext>
                </a:extLst>
              </a:tr>
              <a:tr h="5913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PATCH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데이터 일부 수정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89563"/>
                  </a:ext>
                </a:extLst>
              </a:tr>
              <a:tr h="5913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DELETE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데이터 삭제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8783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27959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B1AA2-46A8-FBF7-5225-8D02D4812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D2D17361-FAB2-9102-C805-387AD822B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en-US" altLang="ko-KR" b="1" dirty="0" err="1"/>
              <a:t>RestfulAPI</a:t>
            </a:r>
            <a:endParaRPr lang="en-US" altLang="ko-KR" b="1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A613F0A4-B6A3-20DD-FD4B-0024A4740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988" y="1145407"/>
            <a:ext cx="7417518" cy="7296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dirty="0"/>
              <a:t>✅ 예시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7A342B3-1D40-B27C-36A2-E15E672905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710495"/>
              </p:ext>
            </p:extLst>
          </p:nvPr>
        </p:nvGraphicFramePr>
        <p:xfrm>
          <a:off x="374650" y="1875098"/>
          <a:ext cx="11442700" cy="3548856"/>
        </p:xfrm>
        <a:graphic>
          <a:graphicData uri="http://schemas.openxmlformats.org/drawingml/2006/table">
            <a:tbl>
              <a:tblPr/>
              <a:tblGrid>
                <a:gridCol w="4661841">
                  <a:extLst>
                    <a:ext uri="{9D8B030D-6E8A-4147-A177-3AD203B41FA5}">
                      <a16:colId xmlns:a16="http://schemas.microsoft.com/office/drawing/2014/main" val="3993466008"/>
                    </a:ext>
                  </a:extLst>
                </a:gridCol>
                <a:gridCol w="6780859">
                  <a:extLst>
                    <a:ext uri="{9D8B030D-6E8A-4147-A177-3AD203B41FA5}">
                      <a16:colId xmlns:a16="http://schemas.microsoft.com/office/drawing/2014/main" val="4111575334"/>
                    </a:ext>
                  </a:extLst>
                </a:gridCol>
              </a:tblGrid>
              <a:tr h="5914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API </a:t>
                      </a: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요청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899080"/>
                  </a:ext>
                </a:extLst>
              </a:tr>
              <a:tr h="5914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GET /users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사용자 목록 조회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2531339"/>
                  </a:ext>
                </a:extLst>
              </a:tr>
              <a:tr h="5914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GET /users/1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특정 사용자 정보 조회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961349"/>
                  </a:ext>
                </a:extLst>
              </a:tr>
              <a:tr h="5914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POST /users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새 사용자 생성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7360206"/>
                  </a:ext>
                </a:extLst>
              </a:tr>
              <a:tr h="5914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PUT /users/1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사용자 정보 전체 수정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265916"/>
                  </a:ext>
                </a:extLst>
              </a:tr>
              <a:tr h="5914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DELETE /users/1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사용자 삭제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369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61500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084BD-D4EE-C06E-5F21-DDB93431B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CC283BA0-0083-4A58-9938-6BD77DC1D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en-US" altLang="ko-KR" b="1" dirty="0"/>
              <a:t>Postman </a:t>
            </a:r>
            <a:r>
              <a:rPr lang="ko-KR" altLang="en-US" b="1" dirty="0"/>
              <a:t>설치하기</a:t>
            </a:r>
            <a:endParaRPr lang="en-US" altLang="ko-KR" b="1" dirty="0"/>
          </a:p>
        </p:txBody>
      </p:sp>
      <p:sp>
        <p:nvSpPr>
          <p:cNvPr id="2" name="내용 개체 틀 3">
            <a:extLst>
              <a:ext uri="{FF2B5EF4-FFF2-40B4-BE49-F238E27FC236}">
                <a16:creationId xmlns:a16="http://schemas.microsoft.com/office/drawing/2014/main" id="{C5FF1334-813E-9E08-B9C2-57924C623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165385"/>
            <a:ext cx="11700727" cy="482054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</a:t>
            </a:r>
            <a:r>
              <a:rPr lang="ko-KR" altLang="en-US" dirty="0"/>
              <a:t> 포스트맨 공식 사이트 </a:t>
            </a:r>
            <a:r>
              <a:rPr lang="en-US" altLang="ko-KR" dirty="0"/>
              <a:t>: </a:t>
            </a:r>
            <a:r>
              <a:rPr lang="en-US" altLang="ko-KR" dirty="0">
                <a:hlinkClick r:id="rId2"/>
              </a:rPr>
              <a:t>https://www.postman.com/downloads/</a:t>
            </a:r>
            <a:r>
              <a:rPr lang="en-US" altLang="ko-KR" dirty="0"/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설치 파일 다운로드 후 실행 →</a:t>
            </a:r>
            <a:r>
              <a:rPr lang="en-US" altLang="ko-KR" dirty="0"/>
              <a:t> </a:t>
            </a:r>
            <a:r>
              <a:rPr lang="ko-KR" altLang="en-US" dirty="0"/>
              <a:t>구글 로그인 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6E16973-8B09-E91C-993F-359FC0B3D2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250" y="2860398"/>
            <a:ext cx="5905500" cy="314551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569C8A03-162C-26DF-B1FE-BBAA0D498EBC}"/>
              </a:ext>
            </a:extLst>
          </p:cNvPr>
          <p:cNvSpPr/>
          <p:nvPr/>
        </p:nvSpPr>
        <p:spPr>
          <a:xfrm>
            <a:off x="3489960" y="4938502"/>
            <a:ext cx="1973580" cy="239514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01989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F8DFC-14FE-3764-588A-001890A03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1260D1-ADFB-1500-B95A-65A796D5C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/>
              <a:t>패키지 설치</a:t>
            </a:r>
            <a:r>
              <a:rPr lang="en-US" altLang="ko-KR" b="1" dirty="0"/>
              <a:t>(</a:t>
            </a:r>
            <a:r>
              <a:rPr lang="en-US" altLang="ko-KR" b="1" dirty="0" err="1"/>
              <a:t>FastAPI</a:t>
            </a:r>
            <a:r>
              <a:rPr lang="en-US" altLang="ko-KR" b="1" dirty="0"/>
              <a:t>, </a:t>
            </a:r>
            <a:r>
              <a:rPr lang="en-US" altLang="ko-KR" b="1" dirty="0" err="1"/>
              <a:t>uvicorn</a:t>
            </a:r>
            <a:r>
              <a:rPr lang="en-US" altLang="ko-KR" b="1" dirty="0"/>
              <a:t>)</a:t>
            </a:r>
          </a:p>
        </p:txBody>
      </p:sp>
      <p:pic>
        <p:nvPicPr>
          <p:cNvPr id="5" name="그림 4" descr="텍스트, 스크린샷, 폰트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478A326-818F-4FBA-2F26-611896A394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6691"/>
            <a:ext cx="12192000" cy="4284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3979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3FBCA-9FC3-00E3-B7F5-D567EEC47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528BF04-C014-0B44-D05F-525B3C66F9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4175"/>
            <a:ext cx="12192000" cy="593924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0522628-79F8-4C62-DDDB-0BAA112EB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DB</a:t>
            </a:r>
            <a:r>
              <a:rPr lang="ko-KR" altLang="en-US" b="1" dirty="0"/>
              <a:t>와 연결하기</a:t>
            </a:r>
            <a:endParaRPr lang="en-US" altLang="ko-KR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276F1A2-9ED9-88AC-939C-AC550A529794}"/>
              </a:ext>
            </a:extLst>
          </p:cNvPr>
          <p:cNvSpPr/>
          <p:nvPr/>
        </p:nvSpPr>
        <p:spPr>
          <a:xfrm>
            <a:off x="706950" y="5833310"/>
            <a:ext cx="9440365" cy="4185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기본적인 문법 구성은 일반적인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python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구현과 같음</a:t>
            </a: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8354A477-3A01-3B9F-EF09-AAC61E66B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83" y="1052270"/>
            <a:ext cx="7417518" cy="7296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dirty="0"/>
              <a:t>✅ </a:t>
            </a:r>
            <a:r>
              <a:rPr lang="en-US" altLang="ko-KR" dirty="0"/>
              <a:t>DB </a:t>
            </a:r>
            <a:r>
              <a:rPr lang="ko-KR" altLang="en-US" dirty="0"/>
              <a:t>연결 함수</a:t>
            </a:r>
          </a:p>
        </p:txBody>
      </p:sp>
    </p:spTree>
    <p:extLst>
      <p:ext uri="{BB962C8B-B14F-4D97-AF65-F5344CB8AC3E}">
        <p14:creationId xmlns:p14="http://schemas.microsoft.com/office/powerpoint/2010/main" val="34522311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26D2D-EFD9-E465-61CA-4B774C2E1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소프트웨어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4F1D4A6-E553-8BED-DD8E-C8F47C208A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840"/>
            <a:ext cx="12192000" cy="560832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A15A35D-A36D-CEE3-31BF-F4491BB63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 err="1"/>
              <a:t>FastAPI</a:t>
            </a:r>
            <a:r>
              <a:rPr lang="en-US" altLang="ko-KR" b="1" dirty="0"/>
              <a:t> </a:t>
            </a:r>
            <a:r>
              <a:rPr lang="ko-KR" altLang="en-US" b="1" dirty="0"/>
              <a:t>기본 앱 구성</a:t>
            </a:r>
            <a:endParaRPr lang="en-US" altLang="ko-KR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75FAFE8-A79D-33C6-DD61-3AD436B2D89D}"/>
              </a:ext>
            </a:extLst>
          </p:cNvPr>
          <p:cNvSpPr/>
          <p:nvPr/>
        </p:nvSpPr>
        <p:spPr>
          <a:xfrm>
            <a:off x="728117" y="5427291"/>
            <a:ext cx="9440365" cy="4185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@app.get("/") : HTTP GET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요청이 루트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URL(/)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들어왔을 때 실행할 함수를 지정</a:t>
            </a: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1CDE2473-EF65-DF11-92A4-E070316A3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83" y="950670"/>
            <a:ext cx="7417518" cy="7296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dirty="0"/>
              <a:t>✅ </a:t>
            </a:r>
            <a:r>
              <a:rPr lang="en-US" altLang="ko-KR" dirty="0"/>
              <a:t>DB </a:t>
            </a:r>
            <a:r>
              <a:rPr lang="ko-KR" altLang="en-US" dirty="0"/>
              <a:t>연결 함수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7B6ADCF-E387-4233-8C69-6948F434802C}"/>
              </a:ext>
            </a:extLst>
          </p:cNvPr>
          <p:cNvSpPr/>
          <p:nvPr/>
        </p:nvSpPr>
        <p:spPr>
          <a:xfrm>
            <a:off x="1536221" y="2425369"/>
            <a:ext cx="3662311" cy="239514"/>
          </a:xfrm>
          <a:prstGeom prst="rect">
            <a:avLst/>
          </a:prstGeom>
          <a:noFill/>
          <a:ln w="1905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70B43A-DF51-F987-334B-9FB847583BE2}"/>
              </a:ext>
            </a:extLst>
          </p:cNvPr>
          <p:cNvSpPr txBox="1"/>
          <p:nvPr/>
        </p:nvSpPr>
        <p:spPr>
          <a:xfrm>
            <a:off x="5198532" y="2384887"/>
            <a:ext cx="19848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schemeClr val="bg1"/>
                </a:solidFill>
              </a:rPr>
              <a:t>FastAPI</a:t>
            </a:r>
            <a:r>
              <a:rPr lang="en-US" altLang="ko-KR" sz="1400" dirty="0">
                <a:solidFill>
                  <a:schemeClr val="bg1"/>
                </a:solidFill>
              </a:rPr>
              <a:t> </a:t>
            </a:r>
            <a:r>
              <a:rPr lang="ko-KR" altLang="en-US" sz="1400" dirty="0">
                <a:solidFill>
                  <a:schemeClr val="bg1"/>
                </a:solidFill>
              </a:rPr>
              <a:t>클래스 불러오기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C653FDE-142B-0328-08DF-ABE4EA026F45}"/>
              </a:ext>
            </a:extLst>
          </p:cNvPr>
          <p:cNvSpPr/>
          <p:nvPr/>
        </p:nvSpPr>
        <p:spPr>
          <a:xfrm>
            <a:off x="1536221" y="2764896"/>
            <a:ext cx="3912079" cy="239514"/>
          </a:xfrm>
          <a:prstGeom prst="rect">
            <a:avLst/>
          </a:prstGeom>
          <a:noFill/>
          <a:ln w="1905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E6A7C7-DA83-DABC-35AD-86071CEDAB8E}"/>
              </a:ext>
            </a:extLst>
          </p:cNvPr>
          <p:cNvSpPr txBox="1"/>
          <p:nvPr/>
        </p:nvSpPr>
        <p:spPr>
          <a:xfrm>
            <a:off x="5448300" y="2730764"/>
            <a:ext cx="17508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DB</a:t>
            </a:r>
            <a:r>
              <a:rPr lang="ko-KR" altLang="en-US" sz="1400" dirty="0">
                <a:solidFill>
                  <a:schemeClr val="bg1"/>
                </a:solidFill>
              </a:rPr>
              <a:t>생성 함수 불러오기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5D10DF2-BD2E-2750-66D8-53ED2C4F3387}"/>
              </a:ext>
            </a:extLst>
          </p:cNvPr>
          <p:cNvSpPr/>
          <p:nvPr/>
        </p:nvSpPr>
        <p:spPr>
          <a:xfrm>
            <a:off x="1515053" y="3421008"/>
            <a:ext cx="2066347" cy="265636"/>
          </a:xfrm>
          <a:prstGeom prst="rect">
            <a:avLst/>
          </a:prstGeom>
          <a:noFill/>
          <a:ln w="1905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DE83D4-9BE9-F177-B492-E348421585D8}"/>
              </a:ext>
            </a:extLst>
          </p:cNvPr>
          <p:cNvSpPr txBox="1"/>
          <p:nvPr/>
        </p:nvSpPr>
        <p:spPr>
          <a:xfrm>
            <a:off x="3581400" y="3399937"/>
            <a:ext cx="18293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schemeClr val="bg1"/>
                </a:solidFill>
              </a:rPr>
              <a:t>FastAPI</a:t>
            </a:r>
            <a:r>
              <a:rPr lang="en-US" altLang="ko-KR" sz="1400" dirty="0">
                <a:solidFill>
                  <a:schemeClr val="bg1"/>
                </a:solidFill>
              </a:rPr>
              <a:t> </a:t>
            </a:r>
            <a:r>
              <a:rPr lang="ko-KR" altLang="en-US" sz="1400" dirty="0">
                <a:solidFill>
                  <a:schemeClr val="bg1"/>
                </a:solidFill>
              </a:rPr>
              <a:t>인스턴스 생성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F167EA6-240A-8611-70B5-BDFAD8CCD5F9}"/>
              </a:ext>
            </a:extLst>
          </p:cNvPr>
          <p:cNvSpPr/>
          <p:nvPr/>
        </p:nvSpPr>
        <p:spPr>
          <a:xfrm>
            <a:off x="1515053" y="4080173"/>
            <a:ext cx="1793297" cy="265636"/>
          </a:xfrm>
          <a:prstGeom prst="rect">
            <a:avLst/>
          </a:prstGeom>
          <a:noFill/>
          <a:ln w="1905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5C2EC0-6F7E-DB6C-D092-CBF888233EF1}"/>
              </a:ext>
            </a:extLst>
          </p:cNvPr>
          <p:cNvSpPr txBox="1"/>
          <p:nvPr/>
        </p:nvSpPr>
        <p:spPr>
          <a:xfrm>
            <a:off x="3308350" y="4063331"/>
            <a:ext cx="14718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라우팅 </a:t>
            </a:r>
            <a:r>
              <a:rPr lang="ko-KR" altLang="en-US" sz="1400" dirty="0" err="1">
                <a:solidFill>
                  <a:schemeClr val="bg1"/>
                </a:solidFill>
              </a:rPr>
              <a:t>데코레이터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1D0CC7A-314D-0005-EE8E-D45F623D2706}"/>
              </a:ext>
            </a:extLst>
          </p:cNvPr>
          <p:cNvSpPr/>
          <p:nvPr/>
        </p:nvSpPr>
        <p:spPr>
          <a:xfrm>
            <a:off x="1515053" y="4405530"/>
            <a:ext cx="1549423" cy="265636"/>
          </a:xfrm>
          <a:prstGeom prst="rect">
            <a:avLst/>
          </a:prstGeom>
          <a:noFill/>
          <a:ln w="1905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B2FF28-177C-894A-813F-14C3375275DD}"/>
              </a:ext>
            </a:extLst>
          </p:cNvPr>
          <p:cNvSpPr txBox="1"/>
          <p:nvPr/>
        </p:nvSpPr>
        <p:spPr>
          <a:xfrm>
            <a:off x="3064476" y="4384459"/>
            <a:ext cx="28712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GET </a:t>
            </a:r>
            <a:r>
              <a:rPr lang="ko-KR" altLang="en-US" sz="1400" dirty="0">
                <a:solidFill>
                  <a:schemeClr val="bg1"/>
                </a:solidFill>
              </a:rPr>
              <a:t>요청이 </a:t>
            </a:r>
            <a:r>
              <a:rPr lang="en-US" altLang="ko-KR" sz="1400" dirty="0">
                <a:solidFill>
                  <a:schemeClr val="bg1"/>
                </a:solidFill>
              </a:rPr>
              <a:t>/</a:t>
            </a:r>
            <a:r>
              <a:rPr lang="ko-KR" altLang="en-US" sz="1400" dirty="0">
                <a:solidFill>
                  <a:schemeClr val="bg1"/>
                </a:solidFill>
              </a:rPr>
              <a:t>로 오면 이 함수가 호출됨</a:t>
            </a:r>
          </a:p>
        </p:txBody>
      </p:sp>
    </p:spTree>
    <p:extLst>
      <p:ext uri="{BB962C8B-B14F-4D97-AF65-F5344CB8AC3E}">
        <p14:creationId xmlns:p14="http://schemas.microsoft.com/office/powerpoint/2010/main" val="12483305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73203-1AE5-2C76-2C00-E029FB3F4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 descr="텍스트, 스크린샷, 소프트웨어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E139702-B328-0506-4BBD-2AC30D92B4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168" y="452648"/>
            <a:ext cx="10687664" cy="602276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AAF8DC2-EB9C-13B3-78F7-B422E6E56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CRUD - </a:t>
            </a:r>
            <a:r>
              <a:rPr lang="ko-KR" altLang="en-US" b="1" dirty="0"/>
              <a:t>사용자 조회</a:t>
            </a:r>
            <a:r>
              <a:rPr lang="en-US" altLang="ko-KR" b="1" dirty="0"/>
              <a:t>(READ)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0144719-AB28-1616-B2ED-0E270E923B14}"/>
              </a:ext>
            </a:extLst>
          </p:cNvPr>
          <p:cNvSpPr/>
          <p:nvPr/>
        </p:nvSpPr>
        <p:spPr>
          <a:xfrm>
            <a:off x="2102960" y="1983846"/>
            <a:ext cx="1983266" cy="221192"/>
          </a:xfrm>
          <a:prstGeom prst="rect">
            <a:avLst/>
          </a:prstGeom>
          <a:noFill/>
          <a:ln w="1905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F9174B-6640-A6B9-13EC-E135AF7BA162}"/>
              </a:ext>
            </a:extLst>
          </p:cNvPr>
          <p:cNvSpPr txBox="1"/>
          <p:nvPr/>
        </p:nvSpPr>
        <p:spPr>
          <a:xfrm>
            <a:off x="4086225" y="1940553"/>
            <a:ext cx="28908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DB</a:t>
            </a:r>
            <a:r>
              <a:rPr lang="ko-KR" altLang="en-US" sz="1400" dirty="0">
                <a:solidFill>
                  <a:schemeClr val="bg1"/>
                </a:solidFill>
              </a:rPr>
              <a:t>생성 함수로 </a:t>
            </a:r>
            <a:r>
              <a:rPr lang="en-US" altLang="ko-KR" sz="1400" dirty="0">
                <a:solidFill>
                  <a:schemeClr val="bg1"/>
                </a:solidFill>
              </a:rPr>
              <a:t>connection </a:t>
            </a:r>
            <a:r>
              <a:rPr lang="ko-KR" altLang="en-US" sz="1400" dirty="0">
                <a:solidFill>
                  <a:schemeClr val="bg1"/>
                </a:solidFill>
              </a:rPr>
              <a:t>객체 생성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02ADB7D-3B80-36E7-8640-D21DEA41A36E}"/>
              </a:ext>
            </a:extLst>
          </p:cNvPr>
          <p:cNvSpPr/>
          <p:nvPr/>
        </p:nvSpPr>
        <p:spPr>
          <a:xfrm>
            <a:off x="1185317" y="5869285"/>
            <a:ext cx="9440365" cy="4185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cursor,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execute,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16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fetchall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close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등 기본적인 메소드 사용법은 동일함</a:t>
            </a:r>
          </a:p>
        </p:txBody>
      </p:sp>
    </p:spTree>
    <p:extLst>
      <p:ext uri="{BB962C8B-B14F-4D97-AF65-F5344CB8AC3E}">
        <p14:creationId xmlns:p14="http://schemas.microsoft.com/office/powerpoint/2010/main" val="13337362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CE38D-99F7-025D-6F49-40D4FAA6E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9848B2-E47D-7409-3F6C-A071F4737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Pydantic</a:t>
            </a:r>
            <a:r>
              <a:rPr lang="en-US" altLang="ko-KR" dirty="0"/>
              <a:t> </a:t>
            </a:r>
            <a:r>
              <a:rPr lang="ko-KR" altLang="en-US" dirty="0"/>
              <a:t>모델 </a:t>
            </a:r>
            <a:endParaRPr lang="en-US" altLang="ko-KR" b="1" dirty="0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1629BDED-8FFD-8737-58F4-0CB842F9C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165385"/>
            <a:ext cx="11700727" cy="482054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</a:t>
            </a:r>
            <a:r>
              <a:rPr lang="ko-KR" altLang="en-US" dirty="0"/>
              <a:t>  요청</a:t>
            </a:r>
            <a:r>
              <a:rPr lang="en-US" altLang="ko-KR" dirty="0"/>
              <a:t> </a:t>
            </a:r>
            <a:r>
              <a:rPr lang="ko-KR" altLang="en-US" dirty="0"/>
              <a:t>데이터의 구조를 정의하고</a:t>
            </a:r>
            <a:r>
              <a:rPr lang="en-US" altLang="ko-KR" dirty="0"/>
              <a:t>, </a:t>
            </a:r>
            <a:r>
              <a:rPr lang="ko-KR" altLang="en-US" dirty="0"/>
              <a:t>자동으로 유효성 검사를 해주는 도구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데이터 구조를 정의하는 클래스로</a:t>
            </a:r>
            <a:r>
              <a:rPr lang="en-US" altLang="ko-KR" dirty="0"/>
              <a:t>, </a:t>
            </a:r>
            <a:r>
              <a:rPr lang="ko-KR" altLang="en-US" dirty="0"/>
              <a:t>주로 요청</a:t>
            </a:r>
            <a:r>
              <a:rPr lang="en-US" altLang="ko-KR" dirty="0"/>
              <a:t> </a:t>
            </a:r>
            <a:r>
              <a:rPr lang="ko-KR" altLang="en-US" dirty="0"/>
              <a:t>데이터의 구조와 타입을 명확히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 </a:t>
            </a:r>
            <a:r>
              <a:rPr lang="ko-KR" altLang="en-US" dirty="0"/>
              <a:t>지정할 때 사용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527809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B59D4-35CF-CDCA-A4D5-69550506E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F479A8-753A-9158-6839-B023B2FC0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Pydantic</a:t>
            </a:r>
            <a:r>
              <a:rPr lang="en-US" altLang="ko-KR" dirty="0"/>
              <a:t> </a:t>
            </a:r>
            <a:r>
              <a:rPr lang="ko-KR" altLang="en-US" dirty="0"/>
              <a:t>모델 정의 </a:t>
            </a:r>
            <a:endParaRPr lang="en-US" altLang="ko-KR" b="1" dirty="0"/>
          </a:p>
        </p:txBody>
      </p:sp>
      <p:pic>
        <p:nvPicPr>
          <p:cNvPr id="7" name="그림 6" descr="텍스트, 스크린샷, 소프트웨어, 디스플레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44D2FBB-D3E7-8DB6-28CE-423D40B018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843" y="614103"/>
            <a:ext cx="11480314" cy="6523296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558CEE01-A67C-4978-3B60-B01C5E11258D}"/>
              </a:ext>
            </a:extLst>
          </p:cNvPr>
          <p:cNvSpPr/>
          <p:nvPr/>
        </p:nvSpPr>
        <p:spPr>
          <a:xfrm>
            <a:off x="4229100" y="3060700"/>
            <a:ext cx="1231106" cy="242888"/>
          </a:xfrm>
          <a:prstGeom prst="rect">
            <a:avLst/>
          </a:prstGeom>
          <a:noFill/>
          <a:ln w="1905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05DAAE-5CFE-D725-CA0E-BD70FD5CD44F}"/>
              </a:ext>
            </a:extLst>
          </p:cNvPr>
          <p:cNvSpPr txBox="1"/>
          <p:nvPr/>
        </p:nvSpPr>
        <p:spPr>
          <a:xfrm>
            <a:off x="5974081" y="3028254"/>
            <a:ext cx="14744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solidFill>
                  <a:schemeClr val="bg1"/>
                </a:solidFill>
              </a:rPr>
              <a:t>BaseModel</a:t>
            </a:r>
            <a:r>
              <a:rPr lang="en-US" altLang="ko-KR" sz="1400" dirty="0">
                <a:solidFill>
                  <a:schemeClr val="bg1"/>
                </a:solidFill>
              </a:rPr>
              <a:t> </a:t>
            </a:r>
            <a:r>
              <a:rPr lang="ko-KR" altLang="en-US" sz="1400" dirty="0">
                <a:solidFill>
                  <a:schemeClr val="bg1"/>
                </a:solidFill>
              </a:rPr>
              <a:t>상속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D06C76C-60EF-D094-0626-A172B462102D}"/>
              </a:ext>
            </a:extLst>
          </p:cNvPr>
          <p:cNvSpPr/>
          <p:nvPr/>
        </p:nvSpPr>
        <p:spPr>
          <a:xfrm>
            <a:off x="4229100" y="5018085"/>
            <a:ext cx="1231106" cy="242888"/>
          </a:xfrm>
          <a:prstGeom prst="rect">
            <a:avLst/>
          </a:prstGeom>
          <a:noFill/>
          <a:ln w="1905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34C1F950-57AE-95AF-02F4-C8D6467741D3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5460206" y="3182143"/>
            <a:ext cx="513875" cy="1"/>
          </a:xfrm>
          <a:prstGeom prst="straightConnector1">
            <a:avLst/>
          </a:prstGeom>
          <a:ln>
            <a:solidFill>
              <a:srgbClr val="FF5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38F56708-C3A2-B138-A838-46B430BE836F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5460206" y="3303588"/>
            <a:ext cx="460534" cy="1835941"/>
          </a:xfrm>
          <a:prstGeom prst="straightConnector1">
            <a:avLst/>
          </a:prstGeom>
          <a:ln>
            <a:solidFill>
              <a:srgbClr val="FF5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A27DDC7-20B6-0321-00BB-857A193A0974}"/>
              </a:ext>
            </a:extLst>
          </p:cNvPr>
          <p:cNvSpPr/>
          <p:nvPr/>
        </p:nvSpPr>
        <p:spPr>
          <a:xfrm>
            <a:off x="2488965" y="3370858"/>
            <a:ext cx="1825859" cy="1280518"/>
          </a:xfrm>
          <a:prstGeom prst="rect">
            <a:avLst/>
          </a:prstGeom>
          <a:noFill/>
          <a:ln w="1905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7B5C59-E81E-5481-07B2-7F683102B375}"/>
              </a:ext>
            </a:extLst>
          </p:cNvPr>
          <p:cNvSpPr txBox="1"/>
          <p:nvPr/>
        </p:nvSpPr>
        <p:spPr>
          <a:xfrm>
            <a:off x="2387599" y="4651376"/>
            <a:ext cx="2028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solidFill>
                  <a:schemeClr val="bg1"/>
                </a:solidFill>
              </a:rPr>
              <a:t>데이터의 구조와 타입 정의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21" name="내용 개체 틀 2">
            <a:extLst>
              <a:ext uri="{FF2B5EF4-FFF2-40B4-BE49-F238E27FC236}">
                <a16:creationId xmlns:a16="http://schemas.microsoft.com/office/drawing/2014/main" id="{16344CC5-0F9F-C866-3D1F-C69515B41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1983" y="934450"/>
            <a:ext cx="7417518" cy="7296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dirty="0"/>
              <a:t>✅ 모델 정의</a:t>
            </a:r>
          </a:p>
        </p:txBody>
      </p:sp>
    </p:spTree>
    <p:extLst>
      <p:ext uri="{BB962C8B-B14F-4D97-AF65-F5344CB8AC3E}">
        <p14:creationId xmlns:p14="http://schemas.microsoft.com/office/powerpoint/2010/main" val="519005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EB60B-4406-954D-BDEA-5BC90A12A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D2B4E0-CD58-6E88-9879-1A84CA52C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CRUD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사용자 등록</a:t>
            </a:r>
            <a:r>
              <a:rPr lang="en-US" altLang="ko-KR" dirty="0"/>
              <a:t>(CREATE)</a:t>
            </a:r>
            <a:endParaRPr lang="en-US" altLang="ko-KR" b="1" dirty="0"/>
          </a:p>
        </p:txBody>
      </p:sp>
      <p:pic>
        <p:nvPicPr>
          <p:cNvPr id="6" name="그림 5" descr="텍스트, 스크린샷, 소프트웨어, 디스플레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F70BB4C-26C0-15CD-11AA-A91AA499BC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016" y="572704"/>
            <a:ext cx="10269968" cy="6186728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B66C9841-B08A-19F1-9119-617D6A73D33F}"/>
              </a:ext>
            </a:extLst>
          </p:cNvPr>
          <p:cNvSpPr/>
          <p:nvPr/>
        </p:nvSpPr>
        <p:spPr>
          <a:xfrm>
            <a:off x="2013585" y="2148840"/>
            <a:ext cx="1695450" cy="196532"/>
          </a:xfrm>
          <a:prstGeom prst="rect">
            <a:avLst/>
          </a:prstGeom>
          <a:noFill/>
          <a:ln w="1905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9B2592-2453-D7AA-0EF8-9FA14ADBDFC0}"/>
              </a:ext>
            </a:extLst>
          </p:cNvPr>
          <p:cNvSpPr txBox="1"/>
          <p:nvPr/>
        </p:nvSpPr>
        <p:spPr>
          <a:xfrm>
            <a:off x="3687379" y="2093217"/>
            <a:ext cx="17996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post /users </a:t>
            </a:r>
            <a:r>
              <a:rPr lang="ko-KR" altLang="en-US" sz="1400" dirty="0">
                <a:solidFill>
                  <a:schemeClr val="bg1"/>
                </a:solidFill>
              </a:rPr>
              <a:t>요청 처리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8D54D04-6814-0BD0-F976-9F755989C7BD}"/>
              </a:ext>
            </a:extLst>
          </p:cNvPr>
          <p:cNvSpPr/>
          <p:nvPr/>
        </p:nvSpPr>
        <p:spPr>
          <a:xfrm>
            <a:off x="3417094" y="2381944"/>
            <a:ext cx="1416844" cy="158850"/>
          </a:xfrm>
          <a:prstGeom prst="rect">
            <a:avLst/>
          </a:prstGeom>
          <a:noFill/>
          <a:ln w="1905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E8DEB8-6D3C-29F0-9F70-7EA5F8607867}"/>
              </a:ext>
            </a:extLst>
          </p:cNvPr>
          <p:cNvSpPr txBox="1"/>
          <p:nvPr/>
        </p:nvSpPr>
        <p:spPr>
          <a:xfrm>
            <a:off x="4958239" y="2307480"/>
            <a:ext cx="31875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user request</a:t>
            </a:r>
            <a:r>
              <a:rPr lang="ko-KR" altLang="en-US" sz="1400" dirty="0">
                <a:solidFill>
                  <a:schemeClr val="bg1"/>
                </a:solidFill>
              </a:rPr>
              <a:t>의 </a:t>
            </a:r>
            <a:r>
              <a:rPr lang="en-US" altLang="ko-KR" sz="1400" dirty="0">
                <a:solidFill>
                  <a:schemeClr val="bg1"/>
                </a:solidFill>
              </a:rPr>
              <a:t>body</a:t>
            </a:r>
            <a:r>
              <a:rPr lang="ko-KR" altLang="en-US" sz="1400" dirty="0">
                <a:solidFill>
                  <a:schemeClr val="bg1"/>
                </a:solidFill>
              </a:rPr>
              <a:t>가 자동으로 매핑 됨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60BCF46-065D-E535-40D9-BB9056DA4A45}"/>
              </a:ext>
            </a:extLst>
          </p:cNvPr>
          <p:cNvSpPr/>
          <p:nvPr/>
        </p:nvSpPr>
        <p:spPr>
          <a:xfrm>
            <a:off x="2013585" y="1718110"/>
            <a:ext cx="2944654" cy="196532"/>
          </a:xfrm>
          <a:prstGeom prst="rect">
            <a:avLst/>
          </a:prstGeom>
          <a:noFill/>
          <a:ln w="1905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F28F0B-AE53-9E90-AC8B-706D58ABE30E}"/>
              </a:ext>
            </a:extLst>
          </p:cNvPr>
          <p:cNvSpPr txBox="1"/>
          <p:nvPr/>
        </p:nvSpPr>
        <p:spPr>
          <a:xfrm>
            <a:off x="4958239" y="1662487"/>
            <a:ext cx="23892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solidFill>
                  <a:schemeClr val="bg1"/>
                </a:solidFill>
              </a:rPr>
              <a:t>예외 처리를 위한 객체 불러오기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50447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4BC7F-A198-8022-8937-00049ECF8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소프트웨어, 디스플레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9053A0E-C90D-2CA5-71F1-DE3DB5987F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233" y="474314"/>
            <a:ext cx="8957534" cy="595533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C93B666-46B1-06F1-1FCA-5218D33D9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CRUD - </a:t>
            </a:r>
            <a:r>
              <a:rPr lang="ko-KR" altLang="en-US" dirty="0"/>
              <a:t>사용자 수정</a:t>
            </a:r>
            <a:r>
              <a:rPr lang="en-US" altLang="ko-KR" dirty="0"/>
              <a:t>(UPDATE)</a:t>
            </a:r>
            <a:endParaRPr lang="en-US" altLang="ko-KR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78DB7CF-69C4-CB92-39A1-DDD65FA687B9}"/>
              </a:ext>
            </a:extLst>
          </p:cNvPr>
          <p:cNvSpPr/>
          <p:nvPr/>
        </p:nvSpPr>
        <p:spPr>
          <a:xfrm>
            <a:off x="1986762" y="5872756"/>
            <a:ext cx="8114501" cy="4185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16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cursor.rowcount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방금 실행한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SQL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쿼리로 영향을 받은 행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(row)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개수를 알려주는 속성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36B3556-7944-B9ED-033C-C0D9013ECC15}"/>
              </a:ext>
            </a:extLst>
          </p:cNvPr>
          <p:cNvSpPr/>
          <p:nvPr/>
        </p:nvSpPr>
        <p:spPr>
          <a:xfrm>
            <a:off x="3844925" y="1476809"/>
            <a:ext cx="676276" cy="196532"/>
          </a:xfrm>
          <a:prstGeom prst="rect">
            <a:avLst/>
          </a:prstGeom>
          <a:noFill/>
          <a:ln w="1905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6E33FD-681C-954C-0AC3-0A0E24F3210F}"/>
              </a:ext>
            </a:extLst>
          </p:cNvPr>
          <p:cNvSpPr txBox="1"/>
          <p:nvPr/>
        </p:nvSpPr>
        <p:spPr>
          <a:xfrm>
            <a:off x="4672978" y="1421186"/>
            <a:ext cx="2667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→ </a:t>
            </a:r>
            <a:r>
              <a:rPr lang="en-US" altLang="ko-KR" sz="1400" dirty="0">
                <a:solidFill>
                  <a:schemeClr val="bg1"/>
                </a:solidFill>
              </a:rPr>
              <a:t>put </a:t>
            </a:r>
            <a:r>
              <a:rPr lang="ko-KR" altLang="en-US" sz="1400" dirty="0" err="1">
                <a:solidFill>
                  <a:schemeClr val="bg1"/>
                </a:solidFill>
              </a:rPr>
              <a:t>요청시</a:t>
            </a:r>
            <a:r>
              <a:rPr lang="ko-KR" altLang="en-US" sz="1400" dirty="0">
                <a:solidFill>
                  <a:schemeClr val="bg1"/>
                </a:solidFill>
              </a:rPr>
              <a:t> </a:t>
            </a:r>
            <a:r>
              <a:rPr lang="en-US" altLang="ko-KR" sz="1400" dirty="0">
                <a:solidFill>
                  <a:schemeClr val="bg1"/>
                </a:solidFill>
              </a:rPr>
              <a:t>URI</a:t>
            </a:r>
            <a:r>
              <a:rPr lang="ko-KR" altLang="en-US" sz="1400" dirty="0">
                <a:solidFill>
                  <a:schemeClr val="bg1"/>
                </a:solidFill>
              </a:rPr>
              <a:t>에 </a:t>
            </a:r>
            <a:r>
              <a:rPr lang="en-US" altLang="ko-KR" sz="1400" dirty="0" err="1">
                <a:solidFill>
                  <a:schemeClr val="bg1"/>
                </a:solidFill>
              </a:rPr>
              <a:t>user_id</a:t>
            </a:r>
            <a:r>
              <a:rPr lang="en-US" altLang="ko-KR" sz="1400" dirty="0">
                <a:solidFill>
                  <a:schemeClr val="bg1"/>
                </a:solidFill>
              </a:rPr>
              <a:t> </a:t>
            </a:r>
            <a:r>
              <a:rPr lang="ko-KR" altLang="en-US" sz="1400" dirty="0">
                <a:solidFill>
                  <a:schemeClr val="bg1"/>
                </a:solidFill>
              </a:rPr>
              <a:t>포함</a:t>
            </a:r>
          </a:p>
        </p:txBody>
      </p:sp>
    </p:spTree>
    <p:extLst>
      <p:ext uri="{BB962C8B-B14F-4D97-AF65-F5344CB8AC3E}">
        <p14:creationId xmlns:p14="http://schemas.microsoft.com/office/powerpoint/2010/main" val="14031240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7503E-F9D4-FAE8-53F2-B707FB15C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소프트웨어, 디스플레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10BAFC0-2E65-7AE0-904A-150F2C319A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468" y="465831"/>
            <a:ext cx="10027064" cy="624906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B8E17C7-03C9-3ECF-D4D2-319857080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CRUD - </a:t>
            </a:r>
            <a:r>
              <a:rPr lang="ko-KR" altLang="en-US" dirty="0"/>
              <a:t>사용자 삭제</a:t>
            </a:r>
            <a:r>
              <a:rPr lang="en-US" altLang="ko-KR" dirty="0"/>
              <a:t>(DELETE)</a:t>
            </a:r>
            <a:endParaRPr lang="en-US" altLang="ko-KR" b="1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4C99E0-4B57-06D0-BADE-B2DDBD84BD41}"/>
              </a:ext>
            </a:extLst>
          </p:cNvPr>
          <p:cNvSpPr/>
          <p:nvPr/>
        </p:nvSpPr>
        <p:spPr>
          <a:xfrm>
            <a:off x="3843402" y="1575075"/>
            <a:ext cx="759077" cy="196532"/>
          </a:xfrm>
          <a:prstGeom prst="rect">
            <a:avLst/>
          </a:prstGeom>
          <a:noFill/>
          <a:ln w="1905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37005-5F8B-CBD3-3C09-116ECE11409D}"/>
              </a:ext>
            </a:extLst>
          </p:cNvPr>
          <p:cNvSpPr txBox="1"/>
          <p:nvPr/>
        </p:nvSpPr>
        <p:spPr>
          <a:xfrm>
            <a:off x="4709176" y="1519452"/>
            <a:ext cx="28803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→</a:t>
            </a:r>
            <a:r>
              <a:rPr lang="en-US" altLang="ko-KR" sz="1400" dirty="0">
                <a:solidFill>
                  <a:schemeClr val="bg1"/>
                </a:solidFill>
              </a:rPr>
              <a:t> delete </a:t>
            </a:r>
            <a:r>
              <a:rPr lang="ko-KR" altLang="en-US" sz="1400" dirty="0" err="1">
                <a:solidFill>
                  <a:schemeClr val="bg1"/>
                </a:solidFill>
              </a:rPr>
              <a:t>요청시</a:t>
            </a:r>
            <a:r>
              <a:rPr lang="ko-KR" altLang="en-US" sz="1400" dirty="0">
                <a:solidFill>
                  <a:schemeClr val="bg1"/>
                </a:solidFill>
              </a:rPr>
              <a:t> </a:t>
            </a:r>
            <a:r>
              <a:rPr lang="en-US" altLang="ko-KR" sz="1400" dirty="0">
                <a:solidFill>
                  <a:schemeClr val="bg1"/>
                </a:solidFill>
              </a:rPr>
              <a:t>URI</a:t>
            </a:r>
            <a:r>
              <a:rPr lang="ko-KR" altLang="en-US" sz="1400" dirty="0">
                <a:solidFill>
                  <a:schemeClr val="bg1"/>
                </a:solidFill>
              </a:rPr>
              <a:t>에 </a:t>
            </a:r>
            <a:r>
              <a:rPr lang="en-US" altLang="ko-KR" sz="1400" dirty="0" err="1">
                <a:solidFill>
                  <a:schemeClr val="bg1"/>
                </a:solidFill>
              </a:rPr>
              <a:t>user_id</a:t>
            </a:r>
            <a:r>
              <a:rPr lang="en-US" altLang="ko-KR" sz="1400" dirty="0">
                <a:solidFill>
                  <a:schemeClr val="bg1"/>
                </a:solidFill>
              </a:rPr>
              <a:t> </a:t>
            </a:r>
            <a:r>
              <a:rPr lang="ko-KR" altLang="en-US" sz="1400" dirty="0">
                <a:solidFill>
                  <a:schemeClr val="bg1"/>
                </a:solidFill>
              </a:rPr>
              <a:t>포함</a:t>
            </a:r>
          </a:p>
        </p:txBody>
      </p:sp>
    </p:spTree>
    <p:extLst>
      <p:ext uri="{BB962C8B-B14F-4D97-AF65-F5344CB8AC3E}">
        <p14:creationId xmlns:p14="http://schemas.microsoft.com/office/powerpoint/2010/main" val="41635331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07E97-BDCE-6B9D-3608-E1651FA33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1B8BC710-613B-73E4-32F1-2416E3160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en-US" altLang="ko-KR" b="1" dirty="0"/>
              <a:t>Postman </a:t>
            </a:r>
            <a:r>
              <a:rPr lang="ko-KR" altLang="en-US" b="1" dirty="0"/>
              <a:t>사용하기</a:t>
            </a:r>
            <a:endParaRPr lang="en-US" altLang="ko-KR" b="1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C577257-B4DA-586E-51A8-3D9D268D53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" t="728" r="204" b="774"/>
          <a:stretch/>
        </p:blipFill>
        <p:spPr>
          <a:xfrm>
            <a:off x="2098674" y="1181101"/>
            <a:ext cx="7991475" cy="4955540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8762F7A9-5A25-D0A4-6AFA-E896E254A6E2}"/>
              </a:ext>
            </a:extLst>
          </p:cNvPr>
          <p:cNvSpPr/>
          <p:nvPr/>
        </p:nvSpPr>
        <p:spPr>
          <a:xfrm>
            <a:off x="4557088" y="2044971"/>
            <a:ext cx="637212" cy="266429"/>
          </a:xfrm>
          <a:prstGeom prst="rect">
            <a:avLst/>
          </a:prstGeom>
          <a:noFill/>
          <a:ln w="1905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3D329C30-18FE-0B54-4D2D-07829FDCE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621" y="1985010"/>
            <a:ext cx="1221467" cy="3863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1800" dirty="0"/>
              <a:t>메소드 설정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DB14A28-4CC4-B0EA-EB40-C651E21A50B3}"/>
              </a:ext>
            </a:extLst>
          </p:cNvPr>
          <p:cNvSpPr/>
          <p:nvPr/>
        </p:nvSpPr>
        <p:spPr>
          <a:xfrm>
            <a:off x="5261938" y="2044971"/>
            <a:ext cx="1043612" cy="266429"/>
          </a:xfrm>
          <a:prstGeom prst="rect">
            <a:avLst/>
          </a:prstGeom>
          <a:noFill/>
          <a:ln w="1905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93F34E66-CB91-E085-C8A1-C7AD00534735}"/>
              </a:ext>
            </a:extLst>
          </p:cNvPr>
          <p:cNvSpPr txBox="1">
            <a:spLocks/>
          </p:cNvSpPr>
          <p:nvPr/>
        </p:nvSpPr>
        <p:spPr>
          <a:xfrm>
            <a:off x="6305550" y="1985010"/>
            <a:ext cx="1221467" cy="38635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ko-KR" sz="1800" dirty="0"/>
              <a:t>URI </a:t>
            </a:r>
            <a:r>
              <a:rPr lang="ko-KR" altLang="en-US" sz="1800" dirty="0"/>
              <a:t>입력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AA84A05-3477-DF8B-3960-AC75CF700352}"/>
              </a:ext>
            </a:extLst>
          </p:cNvPr>
          <p:cNvSpPr/>
          <p:nvPr/>
        </p:nvSpPr>
        <p:spPr>
          <a:xfrm>
            <a:off x="4817438" y="2791598"/>
            <a:ext cx="1278562" cy="815202"/>
          </a:xfrm>
          <a:prstGeom prst="rect">
            <a:avLst/>
          </a:prstGeom>
          <a:noFill/>
          <a:ln w="1905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ACBC9354-4D70-1018-AC38-4C53AFC8E17C}"/>
              </a:ext>
            </a:extLst>
          </p:cNvPr>
          <p:cNvSpPr txBox="1">
            <a:spLocks/>
          </p:cNvSpPr>
          <p:nvPr/>
        </p:nvSpPr>
        <p:spPr>
          <a:xfrm>
            <a:off x="6096000" y="3006024"/>
            <a:ext cx="1221467" cy="38635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ko-KR" altLang="en-US" sz="1800" dirty="0"/>
              <a:t>요청 </a:t>
            </a:r>
            <a:r>
              <a:rPr lang="en-US" altLang="ko-KR" sz="1800" dirty="0"/>
              <a:t>Body</a:t>
            </a:r>
            <a:endParaRPr lang="ko-KR" altLang="en-US" sz="18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6A346DD-AC64-6859-CA7B-843EC2394F01}"/>
              </a:ext>
            </a:extLst>
          </p:cNvPr>
          <p:cNvSpPr/>
          <p:nvPr/>
        </p:nvSpPr>
        <p:spPr>
          <a:xfrm>
            <a:off x="4875694" y="4562974"/>
            <a:ext cx="1429856" cy="517026"/>
          </a:xfrm>
          <a:prstGeom prst="rect">
            <a:avLst/>
          </a:prstGeom>
          <a:noFill/>
          <a:ln w="1905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B53BC333-925E-E03E-D4B3-8FED22780AFA}"/>
              </a:ext>
            </a:extLst>
          </p:cNvPr>
          <p:cNvSpPr txBox="1">
            <a:spLocks/>
          </p:cNvSpPr>
          <p:nvPr/>
        </p:nvSpPr>
        <p:spPr>
          <a:xfrm>
            <a:off x="6365649" y="4628312"/>
            <a:ext cx="1221467" cy="38635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ko-KR" altLang="en-US" sz="1800" dirty="0"/>
              <a:t>서버 응답</a:t>
            </a:r>
          </a:p>
        </p:txBody>
      </p:sp>
    </p:spTree>
    <p:extLst>
      <p:ext uri="{BB962C8B-B14F-4D97-AF65-F5344CB8AC3E}">
        <p14:creationId xmlns:p14="http://schemas.microsoft.com/office/powerpoint/2010/main" val="29162420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34D57-0BC5-823B-CE56-35EF4E7D3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75A9FF-9B01-0B20-FB12-040783170864}"/>
              </a:ext>
            </a:extLst>
          </p:cNvPr>
          <p:cNvSpPr txBox="1"/>
          <p:nvPr/>
        </p:nvSpPr>
        <p:spPr>
          <a:xfrm>
            <a:off x="3365947" y="2600493"/>
            <a:ext cx="54601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ORM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사용하기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70402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5AADC-99B1-9E39-4E58-53D44C2B3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FEAEEB-FE61-C99B-EDE1-B53F6FCEF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ORM(Object-Relational Mapping)</a:t>
            </a:r>
            <a:endParaRPr lang="en-US" altLang="ko-KR" b="1" dirty="0"/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8AE5DC0D-11D6-D064-E65C-08D498A2A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165386"/>
            <a:ext cx="11700727" cy="233981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</a:t>
            </a:r>
            <a:r>
              <a:rPr lang="ko-KR" altLang="en-US" dirty="0"/>
              <a:t> 클래스</a:t>
            </a:r>
            <a:r>
              <a:rPr lang="en-US" altLang="ko-KR" dirty="0"/>
              <a:t>(</a:t>
            </a:r>
            <a:r>
              <a:rPr lang="ko-KR" altLang="en-US" dirty="0"/>
              <a:t>객체</a:t>
            </a:r>
            <a:r>
              <a:rPr lang="en-US" altLang="ko-KR" dirty="0"/>
              <a:t>)</a:t>
            </a:r>
            <a:r>
              <a:rPr lang="ko-KR" altLang="en-US" dirty="0"/>
              <a:t>를 </a:t>
            </a:r>
            <a:r>
              <a:rPr lang="en-US" altLang="ko-KR" dirty="0"/>
              <a:t>SQL </a:t>
            </a:r>
            <a:r>
              <a:rPr lang="ko-KR" altLang="en-US" dirty="0"/>
              <a:t>테이블처럼 다룰 수 있게 해주는 도구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➡️ </a:t>
            </a:r>
            <a:r>
              <a:rPr lang="ko-KR" altLang="en-US" b="1" dirty="0"/>
              <a:t>객체와 관계형 데이터베이스를 자동으로 연결</a:t>
            </a:r>
            <a:r>
              <a:rPr lang="ko-KR" altLang="en-US" dirty="0"/>
              <a:t>해줌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      ➡️ </a:t>
            </a:r>
            <a:r>
              <a:rPr lang="en-US" altLang="ko-KR" dirty="0"/>
              <a:t>SQL</a:t>
            </a:r>
            <a:r>
              <a:rPr lang="ko-KR" altLang="en-US" dirty="0"/>
              <a:t>문을 직접 쓰지 않고</a:t>
            </a:r>
            <a:r>
              <a:rPr lang="en-US" altLang="ko-KR" dirty="0"/>
              <a:t>, </a:t>
            </a:r>
            <a:r>
              <a:rPr lang="ko-KR" altLang="en-US" b="1" dirty="0"/>
              <a:t>코드</a:t>
            </a:r>
            <a:r>
              <a:rPr lang="ko-KR" altLang="en-US" dirty="0"/>
              <a:t>로 </a:t>
            </a:r>
            <a:r>
              <a:rPr lang="ko-KR" altLang="en-US" b="1" dirty="0"/>
              <a:t>데이터를 추가</a:t>
            </a:r>
            <a:r>
              <a:rPr lang="en-US" altLang="ko-KR" b="1" dirty="0"/>
              <a:t>/</a:t>
            </a:r>
            <a:r>
              <a:rPr lang="ko-KR" altLang="en-US" b="1" dirty="0"/>
              <a:t>조회</a:t>
            </a:r>
            <a:r>
              <a:rPr lang="en-US" altLang="ko-KR" b="1" dirty="0"/>
              <a:t>/</a:t>
            </a:r>
            <a:r>
              <a:rPr lang="ko-KR" altLang="en-US" b="1" dirty="0"/>
              <a:t>수정</a:t>
            </a:r>
            <a:r>
              <a:rPr lang="en-US" altLang="ko-KR" b="1" dirty="0"/>
              <a:t>/</a:t>
            </a:r>
            <a:r>
              <a:rPr lang="ko-KR" altLang="en-US" b="1" dirty="0"/>
              <a:t>삭제</a:t>
            </a:r>
            <a:r>
              <a:rPr lang="ko-KR" altLang="en-US" dirty="0"/>
              <a:t>할 수 있음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005502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FB7C1-3294-1D0B-88B7-BD71B0346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50EFB3-F4FD-FBF9-D3A9-4FDC9E692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ORM(Object-Relational Mapping)</a:t>
            </a:r>
            <a:endParaRPr lang="en-US" altLang="ko-KR" b="1" dirty="0"/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CF7F9DC0-67BC-9BBB-1A0E-CA859A990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165386"/>
            <a:ext cx="11700727" cy="485441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ko-KR" altLang="en-US" b="1" dirty="0"/>
              <a:t>✅ </a:t>
            </a:r>
            <a:r>
              <a:rPr lang="en-US" altLang="ko-KR" b="1" dirty="0"/>
              <a:t>ORM</a:t>
            </a:r>
            <a:r>
              <a:rPr lang="ko-KR" altLang="en-US" b="1" dirty="0"/>
              <a:t> 장점</a:t>
            </a:r>
          </a:p>
          <a:p>
            <a:pPr marL="457200" lvl="1" indent="0"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SQL</a:t>
            </a:r>
            <a:r>
              <a:rPr lang="ko-KR" altLang="en-US" dirty="0"/>
              <a:t>을 몰라도 </a:t>
            </a:r>
            <a:r>
              <a:rPr lang="en-US" altLang="ko-KR" dirty="0"/>
              <a:t>DB </a:t>
            </a:r>
            <a:r>
              <a:rPr lang="ko-KR" altLang="en-US" dirty="0"/>
              <a:t>다룰 수 있음</a:t>
            </a:r>
            <a:br>
              <a:rPr lang="ko-KR" altLang="en-US" dirty="0"/>
            </a:br>
            <a:r>
              <a:rPr lang="ko-KR" altLang="en-US" dirty="0"/>
              <a:t>✔️ 코드를 객체지향적으로 유지 가능</a:t>
            </a:r>
            <a:br>
              <a:rPr lang="ko-KR" altLang="en-US" dirty="0"/>
            </a:br>
            <a:r>
              <a:rPr lang="ko-KR" altLang="en-US" dirty="0"/>
              <a:t>✔️ 보안에 유리</a:t>
            </a:r>
            <a:r>
              <a:rPr lang="en-US" altLang="ko-KR" dirty="0"/>
              <a:t>(SQL Injection </a:t>
            </a:r>
            <a:r>
              <a:rPr lang="ko-KR" altLang="en-US" dirty="0"/>
              <a:t>방지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✔️ </a:t>
            </a:r>
            <a:r>
              <a:rPr lang="ko-KR" altLang="en-US" dirty="0"/>
              <a:t>유지보수가 쉬움 </a:t>
            </a:r>
            <a:r>
              <a:rPr lang="en-US" altLang="ko-KR" dirty="0"/>
              <a:t>(</a:t>
            </a:r>
            <a:r>
              <a:rPr lang="ko-KR" altLang="en-US" dirty="0"/>
              <a:t>테이블 구조 바뀌면 클래스만 수정</a:t>
            </a:r>
            <a:r>
              <a:rPr lang="en-US" altLang="ko-KR" dirty="0"/>
              <a:t>)</a:t>
            </a:r>
          </a:p>
          <a:p>
            <a:pPr marL="457200" lvl="1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⚠️</a:t>
            </a:r>
            <a:r>
              <a:rPr lang="ko-KR" altLang="en-US" dirty="0"/>
              <a:t> 유의사항</a:t>
            </a:r>
          </a:p>
          <a:p>
            <a:pPr marL="457200" lvl="1" indent="0">
              <a:buNone/>
            </a:pPr>
            <a:r>
              <a:rPr lang="ko-KR" altLang="en-US" dirty="0"/>
              <a:t>✔️ 내부 동작을 잘 이해하지 못하면 성능 이슈 발생</a:t>
            </a:r>
          </a:p>
          <a:p>
            <a:pPr marL="457200" lvl="1" indent="0">
              <a:buNone/>
            </a:pPr>
            <a:r>
              <a:rPr lang="ko-KR" altLang="en-US" dirty="0"/>
              <a:t>✔️ 복잡한 쿼리는 오히려 </a:t>
            </a:r>
            <a:r>
              <a:rPr lang="en-US" altLang="ko-KR" dirty="0"/>
              <a:t>SQL</a:t>
            </a:r>
            <a:r>
              <a:rPr lang="ko-KR" altLang="en-US" dirty="0"/>
              <a:t>을 사용하는 것이 유리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321686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E9B95-B1B5-A887-EAF0-E48E9F42A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9F5082-6D2D-1334-803D-26AD15DE1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SQLAlchemy</a:t>
            </a:r>
            <a:endParaRPr lang="en-US" altLang="ko-KR" b="1" dirty="0"/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E72308DD-2905-CC63-B5AE-7B53171D7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165386"/>
            <a:ext cx="11700727" cy="241601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</a:t>
            </a:r>
            <a:r>
              <a:rPr lang="ko-KR" altLang="en-US" dirty="0"/>
              <a:t> </a:t>
            </a:r>
            <a:r>
              <a:rPr lang="en-US" altLang="ko-KR" dirty="0"/>
              <a:t>Python</a:t>
            </a:r>
            <a:r>
              <a:rPr lang="ko-KR" altLang="en-US" dirty="0"/>
              <a:t>에서 가장 널리 사용되는 </a:t>
            </a:r>
            <a:r>
              <a:rPr lang="en-US" altLang="ko-KR" dirty="0"/>
              <a:t>ORM </a:t>
            </a:r>
            <a:r>
              <a:rPr lang="ko-KR" altLang="en-US" dirty="0"/>
              <a:t>라이브러리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파이썬 객체로 데이터베이스 테이블을 다룰 수 있게 해주는 도구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🔗 공식 사이트 </a:t>
            </a:r>
            <a:r>
              <a:rPr lang="en-US" altLang="ko-KR" dirty="0"/>
              <a:t>: </a:t>
            </a:r>
            <a:r>
              <a:rPr lang="en-US" altLang="ko-KR" dirty="0">
                <a:hlinkClick r:id="rId3"/>
              </a:rPr>
              <a:t>https://www.sqlalchemy.org/</a:t>
            </a:r>
            <a:r>
              <a:rPr lang="en-US" altLang="ko-K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21010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9386B-C148-3A82-4089-046A5ED35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EFFBBE-2F5F-05A4-733A-AF0C97F62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패키지 설치</a:t>
            </a:r>
            <a:r>
              <a:rPr lang="en-US" altLang="ko-KR" dirty="0"/>
              <a:t>(</a:t>
            </a:r>
            <a:r>
              <a:rPr lang="en-US" altLang="ko-KR" dirty="0" err="1"/>
              <a:t>SQLAlchemy</a:t>
            </a:r>
            <a:r>
              <a:rPr lang="en-US" altLang="ko-KR" dirty="0"/>
              <a:t>)</a:t>
            </a:r>
            <a:endParaRPr lang="en-US" altLang="ko-KR" b="1" dirty="0"/>
          </a:p>
        </p:txBody>
      </p:sp>
      <p:pic>
        <p:nvPicPr>
          <p:cNvPr id="7" name="그림 6" descr="텍스트, 스크린샷, 멀티미디어 소프트웨어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47E00AE-83D2-89A3-107F-C178290926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7346"/>
            <a:ext cx="12192000" cy="4443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4558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6CC96-0A4D-3652-40E4-0E8859051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텍스트, 스크린샷, 폰트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26838E0-1A46-152C-4663-463E3E86EA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58" y="385212"/>
            <a:ext cx="11004884" cy="457642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53B3671-8DE1-2A61-5634-147CC42AE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DB </a:t>
            </a:r>
            <a:r>
              <a:rPr lang="ko-KR" altLang="en-US" b="1" dirty="0"/>
              <a:t>세션 구성 </a:t>
            </a:r>
            <a:r>
              <a:rPr lang="en-US" altLang="ko-KR" b="1" dirty="0"/>
              <a:t>(db.py)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1D204F-85A0-3D90-4525-91598FA94379}"/>
              </a:ext>
            </a:extLst>
          </p:cNvPr>
          <p:cNvSpPr/>
          <p:nvPr/>
        </p:nvSpPr>
        <p:spPr>
          <a:xfrm>
            <a:off x="1215691" y="4249308"/>
            <a:ext cx="8114501" cy="20864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16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create_engine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engine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객체를 만들기 위한 함수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16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sessionmaker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세션 객체를 생성하는 함수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autocommit</a:t>
            </a: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=False </a:t>
            </a:r>
            <a:r>
              <a:rPr lang="ko-KR" altLang="en-US" sz="1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커밋은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명시적으로 </a:t>
            </a: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commit() 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해야 함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autoflush</a:t>
            </a: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=False 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쿼리 실행 전에 자동 </a:t>
            </a: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flush 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안 함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bind=engine 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 세션은 위에서 만든 </a:t>
            </a: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engine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과 연결됨</a:t>
            </a:r>
            <a:endParaRPr lang="en-US" altLang="ko-KR" sz="1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1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declarative_base</a:t>
            </a: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모든 모델 클래스가 상속해야 할 기반 클래스 생성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8C0EB0F-0381-D89B-52FE-C86C7693F0B2}"/>
              </a:ext>
            </a:extLst>
          </p:cNvPr>
          <p:cNvSpPr/>
          <p:nvPr/>
        </p:nvSpPr>
        <p:spPr>
          <a:xfrm>
            <a:off x="1778828" y="3297609"/>
            <a:ext cx="7796972" cy="195465"/>
          </a:xfrm>
          <a:prstGeom prst="rect">
            <a:avLst/>
          </a:prstGeom>
          <a:noFill/>
          <a:ln w="1905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BC08CD-4841-ECF2-DA74-EF7B53C205B1}"/>
              </a:ext>
            </a:extLst>
          </p:cNvPr>
          <p:cNvSpPr txBox="1"/>
          <p:nvPr/>
        </p:nvSpPr>
        <p:spPr>
          <a:xfrm>
            <a:off x="6042025" y="3487177"/>
            <a:ext cx="37576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실제 </a:t>
            </a:r>
            <a:r>
              <a:rPr lang="en-US" altLang="ko-KR" sz="1400" dirty="0">
                <a:solidFill>
                  <a:schemeClr val="bg1"/>
                </a:solidFill>
              </a:rPr>
              <a:t>DB </a:t>
            </a:r>
            <a:r>
              <a:rPr lang="ko-KR" altLang="en-US" sz="1400" dirty="0">
                <a:solidFill>
                  <a:schemeClr val="bg1"/>
                </a:solidFill>
              </a:rPr>
              <a:t>작업을 수행할 세션을 만드는 함수를 생성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021FC4F-73F7-5276-D94C-A75E725E1B1D}"/>
              </a:ext>
            </a:extLst>
          </p:cNvPr>
          <p:cNvSpPr/>
          <p:nvPr/>
        </p:nvSpPr>
        <p:spPr>
          <a:xfrm>
            <a:off x="1778828" y="3809081"/>
            <a:ext cx="2640772" cy="195465"/>
          </a:xfrm>
          <a:prstGeom prst="rect">
            <a:avLst/>
          </a:prstGeom>
          <a:noFill/>
          <a:ln w="1905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DB71D4-5F68-5145-E7C3-F6E34743DB17}"/>
              </a:ext>
            </a:extLst>
          </p:cNvPr>
          <p:cNvSpPr txBox="1"/>
          <p:nvPr/>
        </p:nvSpPr>
        <p:spPr>
          <a:xfrm>
            <a:off x="4371257" y="3752924"/>
            <a:ext cx="2858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모든 </a:t>
            </a:r>
            <a:r>
              <a:rPr lang="en-US" altLang="ko-KR" sz="1400" dirty="0">
                <a:solidFill>
                  <a:schemeClr val="bg1"/>
                </a:solidFill>
              </a:rPr>
              <a:t>ORM </a:t>
            </a:r>
            <a:r>
              <a:rPr lang="ko-KR" altLang="en-US" sz="1400" dirty="0">
                <a:solidFill>
                  <a:schemeClr val="bg1"/>
                </a:solidFill>
              </a:rPr>
              <a:t>모델 클래스의 부모 클래스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6308390" y="4293255"/>
            <a:ext cx="4879744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세션 객체</a:t>
            </a:r>
            <a:r>
              <a:rPr lang="en-US" altLang="ko-KR" sz="1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데이터베이스와의 연결을 관리하고</a:t>
            </a:r>
            <a:r>
              <a:rPr lang="en-US" altLang="ko-KR" sz="1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, </a:t>
            </a:r>
            <a:r>
              <a:rPr lang="ko-KR" altLang="en-US" sz="1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추가</a:t>
            </a:r>
            <a:r>
              <a:rPr lang="en-US" altLang="ko-KR" sz="1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/</a:t>
            </a:r>
            <a:r>
              <a:rPr lang="ko-KR" altLang="en-US" sz="1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조회</a:t>
            </a:r>
            <a:r>
              <a:rPr lang="en-US" altLang="ko-KR" sz="1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/</a:t>
            </a:r>
            <a:r>
              <a:rPr lang="ko-KR" altLang="en-US" sz="1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수정</a:t>
            </a:r>
            <a:r>
              <a:rPr lang="en-US" altLang="ko-KR" sz="1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/</a:t>
            </a:r>
            <a:r>
              <a:rPr lang="ko-KR" altLang="en-US" sz="1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삭제 작업</a:t>
            </a:r>
            <a:r>
              <a:rPr lang="en-US" altLang="ko-KR" sz="1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(CRUD)</a:t>
            </a:r>
            <a:r>
              <a:rPr lang="ko-KR" altLang="en-US" sz="1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을 수행하는 도구</a:t>
            </a:r>
          </a:p>
        </p:txBody>
      </p:sp>
    </p:spTree>
    <p:extLst>
      <p:ext uri="{BB962C8B-B14F-4D97-AF65-F5344CB8AC3E}">
        <p14:creationId xmlns:p14="http://schemas.microsoft.com/office/powerpoint/2010/main" val="39046102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7F36B-0EF6-A0E3-5252-9FA662EF7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613FB2-18D9-A55C-1F8F-597CF7E2C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/>
              <a:t>사용자 모델 정의 </a:t>
            </a:r>
            <a:r>
              <a:rPr lang="en-US" altLang="ko-KR" b="1" dirty="0"/>
              <a:t>(models.py)</a:t>
            </a:r>
          </a:p>
        </p:txBody>
      </p:sp>
      <p:pic>
        <p:nvPicPr>
          <p:cNvPr id="7" name="그림 6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DC54A3B-5F73-B33B-8860-EB1B75CE9C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4292"/>
            <a:ext cx="12192000" cy="6200078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9C27A6B0-646D-B3B6-2545-F9A8BFEE6342}"/>
              </a:ext>
            </a:extLst>
          </p:cNvPr>
          <p:cNvSpPr/>
          <p:nvPr/>
        </p:nvSpPr>
        <p:spPr>
          <a:xfrm>
            <a:off x="1378778" y="2600326"/>
            <a:ext cx="2304222" cy="226296"/>
          </a:xfrm>
          <a:prstGeom prst="rect">
            <a:avLst/>
          </a:prstGeom>
          <a:noFill/>
          <a:ln w="1905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86053B-65AD-E88D-D92E-076AB4F21A5E}"/>
              </a:ext>
            </a:extLst>
          </p:cNvPr>
          <p:cNvSpPr txBox="1"/>
          <p:nvPr/>
        </p:nvSpPr>
        <p:spPr>
          <a:xfrm>
            <a:off x="3721440" y="2559585"/>
            <a:ext cx="2858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db.py</a:t>
            </a:r>
            <a:r>
              <a:rPr lang="ko-KR" altLang="en-US" sz="1400" dirty="0">
                <a:solidFill>
                  <a:schemeClr val="bg1"/>
                </a:solidFill>
              </a:rPr>
              <a:t>에서 만든 </a:t>
            </a:r>
            <a:r>
              <a:rPr lang="en-US" altLang="ko-KR" sz="1400" dirty="0">
                <a:solidFill>
                  <a:schemeClr val="bg1"/>
                </a:solidFill>
              </a:rPr>
              <a:t>Base import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E858949-3F59-4EFE-6813-4A68A0EBC138}"/>
              </a:ext>
            </a:extLst>
          </p:cNvPr>
          <p:cNvSpPr/>
          <p:nvPr/>
        </p:nvSpPr>
        <p:spPr>
          <a:xfrm>
            <a:off x="2569329" y="3146425"/>
            <a:ext cx="804066" cy="264551"/>
          </a:xfrm>
          <a:prstGeom prst="rect">
            <a:avLst/>
          </a:prstGeom>
          <a:noFill/>
          <a:ln w="1905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1A7513-0E15-D15B-7269-EA345343A6FE}"/>
              </a:ext>
            </a:extLst>
          </p:cNvPr>
          <p:cNvSpPr txBox="1"/>
          <p:nvPr/>
        </p:nvSpPr>
        <p:spPr>
          <a:xfrm>
            <a:off x="3373395" y="3103199"/>
            <a:ext cx="23786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Base </a:t>
            </a:r>
            <a:r>
              <a:rPr lang="ko-KR" altLang="en-US" sz="1400" dirty="0">
                <a:solidFill>
                  <a:schemeClr val="bg1"/>
                </a:solidFill>
              </a:rPr>
              <a:t>상속한 </a:t>
            </a:r>
            <a:r>
              <a:rPr lang="en-US" altLang="ko-KR" sz="1400" dirty="0">
                <a:solidFill>
                  <a:schemeClr val="bg1"/>
                </a:solidFill>
              </a:rPr>
              <a:t>User </a:t>
            </a:r>
            <a:r>
              <a:rPr lang="ko-KR" altLang="en-US" sz="1400" dirty="0">
                <a:solidFill>
                  <a:schemeClr val="bg1"/>
                </a:solidFill>
              </a:rPr>
              <a:t>클래스 생성</a:t>
            </a:r>
          </a:p>
        </p:txBody>
      </p:sp>
      <p:sp>
        <p:nvSpPr>
          <p:cNvPr id="19" name="오른쪽 중괄호 18">
            <a:extLst>
              <a:ext uri="{FF2B5EF4-FFF2-40B4-BE49-F238E27FC236}">
                <a16:creationId xmlns:a16="http://schemas.microsoft.com/office/drawing/2014/main" id="{19539EE4-8918-1B6A-4148-70FC7A2056B5}"/>
              </a:ext>
            </a:extLst>
          </p:cNvPr>
          <p:cNvSpPr/>
          <p:nvPr/>
        </p:nvSpPr>
        <p:spPr>
          <a:xfrm>
            <a:off x="8539480" y="4136390"/>
            <a:ext cx="147320" cy="1405890"/>
          </a:xfrm>
          <a:prstGeom prst="rightBrac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319009-2843-2F74-7391-04B58FC630D7}"/>
              </a:ext>
            </a:extLst>
          </p:cNvPr>
          <p:cNvSpPr txBox="1"/>
          <p:nvPr/>
        </p:nvSpPr>
        <p:spPr>
          <a:xfrm>
            <a:off x="8686801" y="4685446"/>
            <a:ext cx="1364166" cy="310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Table </a:t>
            </a:r>
            <a:r>
              <a:rPr lang="ko-KR" altLang="en-US" sz="1400" dirty="0">
                <a:solidFill>
                  <a:schemeClr val="bg1"/>
                </a:solidFill>
              </a:rPr>
              <a:t>구조 정의</a:t>
            </a:r>
          </a:p>
        </p:txBody>
      </p:sp>
    </p:spTree>
    <p:extLst>
      <p:ext uri="{BB962C8B-B14F-4D97-AF65-F5344CB8AC3E}">
        <p14:creationId xmlns:p14="http://schemas.microsoft.com/office/powerpoint/2010/main" val="13316354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77A68-D49B-75C7-278F-504AA6A41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EFC111-B510-8C45-356E-741A2F4B5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라이브러리 불러오기</a:t>
            </a:r>
            <a:r>
              <a:rPr lang="en-US" altLang="ko-KR" dirty="0"/>
              <a:t>, DB </a:t>
            </a:r>
            <a:r>
              <a:rPr lang="ko-KR" altLang="en-US" dirty="0"/>
              <a:t>테이블 생성</a:t>
            </a:r>
            <a:endParaRPr lang="en-US" altLang="ko-KR" b="1" dirty="0"/>
          </a:p>
        </p:txBody>
      </p:sp>
      <p:pic>
        <p:nvPicPr>
          <p:cNvPr id="4" name="그림 3" descr="텍스트, 스크린샷, 멀티미디어 소프트웨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272B8DB-F258-08D7-C772-1AAECF4316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3986"/>
            <a:ext cx="12192000" cy="45050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74F60F-8C86-E98D-A4A8-CA4A34F870B6}"/>
              </a:ext>
            </a:extLst>
          </p:cNvPr>
          <p:cNvSpPr txBox="1"/>
          <p:nvPr/>
        </p:nvSpPr>
        <p:spPr>
          <a:xfrm>
            <a:off x="558800" y="4748818"/>
            <a:ext cx="10896600" cy="875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18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Base.metadata.create_all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(bind=engine) : 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모델 정의를 기반으로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DB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테이블을 생성하되 이미 존재하는 테이블은 건너뜀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4B00EBD-3AEC-E33C-E622-A975C620E525}"/>
              </a:ext>
            </a:extLst>
          </p:cNvPr>
          <p:cNvSpPr/>
          <p:nvPr/>
        </p:nvSpPr>
        <p:spPr>
          <a:xfrm>
            <a:off x="1277178" y="4124326"/>
            <a:ext cx="4304472" cy="282574"/>
          </a:xfrm>
          <a:prstGeom prst="rect">
            <a:avLst/>
          </a:prstGeom>
          <a:noFill/>
          <a:ln w="1905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4446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45249-7422-350F-7979-80CE22DCF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934FED-2558-A816-D44F-5F15EDF44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DB </a:t>
            </a:r>
            <a:r>
              <a:rPr lang="ko-KR" altLang="en-US" dirty="0"/>
              <a:t>세션 주입</a:t>
            </a:r>
            <a:endParaRPr lang="en-US" altLang="ko-KR" b="1" dirty="0"/>
          </a:p>
        </p:txBody>
      </p:sp>
      <p:pic>
        <p:nvPicPr>
          <p:cNvPr id="5" name="그림 4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254D6A8-FD7E-E76F-990E-9F3829DBD0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625"/>
            <a:ext cx="12192000" cy="676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0315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1DFA7-168F-60DE-A5CC-7E418ABA2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C:\Users\LMH\Desktop\select다시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3676" y="1042136"/>
            <a:ext cx="12619352" cy="4605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0EDFD14-4885-3766-D4E3-732A8A4AC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CRUD - </a:t>
            </a:r>
            <a:r>
              <a:rPr lang="ko-KR" altLang="en-US" b="1" dirty="0"/>
              <a:t>사용자 조회</a:t>
            </a:r>
            <a:r>
              <a:rPr lang="en-US" altLang="ko-KR" b="1" dirty="0"/>
              <a:t>(READ)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FE483C7-4172-DD6E-164D-672D4EE72E92}"/>
              </a:ext>
            </a:extLst>
          </p:cNvPr>
          <p:cNvSpPr/>
          <p:nvPr/>
        </p:nvSpPr>
        <p:spPr>
          <a:xfrm>
            <a:off x="3498125" y="3489160"/>
            <a:ext cx="4538969" cy="360947"/>
          </a:xfrm>
          <a:prstGeom prst="rect">
            <a:avLst/>
          </a:prstGeom>
          <a:noFill/>
          <a:ln w="1905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F22CCF-754F-3B93-7DCB-F568940C7697}"/>
              </a:ext>
            </a:extLst>
          </p:cNvPr>
          <p:cNvSpPr txBox="1"/>
          <p:nvPr/>
        </p:nvSpPr>
        <p:spPr>
          <a:xfrm>
            <a:off x="8137442" y="3480775"/>
            <a:ext cx="1343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solidFill>
                  <a:schemeClr val="bg1"/>
                </a:solidFill>
              </a:rPr>
              <a:t>db</a:t>
            </a:r>
            <a:r>
              <a:rPr lang="ko-KR" altLang="en-US" dirty="0">
                <a:solidFill>
                  <a:schemeClr val="bg1"/>
                </a:solidFill>
              </a:rPr>
              <a:t>객체 생성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532FF1-3A51-D27F-1EC4-5F120FE9B12D}"/>
              </a:ext>
            </a:extLst>
          </p:cNvPr>
          <p:cNvSpPr txBox="1"/>
          <p:nvPr/>
        </p:nvSpPr>
        <p:spPr>
          <a:xfrm>
            <a:off x="739720" y="4685064"/>
            <a:ext cx="1089660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18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db.query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(Model) : DB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에서 데이터 조회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(Read)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675917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9A567-DF1D-EB38-94AD-A60E9C89C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소프트웨어, 디스플레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328C392-C65D-A7F5-FB84-C0C2CBFBC1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2599" y="390515"/>
            <a:ext cx="8846802" cy="567161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F05C6E0-AAC5-8421-E653-0DAD41C3B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CRUD - </a:t>
            </a:r>
            <a:r>
              <a:rPr lang="ko-KR" altLang="en-US" b="1" dirty="0"/>
              <a:t>사용자 생성</a:t>
            </a:r>
            <a:r>
              <a:rPr lang="en-US" altLang="ko-KR" b="1" dirty="0"/>
              <a:t>(CREATE)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198D1A-AB27-89B8-62BD-D35E0BD06E76}"/>
              </a:ext>
            </a:extLst>
          </p:cNvPr>
          <p:cNvSpPr txBox="1"/>
          <p:nvPr/>
        </p:nvSpPr>
        <p:spPr>
          <a:xfrm>
            <a:off x="1947333" y="5493418"/>
            <a:ext cx="84120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18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db.add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(obj) : 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새 객체를 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DB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등록 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(Create)</a:t>
            </a:r>
          </a:p>
          <a:p>
            <a:pPr>
              <a:lnSpc>
                <a:spcPct val="150000"/>
              </a:lnSpc>
            </a:pP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db.commit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트랜잭션을 확정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DB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반영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↔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db.rollback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변경 사항을 모두 취소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57103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EBB8C-DE70-1AA4-13F2-DD1F81F81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53BC26-69CF-F02A-2384-2C4A6FD37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CRUD - </a:t>
            </a:r>
            <a:r>
              <a:rPr lang="ko-KR" altLang="en-US" b="1" dirty="0"/>
              <a:t>사용자 정보 수정</a:t>
            </a:r>
            <a:r>
              <a:rPr lang="en-US" altLang="ko-KR" b="1" dirty="0"/>
              <a:t>(UPDATE)</a:t>
            </a:r>
          </a:p>
        </p:txBody>
      </p:sp>
      <p:pic>
        <p:nvPicPr>
          <p:cNvPr id="4" name="그림 3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1F6162A-B13B-8E8E-FDFC-44E45CBFEB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486846"/>
            <a:ext cx="9652000" cy="54895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966D15-5370-D5BD-70A3-F381FDF1C990}"/>
              </a:ext>
            </a:extLst>
          </p:cNvPr>
          <p:cNvSpPr txBox="1"/>
          <p:nvPr/>
        </p:nvSpPr>
        <p:spPr>
          <a:xfrm>
            <a:off x="1744134" y="5408749"/>
            <a:ext cx="7653866" cy="875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.filter(...) : 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조회 조건 지정</a:t>
            </a:r>
            <a:endParaRPr lang="en-US" altLang="ko-KR" sz="1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.first() 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조건에 맞는 첫 번째 레코드 반환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94530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EFF7E-5EE4-F999-ECCA-5D4947034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35C7D1-AFC4-7514-7C1F-94FA4D60F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CRUD - </a:t>
            </a:r>
            <a:r>
              <a:rPr lang="ko-KR" altLang="en-US" b="1" dirty="0"/>
              <a:t>사용자 정보 수정</a:t>
            </a:r>
            <a:r>
              <a:rPr lang="en-US" altLang="ko-KR" b="1" dirty="0"/>
              <a:t>(DELETE)</a:t>
            </a:r>
          </a:p>
        </p:txBody>
      </p:sp>
      <p:pic>
        <p:nvPicPr>
          <p:cNvPr id="5" name="그림 4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D020BFD-8B8D-5D38-1927-BB9F7F61DF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" y="378174"/>
            <a:ext cx="11023600" cy="57460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6E0602-55FE-3034-A957-EBBAB2692565}"/>
              </a:ext>
            </a:extLst>
          </p:cNvPr>
          <p:cNvSpPr txBox="1"/>
          <p:nvPr/>
        </p:nvSpPr>
        <p:spPr>
          <a:xfrm>
            <a:off x="1151467" y="5518816"/>
            <a:ext cx="7653866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18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db.delete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(obj) :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객체를 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DB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에서 삭제 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(Delete)</a:t>
            </a:r>
          </a:p>
        </p:txBody>
      </p:sp>
    </p:spTree>
    <p:extLst>
      <p:ext uri="{BB962C8B-B14F-4D97-AF65-F5344CB8AC3E}">
        <p14:creationId xmlns:p14="http://schemas.microsoft.com/office/powerpoint/2010/main" val="28609862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F5D0BA0-662B-3134-7B5B-AF37D9484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3535ADF-92FC-22E6-EEEE-CA7A7156ABF1}"/>
              </a:ext>
            </a:extLst>
          </p:cNvPr>
          <p:cNvSpPr txBox="1"/>
          <p:nvPr/>
        </p:nvSpPr>
        <p:spPr>
          <a:xfrm>
            <a:off x="1956905" y="2600493"/>
            <a:ext cx="827822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AWS RDS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로 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DB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사용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352868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887" y="1241914"/>
            <a:ext cx="4846198" cy="24006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tabLst>
                <a:tab pos="1249363" algn="l"/>
              </a:tabLst>
            </a:pPr>
            <a:r>
              <a:rPr lang="ko-KR" altLang="en-US" sz="2800" dirty="0"/>
              <a:t>🔗 접속 링크</a:t>
            </a:r>
            <a:r>
              <a:rPr lang="en-US" altLang="ko-KR" sz="2800" dirty="0"/>
              <a:t>: 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hlinkClick r:id="rId2"/>
              </a:rPr>
              <a:t>https://aws.amazon.com/ko/rds/</a:t>
            </a:r>
            <a:r>
              <a:rPr lang="en-US" altLang="ko-KR" sz="2400" dirty="0"/>
              <a:t> </a:t>
            </a:r>
          </a:p>
          <a:p>
            <a:pPr>
              <a:lnSpc>
                <a:spcPct val="150000"/>
              </a:lnSpc>
            </a:pPr>
            <a:endParaRPr lang="en-US" altLang="ko-KR" sz="2400" dirty="0"/>
          </a:p>
          <a:p>
            <a:pPr>
              <a:lnSpc>
                <a:spcPct val="150000"/>
              </a:lnSpc>
            </a:pPr>
            <a:r>
              <a:rPr lang="ko-KR" altLang="en-US" sz="2400" dirty="0"/>
              <a:t>✅ 회원가입 후 로그인</a:t>
            </a: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6D9F5082-6D2D-1334-803D-26AD15DE1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en-US" altLang="ko-KR" b="1" dirty="0"/>
              <a:t>AWS RDS </a:t>
            </a:r>
            <a:r>
              <a:rPr lang="ko-KR" altLang="en-US" b="1" dirty="0"/>
              <a:t>접속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13749306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972563" y="1121674"/>
            <a:ext cx="10246874" cy="5054963"/>
            <a:chOff x="563880" y="806271"/>
            <a:chExt cx="11064240" cy="5458184"/>
          </a:xfrm>
        </p:grpSpPr>
        <p:pic>
          <p:nvPicPr>
            <p:cNvPr id="1027" name="Picture 3" descr="C:\Users\LMH\Downloads\Telegram Desktop\스크린샷 2025-04-11 122213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880" y="806271"/>
              <a:ext cx="11064240" cy="54581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4B00EBD-3AEC-E33C-E622-A975C620E525}"/>
                </a:ext>
              </a:extLst>
            </p:cNvPr>
            <p:cNvSpPr/>
            <p:nvPr/>
          </p:nvSpPr>
          <p:spPr>
            <a:xfrm>
              <a:off x="789498" y="1914526"/>
              <a:ext cx="4407342" cy="394334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4B00EBD-3AEC-E33C-E622-A975C620E525}"/>
                </a:ext>
              </a:extLst>
            </p:cNvPr>
            <p:cNvSpPr/>
            <p:nvPr/>
          </p:nvSpPr>
          <p:spPr>
            <a:xfrm>
              <a:off x="789498" y="3750946"/>
              <a:ext cx="4407342" cy="798194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제목 1">
            <a:extLst>
              <a:ext uri="{FF2B5EF4-FFF2-40B4-BE49-F238E27FC236}">
                <a16:creationId xmlns:a16="http://schemas.microsoft.com/office/drawing/2014/main" id="{6D9F5082-6D2D-1334-803D-26AD15DE1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en-US" altLang="ko-KR" b="1" dirty="0"/>
              <a:t>DB</a:t>
            </a:r>
            <a:r>
              <a:rPr lang="ko-KR" altLang="en-US" b="1" dirty="0"/>
              <a:t>생성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19063256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LMH\Downloads\Telegram Desktop\스크린샷 2025-04-11 12245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722" y="1461900"/>
            <a:ext cx="10624555" cy="479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6D9F5082-6D2D-1334-803D-26AD15DE1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en-US" altLang="ko-KR" b="1" dirty="0"/>
              <a:t>DB</a:t>
            </a:r>
            <a:r>
              <a:rPr lang="ko-KR" altLang="en-US" b="1" dirty="0"/>
              <a:t>생성</a:t>
            </a:r>
            <a:endParaRPr lang="en-US" altLang="ko-KR" b="1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07E1561-0C25-F773-6327-83DD2B852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549" y="946584"/>
            <a:ext cx="11798250" cy="7296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dirty="0"/>
              <a:t>✅ </a:t>
            </a:r>
            <a:r>
              <a:rPr lang="ko-KR" altLang="en-US" dirty="0" err="1"/>
              <a:t>인스턴스</a:t>
            </a:r>
            <a:r>
              <a:rPr lang="ko-KR" altLang="en-US" dirty="0"/>
              <a:t> </a:t>
            </a:r>
            <a:r>
              <a:rPr lang="ko-KR" altLang="en-US" dirty="0" err="1"/>
              <a:t>식별자</a:t>
            </a:r>
            <a:r>
              <a:rPr lang="en-US" altLang="ko-KR" dirty="0"/>
              <a:t>, </a:t>
            </a:r>
            <a:r>
              <a:rPr lang="ko-KR" altLang="en-US" dirty="0"/>
              <a:t>마스터 사용자 이름</a:t>
            </a:r>
            <a:r>
              <a:rPr lang="en-US" altLang="ko-KR" dirty="0"/>
              <a:t>, </a:t>
            </a:r>
            <a:r>
              <a:rPr lang="ko-KR" altLang="en-US" dirty="0"/>
              <a:t>마스터 암호 설정</a:t>
            </a:r>
          </a:p>
        </p:txBody>
      </p:sp>
    </p:spTree>
    <p:extLst>
      <p:ext uri="{BB962C8B-B14F-4D97-AF65-F5344CB8AC3E}">
        <p14:creationId xmlns:p14="http://schemas.microsoft.com/office/powerpoint/2010/main" val="255744466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380751" y="1591513"/>
            <a:ext cx="11430498" cy="4554640"/>
            <a:chOff x="380751" y="1151680"/>
            <a:chExt cx="11430498" cy="4554640"/>
          </a:xfrm>
        </p:grpSpPr>
        <p:pic>
          <p:nvPicPr>
            <p:cNvPr id="2052" name="Picture 4" descr="C:\Users\LMH\Downloads\Telegram Desktop\스크린샷 2025-04-11 122237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0751" y="1151680"/>
              <a:ext cx="11430498" cy="4554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4B00EBD-3AEC-E33C-E622-A975C620E525}"/>
                </a:ext>
              </a:extLst>
            </p:cNvPr>
            <p:cNvSpPr/>
            <p:nvPr/>
          </p:nvSpPr>
          <p:spPr>
            <a:xfrm>
              <a:off x="7965801" y="4937759"/>
              <a:ext cx="3714135" cy="636375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제목 1">
            <a:extLst>
              <a:ext uri="{FF2B5EF4-FFF2-40B4-BE49-F238E27FC236}">
                <a16:creationId xmlns:a16="http://schemas.microsoft.com/office/drawing/2014/main" id="{6D9F5082-6D2D-1334-803D-26AD15DE1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en-US" altLang="ko-KR" b="1" dirty="0"/>
              <a:t>DB</a:t>
            </a:r>
            <a:r>
              <a:rPr lang="ko-KR" altLang="en-US" b="1" dirty="0"/>
              <a:t>생성</a:t>
            </a:r>
            <a:endParaRPr lang="en-US" altLang="ko-KR" b="1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407E1561-0C25-F773-6327-83DD2B852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025" y="1006504"/>
            <a:ext cx="11798250" cy="7296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dirty="0"/>
              <a:t>✅ </a:t>
            </a:r>
            <a:r>
              <a:rPr lang="ko-KR" altLang="en-US" dirty="0" err="1"/>
              <a:t>프리티어로</a:t>
            </a:r>
            <a:r>
              <a:rPr lang="ko-KR" altLang="en-US" dirty="0"/>
              <a:t> 선택</a:t>
            </a:r>
          </a:p>
        </p:txBody>
      </p:sp>
    </p:spTree>
    <p:extLst>
      <p:ext uri="{BB962C8B-B14F-4D97-AF65-F5344CB8AC3E}">
        <p14:creationId xmlns:p14="http://schemas.microsoft.com/office/powerpoint/2010/main" val="91347828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596" y="1882390"/>
            <a:ext cx="11490960" cy="10158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4B00EBD-3AEC-E33C-E622-A975C620E525}"/>
              </a:ext>
            </a:extLst>
          </p:cNvPr>
          <p:cNvSpPr/>
          <p:nvPr/>
        </p:nvSpPr>
        <p:spPr>
          <a:xfrm>
            <a:off x="325596" y="1984089"/>
            <a:ext cx="11490960" cy="542758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443" y="3429000"/>
            <a:ext cx="11441113" cy="135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6D9F5082-6D2D-1334-803D-26AD15DE1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en-US" altLang="ko-KR" b="1" dirty="0"/>
              <a:t>DB</a:t>
            </a:r>
            <a:r>
              <a:rPr lang="ko-KR" altLang="en-US" b="1" dirty="0"/>
              <a:t>생성</a:t>
            </a:r>
            <a:endParaRPr lang="en-US" altLang="ko-KR" b="1" dirty="0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407E1561-0C25-F773-6327-83DD2B852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025" y="1006504"/>
            <a:ext cx="11798250" cy="7296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dirty="0"/>
              <a:t>✅ </a:t>
            </a:r>
            <a:r>
              <a:rPr lang="ko-KR" altLang="en-US" dirty="0" err="1"/>
              <a:t>퍼블릭</a:t>
            </a:r>
            <a:r>
              <a:rPr lang="ko-KR" altLang="en-US" dirty="0"/>
              <a:t> 액세스를 </a:t>
            </a:r>
            <a:r>
              <a:rPr lang="en-US" altLang="ko-KR" dirty="0"/>
              <a:t>“</a:t>
            </a:r>
            <a:r>
              <a:rPr lang="ko-KR" altLang="en-US" dirty="0"/>
              <a:t>예</a:t>
            </a:r>
            <a:r>
              <a:rPr lang="en-US" altLang="ko-KR" dirty="0"/>
              <a:t>”</a:t>
            </a:r>
            <a:r>
              <a:rPr lang="ko-KR" altLang="en-US" dirty="0"/>
              <a:t>로 설정</a:t>
            </a:r>
          </a:p>
        </p:txBody>
      </p:sp>
    </p:spTree>
    <p:extLst>
      <p:ext uri="{BB962C8B-B14F-4D97-AF65-F5344CB8AC3E}">
        <p14:creationId xmlns:p14="http://schemas.microsoft.com/office/powerpoint/2010/main" val="268644979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522" y="2199227"/>
            <a:ext cx="11437925" cy="2246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D4B00EBD-3AEC-E33C-E622-A975C620E525}"/>
              </a:ext>
            </a:extLst>
          </p:cNvPr>
          <p:cNvSpPr/>
          <p:nvPr/>
        </p:nvSpPr>
        <p:spPr>
          <a:xfrm>
            <a:off x="522128" y="3157620"/>
            <a:ext cx="7454560" cy="514873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6D9F5082-6D2D-1334-803D-26AD15DE1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en-US" altLang="ko-KR" b="1" dirty="0"/>
              <a:t>DB</a:t>
            </a:r>
            <a:r>
              <a:rPr lang="ko-KR" altLang="en-US" b="1" dirty="0"/>
              <a:t>생성</a:t>
            </a:r>
            <a:endParaRPr lang="en-US" altLang="ko-KR" b="1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407E1561-0C25-F773-6327-83DD2B852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916" y="1330596"/>
            <a:ext cx="11798250" cy="7296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dirty="0"/>
              <a:t>✅ 추가 구성에서 초기 데이터베이스 이름을 설정해야 </a:t>
            </a:r>
            <a:r>
              <a:rPr lang="en-US" altLang="ko-KR" dirty="0"/>
              <a:t>DB</a:t>
            </a:r>
            <a:r>
              <a:rPr lang="ko-KR" altLang="en-US" dirty="0"/>
              <a:t>가 생성됨</a:t>
            </a:r>
          </a:p>
        </p:txBody>
      </p:sp>
    </p:spTree>
    <p:extLst>
      <p:ext uri="{BB962C8B-B14F-4D97-AF65-F5344CB8AC3E}">
        <p14:creationId xmlns:p14="http://schemas.microsoft.com/office/powerpoint/2010/main" val="30760614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" y="2083304"/>
            <a:ext cx="11765280" cy="22620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6D9F5082-6D2D-1334-803D-26AD15DE1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ko-KR" altLang="en-US" b="1" dirty="0" err="1"/>
              <a:t>인바운드</a:t>
            </a:r>
            <a:r>
              <a:rPr lang="ko-KR" altLang="en-US" b="1" dirty="0"/>
              <a:t> 보안 규칙 수정</a:t>
            </a:r>
            <a:endParaRPr lang="en-US" altLang="ko-KR" b="1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07E1561-0C25-F773-6327-83DD2B852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390" y="1608388"/>
            <a:ext cx="11798250" cy="7296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dirty="0"/>
              <a:t>✅ </a:t>
            </a:r>
            <a:r>
              <a:rPr lang="ko-KR" altLang="en-US" dirty="0" err="1"/>
              <a:t>인바운드</a:t>
            </a:r>
            <a:r>
              <a:rPr lang="ko-KR" altLang="en-US" dirty="0"/>
              <a:t> 규칙 수정</a:t>
            </a:r>
          </a:p>
        </p:txBody>
      </p:sp>
    </p:spTree>
    <p:extLst>
      <p:ext uri="{BB962C8B-B14F-4D97-AF65-F5344CB8AC3E}">
        <p14:creationId xmlns:p14="http://schemas.microsoft.com/office/powerpoint/2010/main" val="5457945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2001627" y="1024239"/>
            <a:ext cx="8188745" cy="5031793"/>
            <a:chOff x="1522413" y="619125"/>
            <a:chExt cx="9145587" cy="5619750"/>
          </a:xfrm>
        </p:grpSpPr>
        <p:pic>
          <p:nvPicPr>
            <p:cNvPr id="4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2413" y="619125"/>
              <a:ext cx="9145587" cy="56197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D4B00EBD-3AEC-E33C-E622-A975C620E525}"/>
                </a:ext>
              </a:extLst>
            </p:cNvPr>
            <p:cNvSpPr/>
            <p:nvPr/>
          </p:nvSpPr>
          <p:spPr>
            <a:xfrm>
              <a:off x="1583373" y="2657642"/>
              <a:ext cx="550227" cy="542758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4B00EBD-3AEC-E33C-E622-A975C620E525}"/>
                </a:ext>
              </a:extLst>
            </p:cNvPr>
            <p:cNvSpPr/>
            <p:nvPr/>
          </p:nvSpPr>
          <p:spPr>
            <a:xfrm>
              <a:off x="3000692" y="5638800"/>
              <a:ext cx="1342707" cy="426720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제목 1">
            <a:extLst>
              <a:ext uri="{FF2B5EF4-FFF2-40B4-BE49-F238E27FC236}">
                <a16:creationId xmlns:a16="http://schemas.microsoft.com/office/drawing/2014/main" id="{6D9F5082-6D2D-1334-803D-26AD15DE1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ko-KR" altLang="en-US" b="1" dirty="0" err="1"/>
              <a:t>인바운드</a:t>
            </a:r>
            <a:r>
              <a:rPr lang="ko-KR" altLang="en-US" b="1" dirty="0"/>
              <a:t> 보안 규칙 수정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390718748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6D9F5082-6D2D-1334-803D-26AD15DE1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en-US" altLang="ko-KR" b="1" dirty="0"/>
              <a:t>db.py </a:t>
            </a:r>
            <a:r>
              <a:rPr lang="ko-KR" altLang="en-US" b="1" dirty="0"/>
              <a:t>수정</a:t>
            </a:r>
            <a:endParaRPr lang="en-US" altLang="ko-KR" b="1" dirty="0"/>
          </a:p>
        </p:txBody>
      </p:sp>
      <p:pic>
        <p:nvPicPr>
          <p:cNvPr id="7172" name="Picture 4" descr="C:\Users\LMH\Desktop\db세팅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608957"/>
            <a:ext cx="11449050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직사각형 8"/>
          <p:cNvSpPr/>
          <p:nvPr/>
        </p:nvSpPr>
        <p:spPr>
          <a:xfrm>
            <a:off x="1230773" y="3703090"/>
            <a:ext cx="9718877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✔️ 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DB_USER : 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마스터 사용자 이름	</a:t>
            </a:r>
            <a:endParaRPr lang="en-US" altLang="ko-KR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✔️ 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DB_PASSWORD : 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마스터 암호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(RDS 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생성 시 설정한 비밀번호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)</a:t>
            </a:r>
            <a:endParaRPr lang="ko-KR" altLang="en-US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✔️ 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DB_HOST : </a:t>
            </a:r>
            <a:r>
              <a:rPr lang="ko-KR" altLang="en-US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엔드포인트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	</a:t>
            </a:r>
            <a:endParaRPr lang="en-US" altLang="ko-KR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✔️ 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DB_PORT : 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포트 번호 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ex) 3306 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✔️ 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DB_NAME : 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사용할 데이터베이스 이름	</a:t>
            </a:r>
          </a:p>
        </p:txBody>
      </p:sp>
    </p:spTree>
    <p:extLst>
      <p:ext uri="{BB962C8B-B14F-4D97-AF65-F5344CB8AC3E}">
        <p14:creationId xmlns:p14="http://schemas.microsoft.com/office/powerpoint/2010/main" val="92717049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6D9F5082-6D2D-1334-803D-26AD15DE1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en-US" altLang="ko-KR" b="1" dirty="0"/>
              <a:t>.</a:t>
            </a:r>
            <a:r>
              <a:rPr lang="en-US" altLang="ko-KR" b="1" dirty="0" err="1"/>
              <a:t>env</a:t>
            </a:r>
            <a:endParaRPr lang="en-US" altLang="ko-KR" b="1" dirty="0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407E1561-0C25-F773-6327-83DD2B85268B}"/>
              </a:ext>
            </a:extLst>
          </p:cNvPr>
          <p:cNvSpPr txBox="1">
            <a:spLocks/>
          </p:cNvSpPr>
          <p:nvPr/>
        </p:nvSpPr>
        <p:spPr>
          <a:xfrm>
            <a:off x="196875" y="1145407"/>
            <a:ext cx="11798250" cy="422335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  <a:ea typeface="+mn-ea"/>
              </a:rPr>
              <a:t>💡 </a:t>
            </a:r>
            <a:r>
              <a:rPr lang="ko-KR" altLang="en-US" dirty="0"/>
              <a:t>환경 </a:t>
            </a:r>
            <a:r>
              <a:rPr lang="ko-KR" altLang="en-US" dirty="0" err="1"/>
              <a:t>설정값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DB </a:t>
            </a:r>
            <a:r>
              <a:rPr lang="ko-KR" altLang="en-US" dirty="0"/>
              <a:t>비밀번호</a:t>
            </a:r>
            <a:r>
              <a:rPr lang="en-US" altLang="ko-KR" dirty="0"/>
              <a:t>, API </a:t>
            </a:r>
            <a:r>
              <a:rPr lang="ko-KR" altLang="en-US" dirty="0"/>
              <a:t>키 등</a:t>
            </a:r>
            <a:r>
              <a:rPr lang="en-US" altLang="ko-KR" dirty="0"/>
              <a:t>)</a:t>
            </a:r>
            <a:r>
              <a:rPr lang="ko-KR" altLang="en-US" dirty="0"/>
              <a:t>을 저장하는 텍스트 파일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코드와 분리하여 </a:t>
            </a:r>
            <a:r>
              <a:rPr lang="ko-KR" altLang="en-US" b="1" dirty="0"/>
              <a:t>보안성과 유지보수를 높이기 위해 사용</a:t>
            </a:r>
            <a:r>
              <a:rPr lang="ko-KR" altLang="en-US" dirty="0"/>
              <a:t>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597703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6D9F5082-6D2D-1334-803D-26AD15DE1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ko-KR" altLang="en-US" b="1" dirty="0"/>
              <a:t>패키지 설치</a:t>
            </a:r>
            <a:r>
              <a:rPr lang="en-US" altLang="ko-KR" b="1" dirty="0"/>
              <a:t>(</a:t>
            </a:r>
            <a:r>
              <a:rPr lang="en-US" altLang="ko-KR" b="1" dirty="0" err="1"/>
              <a:t>dotenv</a:t>
            </a:r>
            <a:r>
              <a:rPr lang="en-US" altLang="ko-KR" b="1" dirty="0"/>
              <a:t>)</a:t>
            </a:r>
          </a:p>
        </p:txBody>
      </p:sp>
      <p:pic>
        <p:nvPicPr>
          <p:cNvPr id="8194" name="Picture 2" descr="C:\Users\LMH\Desktop\env설치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4" y="1085850"/>
            <a:ext cx="11182351" cy="468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07E1561-0C25-F773-6327-83DD2B852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1679" y="1445694"/>
            <a:ext cx="9470291" cy="7296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dirty="0"/>
              <a:t>✅ 패키지 설치</a:t>
            </a:r>
          </a:p>
        </p:txBody>
      </p:sp>
    </p:spTree>
    <p:extLst>
      <p:ext uri="{BB962C8B-B14F-4D97-AF65-F5344CB8AC3E}">
        <p14:creationId xmlns:p14="http://schemas.microsoft.com/office/powerpoint/2010/main" val="285802035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LMH\Desktop\env파일 예시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5" y="1027113"/>
            <a:ext cx="11182350" cy="504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6D9F5082-6D2D-1334-803D-26AD15DE1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en-US" altLang="ko-KR" b="1" dirty="0"/>
              <a:t>.</a:t>
            </a:r>
            <a:r>
              <a:rPr lang="en-US" altLang="ko-KR" b="1" dirty="0" err="1"/>
              <a:t>env</a:t>
            </a:r>
            <a:r>
              <a:rPr lang="en-US" altLang="ko-KR" b="1" dirty="0"/>
              <a:t> </a:t>
            </a:r>
            <a:r>
              <a:rPr lang="ko-KR" altLang="en-US" b="1" dirty="0"/>
              <a:t>적용</a:t>
            </a:r>
            <a:endParaRPr lang="en-US" altLang="ko-KR" b="1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07E1561-0C25-F773-6327-83DD2B852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8979" y="1380924"/>
            <a:ext cx="9470291" cy="7296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dirty="0"/>
              <a:t>✅ </a:t>
            </a:r>
            <a:r>
              <a:rPr lang="en-US" altLang="ko-KR" dirty="0"/>
              <a:t>.</a:t>
            </a:r>
            <a:r>
              <a:rPr lang="en-US" altLang="ko-KR" dirty="0" err="1"/>
              <a:t>env</a:t>
            </a:r>
            <a:r>
              <a:rPr lang="en-US" altLang="ko-KR" dirty="0"/>
              <a:t> </a:t>
            </a:r>
            <a:r>
              <a:rPr lang="ko-KR" altLang="en-US" dirty="0"/>
              <a:t>파일 생성</a:t>
            </a:r>
          </a:p>
        </p:txBody>
      </p:sp>
    </p:spTree>
    <p:extLst>
      <p:ext uri="{BB962C8B-B14F-4D97-AF65-F5344CB8AC3E}">
        <p14:creationId xmlns:p14="http://schemas.microsoft.com/office/powerpoint/2010/main" val="418692117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C:\Users\LMH\Desktop\env로드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" y="660698"/>
            <a:ext cx="10728960" cy="6311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6D9F5082-6D2D-1334-803D-26AD15DE1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en-US" altLang="ko-KR" b="1" dirty="0"/>
              <a:t>.</a:t>
            </a:r>
            <a:r>
              <a:rPr lang="en-US" altLang="ko-KR" b="1" dirty="0" err="1"/>
              <a:t>env</a:t>
            </a:r>
            <a:r>
              <a:rPr lang="en-US" altLang="ko-KR" b="1" dirty="0"/>
              <a:t> </a:t>
            </a:r>
            <a:r>
              <a:rPr lang="ko-KR" altLang="en-US" b="1" dirty="0"/>
              <a:t>적용</a:t>
            </a:r>
            <a:endParaRPr lang="en-US" altLang="ko-KR" b="1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07E1561-0C25-F773-6327-83DD2B852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854" y="940234"/>
            <a:ext cx="9470291" cy="7296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dirty="0"/>
              <a:t>✅ </a:t>
            </a:r>
            <a:r>
              <a:rPr lang="en-US" altLang="ko-KR" dirty="0"/>
              <a:t>.</a:t>
            </a:r>
            <a:r>
              <a:rPr lang="en-US" altLang="ko-KR" dirty="0" err="1"/>
              <a:t>env</a:t>
            </a:r>
            <a:r>
              <a:rPr lang="en-US" altLang="ko-KR" dirty="0"/>
              <a:t> </a:t>
            </a:r>
            <a:r>
              <a:rPr lang="ko-KR" altLang="en-US" dirty="0"/>
              <a:t>환경 변수 사용하기</a:t>
            </a:r>
          </a:p>
        </p:txBody>
      </p:sp>
    </p:spTree>
    <p:extLst>
      <p:ext uri="{BB962C8B-B14F-4D97-AF65-F5344CB8AC3E}">
        <p14:creationId xmlns:p14="http://schemas.microsoft.com/office/powerpoint/2010/main" val="356952957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C:\Users\LMH\Desktop\gitignore에추가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03492"/>
            <a:ext cx="12192000" cy="4051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6D9F5082-6D2D-1334-803D-26AD15DE1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en-US" altLang="ko-KR" b="1" dirty="0"/>
              <a:t>.</a:t>
            </a:r>
            <a:r>
              <a:rPr lang="en-US" altLang="ko-KR" b="1" dirty="0" err="1"/>
              <a:t>env</a:t>
            </a:r>
            <a:r>
              <a:rPr lang="en-US" altLang="ko-KR" b="1" dirty="0"/>
              <a:t> </a:t>
            </a:r>
            <a:r>
              <a:rPr lang="ko-KR" altLang="en-US" b="1" dirty="0"/>
              <a:t>적용</a:t>
            </a:r>
            <a:endParaRPr lang="en-US" altLang="ko-KR" b="1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07E1561-0C25-F773-6327-83DD2B852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584" y="1769544"/>
            <a:ext cx="9470291" cy="7296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dirty="0"/>
              <a:t>✅ </a:t>
            </a:r>
            <a:r>
              <a:rPr lang="en-US" altLang="ko-KR" dirty="0" err="1"/>
              <a:t>gitignore</a:t>
            </a:r>
            <a:r>
              <a:rPr lang="ko-KR" altLang="en-US" dirty="0"/>
              <a:t>에 추가</a:t>
            </a:r>
          </a:p>
        </p:txBody>
      </p:sp>
    </p:spTree>
    <p:extLst>
      <p:ext uri="{BB962C8B-B14F-4D97-AF65-F5344CB8AC3E}">
        <p14:creationId xmlns:p14="http://schemas.microsoft.com/office/powerpoint/2010/main" val="89016337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4071</TotalTime>
  <Words>1374</Words>
  <Application>Microsoft Office PowerPoint</Application>
  <PresentationFormat>와이드스크린</PresentationFormat>
  <Paragraphs>256</Paragraphs>
  <Slides>60</Slides>
  <Notes>34</Notes>
  <HiddenSlides>15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60</vt:i4>
      </vt:variant>
    </vt:vector>
  </HeadingPairs>
  <TitlesOfParts>
    <vt:vector size="70" baseType="lpstr">
      <vt:lpstr>G마켓 산스 TTF Bold</vt:lpstr>
      <vt:lpstr>Kim jung chul Gothic Regular</vt:lpstr>
      <vt:lpstr>Pretendard Black</vt:lpstr>
      <vt:lpstr>Pretendard Light</vt:lpstr>
      <vt:lpstr>Pretendard Medium</vt:lpstr>
      <vt:lpstr>Malgun Gothic Semilight</vt:lpstr>
      <vt:lpstr>메이플스토리</vt:lpstr>
      <vt:lpstr>Arial</vt:lpstr>
      <vt:lpstr>Wingdings</vt:lpstr>
      <vt:lpstr>1_Office 테마</vt:lpstr>
      <vt:lpstr>x</vt:lpstr>
      <vt:lpstr>PowerPoint 프레젠테이션</vt:lpstr>
      <vt:lpstr>PowerPoint 프레젠테이션</vt:lpstr>
      <vt:lpstr>패키지 설치(mysql-connector)</vt:lpstr>
      <vt:lpstr>CRUD 테스트 테이블 만들기</vt:lpstr>
      <vt:lpstr>DB와 연결하기(1)</vt:lpstr>
      <vt:lpstr>DB와 연결하기(2)</vt:lpstr>
      <vt:lpstr>DB와 연결하기(3)</vt:lpstr>
      <vt:lpstr>CRUD(1) - INSERT</vt:lpstr>
      <vt:lpstr>CRUD(1) - INSERT</vt:lpstr>
      <vt:lpstr>CRUD(2) - SELECT</vt:lpstr>
      <vt:lpstr>CRUD(3) – UPDATE</vt:lpstr>
      <vt:lpstr>CRUD(4) – DELETE</vt:lpstr>
      <vt:lpstr>PowerPoint 프레젠테이션</vt:lpstr>
      <vt:lpstr>Python 웹 프레임워크</vt:lpstr>
      <vt:lpstr>FastAPI</vt:lpstr>
      <vt:lpstr>RestfulAPI</vt:lpstr>
      <vt:lpstr>RestfulAPI</vt:lpstr>
      <vt:lpstr>RestfulAPI</vt:lpstr>
      <vt:lpstr>RestfulAPI</vt:lpstr>
      <vt:lpstr>Postman 설치하기</vt:lpstr>
      <vt:lpstr>패키지 설치(FastAPI, uvicorn)</vt:lpstr>
      <vt:lpstr>DB와 연결하기</vt:lpstr>
      <vt:lpstr>FastAPI 기본 앱 구성</vt:lpstr>
      <vt:lpstr>CRUD - 사용자 조회(READ)</vt:lpstr>
      <vt:lpstr>Pydantic 모델 </vt:lpstr>
      <vt:lpstr>Pydantic 모델 정의 </vt:lpstr>
      <vt:lpstr>CRUD - 사용자 등록(CREATE)</vt:lpstr>
      <vt:lpstr>CRUD - 사용자 수정(UPDATE)</vt:lpstr>
      <vt:lpstr>CRUD - 사용자 삭제(DELETE)</vt:lpstr>
      <vt:lpstr>Postman 사용하기</vt:lpstr>
      <vt:lpstr>PowerPoint 프레젠테이션</vt:lpstr>
      <vt:lpstr>ORM(Object-Relational Mapping)</vt:lpstr>
      <vt:lpstr>ORM(Object-Relational Mapping)</vt:lpstr>
      <vt:lpstr>SQLAlchemy</vt:lpstr>
      <vt:lpstr>패키지 설치(SQLAlchemy)</vt:lpstr>
      <vt:lpstr>DB 세션 구성 (db.py)</vt:lpstr>
      <vt:lpstr>사용자 모델 정의 (models.py)</vt:lpstr>
      <vt:lpstr>라이브러리 불러오기, DB 테이블 생성</vt:lpstr>
      <vt:lpstr>DB 세션 주입</vt:lpstr>
      <vt:lpstr>CRUD - 사용자 조회(READ)</vt:lpstr>
      <vt:lpstr>CRUD - 사용자 생성(CREATE)</vt:lpstr>
      <vt:lpstr>CRUD - 사용자 정보 수정(UPDATE)</vt:lpstr>
      <vt:lpstr>CRUD - 사용자 정보 수정(DELETE)</vt:lpstr>
      <vt:lpstr>PowerPoint 프레젠테이션</vt:lpstr>
      <vt:lpstr>AWS RDS 접속</vt:lpstr>
      <vt:lpstr>DB생성</vt:lpstr>
      <vt:lpstr>DB생성</vt:lpstr>
      <vt:lpstr>DB생성</vt:lpstr>
      <vt:lpstr>DB생성</vt:lpstr>
      <vt:lpstr>DB생성</vt:lpstr>
      <vt:lpstr>인바운드 보안 규칙 수정</vt:lpstr>
      <vt:lpstr>인바운드 보안 규칙 수정</vt:lpstr>
      <vt:lpstr>db.py 수정</vt:lpstr>
      <vt:lpstr>.env</vt:lpstr>
      <vt:lpstr>패키지 설치(dotenv)</vt:lpstr>
      <vt:lpstr>.env 적용</vt:lpstr>
      <vt:lpstr>.env 적용</vt:lpstr>
      <vt:lpstr>.env 적용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382</cp:revision>
  <dcterms:created xsi:type="dcterms:W3CDTF">2023-01-31T04:26:23Z</dcterms:created>
  <dcterms:modified xsi:type="dcterms:W3CDTF">2025-10-27T09:01:26Z</dcterms:modified>
</cp:coreProperties>
</file>