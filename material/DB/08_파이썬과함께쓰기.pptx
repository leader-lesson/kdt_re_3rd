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63"/>
  </p:notesMasterIdLst>
  <p:sldIdLst>
    <p:sldId id="790" r:id="rId2"/>
    <p:sldId id="257" r:id="rId3"/>
    <p:sldId id="989" r:id="rId4"/>
    <p:sldId id="991" r:id="rId5"/>
    <p:sldId id="996" r:id="rId6"/>
    <p:sldId id="993" r:id="rId7"/>
    <p:sldId id="994" r:id="rId8"/>
    <p:sldId id="995" r:id="rId9"/>
    <p:sldId id="997" r:id="rId10"/>
    <p:sldId id="998" r:id="rId11"/>
    <p:sldId id="999" r:id="rId12"/>
    <p:sldId id="1000" r:id="rId13"/>
    <p:sldId id="1001" r:id="rId14"/>
    <p:sldId id="990" r:id="rId15"/>
    <p:sldId id="1002" r:id="rId16"/>
    <p:sldId id="1007" r:id="rId17"/>
    <p:sldId id="1012" r:id="rId18"/>
    <p:sldId id="1013" r:id="rId19"/>
    <p:sldId id="1014" r:id="rId20"/>
    <p:sldId id="1015" r:id="rId21"/>
    <p:sldId id="1021" r:id="rId22"/>
    <p:sldId id="1008" r:id="rId23"/>
    <p:sldId id="1009" r:id="rId24"/>
    <p:sldId id="1010" r:id="rId25"/>
    <p:sldId id="1047" r:id="rId26"/>
    <p:sldId id="1011" r:id="rId27"/>
    <p:sldId id="1016" r:id="rId28"/>
    <p:sldId id="1017" r:id="rId29"/>
    <p:sldId id="1018" r:id="rId30"/>
    <p:sldId id="1019" r:id="rId31"/>
    <p:sldId id="1020" r:id="rId32"/>
    <p:sldId id="1031" r:id="rId33"/>
    <p:sldId id="1003" r:id="rId34"/>
    <p:sldId id="1004" r:id="rId35"/>
    <p:sldId id="1005" r:id="rId36"/>
    <p:sldId id="1006" r:id="rId37"/>
    <p:sldId id="1022" r:id="rId38"/>
    <p:sldId id="1023" r:id="rId39"/>
    <p:sldId id="1024" r:id="rId40"/>
    <p:sldId id="1025" r:id="rId41"/>
    <p:sldId id="1026" r:id="rId42"/>
    <p:sldId id="1027" r:id="rId43"/>
    <p:sldId id="1028" r:id="rId44"/>
    <p:sldId id="1029" r:id="rId45"/>
    <p:sldId id="1030" r:id="rId46"/>
    <p:sldId id="1032" r:id="rId47"/>
    <p:sldId id="1041" r:id="rId48"/>
    <p:sldId id="1033" r:id="rId49"/>
    <p:sldId id="1035" r:id="rId50"/>
    <p:sldId id="1034" r:id="rId51"/>
    <p:sldId id="1036" r:id="rId52"/>
    <p:sldId id="1037" r:id="rId53"/>
    <p:sldId id="1038" r:id="rId54"/>
    <p:sldId id="1039" r:id="rId55"/>
    <p:sldId id="1040" r:id="rId56"/>
    <p:sldId id="1042" r:id="rId57"/>
    <p:sldId id="1046" r:id="rId58"/>
    <p:sldId id="1043" r:id="rId59"/>
    <p:sldId id="1044" r:id="rId60"/>
    <p:sldId id="1045" r:id="rId61"/>
    <p:sldId id="813" r:id="rId6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B050"/>
    <a:srgbClr val="FF5050"/>
    <a:srgbClr val="00599C"/>
    <a:srgbClr val="ED7D31"/>
    <a:srgbClr val="FF7C8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403" autoAdjust="0"/>
    <p:restoredTop sz="76545" autoAdjust="0"/>
  </p:normalViewPr>
  <p:slideViewPr>
    <p:cSldViewPr snapToGrid="0">
      <p:cViewPr varScale="1">
        <p:scale>
          <a:sx n="72" d="100"/>
          <a:sy n="72" d="100"/>
        </p:scale>
        <p:origin x="324" y="5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1" d="100"/>
          <a:sy n="81" d="100"/>
        </p:scale>
        <p:origin x="2404" y="6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fld id="{A13A867C-D490-40C2-AB8D-A60FA70A9BF5}" type="datetimeFigureOut">
              <a:rPr lang="ko-KR" altLang="en-US" smtClean="0"/>
              <a:pPr/>
              <a:t>2025-10-28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fld id="{3E35EA20-6519-4513-9EDC-C89C5369BAEC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441664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453617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22844E-6422-DC26-5D5E-64320B1CAB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143460B-49EB-C8AD-BA80-C6021362EF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224DFAA-BADB-ACCB-0F4A-B9E1A1E1C7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설치 전 파이썬 버전 확인</a:t>
            </a:r>
            <a:r>
              <a:rPr lang="en-US" altLang="ko-KR" dirty="0"/>
              <a:t>!</a:t>
            </a:r>
          </a:p>
          <a:p>
            <a:r>
              <a:rPr lang="en-US" altLang="ko-KR" dirty="0"/>
              <a:t>3.9 </a:t>
            </a:r>
            <a:r>
              <a:rPr lang="ko-KR" altLang="en-US" dirty="0"/>
              <a:t>이상 되도록 </a:t>
            </a:r>
            <a:r>
              <a:rPr lang="en-US" altLang="ko-KR" dirty="0"/>
              <a:t>(3.8 </a:t>
            </a:r>
            <a:r>
              <a:rPr lang="ko-KR" altLang="en-US" dirty="0"/>
              <a:t>지원 종료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187E69B-4827-778E-84A2-F635CAF18A6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161813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3FE2A0-5F1E-CFF2-BD88-27C0090388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EC58F36-6AAC-4263-1BDB-95BE590F58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D674700-2CE8-3254-69B5-032B59BD5D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08_python.sql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6C7D177-10FB-4938-E083-987D90B20FB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8940269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6A30D2-BC4B-431C-BC57-4E0D935A50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8CF8205-9443-9738-EB53-2911C62DFA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150963B-211B-E062-208A-8DE17FA6C9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08_python_db.py</a:t>
            </a:r>
          </a:p>
          <a:p>
            <a:endParaRPr lang="en-US" altLang="ko-KR" dirty="0"/>
          </a:p>
          <a:p>
            <a:r>
              <a:rPr lang="en-US" altLang="ko-KR" dirty="0"/>
              <a:t>User </a:t>
            </a:r>
            <a:r>
              <a:rPr lang="ko-KR" altLang="en-US" dirty="0"/>
              <a:t>생성 먼저 하기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72272F3-8289-B85B-5AD6-6F252357E6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237049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0B3D7F-DDA5-87A4-395C-04F736DAB5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ABE2CEC-6978-23DE-F31C-5B47F0A1DA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0666091-719B-C40A-1430-9A2B2B3904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DBFE42F-A71F-5775-0E8B-7DB91F06F0E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586417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CB744D-CEE8-2D90-FFE6-BFBCA282A3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C1FE6C6-14A0-E71E-3FAC-63B390A64E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677AA58-1358-0377-FF8B-CA5E251709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Try</a:t>
            </a:r>
            <a:r>
              <a:rPr lang="ko-KR" altLang="en-US" dirty="0"/>
              <a:t> 안에 쿼리 실행 코드 추가하기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06FD460-E613-62E3-3B5D-96816E0CD86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1033634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45EF80-5BF1-245E-1E87-D0F883CC74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D69728F-9650-A007-3A64-507CC93014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D7D8A9F-F549-09F2-B3DD-E9F3793A2C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89A9987-0F26-513F-ECF4-419E3FC5DD7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886065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15EE08-7286-5BF8-E87C-D5E79E77C1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FF560E8-CC62-4565-7B78-438F3660BD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059803E-521B-45F1-007C-30D95D9B51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F2B87A6-397B-D235-64D6-826BC421401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419571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EFB120-5B6E-BB03-8808-0D47FF1FD8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5E37E5D-355F-6E68-D9D0-6A8C3B557E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4FC27E4-590B-146A-FCAF-0203FCF0C1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CFA9774-9C06-0DCE-AEE5-9774F1DA6D9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5131225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CA56D-AD1A-297B-5DCC-3AFE71AB5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02D1E9E-541F-9A96-8AE2-89FB5305FA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A886E83-78F9-4AF4-72BF-610A60B35C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0B725D-CA6C-D2E8-F8FF-B957B76C73D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236719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D607B4-E6F3-41BA-ECE0-31F34CE1E8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5AC950F-65C8-93D5-6F0F-648714DE43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BAE5B84-BD93-B03B-5923-C53202ECAF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4F159C3-9653-1915-9A88-F2E3164D4B0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653381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세가지 비교 설명</a:t>
            </a:r>
            <a:endParaRPr lang="en-US" altLang="ko-KR" dirty="0"/>
          </a:p>
          <a:p>
            <a:r>
              <a:rPr lang="en-US" altLang="ko-KR" dirty="0"/>
              <a:t>https://www.hanbit.co.kr/channel/view.html?cmscode=CMS5997817104</a:t>
            </a:r>
          </a:p>
          <a:p>
            <a:r>
              <a:rPr lang="en-US" altLang="ko-KR" dirty="0"/>
              <a:t>https://blog.jetbrains.com/ko/pycharm/2025/06/which-is-the-best-python-web-framework-django-flask-or-fastapi/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7550200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E57881-A8E6-A0D6-B97A-EA26C730B9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F16AB54-BB23-1F1D-D68F-FE5A66A26B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41AC905-F303-2295-6ED3-2EA5FBDEBC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BEE2ABC-17B3-86C6-7CEF-0A5DAA714E8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2308974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C6DC31-96EE-0F63-4843-F2B2A2D8CA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0A7CC94-81C3-B3D3-55B0-C4A5DFE0BD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B70423E-8875-2753-A3F6-3208C0E4A5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C64A09C-5D63-2BED-45CE-F5EDC54845A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557568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13268D-7C91-1C7E-F82A-C66C5467AB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2CCCB84-0EEB-FAD4-ABDD-2C1BCB3A6B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1CF14B9-0CCB-F8C1-C537-CF34EE659C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실행 명령어 </a:t>
            </a:r>
            <a:r>
              <a:rPr lang="en-US" altLang="ko-KR" dirty="0" err="1"/>
              <a:t>uvicorn</a:t>
            </a:r>
            <a:r>
              <a:rPr lang="en-US" altLang="ko-KR" dirty="0"/>
              <a:t> </a:t>
            </a:r>
            <a:r>
              <a:rPr lang="en-US" altLang="ko-KR" dirty="0" err="1"/>
              <a:t>main:app</a:t>
            </a:r>
            <a:r>
              <a:rPr lang="en-US" altLang="ko-KR" dirty="0"/>
              <a:t> --reload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5C1B55C-CADA-1B7F-D290-06F843695B4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6691879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EFA9E2-38AF-ABD4-FA4A-57CDB81E89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C6C8A3E-54EE-46E3-445A-C917769479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C0EA8E5-0FCE-ECC8-0D08-8A506BB486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실행 명령어 </a:t>
            </a:r>
            <a:r>
              <a:rPr lang="en-US" altLang="ko-KR" dirty="0" err="1"/>
              <a:t>uvicorn</a:t>
            </a:r>
            <a:r>
              <a:rPr lang="en-US" altLang="ko-KR" dirty="0"/>
              <a:t> </a:t>
            </a:r>
            <a:r>
              <a:rPr lang="en-US" altLang="ko-KR" dirty="0" err="1"/>
              <a:t>app.main:app</a:t>
            </a:r>
            <a:r>
              <a:rPr lang="en-US" altLang="ko-KR" dirty="0"/>
              <a:t> –reload</a:t>
            </a:r>
          </a:p>
          <a:p>
            <a:endParaRPr lang="en-US" altLang="ko-KR" dirty="0"/>
          </a:p>
          <a:p>
            <a:r>
              <a:rPr lang="ko-KR" altLang="en-US" dirty="0"/>
              <a:t>실행 위치 </a:t>
            </a:r>
            <a:r>
              <a:rPr lang="en-US" altLang="ko-KR" dirty="0"/>
              <a:t>app </a:t>
            </a:r>
            <a:r>
              <a:rPr lang="ko-KR" altLang="en-US" dirty="0"/>
              <a:t>폴더 상위 </a:t>
            </a:r>
            <a:r>
              <a:rPr lang="ko-KR" altLang="en-US" dirty="0" err="1"/>
              <a:t>루트폴더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__init__.py </a:t>
            </a:r>
            <a:r>
              <a:rPr lang="ko-KR" altLang="en-US" dirty="0"/>
              <a:t>파일</a:t>
            </a:r>
            <a:endParaRPr lang="en-US" altLang="ko-KR" dirty="0"/>
          </a:p>
          <a:p>
            <a:r>
              <a:rPr lang="ko-KR" altLang="en-US" dirty="0"/>
              <a:t>이 폴더를 파이썬 패키지로 인식하게 하는 표시 파일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230A381-5ABB-DF03-3D86-60D00119B05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1836052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B2C0D2-497F-EA27-D7C7-689BB8942E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54DEA9C-299B-50C2-FA17-2CDCC5EEA3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6413104-B1DB-4CA7-B931-CFB4B3FDBE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F455C2F-628A-DE4E-C2DD-2EC1C548639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011100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6C7305-5A8B-3785-6DD3-7EE96EC650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5C2E958-C5CB-B440-690E-54C460A1E3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09653DC-29F2-34E7-5A83-33B1F55D45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B58C262-19CA-ADCD-10C0-3C85DAA5B3F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767656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96D066-2200-E567-7F98-8AC13FACAC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114A9C3-5E16-BECC-4EB7-E372A6D648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D918A0E-67D0-9D94-6532-DCC74BDF0E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app/schemas/</a:t>
            </a:r>
            <a:r>
              <a:rPr lang="en-US" altLang="ko-KR"/>
              <a:t>user.py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EEE304B-9A03-2A7F-E39E-3CE51BBEDE9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0026551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B317E3-88BF-1F73-CDE7-780696E3BE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017403C-A78F-6C17-2AB7-6FD41A5D01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5BE7AEB-8A95-2838-6948-2D70794D63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EE5886A-1348-4CC2-D7D3-4A94D05F8CE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29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2518737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8EC3DC-4177-FE0E-FA21-AAE631EC1E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8BD2045-7489-B3F1-A455-974E63C661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C61EC02-EAFB-447D-8657-650FC72C09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86F1A02-C654-021B-6528-4BAFA2AED61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494623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31CBC6-EAB8-E80E-AAFF-2C746A75BD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F13FFFC-083F-F402-121C-D1472CC7F2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D040630-8B35-8CDF-D5FA-3AEF4D7328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B160C96-5B42-4D45-87D7-2DCF17C6B77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31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393007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39CF45-DFDA-123D-6B82-B03269DB94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4BFAC40-D257-2080-B5E2-1E48DFBF18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C80072C-F9F9-382A-6573-6826B00AB3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28235EA-EF4C-7996-CBEF-7C4B10E039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34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8044134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2127D0-DFED-3713-8E34-29C494BBAF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A6245FA-87C4-7D8A-33EF-C8244BB187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B34C700-A45B-1854-8347-60B13779B9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915ACCE-5384-E055-9B1E-AB606A619F7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35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7339260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588675-9924-F4AA-3897-CCB775A8F1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E0EAC86-A9B1-0A2B-26DD-97BB668F70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D407FBA-6150-D581-5EE7-3AC7368132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558AE2B-5ED7-AA87-3E7C-5717BD6B54D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36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2723944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48D3C5-4BCB-A28F-BE05-E6FC9EE4A5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D50E352-B5C7-75EA-D8B7-C4FD166211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E1CB19B-0147-CC81-5B8D-6F995CF266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BC765FF-9CB5-CB5B-18DD-E514935FBE0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37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416835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A57F4C-6356-AE3A-34F0-464D698FB1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1A786DA-6A00-EAD2-6FB4-FACE03E7AD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B69DED9-6A3C-F004-6A2A-26BA2D123F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F763F9-0C36-1F7A-FFE4-4835DEA390B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38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2082828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49D10F-F602-3AA1-0011-D5BDC7BD6D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1914AEF-A184-B244-A3F6-0C07B2F3D9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B61BBAA-7E52-C91D-1513-501181F963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81EA429-BD42-D4BB-1E95-1081B8AE90D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39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923852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8C1D17-C9AA-1467-01D9-70C20B7934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58DA910-7C21-A0A6-986E-3E8ACF2FE9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F4802ED-1B9A-AC23-89A3-667FACFE3B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AC04E4F-2250-6A96-6446-A47305D72CB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40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2608999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A04940-C8D2-BEF5-199B-71B01BAE9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6DE100E-87BB-6ECB-0FC0-E60F6DFE91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C4D9189-4559-F9EB-E3DE-DC5E42A2D0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C4E7BBA-9403-A5C9-99A2-A97FEA94A22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41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613865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99E6FD-96EC-D559-59D5-6F9CEE5253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187998B-FE03-E109-B770-897D47D84B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83A2AC4-56D7-F7F5-826E-77A64ABCBD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F2906F-079E-A87B-D418-587D3DEDC4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42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758433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AEAD22-D92C-343E-52B3-BD01E5B532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1AF301B-6AD4-5DCF-B37A-FBF05668E0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4FED91B-0F61-D776-3CE1-E2720C9594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3599AC1-208C-BA3A-2CD9-9EA9CBAC2F1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43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98571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CAD476-EDBC-0C7A-B22A-7FAB566F9C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B9D3AD2-648A-A347-AB72-85438C5F60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59D5DF9-9674-EE64-E1D9-EDA21254DB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F40A31B-BB1C-4BEA-853F-A6BBA0800AC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44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3131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15997E-B081-6642-B5E7-A52A307EB0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E5A8E89-791D-2844-C836-CA7B6D620F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7993447-FDC3-C517-8DC3-AE7D6094C0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60EF5D-E866-228B-F693-DE3D3405932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t>45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3660832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7DCA84-D834-7EED-20D1-8EA7A0219F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52C2548-3BDB-0A27-ACDF-B4EE7E71B6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0C03A41-0342-B6B6-15E4-6C583E4249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94762EC-19F5-CEE1-1915-8492FF16486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t>61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0402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009D0C-0730-3FA7-D006-7345AAB817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BBAF2A3-6AB5-1035-43BF-2D5011F42D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1FB6271-4BE0-0899-E10F-BEDE57F77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2BEE3F-2E9A-4FD8-8B8A-8619F3E161C0}" type="datetime1">
              <a:rPr lang="ko-KR" altLang="en-US" smtClean="0"/>
              <a:t>2025-10-28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37396ACF-33BF-8F05-8A89-B4A950B2B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5E491FF2-4362-D667-E80C-A0CD33AAE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215008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2160">
          <p15:clr>
            <a:srgbClr val="FBAE40"/>
          </p15:clr>
        </p15:guide>
        <p15:guide id="4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F1932D-9408-4B70-B995-B65AD315E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>
            <a:lvl1pPr>
              <a:defRPr sz="4800"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757714-0D4F-E274-0B81-4198785050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7" y="1511166"/>
            <a:ext cx="11701221" cy="4665797"/>
          </a:xfrm>
        </p:spPr>
        <p:txBody>
          <a:bodyPr lIns="90000" rIns="90000"/>
          <a:lstStyle>
            <a:lvl1pPr marL="228600" indent="-228600">
              <a:lnSpc>
                <a:spcPct val="120000"/>
              </a:lnSpc>
              <a:buFont typeface="Wingdings" panose="05000000000000000000" pitchFamily="2" charset="2"/>
              <a:buChar char="§"/>
              <a:defRPr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9" name="날짜 개체 틀 8">
            <a:extLst>
              <a:ext uri="{FF2B5EF4-FFF2-40B4-BE49-F238E27FC236}">
                <a16:creationId xmlns:a16="http://schemas.microsoft.com/office/drawing/2014/main" id="{2A9EA12E-03D9-7F07-36B9-45CCAAFB09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2025-10-28</a:t>
            </a:fld>
            <a:endParaRPr lang="ko-KR" altLang="en-US"/>
          </a:p>
        </p:txBody>
      </p:sp>
      <p:sp>
        <p:nvSpPr>
          <p:cNvPr id="10" name="바닥글 개체 틀 9">
            <a:extLst>
              <a:ext uri="{FF2B5EF4-FFF2-40B4-BE49-F238E27FC236}">
                <a16:creationId xmlns:a16="http://schemas.microsoft.com/office/drawing/2014/main" id="{73549C7E-B7CA-2916-680F-BE948DD7CF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1" name="슬라이드 번호 개체 틀 10">
            <a:extLst>
              <a:ext uri="{FF2B5EF4-FFF2-40B4-BE49-F238E27FC236}">
                <a16:creationId xmlns:a16="http://schemas.microsoft.com/office/drawing/2014/main" id="{502BC9AC-AD9B-31DE-3356-B3228C35F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04024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7" name="그림 개체 틀 6"/>
          <p:cNvSpPr>
            <a:spLocks noGrp="1"/>
          </p:cNvSpPr>
          <p:nvPr>
            <p:ph type="pic" sz="quarter" idx="13"/>
          </p:nvPr>
        </p:nvSpPr>
        <p:spPr>
          <a:xfrm>
            <a:off x="838200" y="1930400"/>
            <a:ext cx="10515600" cy="4425950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4C1235-ECD8-45EF-A491-D87AB5849B81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F5E23C3-0E3D-4E4E-8486-D7FB4C073DC1}" type="datetime1">
              <a:rPr lang="ko-KR" altLang="en-US" smtClean="0"/>
              <a:t>2025-10-28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F613B58-6057-4476-7DF4-335938A153C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5D03663-69E4-5E86-E2CF-1E5CB45A8C7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62677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0FFFA81-23D3-040A-78B0-48B808FA7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EC21FE-078C-940B-0151-04DDA663F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14AD115-409A-442E-434C-D90831860530}"/>
              </a:ext>
            </a:extLst>
          </p:cNvPr>
          <p:cNvSpPr/>
          <p:nvPr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2AEF0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" name="그림 3" descr="그래픽, 그래픽 디자인, 폰트, 스크린샷이(가) 표시된 사진&#10;&#10;자동 생성된 설명">
            <a:extLst>
              <a:ext uri="{FF2B5EF4-FFF2-40B4-BE49-F238E27FC236}">
                <a16:creationId xmlns:a16="http://schemas.microsoft.com/office/drawing/2014/main" id="{C1FCC00F-7B12-D0C7-C8FF-2632DB2F21B5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63752" y="126744"/>
            <a:ext cx="1557011" cy="334766"/>
          </a:xfrm>
          <a:prstGeom prst="rect">
            <a:avLst/>
          </a:prstGeom>
        </p:spPr>
      </p:pic>
      <p:sp>
        <p:nvSpPr>
          <p:cNvPr id="12" name="날짜 개체 틀 11">
            <a:extLst>
              <a:ext uri="{FF2B5EF4-FFF2-40B4-BE49-F238E27FC236}">
                <a16:creationId xmlns:a16="http://schemas.microsoft.com/office/drawing/2014/main" id="{CA45D7C8-4A0F-13D7-9F9C-7A4D3AB80DF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38991" y="647001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F5E23C3-0E3D-4E4E-8486-D7FB4C073DC1}" type="datetime1">
              <a:rPr lang="ko-KR" altLang="en-US" smtClean="0"/>
              <a:t>2025-10-28</a:t>
            </a:fld>
            <a:endParaRPr lang="ko-KR" altLang="en-US"/>
          </a:p>
        </p:txBody>
      </p:sp>
      <p:sp>
        <p:nvSpPr>
          <p:cNvPr id="13" name="바닥글 개체 틀 12">
            <a:extLst>
              <a:ext uri="{FF2B5EF4-FFF2-40B4-BE49-F238E27FC236}">
                <a16:creationId xmlns:a16="http://schemas.microsoft.com/office/drawing/2014/main" id="{6BF42AC9-BE86-7782-13FD-7864483A17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4" name="슬라이드 번호 개체 틀 13">
            <a:extLst>
              <a:ext uri="{FF2B5EF4-FFF2-40B4-BE49-F238E27FC236}">
                <a16:creationId xmlns:a16="http://schemas.microsoft.com/office/drawing/2014/main" id="{61717F22-7FAF-5E74-F536-7D7AA49A51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09809" y="646106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A72B154-9B8C-E7FF-80ED-72C1CA1F70ED}"/>
              </a:ext>
            </a:extLst>
          </p:cNvPr>
          <p:cNvSpPr/>
          <p:nvPr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00F209"/>
          </a:solidFill>
          <a:ln>
            <a:solidFill>
              <a:srgbClr val="00F20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11489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Pretendard Black" panose="02000A03000000020004" pitchFamily="2" charset="-127"/>
          <a:ea typeface="Pretendard Black" panose="02000A03000000020004" pitchFamily="2" charset="-127"/>
          <a:cs typeface="Pretendard Black" panose="02000A03000000020004" pitchFamily="2" charset="-127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Pretendard Medium" panose="02000603000000020004" pitchFamily="2" charset="-127"/>
          <a:ea typeface="Pretendard Medium" panose="02000603000000020004" pitchFamily="2" charset="-127"/>
          <a:cs typeface="Pretendard Medium" panose="02000603000000020004" pitchFamily="2" charset="-127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2160">
          <p15:clr>
            <a:srgbClr val="F26B43"/>
          </p15:clr>
        </p15:guide>
        <p15:guide id="4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hyperlink" Target="https://fastapi.tiangolo.com/" TargetMode="Externa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hyperlink" Target="https://www.postman.com/downloads/" TargetMode="Externa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qlalchemy.org/" TargetMode="Externa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hyperlink" Target="https://aws.amazon.com/ko/rds/" TargetMode="Externa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EFE122-E831-904C-0AAE-87F481BD3A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00561" y="2541087"/>
            <a:ext cx="853440" cy="935038"/>
          </a:xfrm>
        </p:spPr>
        <p:txBody>
          <a:bodyPr/>
          <a:lstStyle/>
          <a:p>
            <a:r>
              <a:rPr lang="en-US" altLang="ko-KR" b="1" dirty="0">
                <a:latin typeface="메이플스토리" panose="020B0600000101010101" charset="-127"/>
                <a:ea typeface="메이플스토리" panose="020B0600000101010101" charset="-127"/>
              </a:rPr>
              <a:t>x</a:t>
            </a:r>
            <a:endParaRPr lang="ko-KR" altLang="en-US" b="1" dirty="0">
              <a:solidFill>
                <a:srgbClr val="0070C0"/>
              </a:solidFill>
              <a:latin typeface="메이플스토리" panose="020B0600000101010101" charset="-127"/>
              <a:ea typeface="메이플스토리" panose="020B0600000101010101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73AD1B1D-CD7D-EE4E-41B0-87A1CCAAD4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6669" y="3664694"/>
            <a:ext cx="3021223" cy="456225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FC9A9E68-1C40-179C-9126-E3D84DE20A0A}"/>
              </a:ext>
            </a:extLst>
          </p:cNvPr>
          <p:cNvGrpSpPr/>
          <p:nvPr/>
        </p:nvGrpSpPr>
        <p:grpSpPr>
          <a:xfrm>
            <a:off x="2251608" y="2636151"/>
            <a:ext cx="7688784" cy="944801"/>
            <a:chOff x="2377440" y="2657237"/>
            <a:chExt cx="7688784" cy="944801"/>
          </a:xfrm>
        </p:grpSpPr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CE78D3EA-D15D-AC23-FCDE-3921C42927A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69307" y="2667000"/>
              <a:ext cx="2996917" cy="935038"/>
            </a:xfrm>
            <a:prstGeom prst="rect">
              <a:avLst/>
            </a:prstGeom>
          </p:spPr>
        </p:pic>
        <p:pic>
          <p:nvPicPr>
            <p:cNvPr id="10" name="그림 9" descr="그래픽, 그래픽 디자인, 폰트, 스크린샷이(가) 표시된 사진&#10;&#10;자동 생성된 설명">
              <a:extLst>
                <a:ext uri="{FF2B5EF4-FFF2-40B4-BE49-F238E27FC236}">
                  <a16:creationId xmlns:a16="http://schemas.microsoft.com/office/drawing/2014/main" id="{A611E206-8734-8C1B-C7A0-99730D8C0F0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77440" y="2657237"/>
              <a:ext cx="3459480" cy="744910"/>
            </a:xfrm>
            <a:prstGeom prst="rect">
              <a:avLst/>
            </a:prstGeom>
          </p:spPr>
        </p:pic>
      </p:grpSp>
      <p:sp>
        <p:nvSpPr>
          <p:cNvPr id="7" name="부제목 6">
            <a:extLst>
              <a:ext uri="{FF2B5EF4-FFF2-40B4-BE49-F238E27FC236}">
                <a16:creationId xmlns:a16="http://schemas.microsoft.com/office/drawing/2014/main" id="{6C336D0B-7E17-EA90-9936-59BFA672CC1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80375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603584D-0366-9795-1051-9A1D2B700605}"/>
              </a:ext>
            </a:extLst>
          </p:cNvPr>
          <p:cNvSpPr txBox="1"/>
          <p:nvPr/>
        </p:nvSpPr>
        <p:spPr>
          <a:xfrm>
            <a:off x="2344824" y="2600493"/>
            <a:ext cx="750237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8. </a:t>
            </a:r>
            <a:r>
              <a:rPr lang="ko-KR" altLang="en-US" sz="6000" dirty="0" err="1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파이썬과</a:t>
            </a:r>
            <a:r>
              <a:rPr lang="ko-KR" altLang="en-US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 함께 쓰기</a:t>
            </a:r>
            <a:endParaRPr lang="en-US" altLang="ko-KR" sz="6000" dirty="0">
              <a:solidFill>
                <a:schemeClr val="accent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331706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5D0BA0-662B-3134-7B5B-AF37D9484A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3535ADF-92FC-22E6-EEEE-CA7A7156ABF1}"/>
              </a:ext>
            </a:extLst>
          </p:cNvPr>
          <p:cNvSpPr txBox="1"/>
          <p:nvPr/>
        </p:nvSpPr>
        <p:spPr>
          <a:xfrm>
            <a:off x="2826530" y="2600493"/>
            <a:ext cx="653897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6000" dirty="0" err="1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파이썬과</a:t>
            </a:r>
            <a:r>
              <a:rPr lang="ko-KR" altLang="en-US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 함께 쓰기</a:t>
            </a:r>
            <a:endParaRPr lang="en-US" altLang="ko-KR" sz="6000" dirty="0">
              <a:solidFill>
                <a:schemeClr val="accent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556170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C9647A-BB7A-421F-58BE-71C6254184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8239CC3-E097-C0DB-8F4D-E965DF1F89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패키지 설치</a:t>
            </a:r>
            <a:r>
              <a:rPr lang="en-US" altLang="ko-KR" dirty="0"/>
              <a:t>(</a:t>
            </a:r>
            <a:r>
              <a:rPr lang="en-US" altLang="ko-KR" dirty="0" err="1"/>
              <a:t>mysql</a:t>
            </a:r>
            <a:r>
              <a:rPr lang="en-US" altLang="ko-KR" dirty="0"/>
              <a:t>-connector)</a:t>
            </a:r>
            <a:endParaRPr lang="en-US" altLang="ko-KR" b="1" dirty="0"/>
          </a:p>
        </p:txBody>
      </p:sp>
      <p:pic>
        <p:nvPicPr>
          <p:cNvPr id="4" name="그림 3" descr="텍스트, 스크린샷, 폰트, 멀티미디어 소프트웨어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58374822-BC5D-8707-A997-BDB9C6E4CCC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13910"/>
            <a:ext cx="12192000" cy="4430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46665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A349FE-4E21-A2BF-CABD-BA7D35D81B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F14DE52-6E53-C56C-AF36-38DE032A13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/>
              <a:t>CRUD </a:t>
            </a:r>
            <a:r>
              <a:rPr lang="ko-KR" altLang="en-US" b="1" dirty="0"/>
              <a:t>테스트 테이블 만들기</a:t>
            </a:r>
            <a:endParaRPr lang="en-US" altLang="ko-KR" b="1" dirty="0"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86B888A5-DF57-12D0-E027-98F38234A2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994766"/>
            <a:ext cx="10541000" cy="50716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4721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413BFB-7773-D260-DCAD-DB9253350B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A8E6202-5345-D2B8-FF76-0A2E071394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/>
              <a:t>DB</a:t>
            </a:r>
            <a:r>
              <a:rPr lang="ko-KR" altLang="en-US" b="1" dirty="0"/>
              <a:t>와 연결하기</a:t>
            </a:r>
            <a:r>
              <a:rPr lang="en-US" altLang="ko-KR" b="1" dirty="0"/>
              <a:t>(1)</a:t>
            </a:r>
          </a:p>
        </p:txBody>
      </p:sp>
      <p:pic>
        <p:nvPicPr>
          <p:cNvPr id="4" name="그림 3" descr="텍스트, 스크린샷, 소프트웨어, 디스플레이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219390A1-5E4A-ACF9-34F8-DDC11CF2D59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8733" y="572704"/>
            <a:ext cx="8754534" cy="5418824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9753C861-9BF5-F665-16C8-C95E7F8A948E}"/>
              </a:ext>
            </a:extLst>
          </p:cNvPr>
          <p:cNvSpPr/>
          <p:nvPr/>
        </p:nvSpPr>
        <p:spPr>
          <a:xfrm>
            <a:off x="1375817" y="5401512"/>
            <a:ext cx="9440365" cy="4185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cursor : DB </a:t>
            </a: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서버와 </a:t>
            </a:r>
            <a:r>
              <a:rPr lang="en-US" altLang="ko-KR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Python </a:t>
            </a: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프로그램 사이에서 </a:t>
            </a:r>
            <a:r>
              <a:rPr lang="en-US" altLang="ko-KR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SQL </a:t>
            </a: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문을 실행하고</a:t>
            </a:r>
            <a:r>
              <a:rPr lang="en-US" altLang="ko-KR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</a:t>
            </a: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그 결과를 가져오는 역할을 하는 중간 관리자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85B7F431-44BA-09D3-ABAB-0A61A40A2FCF}"/>
              </a:ext>
            </a:extLst>
          </p:cNvPr>
          <p:cNvSpPr/>
          <p:nvPr/>
        </p:nvSpPr>
        <p:spPr>
          <a:xfrm>
            <a:off x="2942914" y="1955800"/>
            <a:ext cx="2450354" cy="245533"/>
          </a:xfrm>
          <a:prstGeom prst="rect">
            <a:avLst/>
          </a:prstGeom>
          <a:noFill/>
          <a:ln w="2540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6FBD374-34BD-3EA6-B634-97A68F46304D}"/>
              </a:ext>
            </a:extLst>
          </p:cNvPr>
          <p:cNvSpPr txBox="1"/>
          <p:nvPr/>
        </p:nvSpPr>
        <p:spPr>
          <a:xfrm>
            <a:off x="5410202" y="1913467"/>
            <a:ext cx="20730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solidFill>
                  <a:schemeClr val="bg1"/>
                </a:solidFill>
              </a:rPr>
              <a:t>← 라이브러리 불러오기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04B31E5C-A90A-D40C-EB24-0B32A88677EE}"/>
              </a:ext>
            </a:extLst>
          </p:cNvPr>
          <p:cNvSpPr/>
          <p:nvPr/>
        </p:nvSpPr>
        <p:spPr>
          <a:xfrm>
            <a:off x="2959848" y="2735713"/>
            <a:ext cx="3212352" cy="245533"/>
          </a:xfrm>
          <a:prstGeom prst="rect">
            <a:avLst/>
          </a:prstGeom>
          <a:noFill/>
          <a:ln w="2540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24BFB52-7899-20A1-5365-FDE1614C29FD}"/>
              </a:ext>
            </a:extLst>
          </p:cNvPr>
          <p:cNvSpPr txBox="1"/>
          <p:nvPr/>
        </p:nvSpPr>
        <p:spPr>
          <a:xfrm>
            <a:off x="6199813" y="2689202"/>
            <a:ext cx="127470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solidFill>
                  <a:schemeClr val="bg1"/>
                </a:solidFill>
              </a:rPr>
              <a:t>← </a:t>
            </a:r>
            <a:r>
              <a:rPr lang="en-US" altLang="ko-KR" sz="1600" dirty="0">
                <a:solidFill>
                  <a:schemeClr val="bg1"/>
                </a:solidFill>
              </a:rPr>
              <a:t>DB</a:t>
            </a:r>
            <a:r>
              <a:rPr lang="ko-KR" altLang="en-US" sz="1600" dirty="0">
                <a:solidFill>
                  <a:schemeClr val="bg1"/>
                </a:solidFill>
              </a:rPr>
              <a:t>와 연결</a:t>
            </a:r>
          </a:p>
        </p:txBody>
      </p:sp>
    </p:spTree>
    <p:extLst>
      <p:ext uri="{BB962C8B-B14F-4D97-AF65-F5344CB8AC3E}">
        <p14:creationId xmlns:p14="http://schemas.microsoft.com/office/powerpoint/2010/main" val="16299086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A8E725-D686-1C4A-68F3-2B5F36F84B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A1E87-1C0D-4954-4267-AE5E0914F2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/>
              <a:t>DB</a:t>
            </a:r>
            <a:r>
              <a:rPr lang="ko-KR" altLang="en-US" b="1" dirty="0"/>
              <a:t>와 연결하기</a:t>
            </a:r>
            <a:r>
              <a:rPr lang="en-US" altLang="ko-KR" b="1" dirty="0"/>
              <a:t>(2)</a:t>
            </a:r>
          </a:p>
        </p:txBody>
      </p:sp>
      <p:pic>
        <p:nvPicPr>
          <p:cNvPr id="5" name="그림 4" descr="텍스트, 스크린샷, 소프트웨어, 디스플레이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B3F6A0BB-8449-2B84-BA8D-F6D52B8DF23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1333" y="877904"/>
            <a:ext cx="10329334" cy="5353044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7DB6D54B-7587-D46E-21DC-86D20D4BAF14}"/>
              </a:ext>
            </a:extLst>
          </p:cNvPr>
          <p:cNvSpPr/>
          <p:nvPr/>
        </p:nvSpPr>
        <p:spPr>
          <a:xfrm>
            <a:off x="1537026" y="5356285"/>
            <a:ext cx="3972562" cy="87466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fetchone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() :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결과에서 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1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개 행만 반환</a:t>
            </a:r>
          </a:p>
          <a:p>
            <a:pPr>
              <a:lnSpc>
                <a:spcPct val="150000"/>
              </a:lnSpc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fetchall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() :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결과 전체를 리스트로 반환</a:t>
            </a:r>
            <a:endParaRPr lang="en-US" altLang="ko-KR" sz="14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sp>
        <p:nvSpPr>
          <p:cNvPr id="8" name="내용 개체 틀 2">
            <a:extLst>
              <a:ext uri="{FF2B5EF4-FFF2-40B4-BE49-F238E27FC236}">
                <a16:creationId xmlns:a16="http://schemas.microsoft.com/office/drawing/2014/main" id="{AE12A0F4-EC35-CEFA-BB8F-AF9FA3E389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92348" y="1061281"/>
            <a:ext cx="7417518" cy="72969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dirty="0"/>
              <a:t>✅ 결과 출력</a:t>
            </a:r>
          </a:p>
        </p:txBody>
      </p:sp>
    </p:spTree>
    <p:extLst>
      <p:ext uri="{BB962C8B-B14F-4D97-AF65-F5344CB8AC3E}">
        <p14:creationId xmlns:p14="http://schemas.microsoft.com/office/powerpoint/2010/main" val="29874076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6CB71A-40DE-8807-0CBC-79FE7B72B2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 descr="텍스트, 스크린샷, 디스플레이, 소프트웨어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B1F350F0-DFBA-A642-2F91-514D996F72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5688" y="752170"/>
            <a:ext cx="10600624" cy="610583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C4F404C9-C3D3-233A-5A25-F025FD20FE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/>
              <a:t>DB</a:t>
            </a:r>
            <a:r>
              <a:rPr lang="ko-KR" altLang="en-US" b="1" dirty="0"/>
              <a:t>와 연결하기</a:t>
            </a:r>
            <a:r>
              <a:rPr lang="en-US" altLang="ko-KR" b="1" dirty="0"/>
              <a:t>(3)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70B9D60-E20B-FE0C-8FA1-0746746B1F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95737" y="965028"/>
            <a:ext cx="7417518" cy="72969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dirty="0"/>
              <a:t>✅ 예외 처리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D21B9E8F-ED8D-A890-6FFC-9AB6EBC29663}"/>
              </a:ext>
            </a:extLst>
          </p:cNvPr>
          <p:cNvSpPr/>
          <p:nvPr/>
        </p:nvSpPr>
        <p:spPr>
          <a:xfrm>
            <a:off x="2317272" y="2416408"/>
            <a:ext cx="4154648" cy="245533"/>
          </a:xfrm>
          <a:prstGeom prst="rect">
            <a:avLst/>
          </a:prstGeom>
          <a:noFill/>
          <a:ln w="2540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0EAEC74-2009-EE0A-7BCF-4D6BD789ACE2}"/>
              </a:ext>
            </a:extLst>
          </p:cNvPr>
          <p:cNvSpPr txBox="1"/>
          <p:nvPr/>
        </p:nvSpPr>
        <p:spPr>
          <a:xfrm>
            <a:off x="6471920" y="2369897"/>
            <a:ext cx="194476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solidFill>
                  <a:schemeClr val="bg1"/>
                </a:solidFill>
              </a:rPr>
              <a:t>← 에러 객체 불러오기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6BB2882-E962-B7B6-9944-FD28B2A85548}"/>
              </a:ext>
            </a:extLst>
          </p:cNvPr>
          <p:cNvSpPr/>
          <p:nvPr/>
        </p:nvSpPr>
        <p:spPr>
          <a:xfrm>
            <a:off x="2317271" y="3646727"/>
            <a:ext cx="4481461" cy="549333"/>
          </a:xfrm>
          <a:prstGeom prst="rect">
            <a:avLst/>
          </a:prstGeom>
          <a:noFill/>
          <a:ln w="2540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F1D681D-8566-9C91-888E-F2E8DB1DD096}"/>
              </a:ext>
            </a:extLst>
          </p:cNvPr>
          <p:cNvSpPr txBox="1"/>
          <p:nvPr/>
        </p:nvSpPr>
        <p:spPr>
          <a:xfrm>
            <a:off x="6798732" y="3752116"/>
            <a:ext cx="176683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solidFill>
                  <a:schemeClr val="bg1"/>
                </a:solidFill>
              </a:rPr>
              <a:t>← 에러 메시지 출력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81DD92DA-D561-C355-9C17-F03CDB3ECD1C}"/>
              </a:ext>
            </a:extLst>
          </p:cNvPr>
          <p:cNvSpPr/>
          <p:nvPr/>
        </p:nvSpPr>
        <p:spPr>
          <a:xfrm>
            <a:off x="2317270" y="4250383"/>
            <a:ext cx="5395863" cy="1540818"/>
          </a:xfrm>
          <a:prstGeom prst="rect">
            <a:avLst/>
          </a:prstGeom>
          <a:noFill/>
          <a:ln w="2540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333C0BF-6F91-6C98-BC7D-5C0E1B276D1E}"/>
              </a:ext>
            </a:extLst>
          </p:cNvPr>
          <p:cNvSpPr txBox="1"/>
          <p:nvPr/>
        </p:nvSpPr>
        <p:spPr>
          <a:xfrm>
            <a:off x="7744580" y="4851515"/>
            <a:ext cx="28841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solidFill>
                  <a:schemeClr val="bg1"/>
                </a:solidFill>
              </a:rPr>
              <a:t>← 최종적으로 실행되는 코드 </a:t>
            </a:r>
            <a:r>
              <a:rPr lang="ko-KR" altLang="en-US" sz="1600" dirty="0" err="1">
                <a:solidFill>
                  <a:schemeClr val="bg1"/>
                </a:solidFill>
              </a:rPr>
              <a:t>블럭</a:t>
            </a:r>
            <a:endParaRPr lang="ko-KR" altLang="en-US" sz="1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017677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59AAD-A342-6575-5E89-25BEDD59B7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0707B3-0040-008E-2AB6-B4EBB8412C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/>
              <a:t>CRUD(1) - INSERT</a:t>
            </a:r>
          </a:p>
        </p:txBody>
      </p:sp>
      <p:pic>
        <p:nvPicPr>
          <p:cNvPr id="4" name="그림 3" descr="텍스트, 스크린샷, 멀티미디어 소프트웨어, 폰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41BE4B8D-824F-38C5-6031-862E09D98F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75349"/>
            <a:ext cx="12192000" cy="4558103"/>
          </a:xfrm>
          <a:prstGeom prst="rect">
            <a:avLst/>
          </a:prstGeom>
        </p:spPr>
      </p:pic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0498C624-89E9-F101-8943-3C5792A3CD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4537" y="1532295"/>
            <a:ext cx="7417518" cy="72969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dirty="0"/>
              <a:t>✅ 사용자 정보 입력 받기</a:t>
            </a:r>
          </a:p>
        </p:txBody>
      </p:sp>
    </p:spTree>
    <p:extLst>
      <p:ext uri="{BB962C8B-B14F-4D97-AF65-F5344CB8AC3E}">
        <p14:creationId xmlns:p14="http://schemas.microsoft.com/office/powerpoint/2010/main" val="28500972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3284BF-1754-1349-CA50-CCB17F528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스크린샷, 소프트웨어, 멀티미디어 소프트웨어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3AA503FB-505C-0F7F-0703-F0DE4A2E2A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4533" y="755155"/>
            <a:ext cx="9922934" cy="534769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E0242BE3-AB36-93CB-1D2E-39291A349D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/>
              <a:t>CRUD(1) - INSERT</a:t>
            </a: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2EF0F601-94C8-D130-1887-4B63723E84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75137" y="916806"/>
            <a:ext cx="7417518" cy="72969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dirty="0"/>
              <a:t>✅ </a:t>
            </a:r>
            <a:r>
              <a:rPr lang="en-US" altLang="ko-KR" dirty="0"/>
              <a:t>INSERT</a:t>
            </a:r>
            <a:endParaRPr lang="ko-KR" altLang="en-US" dirty="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B39966CE-7348-D78A-F955-C08E65CB2F96}"/>
              </a:ext>
            </a:extLst>
          </p:cNvPr>
          <p:cNvSpPr/>
          <p:nvPr/>
        </p:nvSpPr>
        <p:spPr>
          <a:xfrm>
            <a:off x="1731759" y="5330564"/>
            <a:ext cx="7471917" cy="87466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excute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() : SQL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쿼리를 실행하고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DB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에 명령을 전달하는 메서드</a:t>
            </a:r>
          </a:p>
          <a:p>
            <a:pPr>
              <a:lnSpc>
                <a:spcPct val="150000"/>
              </a:lnSpc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commit() :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현재 세션에 있는 모든 변경사항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추가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수정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삭제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)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을 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DB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에 반영</a:t>
            </a:r>
            <a:endParaRPr lang="en-US" altLang="ko-KR" sz="14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456625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A7BC5C-E9F8-73C1-08E4-59721130FD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 descr="텍스트, 스크린샷, 소프트웨어, 디스플레이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0CC91302-4488-3B05-07D0-9C7D70E8A8B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37776"/>
            <a:ext cx="12192000" cy="6120223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14FAB109-5E33-79A0-0395-624CA05D24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/>
              <a:t>CRUD(2) - SELECT</a:t>
            </a: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E9272417-7558-B3BF-9949-12E7122A81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9817" y="980662"/>
            <a:ext cx="7417518" cy="72969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dirty="0"/>
              <a:t>✅ </a:t>
            </a:r>
            <a:r>
              <a:rPr lang="en-US" altLang="ko-KR" dirty="0"/>
              <a:t>SELECT</a:t>
            </a:r>
            <a:endParaRPr lang="ko-KR" altLang="en-US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051F643A-6943-1D7D-CC8A-9DD144B64822}"/>
              </a:ext>
            </a:extLst>
          </p:cNvPr>
          <p:cNvSpPr/>
          <p:nvPr/>
        </p:nvSpPr>
        <p:spPr>
          <a:xfrm>
            <a:off x="1502355" y="3943019"/>
            <a:ext cx="3068798" cy="256448"/>
          </a:xfrm>
          <a:prstGeom prst="rect">
            <a:avLst/>
          </a:prstGeom>
          <a:noFill/>
          <a:ln w="2540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5AA9D12-1D89-4AE3-8D85-CD32D93AF3C1}"/>
              </a:ext>
            </a:extLst>
          </p:cNvPr>
          <p:cNvSpPr txBox="1"/>
          <p:nvPr/>
        </p:nvSpPr>
        <p:spPr>
          <a:xfrm>
            <a:off x="4571153" y="3901966"/>
            <a:ext cx="194476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solidFill>
                  <a:schemeClr val="bg1"/>
                </a:solidFill>
              </a:rPr>
              <a:t>← 하나의 값만 가져옴</a:t>
            </a:r>
          </a:p>
        </p:txBody>
      </p:sp>
    </p:spTree>
    <p:extLst>
      <p:ext uri="{BB962C8B-B14F-4D97-AF65-F5344CB8AC3E}">
        <p14:creationId xmlns:p14="http://schemas.microsoft.com/office/powerpoint/2010/main" val="24886405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185857-2E68-A45E-D1EC-57A9AB5D63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텍스트, 스크린샷, 디스플레이, 소프트웨어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BCC389DB-B978-94D0-3561-79ADADD0687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052770"/>
            <a:ext cx="12192000" cy="5277394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A244D1F1-565D-9723-F6A2-79E34B4482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/>
              <a:t>CRUD(3) – UPDATE</a:t>
            </a: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EE0D76F4-1C78-B8E6-9DE2-0693D1C557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7550" y="1336262"/>
            <a:ext cx="7417518" cy="72969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dirty="0"/>
              <a:t>✅ </a:t>
            </a:r>
            <a:r>
              <a:rPr lang="en-US" altLang="ko-KR" dirty="0"/>
              <a:t>UPDATE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251219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611CDA-1484-30BB-7AA3-FF89368CEA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스크린샷, 폰트, 멀티미디어 소프트웨어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C12F0C14-A497-06AA-EACD-5EDFEA6F6C4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39091"/>
            <a:ext cx="12192000" cy="4284617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C3CB7094-5DAD-1258-9BC3-4088762401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/>
              <a:t>CRUD(4) – DELETE</a:t>
            </a: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6834D140-42A6-F960-CD3E-02BA78DCC2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7550" y="1734196"/>
            <a:ext cx="7417518" cy="72969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dirty="0"/>
              <a:t>✅ </a:t>
            </a:r>
            <a:r>
              <a:rPr lang="en-US" altLang="ko-KR" dirty="0"/>
              <a:t>DELETE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967070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5CAD6F-7830-6E6A-59B9-8E52BA0714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50B9FF3-C0CD-4503-A531-4216A917E9A8}"/>
              </a:ext>
            </a:extLst>
          </p:cNvPr>
          <p:cNvSpPr txBox="1"/>
          <p:nvPr/>
        </p:nvSpPr>
        <p:spPr>
          <a:xfrm>
            <a:off x="2269491" y="2600493"/>
            <a:ext cx="765305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6000" dirty="0" err="1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FastAPI</a:t>
            </a:r>
            <a:r>
              <a:rPr lang="ko-KR" altLang="en-US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와 함께 쓰기</a:t>
            </a:r>
            <a:endParaRPr lang="en-US" altLang="ko-KR" sz="6000" dirty="0">
              <a:solidFill>
                <a:schemeClr val="accent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77538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그룹 4">
            <a:extLst>
              <a:ext uri="{FF2B5EF4-FFF2-40B4-BE49-F238E27FC236}">
                <a16:creationId xmlns:a16="http://schemas.microsoft.com/office/drawing/2014/main" id="{438B5F92-5817-3A73-A1A4-AE58A4720589}"/>
              </a:ext>
            </a:extLst>
          </p:cNvPr>
          <p:cNvGrpSpPr/>
          <p:nvPr/>
        </p:nvGrpSpPr>
        <p:grpSpPr>
          <a:xfrm>
            <a:off x="771377" y="2628297"/>
            <a:ext cx="10649246" cy="1601405"/>
            <a:chOff x="543687" y="2628297"/>
            <a:chExt cx="10649246" cy="1601405"/>
          </a:xfrm>
        </p:grpSpPr>
        <p:pic>
          <p:nvPicPr>
            <p:cNvPr id="1026" name="Picture 2" descr="Django - 나무위키">
              <a:extLst>
                <a:ext uri="{FF2B5EF4-FFF2-40B4-BE49-F238E27FC236}">
                  <a16:creationId xmlns:a16="http://schemas.microsoft.com/office/drawing/2014/main" id="{E26CB09E-64C0-7C67-4E61-C7886F6E5F0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3687" y="2868849"/>
              <a:ext cx="3093381" cy="10689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28" name="Picture 4">
              <a:extLst>
                <a:ext uri="{FF2B5EF4-FFF2-40B4-BE49-F238E27FC236}">
                  <a16:creationId xmlns:a16="http://schemas.microsoft.com/office/drawing/2014/main" id="{9C38F448-5E1B-1EE5-39B7-6FD5C1C61BC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151017" y="2883218"/>
              <a:ext cx="3214158" cy="104018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0" name="Picture 6" descr="FastAPI">
              <a:extLst>
                <a:ext uri="{FF2B5EF4-FFF2-40B4-BE49-F238E27FC236}">
                  <a16:creationId xmlns:a16="http://schemas.microsoft.com/office/drawing/2014/main" id="{FECA2AF1-90FC-E139-33F2-5513F288F5A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307" r="10247"/>
            <a:stretch/>
          </p:blipFill>
          <p:spPr bwMode="auto">
            <a:xfrm>
              <a:off x="7662333" y="2628297"/>
              <a:ext cx="3530600" cy="160140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6" name="제목 1">
            <a:extLst>
              <a:ext uri="{FF2B5EF4-FFF2-40B4-BE49-F238E27FC236}">
                <a16:creationId xmlns:a16="http://schemas.microsoft.com/office/drawing/2014/main" id="{A57BADA5-7129-89FB-E9F5-889E596F37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/>
          <a:p>
            <a:r>
              <a:rPr lang="en-US" altLang="ko-KR" b="1" dirty="0"/>
              <a:t>Python </a:t>
            </a:r>
            <a:r>
              <a:rPr lang="ko-KR" altLang="en-US" b="1" dirty="0"/>
              <a:t>웹 프레임워크</a:t>
            </a:r>
            <a:endParaRPr lang="en-US" altLang="ko-KR" b="1" dirty="0"/>
          </a:p>
        </p:txBody>
      </p:sp>
    </p:spTree>
    <p:extLst>
      <p:ext uri="{BB962C8B-B14F-4D97-AF65-F5344CB8AC3E}">
        <p14:creationId xmlns:p14="http://schemas.microsoft.com/office/powerpoint/2010/main" val="386609034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257A25-5CDE-300B-E4F7-54551EEF08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A2323AD7-E9B9-CFF1-D17C-21FB2202E6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/>
          <a:p>
            <a:r>
              <a:rPr lang="en-US" altLang="ko-KR" b="1" dirty="0" err="1"/>
              <a:t>FastAPI</a:t>
            </a:r>
            <a:endParaRPr lang="en-US" altLang="ko-KR" b="1" dirty="0"/>
          </a:p>
        </p:txBody>
      </p:sp>
      <p:sp>
        <p:nvSpPr>
          <p:cNvPr id="2" name="내용 개체 틀 3">
            <a:extLst>
              <a:ext uri="{FF2B5EF4-FFF2-40B4-BE49-F238E27FC236}">
                <a16:creationId xmlns:a16="http://schemas.microsoft.com/office/drawing/2014/main" id="{BA4A2FBE-9302-AE9E-E3DE-A4A40332CF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7" y="1165385"/>
            <a:ext cx="11700727" cy="4820547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8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💡</a:t>
            </a:r>
            <a:r>
              <a:rPr lang="ko-KR" altLang="en-US" dirty="0"/>
              <a:t> </a:t>
            </a:r>
            <a:r>
              <a:rPr lang="en-US" altLang="ko-KR" dirty="0"/>
              <a:t>Python </a:t>
            </a:r>
            <a:r>
              <a:rPr lang="ko-KR" altLang="en-US" dirty="0"/>
              <a:t>기반의 고성능 웹 프레임워크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📌 특징</a:t>
            </a:r>
            <a:endParaRPr lang="en-US" altLang="ko-KR" dirty="0"/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</a:t>
            </a:r>
            <a:r>
              <a:rPr lang="en-US" altLang="ko-KR" dirty="0"/>
              <a:t>RESTful API </a:t>
            </a:r>
            <a:r>
              <a:rPr lang="ko-KR" altLang="en-US" dirty="0"/>
              <a:t>서버 구축에 최적화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비동기</a:t>
            </a:r>
            <a:r>
              <a:rPr lang="en-US" altLang="ko-KR" dirty="0"/>
              <a:t>(async/await) </a:t>
            </a:r>
            <a:r>
              <a:rPr lang="ko-KR" altLang="en-US" dirty="0"/>
              <a:t>완벽 지원 → 빠른 처리 속도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</a:t>
            </a:r>
            <a:r>
              <a:rPr lang="en-US" altLang="ko-KR" dirty="0" err="1"/>
              <a:t>Pydantic</a:t>
            </a:r>
            <a:r>
              <a:rPr lang="en-US" altLang="ko-KR" dirty="0"/>
              <a:t> </a:t>
            </a:r>
            <a:r>
              <a:rPr lang="ko-KR" altLang="en-US" dirty="0"/>
              <a:t>기반 타입 검증 → 자동 데이터 유효성 검사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자동 문서화 기능 제공 → </a:t>
            </a:r>
            <a:r>
              <a:rPr lang="en-US" altLang="ko-KR" dirty="0"/>
              <a:t>Swagger / </a:t>
            </a:r>
            <a:r>
              <a:rPr lang="en-US" altLang="ko-KR" dirty="0" err="1"/>
              <a:t>ReDoc</a:t>
            </a:r>
            <a:r>
              <a:rPr lang="en-US" altLang="ko-KR" dirty="0"/>
              <a:t> </a:t>
            </a:r>
            <a:r>
              <a:rPr lang="ko-KR" altLang="en-US" dirty="0"/>
              <a:t>자동 생성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🔗 공식 사이트 </a:t>
            </a:r>
            <a:r>
              <a:rPr lang="en-US" altLang="ko-KR" dirty="0"/>
              <a:t>: </a:t>
            </a:r>
            <a:r>
              <a:rPr lang="en-US" altLang="ko-KR" dirty="0">
                <a:hlinkClick r:id="rId2"/>
              </a:rPr>
              <a:t>https://fastapi.tiangolo.com</a:t>
            </a:r>
            <a:r>
              <a:rPr lang="en-US" altLang="ko-KR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68136104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9F66A0-BA46-0776-FADC-2B9D26B8C2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943DE82C-9BD4-DEC3-9F21-9E8763848A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/>
          <a:p>
            <a:r>
              <a:rPr lang="en-US" altLang="ko-KR" b="1" dirty="0" err="1"/>
              <a:t>RestfulAPI</a:t>
            </a:r>
            <a:endParaRPr lang="en-US" altLang="ko-KR" b="1" dirty="0"/>
          </a:p>
        </p:txBody>
      </p:sp>
      <p:sp>
        <p:nvSpPr>
          <p:cNvPr id="2" name="내용 개체 틀 3">
            <a:extLst>
              <a:ext uri="{FF2B5EF4-FFF2-40B4-BE49-F238E27FC236}">
                <a16:creationId xmlns:a16="http://schemas.microsoft.com/office/drawing/2014/main" id="{EC1A8544-E1D0-C33F-3A1C-9F326D1A5F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7" y="1165385"/>
            <a:ext cx="11700727" cy="4820547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8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💡</a:t>
            </a:r>
            <a:r>
              <a:rPr lang="ko-KR" altLang="en-US" dirty="0"/>
              <a:t> </a:t>
            </a:r>
            <a:r>
              <a:rPr lang="en-US" altLang="ko-KR" dirty="0"/>
              <a:t>REST : </a:t>
            </a:r>
            <a:r>
              <a:rPr lang="en-US" altLang="ko-KR" b="1" dirty="0" err="1"/>
              <a:t>RE</a:t>
            </a:r>
            <a:r>
              <a:rPr lang="en-US" altLang="ko-KR" dirty="0" err="1"/>
              <a:t>presentational</a:t>
            </a:r>
            <a:r>
              <a:rPr lang="en-US" altLang="ko-KR" b="1" dirty="0"/>
              <a:t> S</a:t>
            </a:r>
            <a:r>
              <a:rPr lang="en-US" altLang="ko-KR" dirty="0"/>
              <a:t>tate </a:t>
            </a:r>
            <a:r>
              <a:rPr lang="en-US" altLang="ko-KR" b="1" dirty="0"/>
              <a:t>T</a:t>
            </a:r>
            <a:r>
              <a:rPr lang="en-US" altLang="ko-KR" dirty="0"/>
              <a:t>ransfer</a:t>
            </a:r>
            <a:r>
              <a:rPr lang="ko-KR" altLang="en-US" dirty="0"/>
              <a:t>의 약자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dirty="0"/>
              <a:t>      </a:t>
            </a:r>
            <a:r>
              <a:rPr lang="ko-KR" altLang="en-US" dirty="0"/>
              <a:t>➡️ 자원을 </a:t>
            </a:r>
            <a:r>
              <a:rPr lang="en-US" altLang="ko-KR" dirty="0"/>
              <a:t>HTTP URI</a:t>
            </a:r>
            <a:r>
              <a:rPr lang="ko-KR" altLang="en-US" dirty="0"/>
              <a:t>로 표현하고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      ➡️ </a:t>
            </a:r>
            <a:r>
              <a:rPr lang="en-US" altLang="ko-KR" dirty="0"/>
              <a:t>HTTP </a:t>
            </a:r>
            <a:r>
              <a:rPr lang="ko-KR" altLang="en-US" dirty="0"/>
              <a:t>메서드를 이용해 자원을 조작하는 방식의 </a:t>
            </a:r>
            <a:r>
              <a:rPr lang="en-US" altLang="ko-KR" dirty="0"/>
              <a:t>API </a:t>
            </a:r>
            <a:r>
              <a:rPr lang="ko-KR" altLang="en-US" dirty="0"/>
              <a:t>설계 원칙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sz="28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💡</a:t>
            </a:r>
            <a:r>
              <a:rPr lang="ko-KR" altLang="en-US" dirty="0"/>
              <a:t> </a:t>
            </a:r>
            <a:r>
              <a:rPr lang="en-US" altLang="ko-KR" dirty="0"/>
              <a:t>RESTful API : </a:t>
            </a:r>
            <a:r>
              <a:rPr lang="en-US" altLang="ko-KR" b="1" dirty="0"/>
              <a:t>REST </a:t>
            </a:r>
            <a:r>
              <a:rPr lang="ko-KR" altLang="en-US" b="1" dirty="0"/>
              <a:t>원칙을 지키며 설계된 </a:t>
            </a:r>
            <a:r>
              <a:rPr lang="en-US" altLang="ko-KR" b="1" dirty="0"/>
              <a:t>API</a:t>
            </a:r>
            <a:r>
              <a:rPr lang="ko-KR" altLang="en-US" b="1" dirty="0"/>
              <a:t>를 의미함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5656724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3C167-040A-C3A2-68B3-BD5BED489E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8CA46CF6-5A8D-F142-C179-FAA209C9F0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/>
          <a:p>
            <a:r>
              <a:rPr lang="en-US" altLang="ko-KR" b="1" dirty="0" err="1"/>
              <a:t>RestfulAPI</a:t>
            </a:r>
            <a:endParaRPr lang="en-US" altLang="ko-KR" b="1" dirty="0"/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ED9D65F9-48CA-0A7C-41DC-F601E5E755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9394769"/>
              </p:ext>
            </p:extLst>
          </p:nvPr>
        </p:nvGraphicFramePr>
        <p:xfrm>
          <a:off x="371475" y="1875098"/>
          <a:ext cx="11449050" cy="3741937"/>
        </p:xfrm>
        <a:graphic>
          <a:graphicData uri="http://schemas.openxmlformats.org/drawingml/2006/table">
            <a:tbl>
              <a:tblPr/>
              <a:tblGrid>
                <a:gridCol w="3156631">
                  <a:extLst>
                    <a:ext uri="{9D8B030D-6E8A-4147-A177-3AD203B41FA5}">
                      <a16:colId xmlns:a16="http://schemas.microsoft.com/office/drawing/2014/main" val="2066828950"/>
                    </a:ext>
                  </a:extLst>
                </a:gridCol>
                <a:gridCol w="3432210">
                  <a:extLst>
                    <a:ext uri="{9D8B030D-6E8A-4147-A177-3AD203B41FA5}">
                      <a16:colId xmlns:a16="http://schemas.microsoft.com/office/drawing/2014/main" val="2128132629"/>
                    </a:ext>
                  </a:extLst>
                </a:gridCol>
                <a:gridCol w="4860209">
                  <a:extLst>
                    <a:ext uri="{9D8B030D-6E8A-4147-A177-3AD203B41FA5}">
                      <a16:colId xmlns:a16="http://schemas.microsoft.com/office/drawing/2014/main" val="936360360"/>
                    </a:ext>
                  </a:extLst>
                </a:gridCol>
              </a:tblGrid>
              <a:tr h="646906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구성 요소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예시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설명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3638403"/>
                  </a:ext>
                </a:extLst>
              </a:tr>
              <a:tr h="1031677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자원 </a:t>
                      </a: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(</a:t>
                      </a: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Resource)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/users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무엇</a:t>
                      </a:r>
                      <a:r>
                        <a:rPr lang="ko-KR" alt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을 다루는지 </a:t>
                      </a:r>
                      <a:r>
                        <a:rPr lang="en-US" altLang="ko-KR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(ex: </a:t>
                      </a:r>
                      <a:r>
                        <a:rPr lang="ko-KR" alt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사용자 목록</a:t>
                      </a:r>
                      <a:r>
                        <a:rPr lang="en-US" altLang="ko-KR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)</a:t>
                      </a:r>
                      <a:endParaRPr lang="ko-KR" altLang="en-US" sz="1800" b="1" i="0" u="none" strike="noStrike">
                        <a:solidFill>
                          <a:srgbClr val="000000"/>
                        </a:solidFill>
                        <a:effectLst/>
                        <a:latin typeface="Pretendard Light" panose="02000403000000020004" pitchFamily="2" charset="-127"/>
                        <a:ea typeface="Pretendard Light" panose="02000403000000020004" pitchFamily="2" charset="-127"/>
                        <a:cs typeface="Pretendard Light" panose="02000403000000020004" pitchFamily="2" charset="-127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47221442"/>
                  </a:ext>
                </a:extLst>
              </a:tr>
              <a:tr h="1031677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행위 </a:t>
                      </a: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(</a:t>
                      </a: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Method)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GET, POST, PUT, DELETE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무엇을 할 건지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0045920"/>
                  </a:ext>
                </a:extLst>
              </a:tr>
              <a:tr h="1031677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표현 </a:t>
                      </a:r>
                      <a:r>
                        <a:rPr lang="en-US" altLang="ko-KR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(</a:t>
                      </a: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Representation)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JSON, XML </a:t>
                      </a:r>
                      <a:r>
                        <a:rPr lang="ko-KR" alt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등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자원을 </a:t>
                      </a:r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어떻게 주고받을지</a:t>
                      </a:r>
                      <a:endParaRPr lang="ko-KR" alt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Pretendard Light" panose="02000403000000020004" pitchFamily="2" charset="-127"/>
                        <a:ea typeface="Pretendard Light" panose="02000403000000020004" pitchFamily="2" charset="-127"/>
                        <a:cs typeface="Pretendard Light" panose="02000403000000020004" pitchFamily="2" charset="-127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93554034"/>
                  </a:ext>
                </a:extLst>
              </a:tr>
            </a:tbl>
          </a:graphicData>
        </a:graphic>
      </p:graphicFrame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8DDF4384-9BBD-84D5-A190-D959646E16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988" y="1145407"/>
            <a:ext cx="7417518" cy="72969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dirty="0"/>
              <a:t>✅ 핵심 구성 요소</a:t>
            </a:r>
          </a:p>
        </p:txBody>
      </p:sp>
    </p:spTree>
    <p:extLst>
      <p:ext uri="{BB962C8B-B14F-4D97-AF65-F5344CB8AC3E}">
        <p14:creationId xmlns:p14="http://schemas.microsoft.com/office/powerpoint/2010/main" val="228587265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89BA12-915F-118B-4F85-E31B3401B1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7B3C1250-0FD6-E451-724C-00EA473A11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/>
          <a:p>
            <a:r>
              <a:rPr lang="en-US" altLang="ko-KR" b="1" dirty="0" err="1"/>
              <a:t>RestfulAPI</a:t>
            </a:r>
            <a:endParaRPr lang="en-US" altLang="ko-KR" b="1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0DBA719F-2C64-A966-CE23-8780F8E257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988" y="1145407"/>
            <a:ext cx="7417518" cy="72969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dirty="0"/>
              <a:t>✅ </a:t>
            </a:r>
            <a:r>
              <a:rPr lang="en-US" altLang="ko-KR" dirty="0"/>
              <a:t>HTTP </a:t>
            </a:r>
            <a:r>
              <a:rPr lang="ko-KR" altLang="en-US" dirty="0"/>
              <a:t>메서드와 의미</a:t>
            </a: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6D016475-7E7F-0F16-2DFC-F8F929A885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7883814"/>
              </p:ext>
            </p:extLst>
          </p:nvPr>
        </p:nvGraphicFramePr>
        <p:xfrm>
          <a:off x="361950" y="1875098"/>
          <a:ext cx="11468100" cy="3547800"/>
        </p:xfrm>
        <a:graphic>
          <a:graphicData uri="http://schemas.openxmlformats.org/drawingml/2006/table">
            <a:tbl>
              <a:tblPr/>
              <a:tblGrid>
                <a:gridCol w="3691786">
                  <a:extLst>
                    <a:ext uri="{9D8B030D-6E8A-4147-A177-3AD203B41FA5}">
                      <a16:colId xmlns:a16="http://schemas.microsoft.com/office/drawing/2014/main" val="1524258825"/>
                    </a:ext>
                  </a:extLst>
                </a:gridCol>
                <a:gridCol w="7776314">
                  <a:extLst>
                    <a:ext uri="{9D8B030D-6E8A-4147-A177-3AD203B41FA5}">
                      <a16:colId xmlns:a16="http://schemas.microsoft.com/office/drawing/2014/main" val="3518895624"/>
                    </a:ext>
                  </a:extLst>
                </a:gridCol>
              </a:tblGrid>
              <a:tr h="59130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메서드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설명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7501663"/>
                  </a:ext>
                </a:extLst>
              </a:tr>
              <a:tr h="5913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GET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데이터 조회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9261728"/>
                  </a:ext>
                </a:extLst>
              </a:tr>
              <a:tr h="5913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POST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새 데이터 생성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47703843"/>
                  </a:ext>
                </a:extLst>
              </a:tr>
              <a:tr h="5913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PUT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데이터 전체 수정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4464927"/>
                  </a:ext>
                </a:extLst>
              </a:tr>
              <a:tr h="5913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PATCH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데이터 일부 수정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2689563"/>
                  </a:ext>
                </a:extLst>
              </a:tr>
              <a:tr h="5913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DELETE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데이터 삭제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187839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8279594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DB1AA2-46A8-FBF7-5225-8D02D48123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D2D17361-FAB2-9102-C805-387AD822B7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/>
          <a:p>
            <a:r>
              <a:rPr lang="en-US" altLang="ko-KR" b="1" dirty="0" err="1"/>
              <a:t>RestfulAPI</a:t>
            </a:r>
            <a:endParaRPr lang="en-US" altLang="ko-KR" b="1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A613F0A4-B6A3-20DD-FD4B-0024A4740B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988" y="1145407"/>
            <a:ext cx="7417518" cy="72969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dirty="0"/>
              <a:t>✅ 예시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D7A342B3-1D40-B27C-36A2-E15E6729052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8710495"/>
              </p:ext>
            </p:extLst>
          </p:nvPr>
        </p:nvGraphicFramePr>
        <p:xfrm>
          <a:off x="374650" y="1875098"/>
          <a:ext cx="11442700" cy="3548856"/>
        </p:xfrm>
        <a:graphic>
          <a:graphicData uri="http://schemas.openxmlformats.org/drawingml/2006/table">
            <a:tbl>
              <a:tblPr/>
              <a:tblGrid>
                <a:gridCol w="4661841">
                  <a:extLst>
                    <a:ext uri="{9D8B030D-6E8A-4147-A177-3AD203B41FA5}">
                      <a16:colId xmlns:a16="http://schemas.microsoft.com/office/drawing/2014/main" val="3993466008"/>
                    </a:ext>
                  </a:extLst>
                </a:gridCol>
                <a:gridCol w="6780859">
                  <a:extLst>
                    <a:ext uri="{9D8B030D-6E8A-4147-A177-3AD203B41FA5}">
                      <a16:colId xmlns:a16="http://schemas.microsoft.com/office/drawing/2014/main" val="4111575334"/>
                    </a:ext>
                  </a:extLst>
                </a:gridCol>
              </a:tblGrid>
              <a:tr h="59147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API </a:t>
                      </a:r>
                      <a:r>
                        <a:rPr lang="ko-KR" alt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요청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설명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4899080"/>
                  </a:ext>
                </a:extLst>
              </a:tr>
              <a:tr h="59147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GET /users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사용자 목록 조회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12531339"/>
                  </a:ext>
                </a:extLst>
              </a:tr>
              <a:tr h="59147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GET /users/1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특정 사용자 정보 조회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961349"/>
                  </a:ext>
                </a:extLst>
              </a:tr>
              <a:tr h="59147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POST /users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새 사용자 생성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7360206"/>
                  </a:ext>
                </a:extLst>
              </a:tr>
              <a:tr h="59147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PUT /users/1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사용자 정보 전체 수정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89265916"/>
                  </a:ext>
                </a:extLst>
              </a:tr>
              <a:tr h="59147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DELETE /users/1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사용자 삭제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9436945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7615007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5084BD-D4EE-C06E-5F21-DDB93431B1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CC283BA0-0083-4A58-9938-6BD77DC1D2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/>
          <a:p>
            <a:r>
              <a:rPr lang="en-US" altLang="ko-KR" b="1" dirty="0"/>
              <a:t>Postman </a:t>
            </a:r>
            <a:r>
              <a:rPr lang="ko-KR" altLang="en-US" b="1" dirty="0"/>
              <a:t>설치하기</a:t>
            </a:r>
            <a:endParaRPr lang="en-US" altLang="ko-KR" b="1" dirty="0"/>
          </a:p>
        </p:txBody>
      </p:sp>
      <p:sp>
        <p:nvSpPr>
          <p:cNvPr id="2" name="내용 개체 틀 3">
            <a:extLst>
              <a:ext uri="{FF2B5EF4-FFF2-40B4-BE49-F238E27FC236}">
                <a16:creationId xmlns:a16="http://schemas.microsoft.com/office/drawing/2014/main" id="{C5FF1334-813E-9E08-B9C2-57924C6233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7" y="1165385"/>
            <a:ext cx="11700727" cy="4820547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8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💡</a:t>
            </a:r>
            <a:r>
              <a:rPr lang="ko-KR" altLang="en-US" dirty="0"/>
              <a:t> 포스트맨 공식 사이트 </a:t>
            </a:r>
            <a:r>
              <a:rPr lang="en-US" altLang="ko-KR" dirty="0"/>
              <a:t>: </a:t>
            </a:r>
            <a:r>
              <a:rPr lang="en-US" altLang="ko-KR" dirty="0">
                <a:hlinkClick r:id="rId2"/>
              </a:rPr>
              <a:t>https://www.postman.com/downloads/</a:t>
            </a:r>
            <a:r>
              <a:rPr lang="en-US" altLang="ko-KR" dirty="0"/>
              <a:t> 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📌 설치 파일 다운로드 후 실행 →</a:t>
            </a:r>
            <a:r>
              <a:rPr lang="en-US" altLang="ko-KR" dirty="0"/>
              <a:t> </a:t>
            </a:r>
            <a:r>
              <a:rPr lang="ko-KR" altLang="en-US" dirty="0"/>
              <a:t>구글 로그인 </a:t>
            </a:r>
            <a:endParaRPr lang="en-US" altLang="ko-KR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6E16973-8B09-E91C-993F-359FC0B3D2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43250" y="2860398"/>
            <a:ext cx="5905500" cy="3145512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569C8A03-162C-26DF-B1FE-BBAA0D498EBC}"/>
              </a:ext>
            </a:extLst>
          </p:cNvPr>
          <p:cNvSpPr/>
          <p:nvPr/>
        </p:nvSpPr>
        <p:spPr>
          <a:xfrm>
            <a:off x="3489960" y="4938502"/>
            <a:ext cx="1973580" cy="239514"/>
          </a:xfrm>
          <a:prstGeom prst="rect">
            <a:avLst/>
          </a:prstGeom>
          <a:noFill/>
          <a:ln w="254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019895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8F8DFC-14FE-3764-588A-001890A039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1260D1-ADFB-1500-B95A-65A796D5C4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b="1" dirty="0"/>
              <a:t>패키지 설치</a:t>
            </a:r>
            <a:r>
              <a:rPr lang="en-US" altLang="ko-KR" b="1" dirty="0"/>
              <a:t>(</a:t>
            </a:r>
            <a:r>
              <a:rPr lang="en-US" altLang="ko-KR" b="1" dirty="0" err="1"/>
              <a:t>FastAPI</a:t>
            </a:r>
            <a:r>
              <a:rPr lang="en-US" altLang="ko-KR" b="1" dirty="0"/>
              <a:t>, </a:t>
            </a:r>
            <a:r>
              <a:rPr lang="en-US" altLang="ko-KR" b="1" dirty="0" err="1"/>
              <a:t>uvicorn</a:t>
            </a:r>
            <a:r>
              <a:rPr lang="en-US" altLang="ko-KR" b="1" dirty="0"/>
              <a:t>)</a:t>
            </a:r>
          </a:p>
        </p:txBody>
      </p:sp>
      <p:pic>
        <p:nvPicPr>
          <p:cNvPr id="5" name="그림 4" descr="텍스트, 스크린샷, 폰트, 멀티미디어 소프트웨어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4478A326-818F-4FBA-2F26-611896A394E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86691"/>
            <a:ext cx="12192000" cy="42846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939796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53FBCA-9FC3-00E3-B7F5-D567EEC47B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텍스트, 스크린샷, 소프트웨어, 멀티미디어 소프트웨어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C528BF04-C014-0B44-D05F-525B3C66F96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64175"/>
            <a:ext cx="12192000" cy="5939246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F0522628-79F8-4C62-DDDB-0BAA112EBB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/>
              <a:t>DB</a:t>
            </a:r>
            <a:r>
              <a:rPr lang="ko-KR" altLang="en-US" b="1" dirty="0"/>
              <a:t>와 연결하기</a:t>
            </a:r>
            <a:endParaRPr lang="en-US" altLang="ko-KR" b="1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D276F1A2-9ED9-88AC-939C-AC550A529794}"/>
              </a:ext>
            </a:extLst>
          </p:cNvPr>
          <p:cNvSpPr/>
          <p:nvPr/>
        </p:nvSpPr>
        <p:spPr>
          <a:xfrm>
            <a:off x="706950" y="5833310"/>
            <a:ext cx="9440365" cy="4185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기본적인 문법 구성은 일반적인 </a:t>
            </a:r>
            <a:r>
              <a:rPr lang="en-US" altLang="ko-KR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python </a:t>
            </a: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구현과 같음</a:t>
            </a:r>
          </a:p>
        </p:txBody>
      </p:sp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8354A477-3A01-3B9F-EF09-AAC61E66BC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9083" y="1052270"/>
            <a:ext cx="7417518" cy="72969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dirty="0"/>
              <a:t>✅ </a:t>
            </a:r>
            <a:r>
              <a:rPr lang="en-US" altLang="ko-KR" dirty="0"/>
              <a:t>DB </a:t>
            </a:r>
            <a:r>
              <a:rPr lang="ko-KR" altLang="en-US" dirty="0"/>
              <a:t>연결 함수</a:t>
            </a:r>
          </a:p>
        </p:txBody>
      </p:sp>
    </p:spTree>
    <p:extLst>
      <p:ext uri="{BB962C8B-B14F-4D97-AF65-F5344CB8AC3E}">
        <p14:creationId xmlns:p14="http://schemas.microsoft.com/office/powerpoint/2010/main" val="345223119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226D2D-EFD9-E465-61CA-4B774C2E1D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텍스트, 스크린샷, 소프트웨어, 멀티미디어 소프트웨어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84F1D4A6-E553-8BED-DD8E-C8F47C208A3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24840"/>
            <a:ext cx="12192000" cy="560832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EA15A35D-A36D-CEE3-31BF-F4491BB638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 err="1"/>
              <a:t>FastAPI</a:t>
            </a:r>
            <a:r>
              <a:rPr lang="en-US" altLang="ko-KR" b="1" dirty="0"/>
              <a:t> </a:t>
            </a:r>
            <a:r>
              <a:rPr lang="ko-KR" altLang="en-US" b="1" dirty="0"/>
              <a:t>기본 앱 구성</a:t>
            </a:r>
            <a:endParaRPr lang="en-US" altLang="ko-KR" b="1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B75FAFE8-A79D-33C6-DD61-3AD436B2D89D}"/>
              </a:ext>
            </a:extLst>
          </p:cNvPr>
          <p:cNvSpPr/>
          <p:nvPr/>
        </p:nvSpPr>
        <p:spPr>
          <a:xfrm>
            <a:off x="728117" y="5427291"/>
            <a:ext cx="9440365" cy="4185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@app.get("/") : HTTP GET </a:t>
            </a: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요청이 루트 </a:t>
            </a:r>
            <a:r>
              <a:rPr lang="en-US" altLang="ko-KR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URL(/)</a:t>
            </a: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로 들어왔을 때 실행할 함수를 지정</a:t>
            </a:r>
          </a:p>
        </p:txBody>
      </p:sp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1CDE2473-EF65-DF11-92A4-E070316A3A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9083" y="950670"/>
            <a:ext cx="7417518" cy="72969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dirty="0"/>
              <a:t>✅ </a:t>
            </a:r>
            <a:r>
              <a:rPr lang="en-US" altLang="ko-KR" dirty="0"/>
              <a:t>DB </a:t>
            </a:r>
            <a:r>
              <a:rPr lang="ko-KR" altLang="en-US" dirty="0"/>
              <a:t>연결 함수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47B6ADCF-E387-4233-8C69-6948F434802C}"/>
              </a:ext>
            </a:extLst>
          </p:cNvPr>
          <p:cNvSpPr/>
          <p:nvPr/>
        </p:nvSpPr>
        <p:spPr>
          <a:xfrm>
            <a:off x="1536221" y="2425369"/>
            <a:ext cx="3662311" cy="239514"/>
          </a:xfrm>
          <a:prstGeom prst="rect">
            <a:avLst/>
          </a:prstGeom>
          <a:noFill/>
          <a:ln w="1905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E70B43A-DF51-F987-334B-9FB847583BE2}"/>
              </a:ext>
            </a:extLst>
          </p:cNvPr>
          <p:cNvSpPr txBox="1"/>
          <p:nvPr/>
        </p:nvSpPr>
        <p:spPr>
          <a:xfrm>
            <a:off x="5198532" y="2384887"/>
            <a:ext cx="19848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err="1">
                <a:solidFill>
                  <a:schemeClr val="bg1"/>
                </a:solidFill>
              </a:rPr>
              <a:t>FastAPI</a:t>
            </a:r>
            <a:r>
              <a:rPr lang="en-US" altLang="ko-KR" sz="1400" dirty="0">
                <a:solidFill>
                  <a:schemeClr val="bg1"/>
                </a:solidFill>
              </a:rPr>
              <a:t> </a:t>
            </a:r>
            <a:r>
              <a:rPr lang="ko-KR" altLang="en-US" sz="1400" dirty="0">
                <a:solidFill>
                  <a:schemeClr val="bg1"/>
                </a:solidFill>
              </a:rPr>
              <a:t>클래스 불러오기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6C653FDE-142B-0328-08DF-ABE4EA026F45}"/>
              </a:ext>
            </a:extLst>
          </p:cNvPr>
          <p:cNvSpPr/>
          <p:nvPr/>
        </p:nvSpPr>
        <p:spPr>
          <a:xfrm>
            <a:off x="1536221" y="2764896"/>
            <a:ext cx="3912079" cy="239514"/>
          </a:xfrm>
          <a:prstGeom prst="rect">
            <a:avLst/>
          </a:prstGeom>
          <a:noFill/>
          <a:ln w="1905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6E6A7C7-DA83-DABC-35AD-86071CEDAB8E}"/>
              </a:ext>
            </a:extLst>
          </p:cNvPr>
          <p:cNvSpPr txBox="1"/>
          <p:nvPr/>
        </p:nvSpPr>
        <p:spPr>
          <a:xfrm>
            <a:off x="5448300" y="2730764"/>
            <a:ext cx="17508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</a:rPr>
              <a:t>DB</a:t>
            </a:r>
            <a:r>
              <a:rPr lang="ko-KR" altLang="en-US" sz="1400" dirty="0">
                <a:solidFill>
                  <a:schemeClr val="bg1"/>
                </a:solidFill>
              </a:rPr>
              <a:t>생성 함수 불러오기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5D10DF2-BD2E-2750-66D8-53ED2C4F3387}"/>
              </a:ext>
            </a:extLst>
          </p:cNvPr>
          <p:cNvSpPr/>
          <p:nvPr/>
        </p:nvSpPr>
        <p:spPr>
          <a:xfrm>
            <a:off x="1515053" y="3421008"/>
            <a:ext cx="2066347" cy="265636"/>
          </a:xfrm>
          <a:prstGeom prst="rect">
            <a:avLst/>
          </a:prstGeom>
          <a:noFill/>
          <a:ln w="1905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0DE83D4-9BE9-F177-B492-E348421585D8}"/>
              </a:ext>
            </a:extLst>
          </p:cNvPr>
          <p:cNvSpPr txBox="1"/>
          <p:nvPr/>
        </p:nvSpPr>
        <p:spPr>
          <a:xfrm>
            <a:off x="3581400" y="3399937"/>
            <a:ext cx="18293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err="1">
                <a:solidFill>
                  <a:schemeClr val="bg1"/>
                </a:solidFill>
              </a:rPr>
              <a:t>FastAPI</a:t>
            </a:r>
            <a:r>
              <a:rPr lang="en-US" altLang="ko-KR" sz="1400" dirty="0">
                <a:solidFill>
                  <a:schemeClr val="bg1"/>
                </a:solidFill>
              </a:rPr>
              <a:t> </a:t>
            </a:r>
            <a:r>
              <a:rPr lang="ko-KR" altLang="en-US" sz="1400" dirty="0">
                <a:solidFill>
                  <a:schemeClr val="bg1"/>
                </a:solidFill>
              </a:rPr>
              <a:t>인스턴스 생성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9F167EA6-240A-8611-70B5-BDFAD8CCD5F9}"/>
              </a:ext>
            </a:extLst>
          </p:cNvPr>
          <p:cNvSpPr/>
          <p:nvPr/>
        </p:nvSpPr>
        <p:spPr>
          <a:xfrm>
            <a:off x="1515053" y="4080173"/>
            <a:ext cx="1793297" cy="265636"/>
          </a:xfrm>
          <a:prstGeom prst="rect">
            <a:avLst/>
          </a:prstGeom>
          <a:noFill/>
          <a:ln w="1905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15C2EC0-6F7E-DB6C-D092-CBF888233EF1}"/>
              </a:ext>
            </a:extLst>
          </p:cNvPr>
          <p:cNvSpPr txBox="1"/>
          <p:nvPr/>
        </p:nvSpPr>
        <p:spPr>
          <a:xfrm>
            <a:off x="3308350" y="4063331"/>
            <a:ext cx="147187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</a:rPr>
              <a:t>라우팅 </a:t>
            </a:r>
            <a:r>
              <a:rPr lang="ko-KR" altLang="en-US" sz="1400" dirty="0" err="1">
                <a:solidFill>
                  <a:schemeClr val="bg1"/>
                </a:solidFill>
              </a:rPr>
              <a:t>데코레이터</a:t>
            </a:r>
            <a:endParaRPr lang="ko-KR" altLang="en-US" sz="1400" dirty="0">
              <a:solidFill>
                <a:schemeClr val="bg1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81D0CC7A-314D-0005-EE8E-D45F623D2706}"/>
              </a:ext>
            </a:extLst>
          </p:cNvPr>
          <p:cNvSpPr/>
          <p:nvPr/>
        </p:nvSpPr>
        <p:spPr>
          <a:xfrm>
            <a:off x="1515053" y="4405530"/>
            <a:ext cx="1549423" cy="265636"/>
          </a:xfrm>
          <a:prstGeom prst="rect">
            <a:avLst/>
          </a:prstGeom>
          <a:noFill/>
          <a:ln w="1905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7B2FF28-177C-894A-813F-14C3375275DD}"/>
              </a:ext>
            </a:extLst>
          </p:cNvPr>
          <p:cNvSpPr txBox="1"/>
          <p:nvPr/>
        </p:nvSpPr>
        <p:spPr>
          <a:xfrm>
            <a:off x="3064476" y="4384459"/>
            <a:ext cx="287129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</a:rPr>
              <a:t>GET </a:t>
            </a:r>
            <a:r>
              <a:rPr lang="ko-KR" altLang="en-US" sz="1400" dirty="0">
                <a:solidFill>
                  <a:schemeClr val="bg1"/>
                </a:solidFill>
              </a:rPr>
              <a:t>요청이 </a:t>
            </a:r>
            <a:r>
              <a:rPr lang="en-US" altLang="ko-KR" sz="1400" dirty="0">
                <a:solidFill>
                  <a:schemeClr val="bg1"/>
                </a:solidFill>
              </a:rPr>
              <a:t>/</a:t>
            </a:r>
            <a:r>
              <a:rPr lang="ko-KR" altLang="en-US" sz="1400" dirty="0">
                <a:solidFill>
                  <a:schemeClr val="bg1"/>
                </a:solidFill>
              </a:rPr>
              <a:t>로 오면 이 함수가 호출됨</a:t>
            </a:r>
          </a:p>
        </p:txBody>
      </p:sp>
    </p:spTree>
    <p:extLst>
      <p:ext uri="{BB962C8B-B14F-4D97-AF65-F5344CB8AC3E}">
        <p14:creationId xmlns:p14="http://schemas.microsoft.com/office/powerpoint/2010/main" val="124833050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F8A81-50C4-D356-31AB-5E24BAF36F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20F60C-8CCB-E395-71E0-0B21301D7C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 err="1"/>
              <a:t>FastAPI</a:t>
            </a:r>
            <a:r>
              <a:rPr lang="en-US" altLang="ko-KR" b="1" dirty="0"/>
              <a:t> </a:t>
            </a:r>
            <a:r>
              <a:rPr lang="ko-KR" altLang="en-US" b="1" dirty="0"/>
              <a:t>기본 앱 실행</a:t>
            </a:r>
            <a:endParaRPr lang="en-US" altLang="ko-KR" b="1" dirty="0"/>
          </a:p>
        </p:txBody>
      </p:sp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25915A1B-669E-343C-047F-96E3E4FC13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9083" y="950670"/>
            <a:ext cx="7417518" cy="72969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dirty="0"/>
              <a:t>✅ 실행 명령어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3B6D089-D698-B4E1-1D2F-6ED726F98DDA}"/>
              </a:ext>
            </a:extLst>
          </p:cNvPr>
          <p:cNvSpPr txBox="1"/>
          <p:nvPr/>
        </p:nvSpPr>
        <p:spPr>
          <a:xfrm>
            <a:off x="838200" y="1667986"/>
            <a:ext cx="611587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dirty="0" err="1">
                <a:latin typeface="+mn-ea"/>
              </a:rPr>
              <a:t>uvicorn</a:t>
            </a:r>
            <a:r>
              <a:rPr lang="ko-KR" altLang="en-US" sz="2400" dirty="0">
                <a:latin typeface="+mn-ea"/>
              </a:rPr>
              <a:t> </a:t>
            </a:r>
            <a:r>
              <a:rPr lang="en-US" altLang="ko-KR" sz="2400" dirty="0" err="1">
                <a:latin typeface="+mn-ea"/>
              </a:rPr>
              <a:t>app.main</a:t>
            </a:r>
            <a:r>
              <a:rPr lang="ko-KR" altLang="en-US" sz="2400" dirty="0">
                <a:latin typeface="+mn-ea"/>
              </a:rPr>
              <a:t>:</a:t>
            </a:r>
            <a:r>
              <a:rPr lang="ko-KR" altLang="en-US" sz="2400" dirty="0" err="1">
                <a:latin typeface="+mn-ea"/>
              </a:rPr>
              <a:t>app</a:t>
            </a:r>
            <a:r>
              <a:rPr lang="ko-KR" altLang="en-US" sz="2400" dirty="0">
                <a:latin typeface="+mn-ea"/>
              </a:rPr>
              <a:t> --</a:t>
            </a:r>
            <a:r>
              <a:rPr lang="ko-KR" altLang="en-US" sz="2400" dirty="0" err="1">
                <a:latin typeface="+mn-ea"/>
              </a:rPr>
              <a:t>reload</a:t>
            </a:r>
            <a:endParaRPr lang="ko-KR" altLang="en-US" sz="2400" dirty="0">
              <a:latin typeface="+mn-ea"/>
            </a:endParaRPr>
          </a:p>
        </p:txBody>
      </p:sp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D3E87D17-59DC-5AB2-5B65-17ACBB32C0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36163"/>
              </p:ext>
            </p:extLst>
          </p:nvPr>
        </p:nvGraphicFramePr>
        <p:xfrm>
          <a:off x="838200" y="2538254"/>
          <a:ext cx="10515600" cy="2651760"/>
        </p:xfrm>
        <a:graphic>
          <a:graphicData uri="http://schemas.openxmlformats.org/drawingml/2006/table">
            <a:tbl>
              <a:tblPr firstRow="1">
                <a:tableStyleId>{93296810-A885-4BE3-A3E7-6D5BEEA58F35}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3443813959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56723944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37842530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dirty="0"/>
                        <a:t>부분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dirty="0"/>
                        <a:t>의미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/>
                        <a:t>설명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673751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uvicorn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dirty="0"/>
                        <a:t>실행 프로그램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dirty="0" err="1"/>
                        <a:t>FastAPI</a:t>
                      </a:r>
                      <a:r>
                        <a:rPr lang="ko-KR" altLang="en-US" dirty="0"/>
                        <a:t>는 자체 서버가 없고</a:t>
                      </a:r>
                      <a:r>
                        <a:rPr lang="en-US" altLang="ko-KR" dirty="0"/>
                        <a:t>, </a:t>
                      </a:r>
                      <a:r>
                        <a:rPr lang="en-US" altLang="ko-KR" b="1" dirty="0" err="1"/>
                        <a:t>Uvicorn</a:t>
                      </a:r>
                      <a:r>
                        <a:rPr lang="en-US" altLang="ko-KR" dirty="0"/>
                        <a:t>(ASGI </a:t>
                      </a:r>
                      <a:r>
                        <a:rPr lang="ko-KR" altLang="en-US" dirty="0"/>
                        <a:t>서버</a:t>
                      </a:r>
                      <a:r>
                        <a:rPr lang="en-US" altLang="ko-KR" dirty="0"/>
                        <a:t>)</a:t>
                      </a:r>
                      <a:r>
                        <a:rPr lang="ko-KR" altLang="en-US" dirty="0"/>
                        <a:t>을 통해 실행됨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293225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 err="1"/>
                        <a:t>app.main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/>
                        <a:t>모듈 이름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/>
                        <a:t>main.py</a:t>
                      </a:r>
                      <a:r>
                        <a:rPr lang="ko-KR" altLang="en-US"/>
                        <a:t> 파일을 의미함 </a:t>
                      </a:r>
                      <a:r>
                        <a:rPr lang="en-US" altLang="ko-KR"/>
                        <a:t>(.py</a:t>
                      </a:r>
                      <a:r>
                        <a:rPr lang="ko-KR" altLang="en-US"/>
                        <a:t>는 안 씀</a:t>
                      </a:r>
                      <a:r>
                        <a:rPr lang="en-US" altLang="ko-KR"/>
                        <a:t>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60403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app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/>
                        <a:t>FastAPI </a:t>
                      </a:r>
                      <a:r>
                        <a:rPr lang="ko-KR" altLang="en-US"/>
                        <a:t>인스턴스 이름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/>
                        <a:t>main.py</a:t>
                      </a:r>
                      <a:r>
                        <a:rPr lang="ko-KR" altLang="en-US"/>
                        <a:t> 안에 </a:t>
                      </a:r>
                      <a:r>
                        <a:rPr lang="en-US" altLang="ko-KR"/>
                        <a:t>app = FastAPI()</a:t>
                      </a:r>
                      <a:r>
                        <a:rPr lang="ko-KR" altLang="en-US"/>
                        <a:t> 로 정의된 객체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333782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--reload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/>
                        <a:t>옵션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dirty="0"/>
                        <a:t>코드가 변경될 때 서버 자동 재시작 </a:t>
                      </a: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개발용 옵션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배포 시엔 사용 </a:t>
                      </a:r>
                      <a:r>
                        <a:rPr lang="en-US" altLang="ko-KR" dirty="0"/>
                        <a:t>X)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654882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7487481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473203-1AE5-2C76-2C00-E029FB3F4F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그림 18" descr="텍스트, 스크린샷, 소프트웨어, 멀티미디어 소프트웨어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FE139702-B328-0506-4BBD-2AC30D92B40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2168" y="452648"/>
            <a:ext cx="10687664" cy="602276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7AAF8DC2-EB9C-13B3-78F7-B422E6E564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/>
              <a:t>CRUD - </a:t>
            </a:r>
            <a:r>
              <a:rPr lang="ko-KR" altLang="en-US" b="1" dirty="0"/>
              <a:t>사용자 조회</a:t>
            </a:r>
            <a:r>
              <a:rPr lang="en-US" altLang="ko-KR" b="1" dirty="0"/>
              <a:t>(READ)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B0144719-AB28-1616-B2ED-0E270E923B14}"/>
              </a:ext>
            </a:extLst>
          </p:cNvPr>
          <p:cNvSpPr/>
          <p:nvPr/>
        </p:nvSpPr>
        <p:spPr>
          <a:xfrm>
            <a:off x="2102960" y="1983846"/>
            <a:ext cx="1983266" cy="221192"/>
          </a:xfrm>
          <a:prstGeom prst="rect">
            <a:avLst/>
          </a:prstGeom>
          <a:noFill/>
          <a:ln w="1905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DF9174B-6640-A6B9-13EC-E135AF7BA162}"/>
              </a:ext>
            </a:extLst>
          </p:cNvPr>
          <p:cNvSpPr txBox="1"/>
          <p:nvPr/>
        </p:nvSpPr>
        <p:spPr>
          <a:xfrm>
            <a:off x="4086225" y="1940553"/>
            <a:ext cx="28908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</a:rPr>
              <a:t>DB</a:t>
            </a:r>
            <a:r>
              <a:rPr lang="ko-KR" altLang="en-US" sz="1400" dirty="0">
                <a:solidFill>
                  <a:schemeClr val="bg1"/>
                </a:solidFill>
              </a:rPr>
              <a:t>생성 함수로 </a:t>
            </a:r>
            <a:r>
              <a:rPr lang="en-US" altLang="ko-KR" sz="1400" dirty="0">
                <a:solidFill>
                  <a:schemeClr val="bg1"/>
                </a:solidFill>
              </a:rPr>
              <a:t>connection </a:t>
            </a:r>
            <a:r>
              <a:rPr lang="ko-KR" altLang="en-US" sz="1400" dirty="0">
                <a:solidFill>
                  <a:schemeClr val="bg1"/>
                </a:solidFill>
              </a:rPr>
              <a:t>객체 생성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502ADB7D-3B80-36E7-8640-D21DEA41A36E}"/>
              </a:ext>
            </a:extLst>
          </p:cNvPr>
          <p:cNvSpPr/>
          <p:nvPr/>
        </p:nvSpPr>
        <p:spPr>
          <a:xfrm>
            <a:off x="1185317" y="5869285"/>
            <a:ext cx="9440365" cy="4185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cursor,</a:t>
            </a: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</a:t>
            </a:r>
            <a:r>
              <a:rPr lang="en-US" altLang="ko-KR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execute,</a:t>
            </a: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</a:t>
            </a:r>
            <a:r>
              <a:rPr lang="en-US" altLang="ko-KR" sz="16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fetchall</a:t>
            </a:r>
            <a:r>
              <a:rPr lang="en-US" altLang="ko-KR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</a:t>
            </a: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</a:t>
            </a:r>
            <a:r>
              <a:rPr lang="en-US" altLang="ko-KR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close</a:t>
            </a: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등 기본적인 메소드 사용법은 동일함</a:t>
            </a:r>
          </a:p>
        </p:txBody>
      </p:sp>
    </p:spTree>
    <p:extLst>
      <p:ext uri="{BB962C8B-B14F-4D97-AF65-F5344CB8AC3E}">
        <p14:creationId xmlns:p14="http://schemas.microsoft.com/office/powerpoint/2010/main" val="133373626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ECE38D-99F7-025D-6F49-40D4FAA6E5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9848B2-E47D-7409-3F6C-A071F4737C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 err="1"/>
              <a:t>Pydantic</a:t>
            </a:r>
            <a:r>
              <a:rPr lang="en-US" altLang="ko-KR" dirty="0"/>
              <a:t> </a:t>
            </a:r>
            <a:r>
              <a:rPr lang="ko-KR" altLang="en-US" dirty="0"/>
              <a:t>모델 </a:t>
            </a:r>
            <a:endParaRPr lang="en-US" altLang="ko-KR" b="1" dirty="0"/>
          </a:p>
        </p:txBody>
      </p:sp>
      <p:sp>
        <p:nvSpPr>
          <p:cNvPr id="3" name="내용 개체 틀 3">
            <a:extLst>
              <a:ext uri="{FF2B5EF4-FFF2-40B4-BE49-F238E27FC236}">
                <a16:creationId xmlns:a16="http://schemas.microsoft.com/office/drawing/2014/main" id="{1629BDED-8FFD-8737-58F4-0CB842F9CD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7" y="1165385"/>
            <a:ext cx="11700727" cy="4820547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8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💡</a:t>
            </a:r>
            <a:r>
              <a:rPr lang="ko-KR" altLang="en-US" dirty="0"/>
              <a:t>  요청</a:t>
            </a:r>
            <a:r>
              <a:rPr lang="en-US" altLang="ko-KR" dirty="0"/>
              <a:t> </a:t>
            </a:r>
            <a:r>
              <a:rPr lang="ko-KR" altLang="en-US" dirty="0"/>
              <a:t>데이터의 구조를 정의하고</a:t>
            </a:r>
            <a:r>
              <a:rPr lang="en-US" altLang="ko-KR" dirty="0"/>
              <a:t>, </a:t>
            </a:r>
            <a:r>
              <a:rPr lang="ko-KR" altLang="en-US" dirty="0"/>
              <a:t>자동으로 유효성 검사를 해주는 도구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📌 데이터 구조를 정의하는 클래스로</a:t>
            </a:r>
            <a:r>
              <a:rPr lang="en-US" altLang="ko-KR" dirty="0"/>
              <a:t>, </a:t>
            </a:r>
            <a:r>
              <a:rPr lang="ko-KR" altLang="en-US" dirty="0"/>
              <a:t>주로 요청</a:t>
            </a:r>
            <a:r>
              <a:rPr lang="en-US" altLang="ko-KR" dirty="0"/>
              <a:t> </a:t>
            </a:r>
            <a:r>
              <a:rPr lang="ko-KR" altLang="en-US" dirty="0"/>
              <a:t>데이터의 구조와 타입을 명확히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dirty="0"/>
              <a:t>       </a:t>
            </a:r>
            <a:r>
              <a:rPr lang="ko-KR" altLang="en-US" dirty="0"/>
              <a:t>지정할 때 사용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95278092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4B59D4-35CF-CDCA-A4D5-69550506E4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F479A8-753A-9158-6839-B023B2FC0B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 err="1"/>
              <a:t>Pydantic</a:t>
            </a:r>
            <a:r>
              <a:rPr lang="en-US" altLang="ko-KR" dirty="0"/>
              <a:t> </a:t>
            </a:r>
            <a:r>
              <a:rPr lang="ko-KR" altLang="en-US" dirty="0"/>
              <a:t>모델 정의 </a:t>
            </a:r>
            <a:endParaRPr lang="en-US" altLang="ko-KR" b="1" dirty="0"/>
          </a:p>
        </p:txBody>
      </p:sp>
      <p:pic>
        <p:nvPicPr>
          <p:cNvPr id="7" name="그림 6" descr="텍스트, 스크린샷, 소프트웨어, 디스플레이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644D2FBB-D3E7-8DB6-28CE-423D40B0185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5843" y="614103"/>
            <a:ext cx="11480314" cy="6523296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558CEE01-A67C-4978-3B60-B01C5E11258D}"/>
              </a:ext>
            </a:extLst>
          </p:cNvPr>
          <p:cNvSpPr/>
          <p:nvPr/>
        </p:nvSpPr>
        <p:spPr>
          <a:xfrm>
            <a:off x="4229100" y="3060700"/>
            <a:ext cx="1231106" cy="242888"/>
          </a:xfrm>
          <a:prstGeom prst="rect">
            <a:avLst/>
          </a:prstGeom>
          <a:noFill/>
          <a:ln w="1905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05DAAE-5CFE-D725-CA0E-BD70FD5CD44F}"/>
              </a:ext>
            </a:extLst>
          </p:cNvPr>
          <p:cNvSpPr txBox="1"/>
          <p:nvPr/>
        </p:nvSpPr>
        <p:spPr>
          <a:xfrm>
            <a:off x="5974081" y="3028254"/>
            <a:ext cx="14744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err="1">
                <a:solidFill>
                  <a:schemeClr val="bg1"/>
                </a:solidFill>
              </a:rPr>
              <a:t>BaseModel</a:t>
            </a:r>
            <a:r>
              <a:rPr lang="en-US" altLang="ko-KR" sz="1400" dirty="0">
                <a:solidFill>
                  <a:schemeClr val="bg1"/>
                </a:solidFill>
              </a:rPr>
              <a:t> </a:t>
            </a:r>
            <a:r>
              <a:rPr lang="ko-KR" altLang="en-US" sz="1400" dirty="0">
                <a:solidFill>
                  <a:schemeClr val="bg1"/>
                </a:solidFill>
              </a:rPr>
              <a:t>상속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AD06C76C-60EF-D094-0626-A172B462102D}"/>
              </a:ext>
            </a:extLst>
          </p:cNvPr>
          <p:cNvSpPr/>
          <p:nvPr/>
        </p:nvSpPr>
        <p:spPr>
          <a:xfrm>
            <a:off x="4229100" y="5018085"/>
            <a:ext cx="1231106" cy="242888"/>
          </a:xfrm>
          <a:prstGeom prst="rect">
            <a:avLst/>
          </a:prstGeom>
          <a:noFill/>
          <a:ln w="1905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34C1F950-57AE-95AF-02F4-C8D6467741D3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 flipV="1">
            <a:off x="5460206" y="3182143"/>
            <a:ext cx="513875" cy="1"/>
          </a:xfrm>
          <a:prstGeom prst="straightConnector1">
            <a:avLst/>
          </a:prstGeom>
          <a:ln>
            <a:solidFill>
              <a:srgbClr val="FF5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38F56708-C3A2-B138-A838-46B430BE836F}"/>
              </a:ext>
            </a:extLst>
          </p:cNvPr>
          <p:cNvCxnSpPr>
            <a:cxnSpLocks/>
            <a:stCxn id="10" idx="3"/>
          </p:cNvCxnSpPr>
          <p:nvPr/>
        </p:nvCxnSpPr>
        <p:spPr>
          <a:xfrm flipV="1">
            <a:off x="5460206" y="3303588"/>
            <a:ext cx="460534" cy="1835941"/>
          </a:xfrm>
          <a:prstGeom prst="straightConnector1">
            <a:avLst/>
          </a:prstGeom>
          <a:ln>
            <a:solidFill>
              <a:srgbClr val="FF5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A27DDC7-20B6-0321-00BB-857A193A0974}"/>
              </a:ext>
            </a:extLst>
          </p:cNvPr>
          <p:cNvSpPr/>
          <p:nvPr/>
        </p:nvSpPr>
        <p:spPr>
          <a:xfrm>
            <a:off x="2488965" y="3370858"/>
            <a:ext cx="1825859" cy="1280518"/>
          </a:xfrm>
          <a:prstGeom prst="rect">
            <a:avLst/>
          </a:prstGeom>
          <a:noFill/>
          <a:ln w="1905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37B5C59-E81E-5481-07B2-7F683102B375}"/>
              </a:ext>
            </a:extLst>
          </p:cNvPr>
          <p:cNvSpPr txBox="1"/>
          <p:nvPr/>
        </p:nvSpPr>
        <p:spPr>
          <a:xfrm>
            <a:off x="2387599" y="4651376"/>
            <a:ext cx="202858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>
                <a:solidFill>
                  <a:schemeClr val="bg1"/>
                </a:solidFill>
              </a:rPr>
              <a:t>데이터의 구조와 타입 정의</a:t>
            </a:r>
            <a:endParaRPr lang="ko-KR" altLang="en-US" sz="1400" dirty="0">
              <a:solidFill>
                <a:schemeClr val="bg1"/>
              </a:solidFill>
            </a:endParaRPr>
          </a:p>
        </p:txBody>
      </p:sp>
      <p:sp>
        <p:nvSpPr>
          <p:cNvPr id="21" name="내용 개체 틀 2">
            <a:extLst>
              <a:ext uri="{FF2B5EF4-FFF2-40B4-BE49-F238E27FC236}">
                <a16:creationId xmlns:a16="http://schemas.microsoft.com/office/drawing/2014/main" id="{16344CC5-0F9F-C866-3D1F-C69515B412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81983" y="934450"/>
            <a:ext cx="7417518" cy="72969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dirty="0"/>
              <a:t>✅ 모델 정의</a:t>
            </a:r>
          </a:p>
        </p:txBody>
      </p:sp>
    </p:spTree>
    <p:extLst>
      <p:ext uri="{BB962C8B-B14F-4D97-AF65-F5344CB8AC3E}">
        <p14:creationId xmlns:p14="http://schemas.microsoft.com/office/powerpoint/2010/main" val="5190058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FEB60B-4406-954D-BDEA-5BC90A12A6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D2B4E0-CD58-6E88-9879-1A84CA52CF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CRUD</a:t>
            </a:r>
            <a:r>
              <a:rPr lang="ko-KR" altLang="en-US" dirty="0"/>
              <a:t> </a:t>
            </a:r>
            <a:r>
              <a:rPr lang="en-US" altLang="ko-KR" dirty="0"/>
              <a:t>- </a:t>
            </a:r>
            <a:r>
              <a:rPr lang="ko-KR" altLang="en-US" dirty="0"/>
              <a:t>사용자 등록</a:t>
            </a:r>
            <a:r>
              <a:rPr lang="en-US" altLang="ko-KR" dirty="0"/>
              <a:t>(CREATE)</a:t>
            </a:r>
            <a:endParaRPr lang="en-US" altLang="ko-KR" b="1" dirty="0"/>
          </a:p>
        </p:txBody>
      </p:sp>
      <p:pic>
        <p:nvPicPr>
          <p:cNvPr id="6" name="그림 5" descr="텍스트, 스크린샷, 소프트웨어, 디스플레이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4F70BB4C-26C0-15CD-11AA-A91AA499BC4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1016" y="572704"/>
            <a:ext cx="10269968" cy="6186728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B66C9841-B08A-19F1-9119-617D6A73D33F}"/>
              </a:ext>
            </a:extLst>
          </p:cNvPr>
          <p:cNvSpPr/>
          <p:nvPr/>
        </p:nvSpPr>
        <p:spPr>
          <a:xfrm>
            <a:off x="2013585" y="2148840"/>
            <a:ext cx="1695450" cy="196532"/>
          </a:xfrm>
          <a:prstGeom prst="rect">
            <a:avLst/>
          </a:prstGeom>
          <a:noFill/>
          <a:ln w="1905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19B2592-2453-D7AA-0EF8-9FA14ADBDFC0}"/>
              </a:ext>
            </a:extLst>
          </p:cNvPr>
          <p:cNvSpPr txBox="1"/>
          <p:nvPr/>
        </p:nvSpPr>
        <p:spPr>
          <a:xfrm>
            <a:off x="3687379" y="2093217"/>
            <a:ext cx="17996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</a:rPr>
              <a:t>post /users </a:t>
            </a:r>
            <a:r>
              <a:rPr lang="ko-KR" altLang="en-US" sz="1400" dirty="0">
                <a:solidFill>
                  <a:schemeClr val="bg1"/>
                </a:solidFill>
              </a:rPr>
              <a:t>요청 처리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38D54D04-6814-0BD0-F976-9F755989C7BD}"/>
              </a:ext>
            </a:extLst>
          </p:cNvPr>
          <p:cNvSpPr/>
          <p:nvPr/>
        </p:nvSpPr>
        <p:spPr>
          <a:xfrm>
            <a:off x="3417094" y="2381944"/>
            <a:ext cx="1416844" cy="158850"/>
          </a:xfrm>
          <a:prstGeom prst="rect">
            <a:avLst/>
          </a:prstGeom>
          <a:noFill/>
          <a:ln w="1905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9E8DEB8-6D3C-29F0-9F70-7EA5F8607867}"/>
              </a:ext>
            </a:extLst>
          </p:cNvPr>
          <p:cNvSpPr txBox="1"/>
          <p:nvPr/>
        </p:nvSpPr>
        <p:spPr>
          <a:xfrm>
            <a:off x="4958239" y="2307480"/>
            <a:ext cx="318754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</a:rPr>
              <a:t>user request</a:t>
            </a:r>
            <a:r>
              <a:rPr lang="ko-KR" altLang="en-US" sz="1400" dirty="0">
                <a:solidFill>
                  <a:schemeClr val="bg1"/>
                </a:solidFill>
              </a:rPr>
              <a:t>의 </a:t>
            </a:r>
            <a:r>
              <a:rPr lang="en-US" altLang="ko-KR" sz="1400" dirty="0">
                <a:solidFill>
                  <a:schemeClr val="bg1"/>
                </a:solidFill>
              </a:rPr>
              <a:t>body</a:t>
            </a:r>
            <a:r>
              <a:rPr lang="ko-KR" altLang="en-US" sz="1400" dirty="0">
                <a:solidFill>
                  <a:schemeClr val="bg1"/>
                </a:solidFill>
              </a:rPr>
              <a:t>가 자동으로 매핑 됨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460BCF46-065D-E535-40D9-BB9056DA4A45}"/>
              </a:ext>
            </a:extLst>
          </p:cNvPr>
          <p:cNvSpPr/>
          <p:nvPr/>
        </p:nvSpPr>
        <p:spPr>
          <a:xfrm>
            <a:off x="2013585" y="1718110"/>
            <a:ext cx="2944654" cy="196532"/>
          </a:xfrm>
          <a:prstGeom prst="rect">
            <a:avLst/>
          </a:prstGeom>
          <a:noFill/>
          <a:ln w="1905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EF28F0B-AE53-9E90-AC8B-706D58ABE30E}"/>
              </a:ext>
            </a:extLst>
          </p:cNvPr>
          <p:cNvSpPr txBox="1"/>
          <p:nvPr/>
        </p:nvSpPr>
        <p:spPr>
          <a:xfrm>
            <a:off x="4958239" y="1662487"/>
            <a:ext cx="238923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>
                <a:solidFill>
                  <a:schemeClr val="bg1"/>
                </a:solidFill>
              </a:rPr>
              <a:t>예외 처리를 위한 객체 불러오기</a:t>
            </a:r>
            <a:endParaRPr lang="ko-KR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4504473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E4BC7F-A198-8022-8937-00049ECF8B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텍스트, 스크린샷, 소프트웨어, 디스플레이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C9053A0E-C90D-2CA5-71F1-DE3DB5987F7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17233" y="474314"/>
            <a:ext cx="8957534" cy="5955338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2C93B666-46B1-06F1-1FCA-5218D33D9A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CRUD - </a:t>
            </a:r>
            <a:r>
              <a:rPr lang="ko-KR" altLang="en-US" dirty="0"/>
              <a:t>사용자 수정</a:t>
            </a:r>
            <a:r>
              <a:rPr lang="en-US" altLang="ko-KR" dirty="0"/>
              <a:t>(UPDATE)</a:t>
            </a:r>
            <a:endParaRPr lang="en-US" altLang="ko-KR" b="1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D78DB7CF-69C4-CB92-39A1-DDD65FA687B9}"/>
              </a:ext>
            </a:extLst>
          </p:cNvPr>
          <p:cNvSpPr/>
          <p:nvPr/>
        </p:nvSpPr>
        <p:spPr>
          <a:xfrm>
            <a:off x="1986762" y="5872756"/>
            <a:ext cx="8114501" cy="4185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16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cursor.rowcount</a:t>
            </a:r>
            <a:r>
              <a:rPr lang="en-US" altLang="ko-KR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: </a:t>
            </a: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방금 실행한 </a:t>
            </a:r>
            <a:r>
              <a:rPr lang="en-US" altLang="ko-KR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SQL </a:t>
            </a: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쿼리로 영향을 받은 행</a:t>
            </a:r>
            <a:r>
              <a:rPr lang="en-US" altLang="ko-KR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(row)</a:t>
            </a: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의 개수를 알려주는 속성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B36B3556-7944-B9ED-033C-C0D9013ECC15}"/>
              </a:ext>
            </a:extLst>
          </p:cNvPr>
          <p:cNvSpPr/>
          <p:nvPr/>
        </p:nvSpPr>
        <p:spPr>
          <a:xfrm>
            <a:off x="3844925" y="1476809"/>
            <a:ext cx="676276" cy="196532"/>
          </a:xfrm>
          <a:prstGeom prst="rect">
            <a:avLst/>
          </a:prstGeom>
          <a:noFill/>
          <a:ln w="1905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B6E33FD-681C-954C-0AC3-0A0E24F3210F}"/>
              </a:ext>
            </a:extLst>
          </p:cNvPr>
          <p:cNvSpPr txBox="1"/>
          <p:nvPr/>
        </p:nvSpPr>
        <p:spPr>
          <a:xfrm>
            <a:off x="4672978" y="1421186"/>
            <a:ext cx="26676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</a:rPr>
              <a:t>→ </a:t>
            </a:r>
            <a:r>
              <a:rPr lang="en-US" altLang="ko-KR" sz="1400" dirty="0">
                <a:solidFill>
                  <a:schemeClr val="bg1"/>
                </a:solidFill>
              </a:rPr>
              <a:t>put </a:t>
            </a:r>
            <a:r>
              <a:rPr lang="ko-KR" altLang="en-US" sz="1400" dirty="0" err="1">
                <a:solidFill>
                  <a:schemeClr val="bg1"/>
                </a:solidFill>
              </a:rPr>
              <a:t>요청시</a:t>
            </a:r>
            <a:r>
              <a:rPr lang="ko-KR" altLang="en-US" sz="1400" dirty="0">
                <a:solidFill>
                  <a:schemeClr val="bg1"/>
                </a:solidFill>
              </a:rPr>
              <a:t> </a:t>
            </a:r>
            <a:r>
              <a:rPr lang="en-US" altLang="ko-KR" sz="1400" dirty="0">
                <a:solidFill>
                  <a:schemeClr val="bg1"/>
                </a:solidFill>
              </a:rPr>
              <a:t>URI</a:t>
            </a:r>
            <a:r>
              <a:rPr lang="ko-KR" altLang="en-US" sz="1400" dirty="0">
                <a:solidFill>
                  <a:schemeClr val="bg1"/>
                </a:solidFill>
              </a:rPr>
              <a:t>에 </a:t>
            </a:r>
            <a:r>
              <a:rPr lang="en-US" altLang="ko-KR" sz="1400" dirty="0" err="1">
                <a:solidFill>
                  <a:schemeClr val="bg1"/>
                </a:solidFill>
              </a:rPr>
              <a:t>user_id</a:t>
            </a:r>
            <a:r>
              <a:rPr lang="en-US" altLang="ko-KR" sz="1400" dirty="0">
                <a:solidFill>
                  <a:schemeClr val="bg1"/>
                </a:solidFill>
              </a:rPr>
              <a:t> </a:t>
            </a:r>
            <a:r>
              <a:rPr lang="ko-KR" altLang="en-US" sz="1400" dirty="0">
                <a:solidFill>
                  <a:schemeClr val="bg1"/>
                </a:solidFill>
              </a:rPr>
              <a:t>포함</a:t>
            </a:r>
          </a:p>
        </p:txBody>
      </p:sp>
    </p:spTree>
    <p:extLst>
      <p:ext uri="{BB962C8B-B14F-4D97-AF65-F5344CB8AC3E}">
        <p14:creationId xmlns:p14="http://schemas.microsoft.com/office/powerpoint/2010/main" val="140312406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77503E-F9D4-FAE8-53F2-B707FB15C3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 descr="텍스트, 스크린샷, 소프트웨어, 디스플레이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B10BAFC0-2E65-7AE0-904A-150F2C319A0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2468" y="465831"/>
            <a:ext cx="10027064" cy="6249068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AB8E17C7-03C9-3ECF-D4D2-3198570800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CRUD - </a:t>
            </a:r>
            <a:r>
              <a:rPr lang="ko-KR" altLang="en-US" dirty="0"/>
              <a:t>사용자 삭제</a:t>
            </a:r>
            <a:r>
              <a:rPr lang="en-US" altLang="ko-KR" dirty="0"/>
              <a:t>(DELETE)</a:t>
            </a:r>
            <a:endParaRPr lang="en-US" altLang="ko-KR" b="1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94C99E0-4B57-06D0-BADE-B2DDBD84BD41}"/>
              </a:ext>
            </a:extLst>
          </p:cNvPr>
          <p:cNvSpPr/>
          <p:nvPr/>
        </p:nvSpPr>
        <p:spPr>
          <a:xfrm>
            <a:off x="3843402" y="1575075"/>
            <a:ext cx="759077" cy="196532"/>
          </a:xfrm>
          <a:prstGeom prst="rect">
            <a:avLst/>
          </a:prstGeom>
          <a:noFill/>
          <a:ln w="1905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F237005-5F8B-CBD3-3C09-116ECE11409D}"/>
              </a:ext>
            </a:extLst>
          </p:cNvPr>
          <p:cNvSpPr txBox="1"/>
          <p:nvPr/>
        </p:nvSpPr>
        <p:spPr>
          <a:xfrm>
            <a:off x="4709176" y="1519452"/>
            <a:ext cx="28803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</a:rPr>
              <a:t>→</a:t>
            </a:r>
            <a:r>
              <a:rPr lang="en-US" altLang="ko-KR" sz="1400" dirty="0">
                <a:solidFill>
                  <a:schemeClr val="bg1"/>
                </a:solidFill>
              </a:rPr>
              <a:t> delete </a:t>
            </a:r>
            <a:r>
              <a:rPr lang="ko-KR" altLang="en-US" sz="1400" dirty="0" err="1">
                <a:solidFill>
                  <a:schemeClr val="bg1"/>
                </a:solidFill>
              </a:rPr>
              <a:t>요청시</a:t>
            </a:r>
            <a:r>
              <a:rPr lang="ko-KR" altLang="en-US" sz="1400" dirty="0">
                <a:solidFill>
                  <a:schemeClr val="bg1"/>
                </a:solidFill>
              </a:rPr>
              <a:t> </a:t>
            </a:r>
            <a:r>
              <a:rPr lang="en-US" altLang="ko-KR" sz="1400" dirty="0">
                <a:solidFill>
                  <a:schemeClr val="bg1"/>
                </a:solidFill>
              </a:rPr>
              <a:t>URI</a:t>
            </a:r>
            <a:r>
              <a:rPr lang="ko-KR" altLang="en-US" sz="1400" dirty="0">
                <a:solidFill>
                  <a:schemeClr val="bg1"/>
                </a:solidFill>
              </a:rPr>
              <a:t>에 </a:t>
            </a:r>
            <a:r>
              <a:rPr lang="en-US" altLang="ko-KR" sz="1400" dirty="0" err="1">
                <a:solidFill>
                  <a:schemeClr val="bg1"/>
                </a:solidFill>
              </a:rPr>
              <a:t>user_id</a:t>
            </a:r>
            <a:r>
              <a:rPr lang="en-US" altLang="ko-KR" sz="1400" dirty="0">
                <a:solidFill>
                  <a:schemeClr val="bg1"/>
                </a:solidFill>
              </a:rPr>
              <a:t> </a:t>
            </a:r>
            <a:r>
              <a:rPr lang="ko-KR" altLang="en-US" sz="1400" dirty="0">
                <a:solidFill>
                  <a:schemeClr val="bg1"/>
                </a:solidFill>
              </a:rPr>
              <a:t>포함</a:t>
            </a:r>
          </a:p>
        </p:txBody>
      </p:sp>
    </p:spTree>
    <p:extLst>
      <p:ext uri="{BB962C8B-B14F-4D97-AF65-F5344CB8AC3E}">
        <p14:creationId xmlns:p14="http://schemas.microsoft.com/office/powerpoint/2010/main" val="416353319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D07E97-BDCE-6B9D-3608-E1651FA33D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1B8BC710-613B-73E4-32F1-2416E31605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/>
          <a:p>
            <a:r>
              <a:rPr lang="en-US" altLang="ko-KR" b="1" dirty="0"/>
              <a:t>Postman </a:t>
            </a:r>
            <a:r>
              <a:rPr lang="ko-KR" altLang="en-US" b="1" dirty="0"/>
              <a:t>사용하기</a:t>
            </a:r>
            <a:endParaRPr lang="en-US" altLang="ko-KR" b="1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8C577257-B4DA-586E-51A8-3D9D268D53C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64" t="728" r="204" b="774"/>
          <a:stretch/>
        </p:blipFill>
        <p:spPr>
          <a:xfrm>
            <a:off x="2098674" y="1181101"/>
            <a:ext cx="7991475" cy="4955540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8762F7A9-5A25-D0A4-6AFA-E896E254A6E2}"/>
              </a:ext>
            </a:extLst>
          </p:cNvPr>
          <p:cNvSpPr/>
          <p:nvPr/>
        </p:nvSpPr>
        <p:spPr>
          <a:xfrm>
            <a:off x="4557088" y="2044971"/>
            <a:ext cx="637212" cy="266429"/>
          </a:xfrm>
          <a:prstGeom prst="rect">
            <a:avLst/>
          </a:prstGeom>
          <a:noFill/>
          <a:ln w="1905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내용 개체 틀 2">
            <a:extLst>
              <a:ext uri="{FF2B5EF4-FFF2-40B4-BE49-F238E27FC236}">
                <a16:creationId xmlns:a16="http://schemas.microsoft.com/office/drawing/2014/main" id="{3D329C30-18FE-0B54-4D2D-07829FDCE0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35621" y="1985010"/>
            <a:ext cx="1221467" cy="38635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sz="1800" dirty="0"/>
              <a:t>메소드 설정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DB14A28-4CC4-B0EA-EB40-C651E21A50B3}"/>
              </a:ext>
            </a:extLst>
          </p:cNvPr>
          <p:cNvSpPr/>
          <p:nvPr/>
        </p:nvSpPr>
        <p:spPr>
          <a:xfrm>
            <a:off x="5261938" y="2044971"/>
            <a:ext cx="1043612" cy="266429"/>
          </a:xfrm>
          <a:prstGeom prst="rect">
            <a:avLst/>
          </a:prstGeom>
          <a:noFill/>
          <a:ln w="1905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내용 개체 틀 2">
            <a:extLst>
              <a:ext uri="{FF2B5EF4-FFF2-40B4-BE49-F238E27FC236}">
                <a16:creationId xmlns:a16="http://schemas.microsoft.com/office/drawing/2014/main" id="{93F34E66-CB91-E085-C8A1-C7AD00534735}"/>
              </a:ext>
            </a:extLst>
          </p:cNvPr>
          <p:cNvSpPr txBox="1">
            <a:spLocks/>
          </p:cNvSpPr>
          <p:nvPr/>
        </p:nvSpPr>
        <p:spPr>
          <a:xfrm>
            <a:off x="6305550" y="1985010"/>
            <a:ext cx="1221467" cy="386350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 panose="05000000000000000000" pitchFamily="2" charset="2"/>
              <a:buNone/>
            </a:pPr>
            <a:r>
              <a:rPr lang="en-US" altLang="ko-KR" sz="1800" dirty="0"/>
              <a:t>URI </a:t>
            </a:r>
            <a:r>
              <a:rPr lang="ko-KR" altLang="en-US" sz="1800" dirty="0"/>
              <a:t>입력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6AA84A05-3477-DF8B-3960-AC75CF700352}"/>
              </a:ext>
            </a:extLst>
          </p:cNvPr>
          <p:cNvSpPr/>
          <p:nvPr/>
        </p:nvSpPr>
        <p:spPr>
          <a:xfrm>
            <a:off x="4817438" y="2791598"/>
            <a:ext cx="1278562" cy="815202"/>
          </a:xfrm>
          <a:prstGeom prst="rect">
            <a:avLst/>
          </a:prstGeom>
          <a:noFill/>
          <a:ln w="1905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내용 개체 틀 2">
            <a:extLst>
              <a:ext uri="{FF2B5EF4-FFF2-40B4-BE49-F238E27FC236}">
                <a16:creationId xmlns:a16="http://schemas.microsoft.com/office/drawing/2014/main" id="{ACBC9354-4D70-1018-AC38-4C53AFC8E17C}"/>
              </a:ext>
            </a:extLst>
          </p:cNvPr>
          <p:cNvSpPr txBox="1">
            <a:spLocks/>
          </p:cNvSpPr>
          <p:nvPr/>
        </p:nvSpPr>
        <p:spPr>
          <a:xfrm>
            <a:off x="6096000" y="3006024"/>
            <a:ext cx="1221467" cy="386350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 panose="05000000000000000000" pitchFamily="2" charset="2"/>
              <a:buNone/>
            </a:pPr>
            <a:r>
              <a:rPr lang="ko-KR" altLang="en-US" sz="1800" dirty="0"/>
              <a:t>요청 </a:t>
            </a:r>
            <a:r>
              <a:rPr lang="en-US" altLang="ko-KR" sz="1800" dirty="0"/>
              <a:t>Body</a:t>
            </a:r>
            <a:endParaRPr lang="ko-KR" altLang="en-US" sz="1800" dirty="0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36A346DD-AC64-6859-CA7B-843EC2394F01}"/>
              </a:ext>
            </a:extLst>
          </p:cNvPr>
          <p:cNvSpPr/>
          <p:nvPr/>
        </p:nvSpPr>
        <p:spPr>
          <a:xfrm>
            <a:off x="4875694" y="4562974"/>
            <a:ext cx="1429856" cy="517026"/>
          </a:xfrm>
          <a:prstGeom prst="rect">
            <a:avLst/>
          </a:prstGeom>
          <a:noFill/>
          <a:ln w="1905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내용 개체 틀 2">
            <a:extLst>
              <a:ext uri="{FF2B5EF4-FFF2-40B4-BE49-F238E27FC236}">
                <a16:creationId xmlns:a16="http://schemas.microsoft.com/office/drawing/2014/main" id="{B53BC333-925E-E03E-D4B3-8FED22780AFA}"/>
              </a:ext>
            </a:extLst>
          </p:cNvPr>
          <p:cNvSpPr txBox="1">
            <a:spLocks/>
          </p:cNvSpPr>
          <p:nvPr/>
        </p:nvSpPr>
        <p:spPr>
          <a:xfrm>
            <a:off x="6365649" y="4628312"/>
            <a:ext cx="1221467" cy="386350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 panose="05000000000000000000" pitchFamily="2" charset="2"/>
              <a:buNone/>
            </a:pPr>
            <a:r>
              <a:rPr lang="ko-KR" altLang="en-US" sz="1800" dirty="0"/>
              <a:t>서버 응답</a:t>
            </a:r>
          </a:p>
        </p:txBody>
      </p:sp>
    </p:spTree>
    <p:extLst>
      <p:ext uri="{BB962C8B-B14F-4D97-AF65-F5344CB8AC3E}">
        <p14:creationId xmlns:p14="http://schemas.microsoft.com/office/powerpoint/2010/main" val="291624206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C34D57-0BC5-823B-CE56-35EF4E7D34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375A9FF-9B01-0B20-FB12-040783170864}"/>
              </a:ext>
            </a:extLst>
          </p:cNvPr>
          <p:cNvSpPr txBox="1"/>
          <p:nvPr/>
        </p:nvSpPr>
        <p:spPr>
          <a:xfrm>
            <a:off x="3365947" y="2600493"/>
            <a:ext cx="546014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ORM </a:t>
            </a:r>
            <a:r>
              <a:rPr lang="ko-KR" altLang="en-US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사용하기</a:t>
            </a:r>
            <a:endParaRPr lang="en-US" altLang="ko-KR" sz="6000" dirty="0">
              <a:solidFill>
                <a:schemeClr val="accent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1704022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85AADC-99B1-9E39-4E58-53D44C2B3E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FEAEEB-FE61-C99B-EDE1-B53F6FCEFE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ORM(Object-Relational Mapping)</a:t>
            </a:r>
            <a:endParaRPr lang="en-US" altLang="ko-KR" b="1" dirty="0"/>
          </a:p>
        </p:txBody>
      </p:sp>
      <p:sp>
        <p:nvSpPr>
          <p:cNvPr id="5" name="내용 개체 틀 3">
            <a:extLst>
              <a:ext uri="{FF2B5EF4-FFF2-40B4-BE49-F238E27FC236}">
                <a16:creationId xmlns:a16="http://schemas.microsoft.com/office/drawing/2014/main" id="{8AE5DC0D-11D6-D064-E65C-08D498A2A3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7" y="1165386"/>
            <a:ext cx="11700727" cy="2339814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8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💡</a:t>
            </a:r>
            <a:r>
              <a:rPr lang="ko-KR" altLang="en-US" dirty="0"/>
              <a:t> 클래스</a:t>
            </a:r>
            <a:r>
              <a:rPr lang="en-US" altLang="ko-KR" dirty="0"/>
              <a:t>(</a:t>
            </a:r>
            <a:r>
              <a:rPr lang="ko-KR" altLang="en-US" dirty="0"/>
              <a:t>객체</a:t>
            </a:r>
            <a:r>
              <a:rPr lang="en-US" altLang="ko-KR" dirty="0"/>
              <a:t>)</a:t>
            </a:r>
            <a:r>
              <a:rPr lang="ko-KR" altLang="en-US" dirty="0"/>
              <a:t>를 </a:t>
            </a:r>
            <a:r>
              <a:rPr lang="en-US" altLang="ko-KR" dirty="0"/>
              <a:t>SQL </a:t>
            </a:r>
            <a:r>
              <a:rPr lang="ko-KR" altLang="en-US" dirty="0"/>
              <a:t>테이블처럼 다룰 수 있게 해주는 도구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dirty="0"/>
              <a:t>      </a:t>
            </a:r>
            <a:r>
              <a:rPr lang="ko-KR" altLang="en-US" dirty="0"/>
              <a:t>➡️ </a:t>
            </a:r>
            <a:r>
              <a:rPr lang="ko-KR" altLang="en-US" b="1" dirty="0"/>
              <a:t>객체와 관계형 데이터베이스를 자동으로 연결</a:t>
            </a:r>
            <a:r>
              <a:rPr lang="ko-KR" altLang="en-US" dirty="0"/>
              <a:t>해줌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      ➡️ </a:t>
            </a:r>
            <a:r>
              <a:rPr lang="en-US" altLang="ko-KR" dirty="0"/>
              <a:t>SQL</a:t>
            </a:r>
            <a:r>
              <a:rPr lang="ko-KR" altLang="en-US" dirty="0"/>
              <a:t>문을 직접 쓰지 않고</a:t>
            </a:r>
            <a:r>
              <a:rPr lang="en-US" altLang="ko-KR" dirty="0"/>
              <a:t>, </a:t>
            </a:r>
            <a:r>
              <a:rPr lang="ko-KR" altLang="en-US" b="1" dirty="0"/>
              <a:t>코드</a:t>
            </a:r>
            <a:r>
              <a:rPr lang="ko-KR" altLang="en-US" dirty="0"/>
              <a:t>로 </a:t>
            </a:r>
            <a:r>
              <a:rPr lang="ko-KR" altLang="en-US" b="1" dirty="0"/>
              <a:t>데이터를 추가</a:t>
            </a:r>
            <a:r>
              <a:rPr lang="en-US" altLang="ko-KR" b="1" dirty="0"/>
              <a:t>/</a:t>
            </a:r>
            <a:r>
              <a:rPr lang="ko-KR" altLang="en-US" b="1" dirty="0"/>
              <a:t>조회</a:t>
            </a:r>
            <a:r>
              <a:rPr lang="en-US" altLang="ko-KR" b="1" dirty="0"/>
              <a:t>/</a:t>
            </a:r>
            <a:r>
              <a:rPr lang="ko-KR" altLang="en-US" b="1" dirty="0"/>
              <a:t>수정</a:t>
            </a:r>
            <a:r>
              <a:rPr lang="en-US" altLang="ko-KR" b="1" dirty="0"/>
              <a:t>/</a:t>
            </a:r>
            <a:r>
              <a:rPr lang="ko-KR" altLang="en-US" b="1" dirty="0"/>
              <a:t>삭제</a:t>
            </a:r>
            <a:r>
              <a:rPr lang="ko-KR" altLang="en-US" dirty="0"/>
              <a:t>할 수 있음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30055028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9FB7C1-3294-1D0B-88B7-BD71B03461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50EFB3-F4FD-FBF9-D3A9-4FDC9E6920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ORM(Object-Relational Mapping)</a:t>
            </a:r>
            <a:endParaRPr lang="en-US" altLang="ko-KR" b="1" dirty="0"/>
          </a:p>
        </p:txBody>
      </p:sp>
      <p:sp>
        <p:nvSpPr>
          <p:cNvPr id="5" name="내용 개체 틀 3">
            <a:extLst>
              <a:ext uri="{FF2B5EF4-FFF2-40B4-BE49-F238E27FC236}">
                <a16:creationId xmlns:a16="http://schemas.microsoft.com/office/drawing/2014/main" id="{CF7F9DC0-67BC-9BBB-1A0E-CA859A990A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7" y="1165386"/>
            <a:ext cx="11700727" cy="4854414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ko-KR" altLang="en-US" b="1" dirty="0"/>
              <a:t>✅ </a:t>
            </a:r>
            <a:r>
              <a:rPr lang="en-US" altLang="ko-KR" b="1" dirty="0"/>
              <a:t>ORM</a:t>
            </a:r>
            <a:r>
              <a:rPr lang="ko-KR" altLang="en-US" b="1" dirty="0"/>
              <a:t> 장점</a:t>
            </a:r>
          </a:p>
          <a:p>
            <a:pPr marL="457200" lvl="1" indent="0">
              <a:buNone/>
            </a:pPr>
            <a:r>
              <a:rPr lang="ko-KR" altLang="en-US" dirty="0"/>
              <a:t>✔️ </a:t>
            </a:r>
            <a:r>
              <a:rPr lang="en-US" altLang="ko-KR" dirty="0"/>
              <a:t>SQL</a:t>
            </a:r>
            <a:r>
              <a:rPr lang="ko-KR" altLang="en-US" dirty="0"/>
              <a:t>을 몰라도 </a:t>
            </a:r>
            <a:r>
              <a:rPr lang="en-US" altLang="ko-KR" dirty="0"/>
              <a:t>DB </a:t>
            </a:r>
            <a:r>
              <a:rPr lang="ko-KR" altLang="en-US" dirty="0"/>
              <a:t>다룰 수 있음</a:t>
            </a:r>
            <a:br>
              <a:rPr lang="ko-KR" altLang="en-US" dirty="0"/>
            </a:br>
            <a:r>
              <a:rPr lang="ko-KR" altLang="en-US" dirty="0"/>
              <a:t>✔️ 코드를 객체지향적으로 유지 가능</a:t>
            </a:r>
            <a:br>
              <a:rPr lang="ko-KR" altLang="en-US" dirty="0"/>
            </a:br>
            <a:r>
              <a:rPr lang="ko-KR" altLang="en-US" dirty="0"/>
              <a:t>✔️ 보안에 유리</a:t>
            </a:r>
            <a:r>
              <a:rPr lang="en-US" altLang="ko-KR" dirty="0"/>
              <a:t>(SQL Injection </a:t>
            </a:r>
            <a:r>
              <a:rPr lang="ko-KR" altLang="en-US" dirty="0"/>
              <a:t>방지</a:t>
            </a:r>
            <a:r>
              <a:rPr lang="en-US" altLang="ko-KR" dirty="0"/>
              <a:t>)</a:t>
            </a:r>
            <a:br>
              <a:rPr lang="en-US" altLang="ko-KR" dirty="0"/>
            </a:br>
            <a:r>
              <a:rPr lang="en-US" altLang="ko-KR" dirty="0"/>
              <a:t>✔️ </a:t>
            </a:r>
            <a:r>
              <a:rPr lang="ko-KR" altLang="en-US" dirty="0"/>
              <a:t>유지보수가 쉬움 </a:t>
            </a:r>
            <a:r>
              <a:rPr lang="en-US" altLang="ko-KR" dirty="0"/>
              <a:t>(</a:t>
            </a:r>
            <a:r>
              <a:rPr lang="ko-KR" altLang="en-US" dirty="0"/>
              <a:t>테이블 구조 바뀌면 클래스만 수정</a:t>
            </a:r>
            <a:r>
              <a:rPr lang="en-US" altLang="ko-KR" dirty="0"/>
              <a:t>)</a:t>
            </a:r>
          </a:p>
          <a:p>
            <a:pPr marL="457200" lvl="1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>
                <a:latin typeface="Malgun Gothic Semilight" panose="020B0502040204020203" pitchFamily="50" charset="-127"/>
                <a:ea typeface="Malgun Gothic Semilight" panose="020B0502040204020203" pitchFamily="50" charset="-127"/>
                <a:cs typeface="Malgun Gothic Semilight" panose="020B0502040204020203" pitchFamily="50" charset="-127"/>
              </a:rPr>
              <a:t>⚠️</a:t>
            </a:r>
            <a:r>
              <a:rPr lang="ko-KR" altLang="en-US" dirty="0"/>
              <a:t> 유의사항</a:t>
            </a:r>
          </a:p>
          <a:p>
            <a:pPr marL="457200" lvl="1" indent="0">
              <a:buNone/>
            </a:pPr>
            <a:r>
              <a:rPr lang="ko-KR" altLang="en-US" dirty="0"/>
              <a:t>✔️ 내부 동작을 잘 이해하지 못하면 성능 이슈 발생</a:t>
            </a:r>
          </a:p>
          <a:p>
            <a:pPr marL="457200" lvl="1" indent="0">
              <a:buNone/>
            </a:pPr>
            <a:r>
              <a:rPr lang="ko-KR" altLang="en-US" dirty="0"/>
              <a:t>✔️ 복잡한 쿼리는 오히려 </a:t>
            </a:r>
            <a:r>
              <a:rPr lang="en-US" altLang="ko-KR" dirty="0"/>
              <a:t>SQL</a:t>
            </a:r>
            <a:r>
              <a:rPr lang="ko-KR" altLang="en-US" dirty="0"/>
              <a:t>을 사용하는 것이 유리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13216860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3E9B95-B1B5-A887-EAF0-E48E9F42A3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D9F5082-6D2D-1334-803D-26AD15DE1A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 err="1"/>
              <a:t>SQLAlchemy</a:t>
            </a:r>
            <a:endParaRPr lang="en-US" altLang="ko-KR" b="1" dirty="0"/>
          </a:p>
        </p:txBody>
      </p:sp>
      <p:sp>
        <p:nvSpPr>
          <p:cNvPr id="5" name="내용 개체 틀 3">
            <a:extLst>
              <a:ext uri="{FF2B5EF4-FFF2-40B4-BE49-F238E27FC236}">
                <a16:creationId xmlns:a16="http://schemas.microsoft.com/office/drawing/2014/main" id="{E72308DD-2905-CC63-B5AE-7B53171D7B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7" y="1165386"/>
            <a:ext cx="11700727" cy="2416014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8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💡</a:t>
            </a:r>
            <a:r>
              <a:rPr lang="ko-KR" altLang="en-US" dirty="0"/>
              <a:t> </a:t>
            </a:r>
            <a:r>
              <a:rPr lang="en-US" altLang="ko-KR" dirty="0"/>
              <a:t>Python</a:t>
            </a:r>
            <a:r>
              <a:rPr lang="ko-KR" altLang="en-US" dirty="0"/>
              <a:t>에서 가장 널리 사용되는 </a:t>
            </a:r>
            <a:r>
              <a:rPr lang="en-US" altLang="ko-KR" dirty="0"/>
              <a:t>ORM </a:t>
            </a:r>
            <a:r>
              <a:rPr lang="ko-KR" altLang="en-US" dirty="0"/>
              <a:t>라이브러리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📌 파이썬 객체로 데이터베이스 테이블을 다룰 수 있게 해주는 도구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🔗 공식 사이트 </a:t>
            </a:r>
            <a:r>
              <a:rPr lang="en-US" altLang="ko-KR" dirty="0"/>
              <a:t>: </a:t>
            </a:r>
            <a:r>
              <a:rPr lang="en-US" altLang="ko-KR" dirty="0">
                <a:hlinkClick r:id="rId3"/>
              </a:rPr>
              <a:t>https://www.sqlalchemy.org/</a:t>
            </a:r>
            <a:r>
              <a:rPr lang="en-US" altLang="ko-KR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1210100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79386B-C148-3A82-4089-046A5ED351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7EFFBBE-2F5F-05A4-733A-AF0C97F626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패키지 설치</a:t>
            </a:r>
            <a:r>
              <a:rPr lang="en-US" altLang="ko-KR" dirty="0"/>
              <a:t>(</a:t>
            </a:r>
            <a:r>
              <a:rPr lang="en-US" altLang="ko-KR" dirty="0" err="1"/>
              <a:t>SQLAlchemy</a:t>
            </a:r>
            <a:r>
              <a:rPr lang="en-US" altLang="ko-KR" dirty="0"/>
              <a:t>)</a:t>
            </a:r>
            <a:endParaRPr lang="en-US" altLang="ko-KR" b="1" dirty="0"/>
          </a:p>
        </p:txBody>
      </p:sp>
      <p:pic>
        <p:nvPicPr>
          <p:cNvPr id="7" name="그림 6" descr="텍스트, 스크린샷, 멀티미디어 소프트웨어, 폰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147E00AE-83D2-89A3-107F-C1782909261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07346"/>
            <a:ext cx="12192000" cy="4443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445584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16CC96-0A4D-3652-40E4-0E88590519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 descr="텍스트, 스크린샷, 폰트, 소프트웨어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326838E0-1A46-152C-4663-463E3E86EA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3558" y="385212"/>
            <a:ext cx="11004884" cy="457642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753B3671-8DE1-2A61-5634-147CC42AE9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/>
              <a:t>DB </a:t>
            </a:r>
            <a:r>
              <a:rPr lang="ko-KR" altLang="en-US" b="1" dirty="0"/>
              <a:t>세션 구성 </a:t>
            </a:r>
            <a:r>
              <a:rPr lang="en-US" altLang="ko-KR" b="1" dirty="0"/>
              <a:t>(db.py)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A1D204F-85A0-3D90-4525-91598FA94379}"/>
              </a:ext>
            </a:extLst>
          </p:cNvPr>
          <p:cNvSpPr/>
          <p:nvPr/>
        </p:nvSpPr>
        <p:spPr>
          <a:xfrm>
            <a:off x="1215691" y="4249308"/>
            <a:ext cx="8114501" cy="20864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16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create_engine</a:t>
            </a:r>
            <a:r>
              <a:rPr lang="en-US" altLang="ko-KR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: engine </a:t>
            </a: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객체를 만들기 위한 함수</a:t>
            </a:r>
            <a:endParaRPr lang="en-US" altLang="ko-KR" sz="16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16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sessionmaker</a:t>
            </a:r>
            <a:r>
              <a:rPr lang="en-US" altLang="ko-KR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: </a:t>
            </a: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세션 객체를 생성하는 함수</a:t>
            </a:r>
            <a:endParaRPr lang="en-US" altLang="ko-KR" sz="16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autocommit</a:t>
            </a:r>
            <a:r>
              <a:rPr lang="en-US" altLang="ko-KR" sz="1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=False </a:t>
            </a:r>
            <a:r>
              <a:rPr lang="ko-KR" altLang="en-US" sz="14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커밋은</a:t>
            </a:r>
            <a:r>
              <a:rPr lang="ko-KR" altLang="en-US" sz="1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명시적으로 </a:t>
            </a:r>
            <a:r>
              <a:rPr lang="en-US" altLang="ko-KR" sz="1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commit() </a:t>
            </a:r>
            <a:r>
              <a:rPr lang="ko-KR" altLang="en-US" sz="1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해야 함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autoflush</a:t>
            </a:r>
            <a:r>
              <a:rPr lang="en-US" altLang="ko-KR" sz="1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=False </a:t>
            </a:r>
            <a:r>
              <a:rPr lang="ko-KR" altLang="en-US" sz="1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쿼리 실행 전에 자동 </a:t>
            </a:r>
            <a:r>
              <a:rPr lang="en-US" altLang="ko-KR" sz="1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flush </a:t>
            </a:r>
            <a:r>
              <a:rPr lang="ko-KR" altLang="en-US" sz="1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안 함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bind=engine </a:t>
            </a:r>
            <a:r>
              <a:rPr lang="ko-KR" altLang="en-US" sz="1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이 세션은 위에서 만든 </a:t>
            </a:r>
            <a:r>
              <a:rPr lang="en-US" altLang="ko-KR" sz="1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engine</a:t>
            </a:r>
            <a:r>
              <a:rPr lang="ko-KR" altLang="en-US" sz="1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과 연결됨</a:t>
            </a:r>
            <a:endParaRPr lang="en-US" altLang="ko-KR" sz="14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14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declarative_base</a:t>
            </a:r>
            <a:r>
              <a:rPr lang="en-US" altLang="ko-KR" sz="1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: </a:t>
            </a:r>
            <a:r>
              <a:rPr lang="ko-KR" altLang="en-US" sz="1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모든 모델 클래스가 상속해야 할 기반 클래스 생성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8C0EB0F-0381-D89B-52FE-C86C7693F0B2}"/>
              </a:ext>
            </a:extLst>
          </p:cNvPr>
          <p:cNvSpPr/>
          <p:nvPr/>
        </p:nvSpPr>
        <p:spPr>
          <a:xfrm>
            <a:off x="1778828" y="3297609"/>
            <a:ext cx="7796972" cy="195465"/>
          </a:xfrm>
          <a:prstGeom prst="rect">
            <a:avLst/>
          </a:prstGeom>
          <a:noFill/>
          <a:ln w="1905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BC08CD-4841-ECF2-DA74-EF7B53C205B1}"/>
              </a:ext>
            </a:extLst>
          </p:cNvPr>
          <p:cNvSpPr txBox="1"/>
          <p:nvPr/>
        </p:nvSpPr>
        <p:spPr>
          <a:xfrm>
            <a:off x="6042025" y="3487177"/>
            <a:ext cx="37576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</a:rPr>
              <a:t>실제 </a:t>
            </a:r>
            <a:r>
              <a:rPr lang="en-US" altLang="ko-KR" sz="1400" dirty="0">
                <a:solidFill>
                  <a:schemeClr val="bg1"/>
                </a:solidFill>
              </a:rPr>
              <a:t>DB </a:t>
            </a:r>
            <a:r>
              <a:rPr lang="ko-KR" altLang="en-US" sz="1400" dirty="0">
                <a:solidFill>
                  <a:schemeClr val="bg1"/>
                </a:solidFill>
              </a:rPr>
              <a:t>작업을 수행할 세션을 만드는 함수를 생성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D021FC4F-73F7-5276-D94C-A75E725E1B1D}"/>
              </a:ext>
            </a:extLst>
          </p:cNvPr>
          <p:cNvSpPr/>
          <p:nvPr/>
        </p:nvSpPr>
        <p:spPr>
          <a:xfrm>
            <a:off x="1778828" y="3809081"/>
            <a:ext cx="2640772" cy="195465"/>
          </a:xfrm>
          <a:prstGeom prst="rect">
            <a:avLst/>
          </a:prstGeom>
          <a:noFill/>
          <a:ln w="1905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FDB71D4-5F68-5145-E7C3-F6E34743DB17}"/>
              </a:ext>
            </a:extLst>
          </p:cNvPr>
          <p:cNvSpPr txBox="1"/>
          <p:nvPr/>
        </p:nvSpPr>
        <p:spPr>
          <a:xfrm>
            <a:off x="4371257" y="3752924"/>
            <a:ext cx="28582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</a:rPr>
              <a:t>모든 </a:t>
            </a:r>
            <a:r>
              <a:rPr lang="en-US" altLang="ko-KR" sz="1400" dirty="0">
                <a:solidFill>
                  <a:schemeClr val="bg1"/>
                </a:solidFill>
              </a:rPr>
              <a:t>ORM </a:t>
            </a:r>
            <a:r>
              <a:rPr lang="ko-KR" altLang="en-US" sz="1400" dirty="0">
                <a:solidFill>
                  <a:schemeClr val="bg1"/>
                </a:solidFill>
              </a:rPr>
              <a:t>모델 클래스의 부모 클래스</a:t>
            </a:r>
          </a:p>
        </p:txBody>
      </p:sp>
      <p:sp>
        <p:nvSpPr>
          <p:cNvPr id="3" name="직사각형 2"/>
          <p:cNvSpPr/>
          <p:nvPr/>
        </p:nvSpPr>
        <p:spPr>
          <a:xfrm>
            <a:off x="6308390" y="4293255"/>
            <a:ext cx="4879744" cy="10618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세션 객체</a:t>
            </a:r>
            <a:r>
              <a:rPr lang="en-US" altLang="ko-KR" sz="1400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:</a:t>
            </a:r>
          </a:p>
          <a:p>
            <a:pPr marL="742950" lvl="1" indent="-285750">
              <a:lnSpc>
                <a:spcPct val="150000"/>
              </a:lnSpc>
              <a:buFont typeface="Arial" pitchFamily="34" charset="0"/>
              <a:buChar char="•"/>
            </a:pPr>
            <a:r>
              <a:rPr lang="ko-KR" altLang="en-US" sz="1400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데이터베이스와의 연결을 관리하고</a:t>
            </a:r>
            <a:r>
              <a:rPr lang="en-US" altLang="ko-KR" sz="1400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, </a:t>
            </a:r>
            <a:r>
              <a:rPr lang="ko-KR" altLang="en-US" sz="1400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추가</a:t>
            </a:r>
            <a:r>
              <a:rPr lang="en-US" altLang="ko-KR" sz="1400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/</a:t>
            </a:r>
            <a:r>
              <a:rPr lang="ko-KR" altLang="en-US" sz="1400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조회</a:t>
            </a:r>
            <a:r>
              <a:rPr lang="en-US" altLang="ko-KR" sz="1400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/</a:t>
            </a:r>
            <a:r>
              <a:rPr lang="ko-KR" altLang="en-US" sz="1400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수정</a:t>
            </a:r>
            <a:r>
              <a:rPr lang="en-US" altLang="ko-KR" sz="1400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/</a:t>
            </a:r>
            <a:r>
              <a:rPr lang="ko-KR" altLang="en-US" sz="1400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삭제 작업</a:t>
            </a:r>
            <a:r>
              <a:rPr lang="en-US" altLang="ko-KR" sz="1400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(CRUD)</a:t>
            </a:r>
            <a:r>
              <a:rPr lang="ko-KR" altLang="en-US" sz="1400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 을 수행하는 도구</a:t>
            </a:r>
          </a:p>
        </p:txBody>
      </p:sp>
    </p:spTree>
    <p:extLst>
      <p:ext uri="{BB962C8B-B14F-4D97-AF65-F5344CB8AC3E}">
        <p14:creationId xmlns:p14="http://schemas.microsoft.com/office/powerpoint/2010/main" val="390461027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C7F36B-0EF6-A0E3-5252-9FA662EF72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4613FB2-18D9-A55C-1F8F-597CF7E2CF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b="1" dirty="0"/>
              <a:t>사용자 모델 정의 </a:t>
            </a:r>
            <a:r>
              <a:rPr lang="en-US" altLang="ko-KR" b="1" dirty="0"/>
              <a:t>(models.py)</a:t>
            </a:r>
          </a:p>
        </p:txBody>
      </p:sp>
      <p:pic>
        <p:nvPicPr>
          <p:cNvPr id="7" name="그림 6" descr="텍스트, 스크린샷, 디스플레이, 소프트웨어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8DC54A3B-5F73-B33B-8860-EB1B75CE9C6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94292"/>
            <a:ext cx="12192000" cy="6200078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9C27A6B0-646D-B3B6-2545-F9A8BFEE6342}"/>
              </a:ext>
            </a:extLst>
          </p:cNvPr>
          <p:cNvSpPr/>
          <p:nvPr/>
        </p:nvSpPr>
        <p:spPr>
          <a:xfrm>
            <a:off x="1378778" y="2600326"/>
            <a:ext cx="2304222" cy="226296"/>
          </a:xfrm>
          <a:prstGeom prst="rect">
            <a:avLst/>
          </a:prstGeom>
          <a:noFill/>
          <a:ln w="1905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D86053B-65AD-E88D-D92E-076AB4F21A5E}"/>
              </a:ext>
            </a:extLst>
          </p:cNvPr>
          <p:cNvSpPr txBox="1"/>
          <p:nvPr/>
        </p:nvSpPr>
        <p:spPr>
          <a:xfrm>
            <a:off x="3721440" y="2559585"/>
            <a:ext cx="28582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</a:rPr>
              <a:t>db.py</a:t>
            </a:r>
            <a:r>
              <a:rPr lang="ko-KR" altLang="en-US" sz="1400" dirty="0">
                <a:solidFill>
                  <a:schemeClr val="bg1"/>
                </a:solidFill>
              </a:rPr>
              <a:t>에서 만든 </a:t>
            </a:r>
            <a:r>
              <a:rPr lang="en-US" altLang="ko-KR" sz="1400" dirty="0">
                <a:solidFill>
                  <a:schemeClr val="bg1"/>
                </a:solidFill>
              </a:rPr>
              <a:t>Base import</a:t>
            </a:r>
            <a:endParaRPr lang="ko-KR" altLang="en-US" sz="1400" dirty="0">
              <a:solidFill>
                <a:schemeClr val="bg1"/>
              </a:solidFill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5E858949-3F59-4EFE-6813-4A68A0EBC138}"/>
              </a:ext>
            </a:extLst>
          </p:cNvPr>
          <p:cNvSpPr/>
          <p:nvPr/>
        </p:nvSpPr>
        <p:spPr>
          <a:xfrm>
            <a:off x="2569329" y="3146425"/>
            <a:ext cx="804066" cy="264551"/>
          </a:xfrm>
          <a:prstGeom prst="rect">
            <a:avLst/>
          </a:prstGeom>
          <a:noFill/>
          <a:ln w="1905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21A7513-0E15-D15B-7269-EA345343A6FE}"/>
              </a:ext>
            </a:extLst>
          </p:cNvPr>
          <p:cNvSpPr txBox="1"/>
          <p:nvPr/>
        </p:nvSpPr>
        <p:spPr>
          <a:xfrm>
            <a:off x="3373395" y="3103199"/>
            <a:ext cx="23786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</a:rPr>
              <a:t>Base </a:t>
            </a:r>
            <a:r>
              <a:rPr lang="ko-KR" altLang="en-US" sz="1400" dirty="0">
                <a:solidFill>
                  <a:schemeClr val="bg1"/>
                </a:solidFill>
              </a:rPr>
              <a:t>상속한 </a:t>
            </a:r>
            <a:r>
              <a:rPr lang="en-US" altLang="ko-KR" sz="1400" dirty="0">
                <a:solidFill>
                  <a:schemeClr val="bg1"/>
                </a:solidFill>
              </a:rPr>
              <a:t>User </a:t>
            </a:r>
            <a:r>
              <a:rPr lang="ko-KR" altLang="en-US" sz="1400" dirty="0">
                <a:solidFill>
                  <a:schemeClr val="bg1"/>
                </a:solidFill>
              </a:rPr>
              <a:t>클래스 생성</a:t>
            </a:r>
          </a:p>
        </p:txBody>
      </p:sp>
      <p:sp>
        <p:nvSpPr>
          <p:cNvPr id="19" name="오른쪽 중괄호 18">
            <a:extLst>
              <a:ext uri="{FF2B5EF4-FFF2-40B4-BE49-F238E27FC236}">
                <a16:creationId xmlns:a16="http://schemas.microsoft.com/office/drawing/2014/main" id="{19539EE4-8918-1B6A-4148-70FC7A2056B5}"/>
              </a:ext>
            </a:extLst>
          </p:cNvPr>
          <p:cNvSpPr/>
          <p:nvPr/>
        </p:nvSpPr>
        <p:spPr>
          <a:xfrm>
            <a:off x="8539480" y="4136390"/>
            <a:ext cx="147320" cy="1405890"/>
          </a:xfrm>
          <a:prstGeom prst="rightBrace">
            <a:avLst/>
          </a:prstGeom>
          <a:ln w="254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3319009-2843-2F74-7391-04B58FC630D7}"/>
              </a:ext>
            </a:extLst>
          </p:cNvPr>
          <p:cNvSpPr txBox="1"/>
          <p:nvPr/>
        </p:nvSpPr>
        <p:spPr>
          <a:xfrm>
            <a:off x="8686801" y="4685446"/>
            <a:ext cx="1364166" cy="310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</a:rPr>
              <a:t>Table </a:t>
            </a:r>
            <a:r>
              <a:rPr lang="ko-KR" altLang="en-US" sz="1400" dirty="0">
                <a:solidFill>
                  <a:schemeClr val="bg1"/>
                </a:solidFill>
              </a:rPr>
              <a:t>구조 정의</a:t>
            </a:r>
          </a:p>
        </p:txBody>
      </p:sp>
    </p:spTree>
    <p:extLst>
      <p:ext uri="{BB962C8B-B14F-4D97-AF65-F5344CB8AC3E}">
        <p14:creationId xmlns:p14="http://schemas.microsoft.com/office/powerpoint/2010/main" val="133163548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277A68-D49B-75C7-278F-504AA6A41C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CEFC111-B510-8C45-356E-741A2F4B5C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라이브러리 불러오기</a:t>
            </a:r>
            <a:r>
              <a:rPr lang="en-US" altLang="ko-KR" dirty="0"/>
              <a:t>, DB </a:t>
            </a:r>
            <a:r>
              <a:rPr lang="ko-KR" altLang="en-US" dirty="0"/>
              <a:t>테이블 생성</a:t>
            </a:r>
            <a:endParaRPr lang="en-US" altLang="ko-KR" b="1" dirty="0"/>
          </a:p>
        </p:txBody>
      </p:sp>
      <p:pic>
        <p:nvPicPr>
          <p:cNvPr id="4" name="그림 3" descr="텍스트, 스크린샷, 멀티미디어 소프트웨어, 소프트웨어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5272B8DB-F258-08D7-C772-1AAECF4316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13986"/>
            <a:ext cx="12192000" cy="450509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374F60F-8C86-E98D-A4A8-CA4A34F870B6}"/>
              </a:ext>
            </a:extLst>
          </p:cNvPr>
          <p:cNvSpPr txBox="1"/>
          <p:nvPr/>
        </p:nvSpPr>
        <p:spPr>
          <a:xfrm>
            <a:off x="558800" y="4748818"/>
            <a:ext cx="10896600" cy="875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18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Base.metadata.create_all</a:t>
            </a:r>
            <a:r>
              <a:rPr lang="en-US" altLang="ko-KR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(bind=engine) : </a:t>
            </a:r>
            <a:endParaRPr lang="en-US" altLang="ko-KR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모델 정의를 기반으로 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DB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에 테이블을 생성하되 이미 존재하는 테이블은 건너뜀</a:t>
            </a:r>
            <a:endParaRPr lang="en-US" altLang="ko-KR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D4B00EBD-3AEC-E33C-E622-A975C620E525}"/>
              </a:ext>
            </a:extLst>
          </p:cNvPr>
          <p:cNvSpPr/>
          <p:nvPr/>
        </p:nvSpPr>
        <p:spPr>
          <a:xfrm>
            <a:off x="1277178" y="4124326"/>
            <a:ext cx="4304472" cy="282574"/>
          </a:xfrm>
          <a:prstGeom prst="rect">
            <a:avLst/>
          </a:prstGeom>
          <a:noFill/>
          <a:ln w="1905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1044462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845249-7422-350F-7979-80CE22DCFE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7934FED-2558-A816-D44F-5F15EDF443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DB </a:t>
            </a:r>
            <a:r>
              <a:rPr lang="ko-KR" altLang="en-US" dirty="0"/>
              <a:t>세션 주입</a:t>
            </a:r>
            <a:endParaRPr lang="en-US" altLang="ko-KR" b="1" dirty="0"/>
          </a:p>
        </p:txBody>
      </p:sp>
      <p:pic>
        <p:nvPicPr>
          <p:cNvPr id="5" name="그림 4" descr="텍스트, 스크린샷, 디스플레이, 소프트웨어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8254D6A8-FD7E-E76F-990E-9F3829DBD09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7625"/>
            <a:ext cx="12192000" cy="6762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103152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B1DFA7-168F-60DE-A5CC-7E418ABA2B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90" name="Picture 2" descr="C:\Users\LMH\Desktop\select다시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213676" y="1042136"/>
            <a:ext cx="12619352" cy="46054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90EDFD14-4885-3766-D4E3-732A8A4AC3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/>
              <a:t>CRUD - </a:t>
            </a:r>
            <a:r>
              <a:rPr lang="ko-KR" altLang="en-US" b="1" dirty="0"/>
              <a:t>사용자 조회</a:t>
            </a:r>
            <a:r>
              <a:rPr lang="en-US" altLang="ko-KR" b="1" dirty="0"/>
              <a:t>(READ)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4FE483C7-4172-DD6E-164D-672D4EE72E92}"/>
              </a:ext>
            </a:extLst>
          </p:cNvPr>
          <p:cNvSpPr/>
          <p:nvPr/>
        </p:nvSpPr>
        <p:spPr>
          <a:xfrm>
            <a:off x="3498125" y="3489160"/>
            <a:ext cx="4538969" cy="360947"/>
          </a:xfrm>
          <a:prstGeom prst="rect">
            <a:avLst/>
          </a:prstGeom>
          <a:noFill/>
          <a:ln w="1905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FF22CCF-754F-3B93-7DCB-F568940C7697}"/>
              </a:ext>
            </a:extLst>
          </p:cNvPr>
          <p:cNvSpPr txBox="1"/>
          <p:nvPr/>
        </p:nvSpPr>
        <p:spPr>
          <a:xfrm>
            <a:off x="8137442" y="3480775"/>
            <a:ext cx="13434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err="1">
                <a:solidFill>
                  <a:schemeClr val="bg1"/>
                </a:solidFill>
              </a:rPr>
              <a:t>db</a:t>
            </a:r>
            <a:r>
              <a:rPr lang="ko-KR" altLang="en-US" dirty="0">
                <a:solidFill>
                  <a:schemeClr val="bg1"/>
                </a:solidFill>
              </a:rPr>
              <a:t>객체 생성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E532FF1-3A51-D27F-1EC4-5F120FE9B12D}"/>
              </a:ext>
            </a:extLst>
          </p:cNvPr>
          <p:cNvSpPr txBox="1"/>
          <p:nvPr/>
        </p:nvSpPr>
        <p:spPr>
          <a:xfrm>
            <a:off x="739720" y="4685064"/>
            <a:ext cx="10896600" cy="459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18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db.query</a:t>
            </a:r>
            <a:r>
              <a:rPr lang="en-US" altLang="ko-KR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(Model) : DB</a:t>
            </a:r>
            <a:r>
              <a:rPr lang="ko-KR" altLang="en-US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에서 데이터 조회</a:t>
            </a:r>
            <a:r>
              <a:rPr lang="en-US" altLang="ko-KR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(Read)</a:t>
            </a:r>
            <a:endParaRPr lang="en-US" altLang="ko-KR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6759174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9A567-DF1D-EB38-94AD-A60E9C89CD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 descr="텍스트, 스크린샷, 소프트웨어, 디스플레이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1328C392-C65D-A7F5-FB84-C0C2CBFBC1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2599" y="390515"/>
            <a:ext cx="8846802" cy="5671618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1F05C6E0-AAC5-8421-E653-0DAD41C3B4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/>
              <a:t>CRUD - </a:t>
            </a:r>
            <a:r>
              <a:rPr lang="ko-KR" altLang="en-US" b="1" dirty="0"/>
              <a:t>사용자 생성</a:t>
            </a:r>
            <a:r>
              <a:rPr lang="en-US" altLang="ko-KR" b="1" dirty="0"/>
              <a:t>(CREATE)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6198D1A-AB27-89B8-62BD-D35E0BD06E76}"/>
              </a:ext>
            </a:extLst>
          </p:cNvPr>
          <p:cNvSpPr txBox="1"/>
          <p:nvPr/>
        </p:nvSpPr>
        <p:spPr>
          <a:xfrm>
            <a:off x="1947333" y="5493418"/>
            <a:ext cx="841200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18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db.add</a:t>
            </a:r>
            <a:r>
              <a:rPr lang="en-US" altLang="ko-KR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(obj) : </a:t>
            </a:r>
            <a:r>
              <a:rPr lang="ko-KR" altLang="en-US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새 객체를 </a:t>
            </a:r>
            <a:r>
              <a:rPr lang="en-US" altLang="ko-KR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DB</a:t>
            </a:r>
            <a:r>
              <a:rPr lang="ko-KR" altLang="en-US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에 등록 </a:t>
            </a:r>
            <a:r>
              <a:rPr lang="en-US" altLang="ko-KR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(Create)</a:t>
            </a:r>
          </a:p>
          <a:p>
            <a:pPr>
              <a:lnSpc>
                <a:spcPct val="150000"/>
              </a:lnSpc>
            </a:pPr>
            <a:r>
              <a:rPr lang="ko-KR" altLang="en-US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db.commit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() :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트랜잭션을 확정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DB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에 반영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↔ </a:t>
            </a:r>
            <a:r>
              <a:rPr lang="en-US" altLang="ko-KR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db.rollback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() :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변경 사항을 모두 취소</a:t>
            </a:r>
            <a:endParaRPr lang="en-US" altLang="ko-KR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9571033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3EBB8C-DE70-1AA4-13F2-DD1F81F81B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53BC26-69CF-F02A-2384-2C4A6FD37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/>
              <a:t>CRUD - </a:t>
            </a:r>
            <a:r>
              <a:rPr lang="ko-KR" altLang="en-US" b="1" dirty="0"/>
              <a:t>사용자 정보 수정</a:t>
            </a:r>
            <a:r>
              <a:rPr lang="en-US" altLang="ko-KR" b="1" dirty="0"/>
              <a:t>(UPDATE)</a:t>
            </a:r>
          </a:p>
        </p:txBody>
      </p:sp>
      <p:pic>
        <p:nvPicPr>
          <p:cNvPr id="4" name="그림 3" descr="텍스트, 스크린샷, 디스플레이, 소프트웨어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D1F6162A-B13B-8E8E-FDFC-44E45CBFEB5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0000" y="486846"/>
            <a:ext cx="9652000" cy="548957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A966D15-5370-D5BD-70A3-F381FDF1C990}"/>
              </a:ext>
            </a:extLst>
          </p:cNvPr>
          <p:cNvSpPr txBox="1"/>
          <p:nvPr/>
        </p:nvSpPr>
        <p:spPr>
          <a:xfrm>
            <a:off x="1744134" y="5408749"/>
            <a:ext cx="7653866" cy="875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.filter(...) : </a:t>
            </a:r>
            <a:r>
              <a:rPr lang="ko-KR" altLang="en-US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조회 조건 지정</a:t>
            </a:r>
            <a:endParaRPr lang="en-US" altLang="ko-KR" sz="18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.first() :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조건에 맞는 첫 번째 레코드 반환</a:t>
            </a:r>
            <a:endParaRPr lang="en-US" altLang="ko-KR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4945306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8EFF7E-5EE4-F999-ECCA-5D4947034A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35C7D1-AFC4-7514-7C1F-94FA4D60F0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/>
              <a:t>CRUD - </a:t>
            </a:r>
            <a:r>
              <a:rPr lang="ko-KR" altLang="en-US" b="1" dirty="0"/>
              <a:t>사용자 정보 수정</a:t>
            </a:r>
            <a:r>
              <a:rPr lang="en-US" altLang="ko-KR" b="1" dirty="0"/>
              <a:t>(DELETE)</a:t>
            </a:r>
          </a:p>
        </p:txBody>
      </p:sp>
      <p:pic>
        <p:nvPicPr>
          <p:cNvPr id="5" name="그림 4" descr="텍스트, 스크린샷, 디스플레이, 소프트웨어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FD020BFD-8B8D-5D38-1927-BB9F7F61DF9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4200" y="378174"/>
            <a:ext cx="11023600" cy="574605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06E0602-55FE-3034-A957-EBBAB2692565}"/>
              </a:ext>
            </a:extLst>
          </p:cNvPr>
          <p:cNvSpPr txBox="1"/>
          <p:nvPr/>
        </p:nvSpPr>
        <p:spPr>
          <a:xfrm>
            <a:off x="1151467" y="5518816"/>
            <a:ext cx="7653866" cy="459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18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db.delete</a:t>
            </a:r>
            <a:r>
              <a:rPr lang="en-US" altLang="ko-KR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(obj) :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</a:t>
            </a:r>
            <a:r>
              <a:rPr lang="ko-KR" altLang="en-US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객체를 </a:t>
            </a:r>
            <a:r>
              <a:rPr lang="en-US" altLang="ko-KR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DB</a:t>
            </a:r>
            <a:r>
              <a:rPr lang="ko-KR" altLang="en-US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에서 삭제 </a:t>
            </a:r>
            <a:r>
              <a:rPr lang="en-US" altLang="ko-KR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(Delete)</a:t>
            </a:r>
          </a:p>
        </p:txBody>
      </p:sp>
    </p:spTree>
    <p:extLst>
      <p:ext uri="{BB962C8B-B14F-4D97-AF65-F5344CB8AC3E}">
        <p14:creationId xmlns:p14="http://schemas.microsoft.com/office/powerpoint/2010/main" val="286098624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F5D0BA0-662B-3134-7B5B-AF37D9484A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3535ADF-92FC-22E6-EEEE-CA7A7156ABF1}"/>
              </a:ext>
            </a:extLst>
          </p:cNvPr>
          <p:cNvSpPr txBox="1"/>
          <p:nvPr/>
        </p:nvSpPr>
        <p:spPr>
          <a:xfrm>
            <a:off x="1956905" y="2600493"/>
            <a:ext cx="827822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AWS RDS</a:t>
            </a:r>
            <a:r>
              <a:rPr lang="ko-KR" altLang="en-US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로 </a:t>
            </a:r>
            <a:r>
              <a:rPr lang="en-US" altLang="ko-KR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DB </a:t>
            </a:r>
            <a:r>
              <a:rPr lang="ko-KR" altLang="en-US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사용</a:t>
            </a:r>
            <a:endParaRPr lang="en-US" altLang="ko-KR" sz="6000" dirty="0">
              <a:solidFill>
                <a:schemeClr val="accent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3528684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332887" y="1241914"/>
            <a:ext cx="4846198" cy="240065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50000"/>
              </a:lnSpc>
              <a:tabLst>
                <a:tab pos="1249363" algn="l"/>
              </a:tabLst>
            </a:pPr>
            <a:r>
              <a:rPr lang="ko-KR" altLang="en-US" sz="2800" dirty="0"/>
              <a:t>🔗 접속 링크</a:t>
            </a:r>
            <a:r>
              <a:rPr lang="en-US" altLang="ko-KR" sz="2800" dirty="0"/>
              <a:t>: </a:t>
            </a:r>
          </a:p>
          <a:p>
            <a:pPr>
              <a:lnSpc>
                <a:spcPct val="150000"/>
              </a:lnSpc>
            </a:pPr>
            <a:r>
              <a:rPr lang="en-US" altLang="ko-KR" sz="2400" dirty="0">
                <a:hlinkClick r:id="rId2"/>
              </a:rPr>
              <a:t>https://aws.amazon.com/ko/rds/</a:t>
            </a:r>
            <a:r>
              <a:rPr lang="en-US" altLang="ko-KR" sz="2400" dirty="0"/>
              <a:t> </a:t>
            </a:r>
          </a:p>
          <a:p>
            <a:pPr>
              <a:lnSpc>
                <a:spcPct val="150000"/>
              </a:lnSpc>
            </a:pPr>
            <a:endParaRPr lang="en-US" altLang="ko-KR" sz="2400" dirty="0"/>
          </a:p>
          <a:p>
            <a:pPr>
              <a:lnSpc>
                <a:spcPct val="150000"/>
              </a:lnSpc>
            </a:pPr>
            <a:r>
              <a:rPr lang="ko-KR" altLang="en-US" sz="2400" dirty="0"/>
              <a:t>✅ 회원가입 후 로그인</a:t>
            </a:r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6D9F5082-6D2D-1334-803D-26AD15DE1A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/>
          <a:p>
            <a:r>
              <a:rPr lang="en-US" altLang="ko-KR" b="1" dirty="0"/>
              <a:t>AWS RDS </a:t>
            </a:r>
            <a:r>
              <a:rPr lang="ko-KR" altLang="en-US" b="1" dirty="0"/>
              <a:t>접속</a:t>
            </a:r>
            <a:endParaRPr lang="en-US" altLang="ko-KR" b="1" dirty="0"/>
          </a:p>
        </p:txBody>
      </p:sp>
    </p:spTree>
    <p:extLst>
      <p:ext uri="{BB962C8B-B14F-4D97-AF65-F5344CB8AC3E}">
        <p14:creationId xmlns:p14="http://schemas.microsoft.com/office/powerpoint/2010/main" val="137493060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그룹 3"/>
          <p:cNvGrpSpPr/>
          <p:nvPr/>
        </p:nvGrpSpPr>
        <p:grpSpPr>
          <a:xfrm>
            <a:off x="972563" y="1121674"/>
            <a:ext cx="10246874" cy="5054963"/>
            <a:chOff x="563880" y="806271"/>
            <a:chExt cx="11064240" cy="5458184"/>
          </a:xfrm>
        </p:grpSpPr>
        <p:pic>
          <p:nvPicPr>
            <p:cNvPr id="1027" name="Picture 3" descr="C:\Users\LMH\Downloads\Telegram Desktop\스크린샷 2025-04-11 122213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63880" y="806271"/>
              <a:ext cx="11064240" cy="545818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D4B00EBD-3AEC-E33C-E622-A975C620E525}"/>
                </a:ext>
              </a:extLst>
            </p:cNvPr>
            <p:cNvSpPr/>
            <p:nvPr/>
          </p:nvSpPr>
          <p:spPr>
            <a:xfrm>
              <a:off x="789498" y="1914526"/>
              <a:ext cx="4407342" cy="394334"/>
            </a:xfrm>
            <a:prstGeom prst="rect">
              <a:avLst/>
            </a:prstGeom>
            <a:noFill/>
            <a:ln w="38100">
              <a:solidFill>
                <a:srgbClr val="FF5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D4B00EBD-3AEC-E33C-E622-A975C620E525}"/>
                </a:ext>
              </a:extLst>
            </p:cNvPr>
            <p:cNvSpPr/>
            <p:nvPr/>
          </p:nvSpPr>
          <p:spPr>
            <a:xfrm>
              <a:off x="789498" y="3750946"/>
              <a:ext cx="4407342" cy="798194"/>
            </a:xfrm>
            <a:prstGeom prst="rect">
              <a:avLst/>
            </a:prstGeom>
            <a:noFill/>
            <a:ln w="38100">
              <a:solidFill>
                <a:srgbClr val="FF5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8" name="제목 1">
            <a:extLst>
              <a:ext uri="{FF2B5EF4-FFF2-40B4-BE49-F238E27FC236}">
                <a16:creationId xmlns:a16="http://schemas.microsoft.com/office/drawing/2014/main" id="{6D9F5082-6D2D-1334-803D-26AD15DE1A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/>
          <a:p>
            <a:r>
              <a:rPr lang="en-US" altLang="ko-KR" b="1" dirty="0"/>
              <a:t>DB</a:t>
            </a:r>
            <a:r>
              <a:rPr lang="ko-KR" altLang="en-US" b="1" dirty="0"/>
              <a:t>생성</a:t>
            </a:r>
            <a:endParaRPr lang="en-US" altLang="ko-KR" b="1" dirty="0"/>
          </a:p>
        </p:txBody>
      </p:sp>
    </p:spTree>
    <p:extLst>
      <p:ext uri="{BB962C8B-B14F-4D97-AF65-F5344CB8AC3E}">
        <p14:creationId xmlns:p14="http://schemas.microsoft.com/office/powerpoint/2010/main" val="190632563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C:\Users\LMH\Downloads\Telegram Desktop\스크린샷 2025-04-11 122450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3722" y="1461900"/>
            <a:ext cx="10624555" cy="47927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제목 1">
            <a:extLst>
              <a:ext uri="{FF2B5EF4-FFF2-40B4-BE49-F238E27FC236}">
                <a16:creationId xmlns:a16="http://schemas.microsoft.com/office/drawing/2014/main" id="{6D9F5082-6D2D-1334-803D-26AD15DE1A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/>
          <a:p>
            <a:r>
              <a:rPr lang="en-US" altLang="ko-KR" b="1" dirty="0"/>
              <a:t>DB</a:t>
            </a:r>
            <a:r>
              <a:rPr lang="ko-KR" altLang="en-US" b="1" dirty="0"/>
              <a:t>생성</a:t>
            </a:r>
            <a:endParaRPr lang="en-US" altLang="ko-KR" b="1" dirty="0"/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407E1561-0C25-F773-6327-83DD2B8526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9549" y="946584"/>
            <a:ext cx="11798250" cy="72969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dirty="0"/>
              <a:t>✅ </a:t>
            </a:r>
            <a:r>
              <a:rPr lang="ko-KR" altLang="en-US" dirty="0" err="1"/>
              <a:t>인스턴스</a:t>
            </a:r>
            <a:r>
              <a:rPr lang="ko-KR" altLang="en-US" dirty="0"/>
              <a:t> </a:t>
            </a:r>
            <a:r>
              <a:rPr lang="ko-KR" altLang="en-US" dirty="0" err="1"/>
              <a:t>식별자</a:t>
            </a:r>
            <a:r>
              <a:rPr lang="en-US" altLang="ko-KR" dirty="0"/>
              <a:t>, </a:t>
            </a:r>
            <a:r>
              <a:rPr lang="ko-KR" altLang="en-US" dirty="0"/>
              <a:t>마스터 사용자 이름</a:t>
            </a:r>
            <a:r>
              <a:rPr lang="en-US" altLang="ko-KR" dirty="0"/>
              <a:t>, </a:t>
            </a:r>
            <a:r>
              <a:rPr lang="ko-KR" altLang="en-US" dirty="0"/>
              <a:t>마스터 암호 설정</a:t>
            </a:r>
          </a:p>
        </p:txBody>
      </p:sp>
    </p:spTree>
    <p:extLst>
      <p:ext uri="{BB962C8B-B14F-4D97-AF65-F5344CB8AC3E}">
        <p14:creationId xmlns:p14="http://schemas.microsoft.com/office/powerpoint/2010/main" val="255744466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그룹 3"/>
          <p:cNvGrpSpPr/>
          <p:nvPr/>
        </p:nvGrpSpPr>
        <p:grpSpPr>
          <a:xfrm>
            <a:off x="380751" y="1591513"/>
            <a:ext cx="11430498" cy="4554640"/>
            <a:chOff x="380751" y="1151680"/>
            <a:chExt cx="11430498" cy="4554640"/>
          </a:xfrm>
        </p:grpSpPr>
        <p:pic>
          <p:nvPicPr>
            <p:cNvPr id="2052" name="Picture 4" descr="C:\Users\LMH\Downloads\Telegram Desktop\스크린샷 2025-04-11 122237.png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80751" y="1151680"/>
              <a:ext cx="11430498" cy="45546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D4B00EBD-3AEC-E33C-E622-A975C620E525}"/>
                </a:ext>
              </a:extLst>
            </p:cNvPr>
            <p:cNvSpPr/>
            <p:nvPr/>
          </p:nvSpPr>
          <p:spPr>
            <a:xfrm>
              <a:off x="7965801" y="4937759"/>
              <a:ext cx="3714135" cy="636375"/>
            </a:xfrm>
            <a:prstGeom prst="rect">
              <a:avLst/>
            </a:prstGeom>
            <a:noFill/>
            <a:ln w="38100">
              <a:solidFill>
                <a:srgbClr val="FF5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8" name="제목 1">
            <a:extLst>
              <a:ext uri="{FF2B5EF4-FFF2-40B4-BE49-F238E27FC236}">
                <a16:creationId xmlns:a16="http://schemas.microsoft.com/office/drawing/2014/main" id="{6D9F5082-6D2D-1334-803D-26AD15DE1A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/>
          <a:p>
            <a:r>
              <a:rPr lang="en-US" altLang="ko-KR" b="1" dirty="0"/>
              <a:t>DB</a:t>
            </a:r>
            <a:r>
              <a:rPr lang="ko-KR" altLang="en-US" b="1" dirty="0"/>
              <a:t>생성</a:t>
            </a:r>
            <a:endParaRPr lang="en-US" altLang="ko-KR" b="1" dirty="0"/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407E1561-0C25-F773-6327-83DD2B8526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0025" y="1006504"/>
            <a:ext cx="11798250" cy="72969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dirty="0"/>
              <a:t>✅ </a:t>
            </a:r>
            <a:r>
              <a:rPr lang="ko-KR" altLang="en-US" dirty="0" err="1"/>
              <a:t>프리티어로</a:t>
            </a:r>
            <a:r>
              <a:rPr lang="ko-KR" altLang="en-US" dirty="0"/>
              <a:t> 선택</a:t>
            </a:r>
          </a:p>
        </p:txBody>
      </p:sp>
    </p:spTree>
    <p:extLst>
      <p:ext uri="{BB962C8B-B14F-4D97-AF65-F5344CB8AC3E}">
        <p14:creationId xmlns:p14="http://schemas.microsoft.com/office/powerpoint/2010/main" val="91347828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9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5596" y="1882390"/>
            <a:ext cx="11490960" cy="101589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D4B00EBD-3AEC-E33C-E622-A975C620E525}"/>
              </a:ext>
            </a:extLst>
          </p:cNvPr>
          <p:cNvSpPr/>
          <p:nvPr/>
        </p:nvSpPr>
        <p:spPr>
          <a:xfrm>
            <a:off x="325596" y="1984089"/>
            <a:ext cx="11490960" cy="542758"/>
          </a:xfrm>
          <a:prstGeom prst="rect">
            <a:avLst/>
          </a:prstGeom>
          <a:noFill/>
          <a:ln w="3810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101" name="Picture 5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5443" y="3429000"/>
            <a:ext cx="11441113" cy="1352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9" name="제목 1">
            <a:extLst>
              <a:ext uri="{FF2B5EF4-FFF2-40B4-BE49-F238E27FC236}">
                <a16:creationId xmlns:a16="http://schemas.microsoft.com/office/drawing/2014/main" id="{6D9F5082-6D2D-1334-803D-26AD15DE1A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/>
          <a:p>
            <a:r>
              <a:rPr lang="en-US" altLang="ko-KR" b="1" dirty="0"/>
              <a:t>DB</a:t>
            </a:r>
            <a:r>
              <a:rPr lang="ko-KR" altLang="en-US" b="1" dirty="0"/>
              <a:t>생성</a:t>
            </a:r>
            <a:endParaRPr lang="en-US" altLang="ko-KR" b="1" dirty="0"/>
          </a:p>
        </p:txBody>
      </p:sp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407E1561-0C25-F773-6327-83DD2B8526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0025" y="1006504"/>
            <a:ext cx="11798250" cy="72969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dirty="0"/>
              <a:t>✅ </a:t>
            </a:r>
            <a:r>
              <a:rPr lang="ko-KR" altLang="en-US" dirty="0" err="1"/>
              <a:t>퍼블릭</a:t>
            </a:r>
            <a:r>
              <a:rPr lang="ko-KR" altLang="en-US" dirty="0"/>
              <a:t> 액세스를 </a:t>
            </a:r>
            <a:r>
              <a:rPr lang="en-US" altLang="ko-KR" dirty="0"/>
              <a:t>“</a:t>
            </a:r>
            <a:r>
              <a:rPr lang="ko-KR" altLang="en-US" dirty="0"/>
              <a:t>예</a:t>
            </a:r>
            <a:r>
              <a:rPr lang="en-US" altLang="ko-KR" dirty="0"/>
              <a:t>”</a:t>
            </a:r>
            <a:r>
              <a:rPr lang="ko-KR" altLang="en-US" dirty="0"/>
              <a:t>로 설정</a:t>
            </a:r>
          </a:p>
        </p:txBody>
      </p:sp>
    </p:spTree>
    <p:extLst>
      <p:ext uri="{BB962C8B-B14F-4D97-AF65-F5344CB8AC3E}">
        <p14:creationId xmlns:p14="http://schemas.microsoft.com/office/powerpoint/2010/main" val="268644979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0522" y="2199227"/>
            <a:ext cx="11437925" cy="224644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D4B00EBD-3AEC-E33C-E622-A975C620E525}"/>
              </a:ext>
            </a:extLst>
          </p:cNvPr>
          <p:cNvSpPr/>
          <p:nvPr/>
        </p:nvSpPr>
        <p:spPr>
          <a:xfrm>
            <a:off x="522128" y="3157620"/>
            <a:ext cx="7454560" cy="514873"/>
          </a:xfrm>
          <a:prstGeom prst="rect">
            <a:avLst/>
          </a:prstGeom>
          <a:noFill/>
          <a:ln w="3810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제목 1">
            <a:extLst>
              <a:ext uri="{FF2B5EF4-FFF2-40B4-BE49-F238E27FC236}">
                <a16:creationId xmlns:a16="http://schemas.microsoft.com/office/drawing/2014/main" id="{6D9F5082-6D2D-1334-803D-26AD15DE1A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/>
          <a:p>
            <a:r>
              <a:rPr lang="en-US" altLang="ko-KR" b="1" dirty="0"/>
              <a:t>DB</a:t>
            </a:r>
            <a:r>
              <a:rPr lang="ko-KR" altLang="en-US" b="1" dirty="0"/>
              <a:t>생성</a:t>
            </a:r>
            <a:endParaRPr lang="en-US" altLang="ko-KR" b="1" dirty="0"/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407E1561-0C25-F773-6327-83DD2B8526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8916" y="1330596"/>
            <a:ext cx="11798250" cy="72969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dirty="0"/>
              <a:t>✅ 추가 구성에서 초기 데이터베이스 이름을 설정해야 </a:t>
            </a:r>
            <a:r>
              <a:rPr lang="en-US" altLang="ko-KR" dirty="0"/>
              <a:t>DB</a:t>
            </a:r>
            <a:r>
              <a:rPr lang="ko-KR" altLang="en-US" dirty="0"/>
              <a:t>가 생성됨</a:t>
            </a:r>
          </a:p>
        </p:txBody>
      </p:sp>
    </p:spTree>
    <p:extLst>
      <p:ext uri="{BB962C8B-B14F-4D97-AF65-F5344CB8AC3E}">
        <p14:creationId xmlns:p14="http://schemas.microsoft.com/office/powerpoint/2010/main" val="307606146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3360" y="2083304"/>
            <a:ext cx="11765280" cy="226200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제목 1">
            <a:extLst>
              <a:ext uri="{FF2B5EF4-FFF2-40B4-BE49-F238E27FC236}">
                <a16:creationId xmlns:a16="http://schemas.microsoft.com/office/drawing/2014/main" id="{6D9F5082-6D2D-1334-803D-26AD15DE1A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/>
          <a:p>
            <a:r>
              <a:rPr lang="ko-KR" altLang="en-US" b="1" dirty="0" err="1"/>
              <a:t>인바운드</a:t>
            </a:r>
            <a:r>
              <a:rPr lang="ko-KR" altLang="en-US" b="1" dirty="0"/>
              <a:t> 보안 규칙 수정</a:t>
            </a:r>
            <a:endParaRPr lang="en-US" altLang="ko-KR" b="1" dirty="0"/>
          </a:p>
        </p:txBody>
      </p:sp>
      <p:sp>
        <p:nvSpPr>
          <p:cNvPr id="8" name="내용 개체 틀 2">
            <a:extLst>
              <a:ext uri="{FF2B5EF4-FFF2-40B4-BE49-F238E27FC236}">
                <a16:creationId xmlns:a16="http://schemas.microsoft.com/office/drawing/2014/main" id="{407E1561-0C25-F773-6327-83DD2B8526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0390" y="1608388"/>
            <a:ext cx="11798250" cy="72969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dirty="0"/>
              <a:t>✅ </a:t>
            </a:r>
            <a:r>
              <a:rPr lang="ko-KR" altLang="en-US" dirty="0" err="1"/>
              <a:t>인바운드</a:t>
            </a:r>
            <a:r>
              <a:rPr lang="ko-KR" altLang="en-US" dirty="0"/>
              <a:t> 규칙 수정</a:t>
            </a:r>
          </a:p>
        </p:txBody>
      </p:sp>
    </p:spTree>
    <p:extLst>
      <p:ext uri="{BB962C8B-B14F-4D97-AF65-F5344CB8AC3E}">
        <p14:creationId xmlns:p14="http://schemas.microsoft.com/office/powerpoint/2010/main" val="54579452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그룹 7"/>
          <p:cNvGrpSpPr/>
          <p:nvPr/>
        </p:nvGrpSpPr>
        <p:grpSpPr>
          <a:xfrm>
            <a:off x="2001627" y="1024239"/>
            <a:ext cx="8188745" cy="5031793"/>
            <a:chOff x="1522413" y="619125"/>
            <a:chExt cx="9145587" cy="5619750"/>
          </a:xfrm>
        </p:grpSpPr>
        <p:pic>
          <p:nvPicPr>
            <p:cNvPr id="4" name="Picture 3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522413" y="619125"/>
              <a:ext cx="9145587" cy="56197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D4B00EBD-3AEC-E33C-E622-A975C620E525}"/>
                </a:ext>
              </a:extLst>
            </p:cNvPr>
            <p:cNvSpPr/>
            <p:nvPr/>
          </p:nvSpPr>
          <p:spPr>
            <a:xfrm>
              <a:off x="1583373" y="2657642"/>
              <a:ext cx="550227" cy="542758"/>
            </a:xfrm>
            <a:prstGeom prst="rect">
              <a:avLst/>
            </a:prstGeom>
            <a:noFill/>
            <a:ln w="38100">
              <a:solidFill>
                <a:srgbClr val="FF5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D4B00EBD-3AEC-E33C-E622-A975C620E525}"/>
                </a:ext>
              </a:extLst>
            </p:cNvPr>
            <p:cNvSpPr/>
            <p:nvPr/>
          </p:nvSpPr>
          <p:spPr>
            <a:xfrm>
              <a:off x="3000692" y="5638800"/>
              <a:ext cx="1342707" cy="426720"/>
            </a:xfrm>
            <a:prstGeom prst="rect">
              <a:avLst/>
            </a:prstGeom>
            <a:noFill/>
            <a:ln w="38100">
              <a:solidFill>
                <a:srgbClr val="FF5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7" name="제목 1">
            <a:extLst>
              <a:ext uri="{FF2B5EF4-FFF2-40B4-BE49-F238E27FC236}">
                <a16:creationId xmlns:a16="http://schemas.microsoft.com/office/drawing/2014/main" id="{6D9F5082-6D2D-1334-803D-26AD15DE1A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/>
          <a:p>
            <a:r>
              <a:rPr lang="ko-KR" altLang="en-US" b="1" dirty="0" err="1"/>
              <a:t>인바운드</a:t>
            </a:r>
            <a:r>
              <a:rPr lang="ko-KR" altLang="en-US" b="1" dirty="0"/>
              <a:t> 보안 규칙 수정</a:t>
            </a:r>
            <a:endParaRPr lang="en-US" altLang="ko-KR" b="1" dirty="0"/>
          </a:p>
        </p:txBody>
      </p:sp>
    </p:spTree>
    <p:extLst>
      <p:ext uri="{BB962C8B-B14F-4D97-AF65-F5344CB8AC3E}">
        <p14:creationId xmlns:p14="http://schemas.microsoft.com/office/powerpoint/2010/main" val="390718748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1">
            <a:extLst>
              <a:ext uri="{FF2B5EF4-FFF2-40B4-BE49-F238E27FC236}">
                <a16:creationId xmlns:a16="http://schemas.microsoft.com/office/drawing/2014/main" id="{6D9F5082-6D2D-1334-803D-26AD15DE1A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/>
          <a:p>
            <a:r>
              <a:rPr lang="en-US" altLang="ko-KR" b="1" dirty="0"/>
              <a:t>db.py </a:t>
            </a:r>
            <a:r>
              <a:rPr lang="ko-KR" altLang="en-US" b="1" dirty="0"/>
              <a:t>수정</a:t>
            </a:r>
            <a:endParaRPr lang="en-US" altLang="ko-KR" b="1" dirty="0"/>
          </a:p>
        </p:txBody>
      </p:sp>
      <p:pic>
        <p:nvPicPr>
          <p:cNvPr id="7172" name="Picture 4" descr="C:\Users\LMH\Desktop\db세팅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1475" y="608957"/>
            <a:ext cx="11449050" cy="3962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직사각형 8"/>
          <p:cNvSpPr/>
          <p:nvPr/>
        </p:nvSpPr>
        <p:spPr>
          <a:xfrm>
            <a:off x="1230773" y="3703090"/>
            <a:ext cx="9718877" cy="21698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✔️ </a:t>
            </a:r>
            <a:r>
              <a:rPr lang="en-US" altLang="ko-KR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DB_USER : </a:t>
            </a:r>
            <a:r>
              <a:rPr lang="ko-KR" altLang="en-US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마스터 사용자 이름	</a:t>
            </a:r>
            <a:endParaRPr lang="en-US" altLang="ko-KR" dirty="0">
              <a:latin typeface="Pretendard Light" pitchFamily="2" charset="-127"/>
              <a:ea typeface="Pretendard Light" pitchFamily="2" charset="-127"/>
              <a:cs typeface="Pretendard Light" pitchFamily="2" charset="-127"/>
            </a:endParaRPr>
          </a:p>
          <a:p>
            <a:pPr>
              <a:lnSpc>
                <a:spcPct val="150000"/>
              </a:lnSpc>
            </a:pPr>
            <a:r>
              <a:rPr lang="ko-KR" altLang="en-US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✔️ </a:t>
            </a:r>
            <a:r>
              <a:rPr lang="en-US" altLang="ko-KR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DB_PASSWORD : </a:t>
            </a:r>
            <a:r>
              <a:rPr lang="ko-KR" altLang="en-US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마스터 암호</a:t>
            </a:r>
            <a:r>
              <a:rPr lang="en-US" altLang="ko-KR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(RDS </a:t>
            </a:r>
            <a:r>
              <a:rPr lang="ko-KR" altLang="en-US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생성 시 설정한 비밀번호</a:t>
            </a:r>
            <a:r>
              <a:rPr lang="en-US" altLang="ko-KR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)</a:t>
            </a:r>
            <a:endParaRPr lang="ko-KR" altLang="en-US" dirty="0">
              <a:latin typeface="Pretendard Light" pitchFamily="2" charset="-127"/>
              <a:ea typeface="Pretendard Light" pitchFamily="2" charset="-127"/>
              <a:cs typeface="Pretendard Light" pitchFamily="2" charset="-127"/>
            </a:endParaRPr>
          </a:p>
          <a:p>
            <a:pPr>
              <a:lnSpc>
                <a:spcPct val="150000"/>
              </a:lnSpc>
            </a:pPr>
            <a:r>
              <a:rPr lang="ko-KR" altLang="en-US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✔️ </a:t>
            </a:r>
            <a:r>
              <a:rPr lang="en-US" altLang="ko-KR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DB_HOST : </a:t>
            </a:r>
            <a:r>
              <a:rPr lang="ko-KR" altLang="en-US" dirty="0" err="1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엔드포인트</a:t>
            </a:r>
            <a:r>
              <a:rPr lang="ko-KR" altLang="en-US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	</a:t>
            </a:r>
            <a:endParaRPr lang="en-US" altLang="ko-KR" dirty="0">
              <a:latin typeface="Pretendard Light" pitchFamily="2" charset="-127"/>
              <a:ea typeface="Pretendard Light" pitchFamily="2" charset="-127"/>
              <a:cs typeface="Pretendard Light" pitchFamily="2" charset="-127"/>
            </a:endParaRPr>
          </a:p>
          <a:p>
            <a:pPr>
              <a:lnSpc>
                <a:spcPct val="150000"/>
              </a:lnSpc>
            </a:pPr>
            <a:r>
              <a:rPr lang="ko-KR" altLang="en-US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✔️ </a:t>
            </a:r>
            <a:r>
              <a:rPr lang="en-US" altLang="ko-KR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DB_PORT : </a:t>
            </a:r>
            <a:r>
              <a:rPr lang="ko-KR" altLang="en-US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포트 번호 </a:t>
            </a:r>
            <a:r>
              <a:rPr lang="en-US" altLang="ko-KR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ex) 3306 </a:t>
            </a:r>
          </a:p>
          <a:p>
            <a:pPr>
              <a:lnSpc>
                <a:spcPct val="150000"/>
              </a:lnSpc>
            </a:pPr>
            <a:r>
              <a:rPr lang="ko-KR" altLang="en-US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✔️ </a:t>
            </a:r>
            <a:r>
              <a:rPr lang="en-US" altLang="ko-KR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DB_NAME : </a:t>
            </a:r>
            <a:r>
              <a:rPr lang="ko-KR" altLang="en-US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사용할 데이터베이스 이름	</a:t>
            </a:r>
          </a:p>
        </p:txBody>
      </p:sp>
    </p:spTree>
    <p:extLst>
      <p:ext uri="{BB962C8B-B14F-4D97-AF65-F5344CB8AC3E}">
        <p14:creationId xmlns:p14="http://schemas.microsoft.com/office/powerpoint/2010/main" val="92717049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1">
            <a:extLst>
              <a:ext uri="{FF2B5EF4-FFF2-40B4-BE49-F238E27FC236}">
                <a16:creationId xmlns:a16="http://schemas.microsoft.com/office/drawing/2014/main" id="{6D9F5082-6D2D-1334-803D-26AD15DE1A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/>
          <a:p>
            <a:r>
              <a:rPr lang="en-US" altLang="ko-KR" b="1" dirty="0"/>
              <a:t>.</a:t>
            </a:r>
            <a:r>
              <a:rPr lang="en-US" altLang="ko-KR" b="1" dirty="0" err="1"/>
              <a:t>env</a:t>
            </a:r>
            <a:endParaRPr lang="en-US" altLang="ko-KR" b="1" dirty="0"/>
          </a:p>
        </p:txBody>
      </p:sp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407E1561-0C25-F773-6327-83DD2B85268B}"/>
              </a:ext>
            </a:extLst>
          </p:cNvPr>
          <p:cNvSpPr txBox="1">
            <a:spLocks/>
          </p:cNvSpPr>
          <p:nvPr/>
        </p:nvSpPr>
        <p:spPr>
          <a:xfrm>
            <a:off x="196875" y="1145407"/>
            <a:ext cx="11798250" cy="4223350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>
                <a:latin typeface="+mn-ea"/>
                <a:ea typeface="+mn-ea"/>
              </a:rPr>
              <a:t>💡 </a:t>
            </a:r>
            <a:r>
              <a:rPr lang="ko-KR" altLang="en-US" dirty="0"/>
              <a:t>환경 </a:t>
            </a:r>
            <a:r>
              <a:rPr lang="ko-KR" altLang="en-US" dirty="0" err="1"/>
              <a:t>설정값</a:t>
            </a:r>
            <a:r>
              <a:rPr lang="en-US" altLang="ko-KR" dirty="0"/>
              <a:t>(</a:t>
            </a:r>
            <a:r>
              <a:rPr lang="ko-KR" altLang="en-US" dirty="0"/>
              <a:t>예</a:t>
            </a:r>
            <a:r>
              <a:rPr lang="en-US" altLang="ko-KR" dirty="0"/>
              <a:t>: DB </a:t>
            </a:r>
            <a:r>
              <a:rPr lang="ko-KR" altLang="en-US" dirty="0"/>
              <a:t>비밀번호</a:t>
            </a:r>
            <a:r>
              <a:rPr lang="en-US" altLang="ko-KR" dirty="0"/>
              <a:t>, API </a:t>
            </a:r>
            <a:r>
              <a:rPr lang="ko-KR" altLang="en-US" dirty="0"/>
              <a:t>키 등</a:t>
            </a:r>
            <a:r>
              <a:rPr lang="en-US" altLang="ko-KR" dirty="0"/>
              <a:t>)</a:t>
            </a:r>
            <a:r>
              <a:rPr lang="ko-KR" altLang="en-US" dirty="0"/>
              <a:t>을 저장하는 텍스트 파일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📌 코드와 분리하여 </a:t>
            </a:r>
            <a:r>
              <a:rPr lang="ko-KR" altLang="en-US" b="1" dirty="0"/>
              <a:t>보안성과 유지보수를 높이기 위해 사용</a:t>
            </a:r>
            <a:r>
              <a:rPr lang="ko-KR" altLang="en-US" dirty="0"/>
              <a:t>됨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9597703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1">
            <a:extLst>
              <a:ext uri="{FF2B5EF4-FFF2-40B4-BE49-F238E27FC236}">
                <a16:creationId xmlns:a16="http://schemas.microsoft.com/office/drawing/2014/main" id="{6D9F5082-6D2D-1334-803D-26AD15DE1A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/>
          <a:p>
            <a:r>
              <a:rPr lang="ko-KR" altLang="en-US" b="1" dirty="0"/>
              <a:t>패키지 설치</a:t>
            </a:r>
            <a:r>
              <a:rPr lang="en-US" altLang="ko-KR" b="1" dirty="0"/>
              <a:t>(</a:t>
            </a:r>
            <a:r>
              <a:rPr lang="en-US" altLang="ko-KR" b="1" dirty="0" err="1"/>
              <a:t>dotenv</a:t>
            </a:r>
            <a:r>
              <a:rPr lang="en-US" altLang="ko-KR" b="1" dirty="0"/>
              <a:t>)</a:t>
            </a:r>
          </a:p>
        </p:txBody>
      </p:sp>
      <p:pic>
        <p:nvPicPr>
          <p:cNvPr id="8194" name="Picture 2" descr="C:\Users\LMH\Desktop\env설치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4824" y="1085850"/>
            <a:ext cx="11182351" cy="4686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407E1561-0C25-F773-6327-83DD2B8526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11679" y="1445694"/>
            <a:ext cx="9470291" cy="72969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dirty="0"/>
              <a:t>✅ 패키지 설치</a:t>
            </a:r>
          </a:p>
        </p:txBody>
      </p:sp>
    </p:spTree>
    <p:extLst>
      <p:ext uri="{BB962C8B-B14F-4D97-AF65-F5344CB8AC3E}">
        <p14:creationId xmlns:p14="http://schemas.microsoft.com/office/powerpoint/2010/main" val="285802035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18" name="Picture 2" descr="C:\Users\LMH\Desktop\env파일 예시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4825" y="1027113"/>
            <a:ext cx="11182350" cy="5048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제목 1">
            <a:extLst>
              <a:ext uri="{FF2B5EF4-FFF2-40B4-BE49-F238E27FC236}">
                <a16:creationId xmlns:a16="http://schemas.microsoft.com/office/drawing/2014/main" id="{6D9F5082-6D2D-1334-803D-26AD15DE1A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/>
          <a:p>
            <a:r>
              <a:rPr lang="en-US" altLang="ko-KR" b="1" dirty="0"/>
              <a:t>.</a:t>
            </a:r>
            <a:r>
              <a:rPr lang="en-US" altLang="ko-KR" b="1" dirty="0" err="1"/>
              <a:t>env</a:t>
            </a:r>
            <a:r>
              <a:rPr lang="en-US" altLang="ko-KR" b="1" dirty="0"/>
              <a:t> </a:t>
            </a:r>
            <a:r>
              <a:rPr lang="ko-KR" altLang="en-US" b="1" dirty="0"/>
              <a:t>적용</a:t>
            </a:r>
            <a:endParaRPr lang="en-US" altLang="ko-KR" b="1" dirty="0"/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407E1561-0C25-F773-6327-83DD2B8526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8979" y="1380924"/>
            <a:ext cx="9470291" cy="72969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dirty="0"/>
              <a:t>✅ </a:t>
            </a:r>
            <a:r>
              <a:rPr lang="en-US" altLang="ko-KR" dirty="0"/>
              <a:t>.</a:t>
            </a:r>
            <a:r>
              <a:rPr lang="en-US" altLang="ko-KR" dirty="0" err="1"/>
              <a:t>env</a:t>
            </a:r>
            <a:r>
              <a:rPr lang="en-US" altLang="ko-KR" dirty="0"/>
              <a:t> </a:t>
            </a:r>
            <a:r>
              <a:rPr lang="ko-KR" altLang="en-US" dirty="0"/>
              <a:t>파일 생성</a:t>
            </a:r>
          </a:p>
        </p:txBody>
      </p:sp>
    </p:spTree>
    <p:extLst>
      <p:ext uri="{BB962C8B-B14F-4D97-AF65-F5344CB8AC3E}">
        <p14:creationId xmlns:p14="http://schemas.microsoft.com/office/powerpoint/2010/main" val="418692117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42" name="Picture 2" descr="C:\Users\LMH\Desktop\env로드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520" y="660698"/>
            <a:ext cx="10728960" cy="63111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제목 1">
            <a:extLst>
              <a:ext uri="{FF2B5EF4-FFF2-40B4-BE49-F238E27FC236}">
                <a16:creationId xmlns:a16="http://schemas.microsoft.com/office/drawing/2014/main" id="{6D9F5082-6D2D-1334-803D-26AD15DE1A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/>
          <a:p>
            <a:r>
              <a:rPr lang="en-US" altLang="ko-KR" b="1" dirty="0"/>
              <a:t>.</a:t>
            </a:r>
            <a:r>
              <a:rPr lang="en-US" altLang="ko-KR" b="1" dirty="0" err="1"/>
              <a:t>env</a:t>
            </a:r>
            <a:r>
              <a:rPr lang="en-US" altLang="ko-KR" b="1" dirty="0"/>
              <a:t> </a:t>
            </a:r>
            <a:r>
              <a:rPr lang="ko-KR" altLang="en-US" b="1" dirty="0"/>
              <a:t>적용</a:t>
            </a:r>
            <a:endParaRPr lang="en-US" altLang="ko-KR" b="1" dirty="0"/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407E1561-0C25-F773-6327-83DD2B8526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60854" y="940234"/>
            <a:ext cx="9470291" cy="72969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dirty="0"/>
              <a:t>✅ </a:t>
            </a:r>
            <a:r>
              <a:rPr lang="en-US" altLang="ko-KR" dirty="0"/>
              <a:t>.</a:t>
            </a:r>
            <a:r>
              <a:rPr lang="en-US" altLang="ko-KR" dirty="0" err="1"/>
              <a:t>env</a:t>
            </a:r>
            <a:r>
              <a:rPr lang="en-US" altLang="ko-KR" dirty="0"/>
              <a:t> </a:t>
            </a:r>
            <a:r>
              <a:rPr lang="ko-KR" altLang="en-US" dirty="0"/>
              <a:t>환경 변수 사용하기</a:t>
            </a:r>
          </a:p>
        </p:txBody>
      </p:sp>
    </p:spTree>
    <p:extLst>
      <p:ext uri="{BB962C8B-B14F-4D97-AF65-F5344CB8AC3E}">
        <p14:creationId xmlns:p14="http://schemas.microsoft.com/office/powerpoint/2010/main" val="3569529574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66" name="Picture 2" descr="C:\Users\LMH\Desktop\gitignore에추가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403492"/>
            <a:ext cx="12192000" cy="40510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제목 1">
            <a:extLst>
              <a:ext uri="{FF2B5EF4-FFF2-40B4-BE49-F238E27FC236}">
                <a16:creationId xmlns:a16="http://schemas.microsoft.com/office/drawing/2014/main" id="{6D9F5082-6D2D-1334-803D-26AD15DE1A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/>
          <a:p>
            <a:r>
              <a:rPr lang="en-US" altLang="ko-KR" b="1" dirty="0"/>
              <a:t>.</a:t>
            </a:r>
            <a:r>
              <a:rPr lang="en-US" altLang="ko-KR" b="1" dirty="0" err="1"/>
              <a:t>env</a:t>
            </a:r>
            <a:r>
              <a:rPr lang="en-US" altLang="ko-KR" b="1" dirty="0"/>
              <a:t> </a:t>
            </a:r>
            <a:r>
              <a:rPr lang="ko-KR" altLang="en-US" b="1" dirty="0"/>
              <a:t>적용</a:t>
            </a:r>
            <a:endParaRPr lang="en-US" altLang="ko-KR" b="1" dirty="0"/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407E1561-0C25-F773-6327-83DD2B8526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4584" y="1769544"/>
            <a:ext cx="9470291" cy="72969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dirty="0"/>
              <a:t>✅ </a:t>
            </a:r>
            <a:r>
              <a:rPr lang="en-US" altLang="ko-KR" dirty="0" err="1"/>
              <a:t>gitignore</a:t>
            </a:r>
            <a:r>
              <a:rPr lang="ko-KR" altLang="en-US" dirty="0"/>
              <a:t>에 추가</a:t>
            </a:r>
          </a:p>
        </p:txBody>
      </p:sp>
    </p:spTree>
    <p:extLst>
      <p:ext uri="{BB962C8B-B14F-4D97-AF65-F5344CB8AC3E}">
        <p14:creationId xmlns:p14="http://schemas.microsoft.com/office/powerpoint/2010/main" val="89016337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048508-AAA0-ABBB-4AA1-756029F1E9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A3E9F74D-109B-6AF9-777B-3CFA92906B71}"/>
              </a:ext>
            </a:extLst>
          </p:cNvPr>
          <p:cNvSpPr txBox="1">
            <a:spLocks/>
          </p:cNvSpPr>
          <p:nvPr/>
        </p:nvSpPr>
        <p:spPr>
          <a:xfrm>
            <a:off x="1524000" y="2555530"/>
            <a:ext cx="9144000" cy="11161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감사합니다</a:t>
            </a:r>
          </a:p>
        </p:txBody>
      </p:sp>
    </p:spTree>
    <p:extLst>
      <p:ext uri="{BB962C8B-B14F-4D97-AF65-F5344CB8AC3E}">
        <p14:creationId xmlns:p14="http://schemas.microsoft.com/office/powerpoint/2010/main" val="2959371439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">
      <a:majorFont>
        <a:latin typeface="Pretendard Black"/>
        <a:ea typeface="Pretendard Black"/>
        <a:cs typeface=""/>
      </a:majorFont>
      <a:minorFont>
        <a:latin typeface="Pretendard Medium"/>
        <a:ea typeface="Pretendard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4203</TotalTime>
  <Words>1503</Words>
  <Application>Microsoft Office PowerPoint</Application>
  <PresentationFormat>와이드스크린</PresentationFormat>
  <Paragraphs>283</Paragraphs>
  <Slides>61</Slides>
  <Notes>35</Notes>
  <HiddenSlides>15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61</vt:i4>
      </vt:variant>
    </vt:vector>
  </HeadingPairs>
  <TitlesOfParts>
    <vt:vector size="71" baseType="lpstr">
      <vt:lpstr>G마켓 산스 TTF Bold</vt:lpstr>
      <vt:lpstr>Kim jung chul Gothic Regular</vt:lpstr>
      <vt:lpstr>Pretendard Black</vt:lpstr>
      <vt:lpstr>Pretendard Light</vt:lpstr>
      <vt:lpstr>Pretendard Medium</vt:lpstr>
      <vt:lpstr>Malgun Gothic Semilight</vt:lpstr>
      <vt:lpstr>메이플스토리</vt:lpstr>
      <vt:lpstr>Arial</vt:lpstr>
      <vt:lpstr>Wingdings</vt:lpstr>
      <vt:lpstr>1_Office 테마</vt:lpstr>
      <vt:lpstr>x</vt:lpstr>
      <vt:lpstr>PowerPoint 프레젠테이션</vt:lpstr>
      <vt:lpstr>PowerPoint 프레젠테이션</vt:lpstr>
      <vt:lpstr>패키지 설치(mysql-connector)</vt:lpstr>
      <vt:lpstr>CRUD 테스트 테이블 만들기</vt:lpstr>
      <vt:lpstr>DB와 연결하기(1)</vt:lpstr>
      <vt:lpstr>DB와 연결하기(2)</vt:lpstr>
      <vt:lpstr>DB와 연결하기(3)</vt:lpstr>
      <vt:lpstr>CRUD(1) - INSERT</vt:lpstr>
      <vt:lpstr>CRUD(1) - INSERT</vt:lpstr>
      <vt:lpstr>CRUD(2) - SELECT</vt:lpstr>
      <vt:lpstr>CRUD(3) – UPDATE</vt:lpstr>
      <vt:lpstr>CRUD(4) – DELETE</vt:lpstr>
      <vt:lpstr>PowerPoint 프레젠테이션</vt:lpstr>
      <vt:lpstr>Python 웹 프레임워크</vt:lpstr>
      <vt:lpstr>FastAPI</vt:lpstr>
      <vt:lpstr>RestfulAPI</vt:lpstr>
      <vt:lpstr>RestfulAPI</vt:lpstr>
      <vt:lpstr>RestfulAPI</vt:lpstr>
      <vt:lpstr>RestfulAPI</vt:lpstr>
      <vt:lpstr>Postman 설치하기</vt:lpstr>
      <vt:lpstr>패키지 설치(FastAPI, uvicorn)</vt:lpstr>
      <vt:lpstr>DB와 연결하기</vt:lpstr>
      <vt:lpstr>FastAPI 기본 앱 구성</vt:lpstr>
      <vt:lpstr>FastAPI 기본 앱 실행</vt:lpstr>
      <vt:lpstr>CRUD - 사용자 조회(READ)</vt:lpstr>
      <vt:lpstr>Pydantic 모델 </vt:lpstr>
      <vt:lpstr>Pydantic 모델 정의 </vt:lpstr>
      <vt:lpstr>CRUD - 사용자 등록(CREATE)</vt:lpstr>
      <vt:lpstr>CRUD - 사용자 수정(UPDATE)</vt:lpstr>
      <vt:lpstr>CRUD - 사용자 삭제(DELETE)</vt:lpstr>
      <vt:lpstr>Postman 사용하기</vt:lpstr>
      <vt:lpstr>PowerPoint 프레젠테이션</vt:lpstr>
      <vt:lpstr>ORM(Object-Relational Mapping)</vt:lpstr>
      <vt:lpstr>ORM(Object-Relational Mapping)</vt:lpstr>
      <vt:lpstr>SQLAlchemy</vt:lpstr>
      <vt:lpstr>패키지 설치(SQLAlchemy)</vt:lpstr>
      <vt:lpstr>DB 세션 구성 (db.py)</vt:lpstr>
      <vt:lpstr>사용자 모델 정의 (models.py)</vt:lpstr>
      <vt:lpstr>라이브러리 불러오기, DB 테이블 생성</vt:lpstr>
      <vt:lpstr>DB 세션 주입</vt:lpstr>
      <vt:lpstr>CRUD - 사용자 조회(READ)</vt:lpstr>
      <vt:lpstr>CRUD - 사용자 생성(CREATE)</vt:lpstr>
      <vt:lpstr>CRUD - 사용자 정보 수정(UPDATE)</vt:lpstr>
      <vt:lpstr>CRUD - 사용자 정보 수정(DELETE)</vt:lpstr>
      <vt:lpstr>PowerPoint 프레젠테이션</vt:lpstr>
      <vt:lpstr>AWS RDS 접속</vt:lpstr>
      <vt:lpstr>DB생성</vt:lpstr>
      <vt:lpstr>DB생성</vt:lpstr>
      <vt:lpstr>DB생성</vt:lpstr>
      <vt:lpstr>DB생성</vt:lpstr>
      <vt:lpstr>DB생성</vt:lpstr>
      <vt:lpstr>인바운드 보안 규칙 수정</vt:lpstr>
      <vt:lpstr>인바운드 보안 규칙 수정</vt:lpstr>
      <vt:lpstr>db.py 수정</vt:lpstr>
      <vt:lpstr>.env</vt:lpstr>
      <vt:lpstr>패키지 설치(dotenv)</vt:lpstr>
      <vt:lpstr>.env 적용</vt:lpstr>
      <vt:lpstr>.env 적용</vt:lpstr>
      <vt:lpstr>.env 적용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</dc:title>
  <dc:creator>spreatics</dc:creator>
  <cp:lastModifiedBy>On Coding</cp:lastModifiedBy>
  <cp:revision>388</cp:revision>
  <dcterms:created xsi:type="dcterms:W3CDTF">2023-01-31T04:26:23Z</dcterms:created>
  <dcterms:modified xsi:type="dcterms:W3CDTF">2025-10-28T09:15:27Z</dcterms:modified>
</cp:coreProperties>
</file>