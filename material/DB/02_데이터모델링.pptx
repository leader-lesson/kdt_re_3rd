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790" r:id="rId2"/>
    <p:sldId id="257" r:id="rId3"/>
    <p:sldId id="766" r:id="rId4"/>
    <p:sldId id="262" r:id="rId5"/>
    <p:sldId id="814" r:id="rId6"/>
    <p:sldId id="816" r:id="rId7"/>
    <p:sldId id="815" r:id="rId8"/>
    <p:sldId id="817" r:id="rId9"/>
    <p:sldId id="818" r:id="rId10"/>
    <p:sldId id="800" r:id="rId11"/>
    <p:sldId id="820" r:id="rId12"/>
    <p:sldId id="819" r:id="rId13"/>
    <p:sldId id="821" r:id="rId14"/>
    <p:sldId id="409" r:id="rId15"/>
    <p:sldId id="410" r:id="rId16"/>
    <p:sldId id="413" r:id="rId17"/>
    <p:sldId id="414" r:id="rId18"/>
    <p:sldId id="415" r:id="rId19"/>
    <p:sldId id="416" r:id="rId20"/>
    <p:sldId id="417" r:id="rId21"/>
    <p:sldId id="418" r:id="rId22"/>
    <p:sldId id="671" r:id="rId23"/>
    <p:sldId id="411" r:id="rId24"/>
    <p:sldId id="412" r:id="rId25"/>
    <p:sldId id="936" r:id="rId26"/>
    <p:sldId id="937" r:id="rId27"/>
    <p:sldId id="421" r:id="rId28"/>
    <p:sldId id="943" r:id="rId29"/>
    <p:sldId id="944" r:id="rId30"/>
    <p:sldId id="945" r:id="rId31"/>
    <p:sldId id="947" r:id="rId32"/>
    <p:sldId id="948" r:id="rId33"/>
    <p:sldId id="951" r:id="rId34"/>
    <p:sldId id="952" r:id="rId35"/>
    <p:sldId id="953" r:id="rId36"/>
    <p:sldId id="954" r:id="rId37"/>
    <p:sldId id="941" r:id="rId38"/>
    <p:sldId id="942" r:id="rId39"/>
    <p:sldId id="672" r:id="rId40"/>
    <p:sldId id="955" r:id="rId41"/>
    <p:sldId id="433" r:id="rId42"/>
    <p:sldId id="430" r:id="rId43"/>
    <p:sldId id="434" r:id="rId44"/>
    <p:sldId id="435" r:id="rId45"/>
    <p:sldId id="436" r:id="rId46"/>
    <p:sldId id="956" r:id="rId47"/>
    <p:sldId id="957" r:id="rId48"/>
    <p:sldId id="959" r:id="rId49"/>
    <p:sldId id="960" r:id="rId50"/>
    <p:sldId id="675" r:id="rId51"/>
    <p:sldId id="961" r:id="rId52"/>
    <p:sldId id="962" r:id="rId53"/>
    <p:sldId id="444" r:id="rId54"/>
    <p:sldId id="449" r:id="rId55"/>
    <p:sldId id="450" r:id="rId56"/>
    <p:sldId id="445" r:id="rId57"/>
    <p:sldId id="446" r:id="rId58"/>
    <p:sldId id="451" r:id="rId59"/>
    <p:sldId id="963" r:id="rId60"/>
    <p:sldId id="964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ED7D31"/>
    <a:srgbClr val="FF5050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82984" autoAdjust="0"/>
  </p:normalViewPr>
  <p:slideViewPr>
    <p:cSldViewPr snapToGrid="0">
      <p:cViewPr varScale="1">
        <p:scale>
          <a:sx n="42" d="100"/>
          <a:sy n="42" d="100"/>
        </p:scale>
        <p:origin x="141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.visual-paradigm.com/ko/diagrams/features/chen-entity-relationship-diagram-tool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pp.diagrams.net/?src=about" TargetMode="Externa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EF1CB-6818-2DF6-4C3F-E39659C6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545C5-9ED0-101F-DFA9-B3CEDA44C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D99115-6173-8DF2-65BB-9294158B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4B666-BC47-F6B2-E17B-A9D65A3CF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9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DAEC-052A-BB13-8845-DEAF5B4A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F580BD-308F-FB10-07CF-8F61C9674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16E49-B44E-41DB-1A2F-E934F425A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388F06-A277-9BC5-A05C-F865B049E0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62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60CF-52F6-D50E-0521-9F081F91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2A3E74-3936-7ED6-2C57-1FCB66FA2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6D29F8-2D39-ADDE-0863-FAE1944D7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64CF05-D3D1-A06C-5838-9E31DF958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240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3446-ADF3-B37F-065D-13C2DF80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E39171-18A7-BEBB-0B2E-AF940BD30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4CFFB5-B6CB-149A-3D27-758CD19C7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D7E266-2158-C0AE-B3E4-217A5721C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035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4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4F48-590C-66CE-CDB0-3435F25D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99B995-AFBC-F09A-6119-D01FA8E2B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5B94CF-CD31-B7EE-099B-822FC79C3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8279E-F951-0F0C-D51F-90C8DCA50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419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9E68-26B2-80B0-5114-7B4A5E94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D8657C-E397-2F1F-9D97-A502F18C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2B7F80-5420-5A52-77C3-E199FDBF9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D30F22-DA9C-87AC-32E5-926AE17E5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95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7099-EB3A-3F61-1441-C1797579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6CAF22-8A40-A101-47F3-91AB8D375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5EAAF-FE4B-B10F-1AE2-D81D28237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3CC9C-3286-5454-BE00-8CB16D795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092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5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139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740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92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10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실제로 이름 항목을 쪼개서 저장하진 않겠지만</a:t>
            </a:r>
            <a:r>
              <a:rPr lang="en-US" altLang="ko-KR" dirty="0"/>
              <a:t>…!!</a:t>
            </a:r>
          </a:p>
          <a:p>
            <a:endParaRPr lang="en-US" altLang="ko-KR" dirty="0"/>
          </a:p>
          <a:p>
            <a:r>
              <a:rPr lang="en-US" altLang="ko-KR" dirty="0"/>
              <a:t>ex.</a:t>
            </a:r>
          </a:p>
          <a:p>
            <a:r>
              <a:rPr lang="ko-KR" altLang="en-US" dirty="0"/>
              <a:t>단순 속성</a:t>
            </a:r>
            <a:r>
              <a:rPr lang="en-US" altLang="ko-KR" dirty="0"/>
              <a:t>: </a:t>
            </a:r>
            <a:r>
              <a:rPr lang="ko-KR" altLang="en-US" dirty="0"/>
              <a:t>학번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시</a:t>
            </a:r>
            <a:r>
              <a:rPr lang="en-US" altLang="ko-KR" dirty="0"/>
              <a:t>(</a:t>
            </a:r>
            <a:r>
              <a:rPr lang="ko-KR" altLang="en-US" dirty="0"/>
              <a:t>주소</a:t>
            </a:r>
            <a:r>
              <a:rPr lang="en-US" altLang="ko-KR" dirty="0"/>
              <a:t>), </a:t>
            </a:r>
            <a:r>
              <a:rPr lang="ko-KR" altLang="en-US" dirty="0"/>
              <a:t>동</a:t>
            </a:r>
            <a:r>
              <a:rPr lang="en-US" altLang="ko-KR" dirty="0"/>
              <a:t>(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복합 속성</a:t>
            </a:r>
            <a:r>
              <a:rPr lang="en-US" altLang="ko-KR" dirty="0"/>
              <a:t>: </a:t>
            </a:r>
            <a:r>
              <a:rPr lang="ko-KR" altLang="en-US" dirty="0"/>
              <a:t>주소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132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399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749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347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945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u="sng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  <a:hlinkClick r:id="rId3"/>
              </a:rPr>
              <a:t>https://online.visual-paradigm.com/ko/diagrams/features/chen-entity-relationship-diagram-tool/</a:t>
            </a:r>
            <a:endParaRPr lang="en-US" altLang="ko-KR" sz="1200" b="0" i="0" u="sng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endParaRPr lang="en-US" altLang="ko-KR" sz="1200" b="0" i="0" u="sng" kern="1200" dirty="0">
              <a:solidFill>
                <a:schemeClr val="tx1"/>
              </a:solidFill>
              <a:effectLst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b="0" i="0" u="sng" kern="120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  <a:hlinkClick r:id="rId4"/>
              </a:rPr>
              <a:t>https://app.diagrams.net/?src=about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94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242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1C49-D3E2-F72B-D8AC-FA97033E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2A9C4-30DF-673F-A4D3-1C4831D84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BB0C45-9946-0109-FC51-21784DC88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ACC0E-E924-5643-C8E2-91FDB3820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672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F883-9D13-2812-9336-5E3BB63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76A447-648D-8D18-EECD-E359B22B1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7A2D0A-F82E-B6BB-12EC-52BD2E00C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90863-21EF-9CDB-79D2-17E65470A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704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2B3E-71CC-5D7A-3BBD-7CBDCD5E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90659-A887-CEC2-65C2-FAB20684C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5D16F-E775-BB2F-A6DF-9B5C267B4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A7016-9456-2D46-D2A2-BA057BE4A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416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2BB9-B255-605B-0A10-C33BA86B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7BFDCF-7600-238B-28A2-0F79AE10D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1735CD-D3A8-C176-A52F-122525637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26CB-64F4-9A70-E192-84382FEEB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994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2DD4-60EA-1F69-6321-892148BC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E1EE0-F55F-2C10-F6BD-CE3DF6C22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BF75FE-F151-E42D-CA4A-623527CA5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1C3A90-2738-2051-88CB-394DA29FA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592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DE8E-843A-A3A5-FE48-0B101192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228DB-F6E8-A839-7F5E-66865C282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2988F1-C4A9-FC8D-5C5B-EC372409A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8BBB0-E86C-E1A8-7C78-FA4C1E9F8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679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C69D-B215-D103-7E52-626D0859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26381E-1002-8F9B-F158-40D041018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BE5839-7647-F73E-C0D6-05FA66EAD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890D2-FDC1-EAEB-28F2-DED82B95A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1375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91FD-2ECD-5ACB-3402-8A57C436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CA4E25-ABD6-2B2A-15B4-C4B20955B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0E607A-9D76-D65F-1DDC-CB930E448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CE52D-C8CB-2BE6-5F42-A030A4483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2434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797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578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368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8870-6978-E766-D044-5DF9914FE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007FA-7CC8-026B-C425-72A07CDC8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203ACF-B92E-2F39-56D6-9052FC3DB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4B70DC-8F1E-76B1-425F-0BF77D26D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529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563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790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3483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626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8094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2F88-5BA0-EC73-7BBB-0D3D82EA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BA308F-3B9E-6AA8-295A-CFD3CA7F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AEC32-DB02-2C94-A0E7-521101173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FFF83-D37D-0178-D712-3392ABE04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111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6DC5-C639-FE18-21B4-93355231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3AB518-395A-A641-0997-3C04B240B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173509-DA76-22D6-B0B7-CDAC2C3B9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Tip! </a:t>
            </a:r>
            <a:r>
              <a:rPr lang="ko-KR" altLang="en-US" dirty="0"/>
              <a:t>전체참여</a:t>
            </a:r>
            <a:r>
              <a:rPr lang="en-US" altLang="ko-KR" dirty="0"/>
              <a:t>: </a:t>
            </a:r>
            <a:r>
              <a:rPr lang="ko-KR" altLang="en-US" dirty="0" err="1"/>
              <a:t>두손을</a:t>
            </a:r>
            <a:r>
              <a:rPr lang="ko-KR" altLang="en-US" dirty="0"/>
              <a:t> 뻗어 관계에 매달림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EF4D8B-4A32-37AE-810A-944B489D8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7818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779C-D479-53FD-3582-C0012724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5E1DFD-7935-A6DC-9FBA-AE9E4EC24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C3093-D938-F223-C402-9B6C7E5E4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AFE8DD-D6A4-6284-1AA5-BEC034F2B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0959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강한 개체는 다른 개체의 도움 없이 독립적으로 존재할 수 있으며 고유한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기본키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(Primary Key)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를 가지고 있습니다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732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571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9676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관계 데이터 모델</a:t>
            </a:r>
            <a:r>
              <a:rPr lang="en-US" altLang="ko-KR" dirty="0"/>
              <a:t>: </a:t>
            </a:r>
            <a:r>
              <a:rPr lang="ko-KR" altLang="en-US" dirty="0"/>
              <a:t>릴레이션 하나로 데이터베이스 논리적 구조 표현</a:t>
            </a:r>
            <a:endParaRPr lang="en-US" altLang="ko-KR" dirty="0"/>
          </a:p>
          <a:p>
            <a:r>
              <a:rPr lang="en-US" altLang="ko-KR" b="1" dirty="0"/>
              <a:t>ER Model</a:t>
            </a:r>
            <a:r>
              <a:rPr lang="en-US" altLang="ko-KR" dirty="0"/>
              <a:t>: </a:t>
            </a:r>
            <a:r>
              <a:rPr lang="ko-KR" altLang="en-US" dirty="0"/>
              <a:t>개체 타입</a:t>
            </a:r>
            <a:r>
              <a:rPr lang="en-US" altLang="ko-KR" dirty="0"/>
              <a:t>, </a:t>
            </a:r>
            <a:r>
              <a:rPr lang="ko-KR" altLang="en-US" dirty="0"/>
              <a:t>관계 타입</a:t>
            </a:r>
            <a:r>
              <a:rPr lang="en-US" altLang="ko-KR" dirty="0"/>
              <a:t>, </a:t>
            </a:r>
            <a:r>
              <a:rPr lang="ko-KR" altLang="en-US" dirty="0"/>
              <a:t>속성으로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993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5279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외래키에 </a:t>
            </a:r>
            <a:r>
              <a:rPr lang="en-US" altLang="ko-KR" dirty="0"/>
              <a:t>NULL </a:t>
            </a:r>
            <a:r>
              <a:rPr lang="ko-KR" altLang="en-US" dirty="0"/>
              <a:t>값 덜 발생하는 방법 사용하면 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방법</a:t>
            </a:r>
            <a:r>
              <a:rPr lang="en-US" altLang="ko-KR" dirty="0"/>
              <a:t>1: </a:t>
            </a:r>
            <a:r>
              <a:rPr lang="ko-KR" altLang="en-US" dirty="0"/>
              <a:t>학원 수 </a:t>
            </a:r>
            <a:r>
              <a:rPr lang="en-US" altLang="ko-KR" dirty="0"/>
              <a:t>&gt; </a:t>
            </a:r>
            <a:r>
              <a:rPr lang="ko-KR" altLang="en-US" dirty="0"/>
              <a:t>사무실 수</a:t>
            </a:r>
            <a:endParaRPr lang="en-US" altLang="ko-KR" dirty="0"/>
          </a:p>
          <a:p>
            <a:r>
              <a:rPr lang="ko-KR" altLang="en-US" dirty="0"/>
              <a:t>방법</a:t>
            </a:r>
            <a:r>
              <a:rPr lang="en-US" altLang="ko-KR" dirty="0"/>
              <a:t>2: </a:t>
            </a:r>
            <a:r>
              <a:rPr lang="ko-KR" altLang="en-US" dirty="0"/>
              <a:t>학원 수 </a:t>
            </a:r>
            <a:r>
              <a:rPr lang="en-US" altLang="ko-KR" dirty="0"/>
              <a:t>&lt; </a:t>
            </a:r>
            <a:r>
              <a:rPr lang="ko-KR" altLang="en-US" dirty="0"/>
              <a:t>사무실 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6957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N(M) </a:t>
            </a:r>
            <a:r>
              <a:rPr lang="ko-KR" altLang="en-US" dirty="0"/>
              <a:t>쪽이 기준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5386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dirty="0"/>
              <a:t>참고</a:t>
            </a:r>
            <a:r>
              <a:rPr lang="en-US" altLang="ko-KR" dirty="0"/>
              <a:t>: https://creamilk88.tistory.com/13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29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F3F3-CE31-3442-B509-D763D38A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6A2027-03CA-D6E9-2FED-CF8E07831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8793E5-8E58-B71A-83BF-811FA143E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DB7D21-58E4-D182-2DE9-26D464AD8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415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49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74633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197620" y="2600493"/>
            <a:ext cx="57967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모델링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D96-2E13-82D4-8580-4CA6BDF8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9E60A-44CF-ACE9-2DD2-D2B2C6353C94}"/>
              </a:ext>
            </a:extLst>
          </p:cNvPr>
          <p:cNvSpPr txBox="1"/>
          <p:nvPr/>
        </p:nvSpPr>
        <p:spPr>
          <a:xfrm>
            <a:off x="3674511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모델링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940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모델링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47820"/>
            <a:ext cx="11844418" cy="1473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현실 세계의 데이터를 구조적으로 표현하는 과정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→ 효율적인 데이터 저장과 관리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일관성 유지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개발 및 유지보수 비용 절감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FDD8B2E-41F2-017B-B819-83FD258BCCB4}"/>
              </a:ext>
            </a:extLst>
          </p:cNvPr>
          <p:cNvGrpSpPr/>
          <p:nvPr/>
        </p:nvGrpSpPr>
        <p:grpSpPr>
          <a:xfrm>
            <a:off x="3074125" y="2472264"/>
            <a:ext cx="6043750" cy="3729212"/>
            <a:chOff x="3074125" y="2521131"/>
            <a:chExt cx="6043750" cy="372921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FA4DA10-5824-4704-DCC5-0187072E5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4125" y="2521131"/>
              <a:ext cx="6043750" cy="346760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30B6B8-D124-8085-8268-36A06209C177}"/>
                </a:ext>
              </a:extLst>
            </p:cNvPr>
            <p:cNvSpPr txBox="1"/>
            <p:nvPr/>
          </p:nvSpPr>
          <p:spPr>
            <a:xfrm>
              <a:off x="4628252" y="5988733"/>
              <a:ext cx="293549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bg1">
                      <a:lumMod val="75000"/>
                    </a:schemeClr>
                  </a:solidFill>
                </a:rPr>
                <a:t>이미지 출처</a:t>
              </a:r>
              <a:r>
                <a:rPr lang="en-US" altLang="ko-KR" sz="1100" dirty="0">
                  <a:solidFill>
                    <a:schemeClr val="bg1">
                      <a:lumMod val="75000"/>
                    </a:schemeClr>
                  </a:solidFill>
                </a:rPr>
                <a:t>: </a:t>
              </a:r>
              <a:r>
                <a:rPr lang="ko-KR" altLang="en-US" sz="1100" dirty="0">
                  <a:solidFill>
                    <a:schemeClr val="bg1">
                      <a:lumMod val="75000"/>
                    </a:schemeClr>
                  </a:solidFill>
                </a:rPr>
                <a:t>https://mangkyu.tistory.com/27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143DC00-C770-295B-4A65-44788C68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24DA-E919-CC2B-4FE2-C151D2F3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모델링의 과정</a:t>
            </a:r>
            <a:endParaRPr lang="en-US" altLang="ko-KR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ACF083-2DEE-5CA8-633A-AE1E645D24EF}"/>
              </a:ext>
            </a:extLst>
          </p:cNvPr>
          <p:cNvGrpSpPr/>
          <p:nvPr/>
        </p:nvGrpSpPr>
        <p:grpSpPr>
          <a:xfrm>
            <a:off x="5509588" y="1362885"/>
            <a:ext cx="6333957" cy="4703755"/>
            <a:chOff x="5509588" y="1164879"/>
            <a:chExt cx="6484890" cy="4815842"/>
          </a:xfrm>
        </p:grpSpPr>
        <p:pic>
          <p:nvPicPr>
            <p:cNvPr id="9" name="Picture 2" descr="Database] 6. 데이터 모델링(Data Modeling) - MangKyu's Diary">
              <a:extLst>
                <a:ext uri="{FF2B5EF4-FFF2-40B4-BE49-F238E27FC236}">
                  <a16:creationId xmlns:a16="http://schemas.microsoft.com/office/drawing/2014/main" id="{C0B5A213-388E-F514-0A2E-F4DECCB5B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9588" y="1164879"/>
              <a:ext cx="6484890" cy="4528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9F2B7B-D3CC-7EC4-280B-A67D761432FD}"/>
                </a:ext>
              </a:extLst>
            </p:cNvPr>
            <p:cNvSpPr txBox="1"/>
            <p:nvPr/>
          </p:nvSpPr>
          <p:spPr>
            <a:xfrm>
              <a:off x="7156975" y="5712877"/>
              <a:ext cx="3190115" cy="267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bg1">
                      <a:lumMod val="75000"/>
                    </a:schemeClr>
                  </a:solidFill>
                </a:rPr>
                <a:t>이미지 출처</a:t>
              </a:r>
              <a:r>
                <a:rPr lang="en-US" altLang="ko-KR" sz="1100" dirty="0">
                  <a:solidFill>
                    <a:schemeClr val="bg1">
                      <a:lumMod val="75000"/>
                    </a:schemeClr>
                  </a:solidFill>
                </a:rPr>
                <a:t>: </a:t>
              </a:r>
              <a:r>
                <a:rPr lang="ko-KR" altLang="en-US" sz="1100" dirty="0">
                  <a:solidFill>
                    <a:schemeClr val="bg1">
                      <a:lumMod val="75000"/>
                    </a:schemeClr>
                  </a:solidFill>
                </a:rPr>
                <a:t>https://mangkyu.tistory.com/27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899129C-71A5-C597-2531-1DE5F68C3BC7}"/>
              </a:ext>
            </a:extLst>
          </p:cNvPr>
          <p:cNvSpPr txBox="1"/>
          <p:nvPr/>
        </p:nvSpPr>
        <p:spPr>
          <a:xfrm>
            <a:off x="583702" y="1893624"/>
            <a:ext cx="3809702" cy="2935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>
                <a:latin typeface="+mn-ea"/>
              </a:rPr>
              <a:t>1️⃣ </a:t>
            </a:r>
            <a:r>
              <a:rPr lang="ko-KR" altLang="en-US" sz="2400" dirty="0">
                <a:latin typeface="+mn-ea"/>
              </a:rPr>
              <a:t>요구사항 분석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>
                <a:latin typeface="+mn-ea"/>
              </a:rPr>
              <a:t>2️⃣ </a:t>
            </a:r>
            <a:r>
              <a:rPr lang="ko-KR" altLang="en-US" sz="2400" dirty="0">
                <a:latin typeface="+mn-ea"/>
              </a:rPr>
              <a:t>개념적 데이터 모델 설계 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>
                <a:latin typeface="+mn-ea"/>
              </a:rPr>
              <a:t>3️⃣ </a:t>
            </a:r>
            <a:r>
              <a:rPr lang="ko-KR" altLang="en-US" sz="2400" dirty="0">
                <a:latin typeface="+mn-ea"/>
              </a:rPr>
              <a:t>논리적 데이터 모델 설계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>
                <a:latin typeface="+mn-ea"/>
              </a:rPr>
              <a:t>4️⃣ </a:t>
            </a:r>
            <a:r>
              <a:rPr lang="ko-KR" altLang="en-US" sz="2400" dirty="0">
                <a:latin typeface="+mn-ea"/>
              </a:rPr>
              <a:t>물리적 데이터 모델 설계</a:t>
            </a:r>
          </a:p>
        </p:txBody>
      </p:sp>
    </p:spTree>
    <p:extLst>
      <p:ext uri="{BB962C8B-B14F-4D97-AF65-F5344CB8AC3E}">
        <p14:creationId xmlns:p14="http://schemas.microsoft.com/office/powerpoint/2010/main" val="433897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89E3445-7314-16C6-4E54-B1959DD2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03B19-CD24-5A80-754D-C81FFDD7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모델링의 과정</a:t>
            </a: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85DCE-4AD7-905C-9662-69A77777B540}"/>
              </a:ext>
            </a:extLst>
          </p:cNvPr>
          <p:cNvSpPr txBox="1"/>
          <p:nvPr/>
        </p:nvSpPr>
        <p:spPr>
          <a:xfrm>
            <a:off x="251788" y="1012557"/>
            <a:ext cx="7307670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sz="2800" dirty="0"/>
              <a:t> 개념 모델(</a:t>
            </a:r>
            <a:r>
              <a:rPr lang="ko-KR" altLang="en-US" sz="2800" dirty="0" err="1"/>
              <a:t>Conceptual</a:t>
            </a:r>
            <a:r>
              <a:rPr lang="ko-KR" altLang="en-US" sz="2800" dirty="0"/>
              <a:t> </a:t>
            </a:r>
            <a:r>
              <a:rPr lang="ko-KR" altLang="en-US" sz="2800" dirty="0" err="1"/>
              <a:t>Model</a:t>
            </a:r>
            <a:r>
              <a:rPr lang="ko-KR" altLang="en-US" sz="28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현실 세계의 비즈니스 구조를 개념적으로 표현한 모델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06255C3-E58F-B69B-26E2-FD9EE0561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2827866"/>
            <a:ext cx="6400802" cy="243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FACEF-84A7-3F63-3C29-CA8E1A6093D3}"/>
              </a:ext>
            </a:extLst>
          </p:cNvPr>
          <p:cNvSpPr txBox="1"/>
          <p:nvPr/>
        </p:nvSpPr>
        <p:spPr>
          <a:xfrm>
            <a:off x="3115734" y="5135439"/>
            <a:ext cx="61129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https://wikidocs.net/213760</a:t>
            </a:r>
          </a:p>
        </p:txBody>
      </p:sp>
    </p:spTree>
    <p:extLst>
      <p:ext uri="{BB962C8B-B14F-4D97-AF65-F5344CB8AC3E}">
        <p14:creationId xmlns:p14="http://schemas.microsoft.com/office/powerpoint/2010/main" val="3317592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8265C62-B269-69A8-BC25-4F9D782E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A992A-37E6-760E-0AD9-69738004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모델링의 과정</a:t>
            </a: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F0983-984F-D629-FB24-19C7BE90B852}"/>
              </a:ext>
            </a:extLst>
          </p:cNvPr>
          <p:cNvSpPr txBox="1"/>
          <p:nvPr/>
        </p:nvSpPr>
        <p:spPr>
          <a:xfrm>
            <a:off x="251787" y="1012557"/>
            <a:ext cx="11688425" cy="178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sz="2800" dirty="0"/>
              <a:t> 논리 모델</a:t>
            </a:r>
            <a:r>
              <a:rPr lang="en-US" altLang="ko-KR" sz="2800" dirty="0"/>
              <a:t>(Logical Model)</a:t>
            </a:r>
            <a:endParaRPr lang="ko-KR" altLang="en-US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개념 모델을 바탕으로 데이터를 더 구체적으로 정리하여 테이블 형태로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구조화하는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과정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속성과 관계를 정의하고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효율적으로 저장할 수 있도록 정리함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51272A9-E9F6-75B2-9852-DCC51AECA9F7}"/>
              </a:ext>
            </a:extLst>
          </p:cNvPr>
          <p:cNvGrpSpPr/>
          <p:nvPr/>
        </p:nvGrpSpPr>
        <p:grpSpPr>
          <a:xfrm>
            <a:off x="2014537" y="3267987"/>
            <a:ext cx="8162925" cy="2714807"/>
            <a:chOff x="2014537" y="3267987"/>
            <a:chExt cx="8162925" cy="27148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7861EF-1AD9-0F26-7902-22E44E23921D}"/>
                </a:ext>
              </a:extLst>
            </p:cNvPr>
            <p:cNvSpPr txBox="1"/>
            <p:nvPr/>
          </p:nvSpPr>
          <p:spPr>
            <a:xfrm>
              <a:off x="3039534" y="5736573"/>
              <a:ext cx="611293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https://wikidocs.net/213760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42541758-C4EF-5A05-5D64-51857539C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537" y="3267987"/>
              <a:ext cx="8162925" cy="2266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69494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0F22BB8-0F1C-1DF3-0DAD-23A20BBD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2199E-E268-D930-502C-1EC90D28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모델링의 과정</a:t>
            </a: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01973-EEB8-2FEA-28FE-4308003C88E0}"/>
              </a:ext>
            </a:extLst>
          </p:cNvPr>
          <p:cNvSpPr txBox="1"/>
          <p:nvPr/>
        </p:nvSpPr>
        <p:spPr>
          <a:xfrm>
            <a:off x="251787" y="1012557"/>
            <a:ext cx="11626945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sz="2800" dirty="0"/>
              <a:t> 물리 모델</a:t>
            </a:r>
            <a:r>
              <a:rPr lang="en-US" altLang="ko-KR" sz="2800" dirty="0"/>
              <a:t>(Physical Model)</a:t>
            </a:r>
            <a:endParaRPr lang="ko-KR" altLang="en-US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논리 모델을 기반으로 실제 데이터베이스에서 구현할 수 있는 형태로 변환한 모델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25BF91-D605-3806-35E9-D2236A2BE384}"/>
              </a:ext>
            </a:extLst>
          </p:cNvPr>
          <p:cNvGrpSpPr/>
          <p:nvPr/>
        </p:nvGrpSpPr>
        <p:grpSpPr>
          <a:xfrm>
            <a:off x="2078566" y="2434787"/>
            <a:ext cx="8034867" cy="3661204"/>
            <a:chOff x="1871133" y="2324721"/>
            <a:chExt cx="8449734" cy="38502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38496-A3E3-4232-E413-4F69A6ACCDFF}"/>
                </a:ext>
              </a:extLst>
            </p:cNvPr>
            <p:cNvSpPr txBox="1"/>
            <p:nvPr/>
          </p:nvSpPr>
          <p:spPr>
            <a:xfrm>
              <a:off x="3039534" y="5928744"/>
              <a:ext cx="611293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https://wikidocs.net/213760</a:t>
              </a: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4162BD5-81D7-4654-67FD-A6258709C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1133" y="2324721"/>
              <a:ext cx="8449734" cy="3520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56421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5C47-5C1D-C1B8-4A9F-70B5DBED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07F24C-D7AE-0C62-6201-C870AE6C5F90}"/>
              </a:ext>
            </a:extLst>
          </p:cNvPr>
          <p:cNvSpPr txBox="1"/>
          <p:nvPr/>
        </p:nvSpPr>
        <p:spPr>
          <a:xfrm>
            <a:off x="4240374" y="2600493"/>
            <a:ext cx="3711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ERD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299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 </a:t>
            </a:r>
            <a:r>
              <a:rPr lang="ko-KR" altLang="en-US" dirty="0"/>
              <a:t>모델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79103"/>
            <a:ext cx="11701221" cy="4671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ER </a:t>
            </a:r>
            <a:r>
              <a:rPr lang="ko-KR" altLang="en-US" dirty="0"/>
              <a:t>모델</a:t>
            </a:r>
            <a:r>
              <a:rPr lang="en-US" altLang="ko-KR" dirty="0"/>
              <a:t>(Entity-Relationship Model)</a:t>
            </a:r>
            <a:r>
              <a:rPr lang="ko-KR" altLang="en-US" dirty="0"/>
              <a:t>은 현실 세계의 데이터를 개념적으로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표현하는 모델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dirty="0"/>
              <a:t>데이터를 </a:t>
            </a:r>
            <a:r>
              <a:rPr lang="ko-KR" altLang="en-US" dirty="0" err="1"/>
              <a:t>엔터티</a:t>
            </a:r>
            <a:r>
              <a:rPr lang="en-US" altLang="ko-KR" dirty="0"/>
              <a:t>(Entity), </a:t>
            </a:r>
            <a:r>
              <a:rPr lang="ko-KR" altLang="en-US" dirty="0"/>
              <a:t>속성</a:t>
            </a:r>
            <a:r>
              <a:rPr lang="en-US" altLang="ko-KR" dirty="0"/>
              <a:t>(Attribute), </a:t>
            </a:r>
            <a:r>
              <a:rPr lang="ko-KR" altLang="en-US" dirty="0"/>
              <a:t>관계</a:t>
            </a:r>
            <a:r>
              <a:rPr lang="en-US" altLang="ko-KR" dirty="0"/>
              <a:t>(Relationship)</a:t>
            </a:r>
            <a:r>
              <a:rPr lang="ko-KR" altLang="en-US" dirty="0"/>
              <a:t>로 정의하여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데이터베이스 설계의 기초를 마련함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→ </a:t>
            </a:r>
            <a:r>
              <a:rPr lang="en-US" altLang="ko-KR" dirty="0"/>
              <a:t>ER </a:t>
            </a:r>
            <a:r>
              <a:rPr lang="ko-KR" altLang="en-US" dirty="0"/>
              <a:t>모델을 기반으로 </a:t>
            </a:r>
            <a:r>
              <a:rPr lang="en-US" altLang="ko-KR" dirty="0"/>
              <a:t>ERD(Entity-Relationship Diagram)</a:t>
            </a:r>
            <a:r>
              <a:rPr lang="ko-KR" altLang="en-US" dirty="0"/>
              <a:t>을 그려 데이터 간의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관계를 쉽게 이해할 수 있도록 시각화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A3601-EEC4-BB76-13FE-6F37145955C2}"/>
              </a:ext>
            </a:extLst>
          </p:cNvPr>
          <p:cNvSpPr txBox="1"/>
          <p:nvPr/>
        </p:nvSpPr>
        <p:spPr>
          <a:xfrm>
            <a:off x="428625" y="5878897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1976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Peter Chen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개발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38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29AF-DF0C-F18E-27E8-F79CA4369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BC948F5-1B1F-AD7F-EC5F-D86221D4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 </a:t>
            </a:r>
            <a:r>
              <a:rPr lang="ko-KR" altLang="en-US" dirty="0"/>
              <a:t>모델 구성요소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BEEAFC-0918-5061-4FE0-9DF3DD49F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983352"/>
            <a:ext cx="11701221" cy="20507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엔터티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(Entity)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현실 세계에서 고유하게 존재하는 데이터의 집합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dirty="0"/>
              <a:t>객체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None/>
            </a:pPr>
            <a:r>
              <a:rPr lang="ko-KR" altLang="en-US" dirty="0"/>
              <a:t>✔️ 속성</a:t>
            </a:r>
            <a:r>
              <a:rPr lang="en-US" altLang="ko-KR" dirty="0"/>
              <a:t>(Attribute) : </a:t>
            </a:r>
            <a:r>
              <a:rPr lang="ko-KR" altLang="en-US" dirty="0" err="1"/>
              <a:t>엔터티가</a:t>
            </a:r>
            <a:r>
              <a:rPr lang="ko-KR" altLang="en-US" dirty="0"/>
              <a:t> 가지는 데이터의 특징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✔️ 관계</a:t>
            </a:r>
            <a:r>
              <a:rPr lang="en-US" altLang="ko-KR" dirty="0"/>
              <a:t>(Relationship) : </a:t>
            </a:r>
            <a:r>
              <a:rPr lang="ko-KR" altLang="en-US" dirty="0"/>
              <a:t>두 개 이상의 </a:t>
            </a:r>
            <a:r>
              <a:rPr lang="ko-KR" altLang="en-US" dirty="0" err="1"/>
              <a:t>엔터티</a:t>
            </a:r>
            <a:r>
              <a:rPr lang="ko-KR" altLang="en-US" dirty="0"/>
              <a:t> 간의 연관성을 표현하는 개념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83BB928-6840-EE5E-6EF8-9AA0793436C2}"/>
              </a:ext>
            </a:extLst>
          </p:cNvPr>
          <p:cNvGrpSpPr/>
          <p:nvPr/>
        </p:nvGrpSpPr>
        <p:grpSpPr>
          <a:xfrm>
            <a:off x="3633071" y="3429000"/>
            <a:ext cx="4925857" cy="2617640"/>
            <a:chOff x="4253861" y="3707368"/>
            <a:chExt cx="4242439" cy="22732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D1F0A67-0E77-093F-04DC-BEE36A97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9900" y="4191000"/>
              <a:ext cx="1371600" cy="13716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7F949A2-3331-01F3-6622-33B1FFCE8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4700" y="4191000"/>
              <a:ext cx="1371600" cy="13716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42BDEF-AEE6-1A47-4FD3-10A0609F0E5E}"/>
                </a:ext>
              </a:extLst>
            </p:cNvPr>
            <p:cNvSpPr txBox="1"/>
            <p:nvPr/>
          </p:nvSpPr>
          <p:spPr>
            <a:xfrm>
              <a:off x="4363619" y="3707368"/>
              <a:ext cx="1204161" cy="320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선생님 </a:t>
              </a:r>
              <a:r>
                <a:rPr lang="en-US" altLang="ko-KR" dirty="0"/>
                <a:t>(</a:t>
              </a:r>
              <a:r>
                <a:rPr lang="ko-KR" altLang="en-US" dirty="0"/>
                <a:t>개체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735E04-FE40-6C39-67D5-9EE3BF15D845}"/>
                </a:ext>
              </a:extLst>
            </p:cNvPr>
            <p:cNvSpPr txBox="1"/>
            <p:nvPr/>
          </p:nvSpPr>
          <p:spPr>
            <a:xfrm>
              <a:off x="7273624" y="3707368"/>
              <a:ext cx="1032966" cy="320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학생 </a:t>
              </a:r>
              <a:r>
                <a:rPr lang="en-US" altLang="ko-KR" dirty="0"/>
                <a:t>(</a:t>
              </a:r>
              <a:r>
                <a:rPr lang="ko-KR" altLang="en-US" dirty="0"/>
                <a:t>개체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BDF807-41DF-FE5C-BA46-722C34D327EA}"/>
                </a:ext>
              </a:extLst>
            </p:cNvPr>
            <p:cNvSpPr txBox="1"/>
            <p:nvPr/>
          </p:nvSpPr>
          <p:spPr>
            <a:xfrm>
              <a:off x="4253861" y="5659866"/>
              <a:ext cx="1423676" cy="320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담당 과목 </a:t>
              </a:r>
              <a:r>
                <a:rPr lang="en-US" altLang="ko-KR" dirty="0"/>
                <a:t>(</a:t>
              </a:r>
              <a:r>
                <a:rPr lang="ko-KR" altLang="en-US" dirty="0"/>
                <a:t>속성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175706-6E9C-0849-271F-65F75AA23BBD}"/>
                </a:ext>
              </a:extLst>
            </p:cNvPr>
            <p:cNvSpPr txBox="1"/>
            <p:nvPr/>
          </p:nvSpPr>
          <p:spPr>
            <a:xfrm>
              <a:off x="7294017" y="5659866"/>
              <a:ext cx="1032966" cy="320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학번 </a:t>
              </a:r>
              <a:r>
                <a:rPr lang="en-US" altLang="ko-KR" dirty="0"/>
                <a:t>(</a:t>
              </a:r>
              <a:r>
                <a:rPr lang="ko-KR" altLang="en-US" dirty="0"/>
                <a:t>속성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489290A-F405-0374-7455-EB5CE4822376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5651500" y="4876800"/>
              <a:ext cx="1473200" cy="0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C46C04-BEAB-416E-4DC6-A81E44F07CE8}"/>
                </a:ext>
              </a:extLst>
            </p:cNvPr>
            <p:cNvSpPr txBox="1"/>
            <p:nvPr/>
          </p:nvSpPr>
          <p:spPr>
            <a:xfrm>
              <a:off x="5966188" y="4972022"/>
              <a:ext cx="843823" cy="5612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수업하다</a:t>
              </a:r>
              <a:endParaRPr lang="en-US" altLang="ko-KR" dirty="0"/>
            </a:p>
            <a:p>
              <a:pPr algn="ctr"/>
              <a:r>
                <a:rPr lang="en-US" altLang="ko-KR" dirty="0"/>
                <a:t>(</a:t>
              </a:r>
              <a:r>
                <a:rPr lang="ko-KR" altLang="en-US" dirty="0"/>
                <a:t>관계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2197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3BFB-4A6A-1BA3-8298-49FE230F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268ABAA-0AF0-0626-1979-4CF8648C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ERD(Entity-Relationship Diagram)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2DD038-5CBC-AF21-29C1-A1565E0E8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1" y="1678850"/>
            <a:ext cx="6470371" cy="38254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en-US" altLang="ko-KR" dirty="0"/>
              <a:t>ERD</a:t>
            </a:r>
            <a:r>
              <a:rPr lang="ko-KR" altLang="en-US" dirty="0"/>
              <a:t>는 </a:t>
            </a:r>
            <a:r>
              <a:rPr lang="en-US" altLang="ko-KR" dirty="0"/>
              <a:t>ER </a:t>
            </a:r>
            <a:r>
              <a:rPr lang="ko-KR" altLang="en-US" dirty="0"/>
              <a:t>모델을 </a:t>
            </a:r>
            <a:r>
              <a:rPr lang="ko-KR" altLang="en-US" b="1" dirty="0"/>
              <a:t>시각적으로 표현한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다이어그램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→ </a:t>
            </a:r>
            <a:r>
              <a:rPr lang="ko-KR" altLang="en-US" sz="2400" dirty="0"/>
              <a:t>데이터베이스 설계 과정에서 가장 중요한 단계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다량의 데이터를 효율적으로 저장</a:t>
            </a:r>
            <a:r>
              <a:rPr lang="en-US" altLang="ko-KR" dirty="0"/>
              <a:t>, </a:t>
            </a:r>
            <a:r>
              <a:rPr lang="ko-KR" altLang="en-US" dirty="0"/>
              <a:t>검색</a:t>
            </a:r>
            <a:r>
              <a:rPr lang="en-US" altLang="ko-KR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삭제할 수 있도록 설계된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b="1" dirty="0"/>
          </a:p>
        </p:txBody>
      </p:sp>
      <p:pic>
        <p:nvPicPr>
          <p:cNvPr id="1026" name="Picture 2" descr="ER다이어그램_ERD 작성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564" y="2032000"/>
            <a:ext cx="4991430" cy="311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056119" y="5247660"/>
            <a:ext cx="4846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https://velog.io/@qkr0677/ER%EB%8B%A4%EC%9D%B4%EC%96%B4%EA%B7%B8%EB%9E%A8ERD-%EC%9E%91%EC%84%B1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279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80E9-19EB-D1D7-E6B2-DDBBC90F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B1959AC-7C93-82DE-3498-28F5ECB7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개체</a:t>
            </a:r>
            <a:r>
              <a:rPr lang="en-US" altLang="ko-KR" dirty="0"/>
              <a:t>(Entity)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26F8C5-96D2-6B70-2EEA-577E095EE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27788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현실 세계에서 고유하게 존재하는 데이터의 집합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dirty="0"/>
              <a:t>객체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개체 타입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(Entity Type):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공통적인 특성을 공유하는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Entity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집합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dirty="0"/>
              <a:t>선생님은 </a:t>
            </a:r>
            <a:r>
              <a:rPr lang="en-US" altLang="ko-KR" dirty="0"/>
              <a:t>Entity Type, </a:t>
            </a:r>
            <a:r>
              <a:rPr lang="ko-KR" altLang="en-US" dirty="0"/>
              <a:t>특정 대상은 </a:t>
            </a:r>
            <a:r>
              <a:rPr lang="en-US" altLang="ko-KR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379894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1114305-B7F8-1E04-B957-3D0DED405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506" y="2447934"/>
            <a:ext cx="5360987" cy="355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개체 타입</a:t>
            </a:r>
            <a:r>
              <a:rPr lang="en-US" altLang="ko-KR" dirty="0"/>
              <a:t>(Entity Type)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222384"/>
            <a:ext cx="10668000" cy="663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Entity Type</a:t>
            </a:r>
            <a:r>
              <a:rPr lang="ko-KR" altLang="en-US" dirty="0"/>
              <a:t>을 </a:t>
            </a:r>
            <a:r>
              <a:rPr lang="en-US" altLang="ko-KR" dirty="0"/>
              <a:t>ER</a:t>
            </a:r>
            <a:r>
              <a:rPr lang="ko-KR" altLang="en-US" dirty="0"/>
              <a:t> 다이어그램으로 나타낼 때 </a:t>
            </a:r>
            <a:r>
              <a:rPr lang="ko-KR" altLang="en-US" b="1" dirty="0">
                <a:solidFill>
                  <a:srgbClr val="00B0F0"/>
                </a:solidFill>
              </a:rPr>
              <a:t>직사각형 </a:t>
            </a:r>
            <a:r>
              <a:rPr lang="ko-KR" altLang="en-US" dirty="0"/>
              <a:t>사용 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A63A0-4E54-26D8-384B-E55D8CCAB30E}"/>
              </a:ext>
            </a:extLst>
          </p:cNvPr>
          <p:cNvSpPr txBox="1"/>
          <p:nvPr/>
        </p:nvSpPr>
        <p:spPr>
          <a:xfrm>
            <a:off x="977900" y="18859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개체 타입은 다른 용어이지만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혼합하여 사용하기도 함</a:t>
            </a:r>
          </a:p>
        </p:txBody>
      </p:sp>
    </p:spTree>
    <p:extLst>
      <p:ext uri="{BB962C8B-B14F-4D97-AF65-F5344CB8AC3E}">
        <p14:creationId xmlns:p14="http://schemas.microsoft.com/office/powerpoint/2010/main" val="346102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개체</a:t>
            </a:r>
            <a:r>
              <a:rPr lang="en-US" altLang="ko-KR" dirty="0"/>
              <a:t>(Entity) </a:t>
            </a:r>
            <a:r>
              <a:rPr lang="ko-KR" altLang="en-US" dirty="0"/>
              <a:t>이름</a:t>
            </a:r>
            <a:r>
              <a:rPr lang="en-US" altLang="ko-KR" dirty="0"/>
              <a:t> </a:t>
            </a:r>
            <a:r>
              <a:rPr lang="ko-KR" altLang="en-US" dirty="0"/>
              <a:t>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145407"/>
            <a:ext cx="11391900" cy="35091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단수형으로 작성</a:t>
            </a:r>
            <a:r>
              <a:rPr lang="en-US" altLang="ko-KR" sz="2400" dirty="0"/>
              <a:t> : Customer (O) / Customers (X)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명확한 의미를 가지도록 작성 </a:t>
            </a:r>
            <a:r>
              <a:rPr lang="en-US" altLang="ko-KR" sz="2400" dirty="0"/>
              <a:t>: User (X) → Customer (O)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약어 사용을 지양하고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의미가 명확한 이름 사용 </a:t>
            </a:r>
            <a:r>
              <a:rPr lang="en-US" altLang="ko-KR" sz="2400" dirty="0"/>
              <a:t>: Emp (X) → Employee (O)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네이밍 컨벤션</a:t>
            </a:r>
            <a:r>
              <a:rPr lang="en-US" altLang="ko-KR" sz="2400" dirty="0"/>
              <a:t>(</a:t>
            </a:r>
            <a:r>
              <a:rPr lang="en-US" altLang="ko-KR" sz="2400" dirty="0" err="1"/>
              <a:t>PascalCase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snake_case</a:t>
            </a:r>
            <a:r>
              <a:rPr lang="en-US" altLang="ko-KR" sz="2400" dirty="0"/>
              <a:t>)</a:t>
            </a:r>
            <a:r>
              <a:rPr lang="ko-KR" altLang="en-US" sz="2400" dirty="0"/>
              <a:t>을 일관되게 유지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유일해야 함 </a:t>
            </a:r>
            <a:r>
              <a:rPr lang="en-US" altLang="ko-KR" sz="2400" dirty="0"/>
              <a:t>: </a:t>
            </a:r>
            <a:r>
              <a:rPr lang="ko-KR" altLang="en-US" sz="2400" dirty="0"/>
              <a:t>하나의 </a:t>
            </a:r>
            <a:r>
              <a:rPr lang="en-US" altLang="ko-KR" sz="2400" dirty="0"/>
              <a:t>ER Model</a:t>
            </a:r>
            <a:r>
              <a:rPr lang="ko-KR" altLang="en-US" sz="2400" dirty="0"/>
              <a:t>에 같은 이름의 </a:t>
            </a:r>
            <a:r>
              <a:rPr lang="en-US" altLang="ko-KR" sz="2400" dirty="0"/>
              <a:t>Entity Type</a:t>
            </a:r>
            <a:r>
              <a:rPr lang="ko-KR" altLang="en-US" sz="2400" dirty="0"/>
              <a:t>이 존재할 수 없음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44792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68000" cy="20359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 err="1"/>
              <a:t>엔터티가</a:t>
            </a:r>
            <a:r>
              <a:rPr lang="ko-KR" altLang="en-US" dirty="0"/>
              <a:t> 가지는 데이터의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Entity Type = </a:t>
            </a:r>
            <a:r>
              <a:rPr lang="ko-KR" altLang="en-US" dirty="0"/>
              <a:t>학생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Attribute =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학번</a:t>
            </a:r>
            <a:r>
              <a:rPr lang="en-US" altLang="ko-KR" dirty="0"/>
              <a:t>, </a:t>
            </a:r>
            <a:r>
              <a:rPr lang="ko-KR" altLang="en-US" dirty="0"/>
              <a:t>전공 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5787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68000" cy="1345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Attribute</a:t>
            </a:r>
            <a:r>
              <a:rPr lang="ko-KR" altLang="en-US" dirty="0"/>
              <a:t>를 </a:t>
            </a:r>
            <a:r>
              <a:rPr lang="en-US" altLang="ko-KR" dirty="0"/>
              <a:t>ER</a:t>
            </a:r>
            <a:r>
              <a:rPr lang="ko-KR" altLang="en-US" dirty="0"/>
              <a:t> 다이어그램으로 나타낼 때 </a:t>
            </a:r>
            <a:r>
              <a:rPr lang="ko-KR" altLang="en-US" b="1" dirty="0">
                <a:solidFill>
                  <a:srgbClr val="00B0F0"/>
                </a:solidFill>
              </a:rPr>
              <a:t>타원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Entity Type(</a:t>
            </a:r>
            <a:r>
              <a:rPr lang="ko-KR" altLang="en-US" dirty="0"/>
              <a:t>직사각형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ko-KR" altLang="en-US" b="1" dirty="0"/>
              <a:t>실선으로 연결</a:t>
            </a:r>
            <a:endParaRPr lang="en-US" altLang="ko-KR" b="1" dirty="0"/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1D0E24D-FE51-A504-CF03-97A7862986D0}"/>
              </a:ext>
            </a:extLst>
          </p:cNvPr>
          <p:cNvGrpSpPr/>
          <p:nvPr/>
        </p:nvGrpSpPr>
        <p:grpSpPr>
          <a:xfrm>
            <a:off x="3282156" y="2796679"/>
            <a:ext cx="5627687" cy="3140721"/>
            <a:chOff x="3358356" y="3171179"/>
            <a:chExt cx="5627687" cy="3140721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1A8AB2AB-A93A-C2F1-571E-DEEDF4D002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8356" y="3171179"/>
              <a:ext cx="5627687" cy="314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020D41-95DE-CF4F-7275-B341D009BC70}"/>
                </a:ext>
              </a:extLst>
            </p:cNvPr>
            <p:cNvSpPr txBox="1"/>
            <p:nvPr/>
          </p:nvSpPr>
          <p:spPr>
            <a:xfrm>
              <a:off x="6807200" y="4541484"/>
              <a:ext cx="1360822" cy="3847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900" u="sng" dirty="0"/>
                <a:t>Student ID</a:t>
              </a:r>
              <a:endParaRPr lang="ko-KR" altLang="en-US" sz="1900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417294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F865EE3-8D8B-9451-D94E-A9C6A813A2B3}"/>
              </a:ext>
            </a:extLst>
          </p:cNvPr>
          <p:cNvGrpSpPr/>
          <p:nvPr/>
        </p:nvGrpSpPr>
        <p:grpSpPr>
          <a:xfrm>
            <a:off x="3282156" y="2796679"/>
            <a:ext cx="5627687" cy="3140721"/>
            <a:chOff x="3358356" y="3171179"/>
            <a:chExt cx="5627687" cy="3140721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4302749-0663-CAD7-15A1-2095B0F1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8356" y="3171179"/>
              <a:ext cx="5627687" cy="314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818BB9-323E-8560-CF15-DA72B9E43D2B}"/>
                </a:ext>
              </a:extLst>
            </p:cNvPr>
            <p:cNvSpPr txBox="1"/>
            <p:nvPr/>
          </p:nvSpPr>
          <p:spPr>
            <a:xfrm>
              <a:off x="6807200" y="4541484"/>
              <a:ext cx="1360822" cy="3847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900" u="sng" dirty="0"/>
                <a:t>Student ID</a:t>
              </a:r>
              <a:endParaRPr lang="ko-KR" altLang="en-US" sz="1900" u="sng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 </a:t>
            </a:r>
            <a:r>
              <a:rPr lang="ko-KR" altLang="en-US" dirty="0"/>
              <a:t>규칙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0514"/>
            <a:ext cx="10668000" cy="1345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/>
              <a:t>✔️ </a:t>
            </a:r>
            <a:r>
              <a:rPr lang="ko-KR" altLang="en-US" dirty="0"/>
              <a:t>단순 명사 사용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800" dirty="0"/>
              <a:t>✔️ </a:t>
            </a:r>
            <a:r>
              <a:rPr lang="ko-KR" altLang="en-US" dirty="0"/>
              <a:t>하나의 </a:t>
            </a:r>
            <a:r>
              <a:rPr lang="en-US" altLang="ko-KR" dirty="0"/>
              <a:t>Entity Type</a:t>
            </a:r>
            <a:r>
              <a:rPr lang="ko-KR" altLang="en-US" dirty="0"/>
              <a:t>에 같은 </a:t>
            </a:r>
            <a:r>
              <a:rPr lang="en-US" altLang="ko-KR" dirty="0"/>
              <a:t>Attribute </a:t>
            </a:r>
            <a:r>
              <a:rPr lang="ko-KR" altLang="en-US" dirty="0"/>
              <a:t>불가능 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5D5AD1CD-A415-EB36-67ED-77EA784FFD7A}"/>
              </a:ext>
            </a:extLst>
          </p:cNvPr>
          <p:cNvSpPr/>
          <p:nvPr/>
        </p:nvSpPr>
        <p:spPr>
          <a:xfrm>
            <a:off x="9022557" y="4646805"/>
            <a:ext cx="1193800" cy="712595"/>
          </a:xfrm>
          <a:prstGeom prst="wedgeRoundRectCallout">
            <a:avLst>
              <a:gd name="adj1" fmla="val -116578"/>
              <a:gd name="adj2" fmla="val -51562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밑줄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26294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 속성</a:t>
            </a:r>
            <a:r>
              <a:rPr lang="en-US" altLang="ko-KR" dirty="0"/>
              <a:t>(Key Attribute)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2708"/>
            <a:ext cx="9755812" cy="20230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다른 객체들과 </a:t>
            </a:r>
            <a:r>
              <a:rPr lang="ko-KR" altLang="en-US" b="1" dirty="0"/>
              <a:t>중복되지 않는 고유한 값</a:t>
            </a:r>
            <a:r>
              <a:rPr lang="ko-KR" altLang="en-US" dirty="0"/>
              <a:t>을 갖는 </a:t>
            </a:r>
            <a:r>
              <a:rPr lang="en-US" altLang="ko-KR" dirty="0"/>
              <a:t>Attribute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Student_ID</a:t>
            </a:r>
            <a:r>
              <a:rPr lang="en-US" altLang="ko-KR" dirty="0"/>
              <a:t>(</a:t>
            </a:r>
            <a:r>
              <a:rPr lang="ko-KR" altLang="en-US" dirty="0"/>
              <a:t>학번</a:t>
            </a:r>
            <a:r>
              <a:rPr lang="en-US" altLang="ko-KR" dirty="0"/>
              <a:t>)</a:t>
            </a:r>
            <a:r>
              <a:rPr lang="ko-KR" altLang="en-US" dirty="0"/>
              <a:t>은 다른 학생과 중복되지 않는 고유한 번호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>
                <a:solidFill>
                  <a:srgbClr val="00B050"/>
                </a:solidFill>
              </a:rPr>
              <a:t>밑줄</a:t>
            </a:r>
            <a:r>
              <a:rPr lang="ko-KR" altLang="en-US" dirty="0"/>
              <a:t> 표시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1908FDA-F6A5-FA07-FB59-7BA0F771286A}"/>
              </a:ext>
            </a:extLst>
          </p:cNvPr>
          <p:cNvGrpSpPr/>
          <p:nvPr/>
        </p:nvGrpSpPr>
        <p:grpSpPr>
          <a:xfrm>
            <a:off x="3282156" y="2796679"/>
            <a:ext cx="5627687" cy="3140721"/>
            <a:chOff x="3358356" y="3171179"/>
            <a:chExt cx="5627687" cy="314072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0329F95F-2631-0D98-9BF2-53405D7DBA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8356" y="3171179"/>
              <a:ext cx="5627687" cy="314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7064AB-EF45-9769-C7C0-3615B56B7B20}"/>
                </a:ext>
              </a:extLst>
            </p:cNvPr>
            <p:cNvSpPr txBox="1"/>
            <p:nvPr/>
          </p:nvSpPr>
          <p:spPr>
            <a:xfrm>
              <a:off x="6807200" y="4541484"/>
              <a:ext cx="1360822" cy="3847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900" u="sng" dirty="0"/>
                <a:t>Student ID</a:t>
              </a:r>
              <a:endParaRPr lang="ko-KR" altLang="en-US" sz="1900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4093448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3BDFE-2C97-E547-D6DF-2D071D09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 </a:t>
            </a:r>
            <a:r>
              <a:rPr lang="ko-KR" altLang="en-US" dirty="0"/>
              <a:t>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0E843-D8D1-92BB-60A4-956C00208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1418502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단순 속성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(Simple Attribute)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더 이상 나눌 수 없는 속성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복합 속성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(Composite Attribute)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독립적인 의미를 갖도록 나눌 수 있는 속성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4D63740-1D5D-F43D-3F61-6EB04F2FC021}"/>
              </a:ext>
            </a:extLst>
          </p:cNvPr>
          <p:cNvGrpSpPr/>
          <p:nvPr/>
        </p:nvGrpSpPr>
        <p:grpSpPr>
          <a:xfrm>
            <a:off x="3286125" y="2950076"/>
            <a:ext cx="5619750" cy="3263399"/>
            <a:chOff x="3286125" y="3229476"/>
            <a:chExt cx="5619750" cy="326339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10F13BE-2C4C-2B67-284A-09417FB0425A}"/>
                </a:ext>
              </a:extLst>
            </p:cNvPr>
            <p:cNvGrpSpPr/>
            <p:nvPr/>
          </p:nvGrpSpPr>
          <p:grpSpPr>
            <a:xfrm>
              <a:off x="3286125" y="3229476"/>
              <a:ext cx="5619750" cy="3263399"/>
              <a:chOff x="3286125" y="3229476"/>
              <a:chExt cx="5619750" cy="3263399"/>
            </a:xfrm>
          </p:grpSpPr>
          <p:pic>
            <p:nvPicPr>
              <p:cNvPr id="9218" name="Picture 2">
                <a:extLst>
                  <a:ext uri="{FF2B5EF4-FFF2-40B4-BE49-F238E27FC236}">
                    <a16:creationId xmlns:a16="http://schemas.microsoft.com/office/drawing/2014/main" id="{91F56CA9-46A3-5E11-2213-CD1E4A550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86125" y="3229476"/>
                <a:ext cx="5619750" cy="32633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EB94E0-ABB7-83C4-D209-EB17FB3E3E65}"/>
                  </a:ext>
                </a:extLst>
              </p:cNvPr>
              <p:cNvSpPr txBox="1"/>
              <p:nvPr/>
            </p:nvSpPr>
            <p:spPr>
              <a:xfrm>
                <a:off x="5791200" y="5163784"/>
                <a:ext cx="105208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u="sng" dirty="0"/>
                  <a:t>Student ID</a:t>
                </a:r>
                <a:endParaRPr lang="ko-KR" altLang="en-US" sz="1400" u="sng" dirty="0"/>
              </a:p>
            </p:txBody>
          </p:sp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8E15FBD-A501-F44F-ADC4-4464FF76E859}"/>
                </a:ext>
              </a:extLst>
            </p:cNvPr>
            <p:cNvSpPr/>
            <p:nvPr/>
          </p:nvSpPr>
          <p:spPr>
            <a:xfrm>
              <a:off x="4914900" y="4406901"/>
              <a:ext cx="1397000" cy="447321"/>
            </a:xfrm>
            <a:prstGeom prst="ellipse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E8F6FFA-0B19-7C4F-3BBE-AFCDCF634617}"/>
                </a:ext>
              </a:extLst>
            </p:cNvPr>
            <p:cNvSpPr/>
            <p:nvPr/>
          </p:nvSpPr>
          <p:spPr>
            <a:xfrm>
              <a:off x="6445250" y="3460749"/>
              <a:ext cx="1422400" cy="473267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A45E3EB-31B4-635A-E343-EEF41A83D808}"/>
                </a:ext>
              </a:extLst>
            </p:cNvPr>
            <p:cNvSpPr/>
            <p:nvPr/>
          </p:nvSpPr>
          <p:spPr>
            <a:xfrm>
              <a:off x="6972300" y="4229099"/>
              <a:ext cx="1422400" cy="473267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FFD6E79-780B-4286-72CA-3F4B69B7BACF}"/>
                </a:ext>
              </a:extLst>
            </p:cNvPr>
            <p:cNvSpPr/>
            <p:nvPr/>
          </p:nvSpPr>
          <p:spPr>
            <a:xfrm>
              <a:off x="5600700" y="5088533"/>
              <a:ext cx="1422400" cy="473267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7784E3F-135A-A562-9D50-3F6D6BDD6705}"/>
                </a:ext>
              </a:extLst>
            </p:cNvPr>
            <p:cNvSpPr/>
            <p:nvPr/>
          </p:nvSpPr>
          <p:spPr>
            <a:xfrm>
              <a:off x="4895850" y="5753547"/>
              <a:ext cx="1422400" cy="473267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49E87B-7BEF-743C-55D1-11C5BE9FEEC0}"/>
                </a:ext>
              </a:extLst>
            </p:cNvPr>
            <p:cNvSpPr txBox="1"/>
            <p:nvPr/>
          </p:nvSpPr>
          <p:spPr>
            <a:xfrm>
              <a:off x="5090597" y="4059822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00B050"/>
                  </a:solidFill>
                </a:rPr>
                <a:t>복합속성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D92D8CD-114F-B34B-B631-1B70722483F9}"/>
                </a:ext>
              </a:extLst>
            </p:cNvPr>
            <p:cNvSpPr txBox="1"/>
            <p:nvPr/>
          </p:nvSpPr>
          <p:spPr>
            <a:xfrm>
              <a:off x="7023100" y="486940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C000"/>
                  </a:solidFill>
                </a:rPr>
                <a:t>단순속성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9552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3BDFE-2C97-E547-D6DF-2D071D09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 </a:t>
            </a:r>
            <a:r>
              <a:rPr lang="ko-KR" altLang="en-US" dirty="0"/>
              <a:t>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0E843-D8D1-92BB-60A4-956C00208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9178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단일 값 속성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(Singled-valued Attribute):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 갖는 속성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다중 값 속성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(Multi-valued Attribute):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여러 값을 갖는 속성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/>
              <a:t>타원 </a:t>
            </a:r>
            <a:r>
              <a:rPr lang="en-US" altLang="ko-KR" dirty="0"/>
              <a:t>2</a:t>
            </a:r>
            <a:r>
              <a:rPr lang="ko-KR" altLang="en-US" dirty="0"/>
              <a:t>개 사용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E61162F-575C-CF47-1166-6BD51ED8DADD}"/>
              </a:ext>
            </a:extLst>
          </p:cNvPr>
          <p:cNvGrpSpPr/>
          <p:nvPr/>
        </p:nvGrpSpPr>
        <p:grpSpPr>
          <a:xfrm>
            <a:off x="3079911" y="2768439"/>
            <a:ext cx="6044973" cy="3380841"/>
            <a:chOff x="2697811" y="2931059"/>
            <a:chExt cx="6044973" cy="338084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992469E-8F8F-B7E2-536C-2D027866C5C5}"/>
                </a:ext>
              </a:extLst>
            </p:cNvPr>
            <p:cNvGrpSpPr/>
            <p:nvPr/>
          </p:nvGrpSpPr>
          <p:grpSpPr>
            <a:xfrm>
              <a:off x="2697811" y="2931059"/>
              <a:ext cx="6044973" cy="3380841"/>
              <a:chOff x="2697811" y="2931059"/>
              <a:chExt cx="6044973" cy="3380841"/>
            </a:xfrm>
          </p:grpSpPr>
          <p:pic>
            <p:nvPicPr>
              <p:cNvPr id="12290" name="Picture 2">
                <a:extLst>
                  <a:ext uri="{FF2B5EF4-FFF2-40B4-BE49-F238E27FC236}">
                    <a16:creationId xmlns:a16="http://schemas.microsoft.com/office/drawing/2014/main" id="{D9D55367-F612-14E5-F2A7-3B9709B0C7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7811" y="2931059"/>
                <a:ext cx="6044973" cy="3380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1B6790-3A76-DFF6-31C1-DE1438E1E39D}"/>
                  </a:ext>
                </a:extLst>
              </p:cNvPr>
              <p:cNvSpPr txBox="1"/>
              <p:nvPr/>
            </p:nvSpPr>
            <p:spPr>
              <a:xfrm>
                <a:off x="6471298" y="4429118"/>
                <a:ext cx="1360822" cy="3847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900" u="sng" dirty="0"/>
                  <a:t>Student ID</a:t>
                </a:r>
                <a:endParaRPr lang="ko-KR" altLang="en-US" sz="1900" u="sng" dirty="0"/>
              </a:p>
            </p:txBody>
          </p:sp>
        </p:grp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E87A83E-8B9C-EC5A-AF29-32EA785DB720}"/>
                </a:ext>
              </a:extLst>
            </p:cNvPr>
            <p:cNvSpPr/>
            <p:nvPr/>
          </p:nvSpPr>
          <p:spPr>
            <a:xfrm>
              <a:off x="4975488" y="5228521"/>
              <a:ext cx="2174032" cy="684800"/>
            </a:xfrm>
            <a:prstGeom prst="ellipse">
              <a:avLst/>
            </a:prstGeom>
            <a:solidFill>
              <a:srgbClr val="00B0F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873F95-E042-3478-23F7-76072E52666D}"/>
                </a:ext>
              </a:extLst>
            </p:cNvPr>
            <p:cNvSpPr txBox="1"/>
            <p:nvPr/>
          </p:nvSpPr>
          <p:spPr>
            <a:xfrm>
              <a:off x="5454638" y="5973344"/>
              <a:ext cx="12827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 err="1">
                  <a:solidFill>
                    <a:srgbClr val="00B0F0"/>
                  </a:solidFill>
                </a:rPr>
                <a:t>다중값</a:t>
              </a:r>
              <a:r>
                <a:rPr lang="ko-KR" altLang="en-US" sz="1600" b="1" dirty="0">
                  <a:solidFill>
                    <a:srgbClr val="00B0F0"/>
                  </a:solidFill>
                </a:rPr>
                <a:t> 속성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3272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3BDFE-2C97-E547-D6DF-2D071D09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(Attribute) </a:t>
            </a:r>
            <a:r>
              <a:rPr lang="ko-KR" altLang="en-US" dirty="0"/>
              <a:t>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0E843-D8D1-92BB-60A4-956C00208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1093"/>
            <a:ext cx="11414080" cy="18220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유도 속성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(Derived Attribute):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속성을 기반으로 계산되거나 유도될 수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             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있는 속성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예를 들어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직원의 나이는 주민번호로부터 계산할 수 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3558863" y="3120843"/>
            <a:ext cx="5074274" cy="2897748"/>
            <a:chOff x="3116688" y="3490175"/>
            <a:chExt cx="5074274" cy="2897748"/>
          </a:xfrm>
        </p:grpSpPr>
        <p:sp>
          <p:nvSpPr>
            <p:cNvPr id="4" name="직사각형 3"/>
            <p:cNvSpPr/>
            <p:nvPr/>
          </p:nvSpPr>
          <p:spPr>
            <a:xfrm>
              <a:off x="3116688" y="4514046"/>
              <a:ext cx="1519707" cy="8500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+mj-ea"/>
                  <a:ea typeface="+mj-ea"/>
                </a:rPr>
                <a:t>Employee</a:t>
              </a:r>
              <a:endParaRPr lang="ko-KR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6568224" y="4456091"/>
              <a:ext cx="1622738" cy="96591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주민번호</a:t>
              </a:r>
            </a:p>
          </p:txBody>
        </p:sp>
        <p:sp>
          <p:nvSpPr>
            <p:cNvPr id="12" name="타원 11"/>
            <p:cNvSpPr/>
            <p:nvPr/>
          </p:nvSpPr>
          <p:spPr>
            <a:xfrm>
              <a:off x="4945487" y="3490175"/>
              <a:ext cx="1622738" cy="96591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이름</a:t>
              </a:r>
            </a:p>
          </p:txBody>
        </p:sp>
        <p:sp>
          <p:nvSpPr>
            <p:cNvPr id="13" name="타원 12"/>
            <p:cNvSpPr/>
            <p:nvPr/>
          </p:nvSpPr>
          <p:spPr>
            <a:xfrm>
              <a:off x="4945487" y="5422007"/>
              <a:ext cx="1622738" cy="96591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+mj-ea"/>
                  <a:ea typeface="+mj-ea"/>
                </a:rPr>
                <a:t>나이</a:t>
              </a:r>
              <a:endParaRPr lang="ko-KR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 flipV="1">
              <a:off x="4636395" y="4198513"/>
              <a:ext cx="399244" cy="3155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4" idx="3"/>
              <a:endCxn id="5" idx="2"/>
            </p:cNvCxnSpPr>
            <p:nvPr/>
          </p:nvCxnSpPr>
          <p:spPr>
            <a:xfrm>
              <a:off x="4636395" y="4939049"/>
              <a:ext cx="193182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4636395" y="5357321"/>
              <a:ext cx="354168" cy="3155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010399" y="5713945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B050"/>
                </a:solidFill>
                <a:latin typeface="+mj-ea"/>
                <a:ea typeface="+mj-ea"/>
              </a:rPr>
              <a:t>유도 속성 </a:t>
            </a:r>
            <a:r>
              <a:rPr lang="en-US" altLang="ko-KR" dirty="0">
                <a:solidFill>
                  <a:srgbClr val="00B050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00B050"/>
                </a:solidFill>
                <a:latin typeface="+mj-ea"/>
                <a:ea typeface="+mj-ea"/>
              </a:rPr>
              <a:t>점선으로 표시</a:t>
            </a:r>
            <a:r>
              <a:rPr lang="en-US" altLang="ko-KR" dirty="0">
                <a:solidFill>
                  <a:srgbClr val="00B050"/>
                </a:solidFill>
                <a:latin typeface="+mj-ea"/>
                <a:ea typeface="+mj-ea"/>
              </a:rPr>
              <a:t>)</a:t>
            </a:r>
            <a:endParaRPr lang="ko-KR" altLang="en-US" dirty="0">
              <a:solidFill>
                <a:srgbClr val="00B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7475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</a:t>
            </a:r>
            <a:r>
              <a:rPr lang="en-US" altLang="ko-KR" dirty="0"/>
              <a:t>(Relation)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6081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두 개 이상의 </a:t>
            </a:r>
            <a:r>
              <a:rPr lang="ko-KR" altLang="en-US" dirty="0" err="1"/>
              <a:t>엔터티</a:t>
            </a:r>
            <a:r>
              <a:rPr lang="ko-KR" altLang="en-US" dirty="0"/>
              <a:t> 간의 연관성을 표현하는 개념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ex. 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학생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교수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수업을 수강한다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→ </a:t>
            </a:r>
            <a:r>
              <a:rPr lang="en-US" altLang="ko-KR" dirty="0"/>
              <a:t>“</a:t>
            </a:r>
            <a:r>
              <a:rPr lang="ko-KR" altLang="en-US" dirty="0"/>
              <a:t>학생</a:t>
            </a:r>
            <a:r>
              <a:rPr lang="en-US" altLang="ko-KR" dirty="0"/>
              <a:t>”</a:t>
            </a:r>
            <a:r>
              <a:rPr lang="ko-KR" altLang="en-US" dirty="0"/>
              <a:t>과 </a:t>
            </a:r>
            <a:r>
              <a:rPr lang="en-US" altLang="ko-KR" dirty="0"/>
              <a:t>“</a:t>
            </a:r>
            <a:r>
              <a:rPr lang="ko-KR" altLang="en-US" dirty="0"/>
              <a:t>교수</a:t>
            </a:r>
            <a:r>
              <a:rPr lang="en-US" altLang="ko-KR" dirty="0"/>
              <a:t>”</a:t>
            </a:r>
            <a:r>
              <a:rPr lang="ko-KR" altLang="en-US" dirty="0"/>
              <a:t>라는 개체 타입이 </a:t>
            </a:r>
            <a:r>
              <a:rPr lang="en-US" altLang="ko-KR" dirty="0"/>
              <a:t>“</a:t>
            </a:r>
            <a:r>
              <a:rPr lang="ko-KR" altLang="en-US" dirty="0"/>
              <a:t>수강한다</a:t>
            </a:r>
            <a:r>
              <a:rPr lang="en-US" altLang="ko-KR" dirty="0"/>
              <a:t>”</a:t>
            </a:r>
            <a:r>
              <a:rPr lang="ko-KR" altLang="en-US" dirty="0"/>
              <a:t>라는 개념으로 연결됨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b="1" dirty="0">
                <a:solidFill>
                  <a:srgbClr val="00B050"/>
                </a:solidFill>
              </a:rPr>
              <a:t>관계 타입 </a:t>
            </a:r>
            <a:r>
              <a:rPr lang="en-US" altLang="ko-KR" b="1" dirty="0">
                <a:solidFill>
                  <a:srgbClr val="00B050"/>
                </a:solidFill>
              </a:rPr>
              <a:t>(Relation Type): </a:t>
            </a:r>
            <a:r>
              <a:rPr lang="ko-KR" altLang="en-US" dirty="0"/>
              <a:t>개체 타입 간의 관계를 정의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3732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A931-E50C-4B2E-355D-2A8484D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 타입</a:t>
            </a:r>
            <a:r>
              <a:rPr lang="en-US" altLang="ko-KR" dirty="0"/>
              <a:t>(Relation Type)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81CBA-5E9A-51E3-E6FC-A2DA39A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241425"/>
            <a:ext cx="10668000" cy="11604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Relation Type</a:t>
            </a:r>
            <a:r>
              <a:rPr lang="ko-KR" altLang="en-US" dirty="0"/>
              <a:t>을 </a:t>
            </a:r>
            <a:r>
              <a:rPr lang="en-US" altLang="ko-KR" dirty="0"/>
              <a:t>ER</a:t>
            </a:r>
            <a:r>
              <a:rPr lang="ko-KR" altLang="en-US" dirty="0"/>
              <a:t> 다이어그램으로 나타낼 때 </a:t>
            </a:r>
            <a:r>
              <a:rPr lang="ko-KR" altLang="en-US" b="1" dirty="0">
                <a:solidFill>
                  <a:srgbClr val="00B050"/>
                </a:solidFill>
              </a:rPr>
              <a:t>마름모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Relation Type</a:t>
            </a:r>
            <a:r>
              <a:rPr lang="ko-KR" altLang="en-US" dirty="0"/>
              <a:t>은 관계를 나타내므로 문장 정의할 때 </a:t>
            </a:r>
            <a:r>
              <a:rPr lang="ko-KR" altLang="en-US" b="1" dirty="0">
                <a:solidFill>
                  <a:srgbClr val="00B050"/>
                </a:solidFill>
              </a:rPr>
              <a:t>동사</a:t>
            </a:r>
            <a:r>
              <a:rPr lang="ko-KR" altLang="en-US" dirty="0"/>
              <a:t>를 사용 </a:t>
            </a:r>
            <a:endParaRPr lang="en-US" altLang="ko-K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3A4BC7-2FAC-4A4E-26D4-DFBBF1784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2" y="2986089"/>
            <a:ext cx="7826375" cy="293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095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0AA0C32-3EC1-4559-DE36-C9B90CAD093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3600" dirty="0">
                <a:solidFill>
                  <a:srgbClr val="ED7D31"/>
                </a:solidFill>
              </a:rPr>
              <a:t>실습</a:t>
            </a:r>
            <a:r>
              <a:rPr lang="en-US" altLang="ko-KR" sz="3600" dirty="0">
                <a:solidFill>
                  <a:srgbClr val="ED7D31"/>
                </a:solidFill>
              </a:rPr>
              <a:t>1. </a:t>
            </a:r>
            <a:r>
              <a:rPr lang="ko-KR" altLang="en-US" sz="3600" dirty="0">
                <a:solidFill>
                  <a:srgbClr val="ED7D31"/>
                </a:solidFill>
              </a:rPr>
              <a:t>요구사항으로부터 </a:t>
            </a:r>
            <a:r>
              <a:rPr lang="en-US" altLang="ko-KR" sz="3600" dirty="0">
                <a:solidFill>
                  <a:srgbClr val="ED7D31"/>
                </a:solidFill>
              </a:rPr>
              <a:t>ER </a:t>
            </a:r>
            <a:r>
              <a:rPr lang="ko-KR" altLang="en-US" sz="3600" dirty="0">
                <a:solidFill>
                  <a:srgbClr val="ED7D31"/>
                </a:solidFill>
              </a:rPr>
              <a:t>다이어그램 그리기</a:t>
            </a:r>
            <a:r>
              <a:rPr lang="en-US" altLang="ko-KR" sz="3600" dirty="0">
                <a:solidFill>
                  <a:srgbClr val="ED7D31"/>
                </a:solidFill>
              </a:rPr>
              <a:t>(1)</a:t>
            </a:r>
            <a:endParaRPr lang="ko-KR" altLang="en-US" sz="3600" dirty="0">
              <a:solidFill>
                <a:srgbClr val="ED7D31"/>
              </a:solidFill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A6DB207-C7E8-E7E0-E839-8E263ED31F7A}"/>
              </a:ext>
            </a:extLst>
          </p:cNvPr>
          <p:cNvSpPr txBox="1">
            <a:spLocks/>
          </p:cNvSpPr>
          <p:nvPr/>
        </p:nvSpPr>
        <p:spPr>
          <a:xfrm>
            <a:off x="368300" y="1280294"/>
            <a:ext cx="10515600" cy="600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User Requirements</a:t>
            </a:r>
            <a:r>
              <a:rPr lang="ko-KR" altLang="en-US" dirty="0"/>
              <a:t>가 다음과 같을 때</a:t>
            </a:r>
            <a:r>
              <a:rPr lang="en-US" altLang="ko-KR" dirty="0"/>
              <a:t>, ER </a:t>
            </a:r>
            <a:r>
              <a:rPr lang="ko-KR" altLang="en-US" dirty="0"/>
              <a:t>다이어그램을 그려보자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45A0E174-9E8B-CB66-E430-268FB0AEB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99" y="2015256"/>
            <a:ext cx="7721602" cy="41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18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83622" y="2600493"/>
            <a:ext cx="62247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ER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모델 제약 조건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0478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D5E41-FBDA-C510-8B02-B8304F8E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</a:t>
            </a:r>
            <a:r>
              <a:rPr lang="ko-KR" altLang="en-US" dirty="0"/>
              <a:t> 모델</a:t>
            </a:r>
            <a:r>
              <a:rPr lang="en-US" altLang="ko-KR" dirty="0"/>
              <a:t> </a:t>
            </a:r>
            <a:r>
              <a:rPr lang="ko-KR" altLang="en-US" dirty="0"/>
              <a:t>제약조건</a:t>
            </a:r>
            <a:r>
              <a:rPr lang="en-US" altLang="ko-KR" dirty="0"/>
              <a:t>(Constraints)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2D5FDC-C57D-54C9-BB6F-A48ADDA293B8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623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ER </a:t>
            </a:r>
            <a:r>
              <a:rPr lang="ko-KR" altLang="en-US" dirty="0"/>
              <a:t>모델에서는 데이터의 무결성과 일관성을 유지하기 위해 제약 조건을 적용함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데이터가 올바른 형식으로 저장되고</a:t>
            </a:r>
            <a:r>
              <a:rPr lang="en-US" altLang="ko-KR" dirty="0"/>
              <a:t>, </a:t>
            </a:r>
            <a:r>
              <a:rPr lang="ko-KR" altLang="en-US" dirty="0"/>
              <a:t>잘못된 데이터가 입력되지 않도록 방지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8A217-B894-5C59-F319-F8CABEBDD9BF}"/>
              </a:ext>
            </a:extLst>
          </p:cNvPr>
          <p:cNvSpPr txBox="1"/>
          <p:nvPr/>
        </p:nvSpPr>
        <p:spPr>
          <a:xfrm>
            <a:off x="251788" y="6002880"/>
            <a:ext cx="10852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무결성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(Data Integrity)</a:t>
            </a:r>
            <a:r>
              <a:rPr lang="en-US" altLang="ko-KR" sz="1600" b="1" dirty="0">
                <a:solidFill>
                  <a:srgbClr val="202124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정확성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신뢰성을 유지하여 원래의 의미와 상태가 훼손되지 않도록 보장하는 원칙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399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C6123-8B54-E1C9-9969-24CF9DA2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AC0FE-5DE2-1627-09F9-76C9D005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</a:t>
            </a:r>
            <a:r>
              <a:rPr lang="ko-KR" altLang="en-US" dirty="0"/>
              <a:t> 모델</a:t>
            </a:r>
            <a:r>
              <a:rPr lang="en-US" altLang="ko-KR" dirty="0"/>
              <a:t> </a:t>
            </a:r>
            <a:r>
              <a:rPr lang="ko-KR" altLang="en-US" dirty="0"/>
              <a:t>제약조건</a:t>
            </a:r>
            <a:r>
              <a:rPr lang="en-US" altLang="ko-KR" dirty="0"/>
              <a:t>(Constraints)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1F0953-4DFC-2239-5F16-F8BB26158575}"/>
              </a:ext>
            </a:extLst>
          </p:cNvPr>
          <p:cNvSpPr txBox="1">
            <a:spLocks/>
          </p:cNvSpPr>
          <p:nvPr/>
        </p:nvSpPr>
        <p:spPr>
          <a:xfrm>
            <a:off x="238991" y="974748"/>
            <a:ext cx="11701221" cy="8357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</a:t>
            </a:r>
            <a:r>
              <a:rPr lang="en-US" altLang="ko-KR" dirty="0"/>
              <a:t>ER </a:t>
            </a:r>
            <a:r>
              <a:rPr lang="ko-KR" altLang="en-US" dirty="0"/>
              <a:t>모델 제약 조건의 종류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334F3F-E237-1403-DC59-49A7D82B6922}"/>
              </a:ext>
            </a:extLst>
          </p:cNvPr>
          <p:cNvGraphicFramePr>
            <a:graphicFrameLocks noGrp="1"/>
          </p:cNvGraphicFramePr>
          <p:nvPr/>
        </p:nvGraphicFramePr>
        <p:xfrm>
          <a:off x="393700" y="1704664"/>
          <a:ext cx="11404600" cy="3608479"/>
        </p:xfrm>
        <a:graphic>
          <a:graphicData uri="http://schemas.openxmlformats.org/drawingml/2006/table">
            <a:tbl>
              <a:tblPr/>
              <a:tblGrid>
                <a:gridCol w="4629351">
                  <a:extLst>
                    <a:ext uri="{9D8B030D-6E8A-4147-A177-3AD203B41FA5}">
                      <a16:colId xmlns:a16="http://schemas.microsoft.com/office/drawing/2014/main" val="2089459636"/>
                    </a:ext>
                  </a:extLst>
                </a:gridCol>
                <a:gridCol w="6775249">
                  <a:extLst>
                    <a:ext uri="{9D8B030D-6E8A-4147-A177-3AD203B41FA5}">
                      <a16:colId xmlns:a16="http://schemas.microsoft.com/office/drawing/2014/main" val="3470118050"/>
                    </a:ext>
                  </a:extLst>
                </a:gridCol>
              </a:tblGrid>
              <a:tr h="5154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제약 조건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196632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Key)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엔터티는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유일한 식별자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(PK)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가져야 함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550957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개체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(Entity)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무결성 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 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(PK)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는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값을 가질 수 없음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37984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참조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(Referential)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무결성 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외래 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(FK)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는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유효한 기본 키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(PK)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참조해야 함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342845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도메인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(Domain)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속성 값은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미리 정의된 값의 범위 내에 있어야 함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54427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카디널리티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(Cardinality)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간의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(1:1, 1:N, N:M)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정의하는 제약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438051"/>
                  </a:ext>
                </a:extLst>
              </a:tr>
              <a:tr h="5154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참여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Participation)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제약 조건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관계에서 </a:t>
                      </a:r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엔터티의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필수 또는 선택적 참여 여부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7115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543990-EAF5-981B-8048-EA65738F97C0}"/>
              </a:ext>
            </a:extLst>
          </p:cNvPr>
          <p:cNvSpPr txBox="1"/>
          <p:nvPr/>
        </p:nvSpPr>
        <p:spPr>
          <a:xfrm>
            <a:off x="393700" y="5456901"/>
            <a:ext cx="81150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데이터베이스에서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값이 없음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알려지지 않음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의미하는 특별한 값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이나 빈 문자열과는 다르며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연산이나 비교 시 주의가 필요함</a:t>
            </a:r>
          </a:p>
        </p:txBody>
      </p:sp>
    </p:spTree>
    <p:extLst>
      <p:ext uri="{BB962C8B-B14F-4D97-AF65-F5344CB8AC3E}">
        <p14:creationId xmlns:p14="http://schemas.microsoft.com/office/powerpoint/2010/main" val="2184046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F3DB-62D3-FE19-43D9-7D465921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ED71C-6997-06A7-E9FF-6BAE333D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</a:t>
            </a:r>
            <a:r>
              <a:rPr lang="en-US" altLang="ko-KR" dirty="0"/>
              <a:t>(Key) </a:t>
            </a:r>
            <a:r>
              <a:rPr lang="ko-KR" altLang="en-US" dirty="0"/>
              <a:t>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3279F0D-E4D6-D2B4-72D2-2931A2CABF43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💡 키</a:t>
            </a:r>
            <a:r>
              <a:rPr lang="en-US" altLang="ko-KR" b="1" dirty="0"/>
              <a:t>(Key)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키는 각 </a:t>
            </a:r>
            <a:r>
              <a:rPr lang="ko-KR" altLang="en-US" dirty="0" err="1"/>
              <a:t>엔터티를</a:t>
            </a:r>
            <a:r>
              <a:rPr lang="ko-KR" altLang="en-US" dirty="0"/>
              <a:t> 고유하게 식별하는 속성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동일한 값을 가질 수 없으며</a:t>
            </a:r>
            <a:r>
              <a:rPr lang="en-US" altLang="ko-KR" dirty="0"/>
              <a:t>, </a:t>
            </a:r>
            <a:r>
              <a:rPr lang="ko-KR" altLang="en-US" dirty="0"/>
              <a:t>한 개 이상의 속성으로 구성될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7484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F987-2E11-BA26-D785-B004D782C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74A76-D146-4F20-D640-3AFD0E63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</a:t>
            </a:r>
            <a:r>
              <a:rPr lang="en-US" altLang="ko-KR" dirty="0"/>
              <a:t>(Key) </a:t>
            </a:r>
            <a:r>
              <a:rPr lang="ko-KR" altLang="en-US" dirty="0"/>
              <a:t>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AAAC83C-5321-62EF-621C-FDCCF9064C46}"/>
              </a:ext>
            </a:extLst>
          </p:cNvPr>
          <p:cNvSpPr txBox="1">
            <a:spLocks/>
          </p:cNvSpPr>
          <p:nvPr/>
        </p:nvSpPr>
        <p:spPr>
          <a:xfrm>
            <a:off x="245389" y="1097282"/>
            <a:ext cx="11701221" cy="937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✅ 키의 유형</a:t>
            </a:r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CA5046-8F5D-F63C-ACED-84E697A77BC1}"/>
              </a:ext>
            </a:extLst>
          </p:cNvPr>
          <p:cNvGraphicFramePr>
            <a:graphicFrameLocks noGrp="1"/>
          </p:cNvGraphicFramePr>
          <p:nvPr/>
        </p:nvGraphicFramePr>
        <p:xfrm>
          <a:off x="406400" y="1856873"/>
          <a:ext cx="11379200" cy="3807594"/>
        </p:xfrm>
        <a:graphic>
          <a:graphicData uri="http://schemas.openxmlformats.org/drawingml/2006/table">
            <a:tbl>
              <a:tblPr/>
              <a:tblGrid>
                <a:gridCol w="3957983">
                  <a:extLst>
                    <a:ext uri="{9D8B030D-6E8A-4147-A177-3AD203B41FA5}">
                      <a16:colId xmlns:a16="http://schemas.microsoft.com/office/drawing/2014/main" val="1711642093"/>
                    </a:ext>
                  </a:extLst>
                </a:gridCol>
                <a:gridCol w="7421217">
                  <a:extLst>
                    <a:ext uri="{9D8B030D-6E8A-4147-A177-3AD203B41FA5}">
                      <a16:colId xmlns:a16="http://schemas.microsoft.com/office/drawing/2014/main" val="875129049"/>
                    </a:ext>
                  </a:extLst>
                </a:gridCol>
              </a:tblGrid>
              <a:tr h="6345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 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500167"/>
                  </a:ext>
                </a:extLst>
              </a:tr>
              <a:tr h="6345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 키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Primary Key, PK)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엔터티 내에서 각 튜플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(Row)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유일하게 식별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22066"/>
                  </a:ext>
                </a:extLst>
              </a:tr>
              <a:tr h="6345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후보 키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Candidate Key)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 키로 사용할 수 있는 속성들의 집합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60772"/>
                  </a:ext>
                </a:extLst>
              </a:tr>
              <a:tr h="6345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대체 키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Alternate Key)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후보 키 중에서 기본 키로 선택되지 않은 속성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863601"/>
                  </a:ext>
                </a:extLst>
              </a:tr>
              <a:tr h="6345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슈퍼 키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Super Key)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개 이상의 속성 조합으로 유일성을 만족하는 키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633773"/>
                  </a:ext>
                </a:extLst>
              </a:tr>
              <a:tr h="6345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외래 키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Foreign Key, FK)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다른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엔터티의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 키를 참조하는 속성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0167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88DE77-6E3E-6144-4D51-F36E50547FE4}"/>
              </a:ext>
            </a:extLst>
          </p:cNvPr>
          <p:cNvSpPr txBox="1"/>
          <p:nvPr/>
        </p:nvSpPr>
        <p:spPr>
          <a:xfrm>
            <a:off x="333007" y="6034448"/>
            <a:ext cx="8435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(Tuple):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데이터베이스 테이블에서 하나의 행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즉 하나의 레코드를 구성하는 데이터의 집합</a:t>
            </a:r>
          </a:p>
        </p:txBody>
      </p:sp>
    </p:spTree>
    <p:extLst>
      <p:ext uri="{BB962C8B-B14F-4D97-AF65-F5344CB8AC3E}">
        <p14:creationId xmlns:p14="http://schemas.microsoft.com/office/powerpoint/2010/main" val="1334661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EC13-0FE8-2B67-A41F-C24C592CC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도표이(가) 표시된 사진&#10;&#10;자동 생성된 설명">
            <a:extLst>
              <a:ext uri="{FF2B5EF4-FFF2-40B4-BE49-F238E27FC236}">
                <a16:creationId xmlns:a16="http://schemas.microsoft.com/office/drawing/2014/main" id="{E239473B-7152-9581-6F5B-F029169E6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256" y="1307172"/>
            <a:ext cx="7773485" cy="471553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BF2861B-D99A-3AA7-D107-F8D94880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키</a:t>
            </a:r>
            <a:r>
              <a:rPr lang="en-US" altLang="ko-KR" dirty="0"/>
              <a:t>(Key) </a:t>
            </a:r>
            <a:r>
              <a:rPr lang="ko-KR" altLang="en-US" dirty="0"/>
              <a:t>제약 조건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06AE62A2-E492-642A-9068-F3AE2287B9A8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937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✅ 키의 포함 관계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69047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2093-C8C5-6918-4E01-027A8FD5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510C6-0417-4506-C38F-EDFDD0F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</a:t>
            </a:r>
            <a:r>
              <a:rPr lang="en-US" altLang="ko-KR" dirty="0"/>
              <a:t>(Key) </a:t>
            </a:r>
            <a:r>
              <a:rPr lang="ko-KR" altLang="en-US" dirty="0"/>
              <a:t>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5EE3CBE-0B94-74D2-C891-EAB81445C729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323186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</a:t>
            </a:r>
            <a:r>
              <a:rPr lang="ko-KR" altLang="en-US" b="1" dirty="0"/>
              <a:t> 키 제약 조건의 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(PK)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가질 수 없음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키는 중복이 허용되지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외래 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(FK)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참조하는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 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(PK)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값만 가질 수 있음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6525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4525-C62C-4DC7-E7BB-F12DAA53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67A3A-3381-C073-E4E9-12212EC9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개체</a:t>
            </a:r>
            <a:r>
              <a:rPr lang="en-US" altLang="ko-KR" dirty="0"/>
              <a:t>(Entity) </a:t>
            </a:r>
            <a:r>
              <a:rPr lang="ko-KR" altLang="en-US" dirty="0"/>
              <a:t>무결성 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62CA71D-C4E8-A362-6C65-65D642F0C226}"/>
              </a:ext>
            </a:extLst>
          </p:cNvPr>
          <p:cNvSpPr txBox="1">
            <a:spLocks/>
          </p:cNvSpPr>
          <p:nvPr/>
        </p:nvSpPr>
        <p:spPr>
          <a:xfrm>
            <a:off x="168387" y="1010653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💡 개체 무결성이란</a:t>
            </a:r>
            <a:r>
              <a:rPr lang="en-US" altLang="ko-KR" b="1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모든 </a:t>
            </a:r>
            <a:r>
              <a:rPr lang="ko-KR" altLang="en-US" dirty="0" err="1"/>
              <a:t>엔터티는</a:t>
            </a:r>
            <a:r>
              <a:rPr lang="ko-KR" altLang="en-US" dirty="0"/>
              <a:t> 고유하게 식별 가능해야 한다는 제약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키</a:t>
            </a:r>
            <a:r>
              <a:rPr lang="en-US" altLang="ko-KR" dirty="0"/>
              <a:t>(PK)</a:t>
            </a:r>
            <a:r>
              <a:rPr lang="ko-KR" altLang="en-US" dirty="0"/>
              <a:t>는 </a:t>
            </a:r>
            <a:r>
              <a:rPr lang="en-US" altLang="ko-KR" dirty="0"/>
              <a:t>NULL </a:t>
            </a:r>
            <a:r>
              <a:rPr lang="ko-KR" altLang="en-US" dirty="0"/>
              <a:t>값이 될 수 없음 </a:t>
            </a:r>
            <a:endParaRPr lang="en-US" altLang="ko-KR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700105-4341-5963-4E23-2D1CE812DE0F}"/>
              </a:ext>
            </a:extLst>
          </p:cNvPr>
          <p:cNvGrpSpPr/>
          <p:nvPr/>
        </p:nvGrpSpPr>
        <p:grpSpPr>
          <a:xfrm>
            <a:off x="2880604" y="3277001"/>
            <a:ext cx="6430791" cy="2781362"/>
            <a:chOff x="3791238" y="3583237"/>
            <a:chExt cx="4609524" cy="1993651"/>
          </a:xfrm>
        </p:grpSpPr>
        <p:pic>
          <p:nvPicPr>
            <p:cNvPr id="7" name="그림 6" descr="테이블이(가) 표시된 사진&#10;&#10;자동 생성된 설명">
              <a:extLst>
                <a:ext uri="{FF2B5EF4-FFF2-40B4-BE49-F238E27FC236}">
                  <a16:creationId xmlns:a16="http://schemas.microsoft.com/office/drawing/2014/main" id="{865170C1-44B9-BA99-BF45-019ED026B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238" y="3583237"/>
              <a:ext cx="4609524" cy="199365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224CD61-33DA-2048-5C8C-AD943063C0B1}"/>
                </a:ext>
              </a:extLst>
            </p:cNvPr>
            <p:cNvSpPr/>
            <p:nvPr/>
          </p:nvSpPr>
          <p:spPr>
            <a:xfrm>
              <a:off x="3791238" y="3583237"/>
              <a:ext cx="933162" cy="199365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68767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BE33-53F8-8F71-A1F5-6F3D885A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9F16D-8AD6-B754-CEF0-0118D08E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참조</a:t>
            </a:r>
            <a:r>
              <a:rPr lang="en-US" altLang="ko-KR" dirty="0"/>
              <a:t>(Referential) </a:t>
            </a:r>
            <a:r>
              <a:rPr lang="ko-KR" altLang="en-US" dirty="0"/>
              <a:t>무결성 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0073996-4513-8441-31E5-73899B0B3612}"/>
              </a:ext>
            </a:extLst>
          </p:cNvPr>
          <p:cNvSpPr txBox="1">
            <a:spLocks/>
          </p:cNvSpPr>
          <p:nvPr/>
        </p:nvSpPr>
        <p:spPr>
          <a:xfrm>
            <a:off x="168387" y="1010653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💡 참조 무결성이란</a:t>
            </a:r>
            <a:r>
              <a:rPr lang="en-US" altLang="ko-KR" b="1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외래 키</a:t>
            </a:r>
            <a:r>
              <a:rPr lang="en-US" altLang="ko-KR" dirty="0"/>
              <a:t>(FK)</a:t>
            </a:r>
            <a:r>
              <a:rPr lang="ko-KR" altLang="en-US" dirty="0"/>
              <a:t>는 반드시 참조하는 테이블의 기본 키</a:t>
            </a:r>
            <a:r>
              <a:rPr lang="en-US" altLang="ko-KR" dirty="0"/>
              <a:t>(PK) </a:t>
            </a:r>
            <a:r>
              <a:rPr lang="ko-KR" altLang="en-US" dirty="0"/>
              <a:t>값을 가져야 한다는 제약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참조 대상이 없는 외래 키 값은 허용되지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2777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E48A-8F73-4D7F-360A-A02A3DF7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4615F-016E-B2FD-23BC-350834CC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참조</a:t>
            </a:r>
            <a:r>
              <a:rPr lang="en-US" altLang="ko-KR" dirty="0"/>
              <a:t>(Referential) </a:t>
            </a:r>
            <a:r>
              <a:rPr lang="ko-KR" altLang="en-US" dirty="0"/>
              <a:t>무결성 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ADE79D40-A91E-F37A-C059-031613F76F15}"/>
              </a:ext>
            </a:extLst>
          </p:cNvPr>
          <p:cNvSpPr txBox="1">
            <a:spLocks/>
          </p:cNvSpPr>
          <p:nvPr/>
        </p:nvSpPr>
        <p:spPr>
          <a:xfrm>
            <a:off x="238991" y="972151"/>
            <a:ext cx="11701221" cy="5255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</a:t>
            </a:r>
            <a:r>
              <a:rPr lang="ko-KR" altLang="en-US" b="1" dirty="0"/>
              <a:t> 주요 원칙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b="1" dirty="0"/>
              <a:t>✅ 삭제 규칙 </a:t>
            </a:r>
            <a:r>
              <a:rPr lang="en-US" altLang="ko-KR" sz="2400" b="1" dirty="0"/>
              <a:t>(ON DELETE)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CASCADE: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자동 삭제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 NULL: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설정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RESTRICT: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삭제될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참조하는 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있으면 삭제 불가능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b="1" dirty="0"/>
              <a:t>✅ 수정 규칙 </a:t>
            </a:r>
            <a:r>
              <a:rPr lang="en-US" altLang="ko-KR" sz="2400" b="1" dirty="0"/>
              <a:t>(ON UPDATE)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CASCADE: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자동 변경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 NULL: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설정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RESTRICT: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변경될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참조하는 자식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엔터티가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있으면 변경 불가능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394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35E8-A528-AA68-2283-FD4FC085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B3633-F2B0-F359-1435-FD412AAC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도메인</a:t>
            </a:r>
            <a:r>
              <a:rPr lang="en-US" altLang="ko-KR" dirty="0"/>
              <a:t>(Domain) </a:t>
            </a:r>
            <a:r>
              <a:rPr lang="ko-KR" altLang="en-US" dirty="0"/>
              <a:t>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D2EF922-7903-F2DF-7AED-954DC0344C89}"/>
              </a:ext>
            </a:extLst>
          </p:cNvPr>
          <p:cNvSpPr txBox="1">
            <a:spLocks/>
          </p:cNvSpPr>
          <p:nvPr/>
        </p:nvSpPr>
        <p:spPr>
          <a:xfrm>
            <a:off x="168387" y="1010653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도메인 제약이란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속성</a:t>
            </a:r>
            <a:r>
              <a:rPr lang="en-US" altLang="ko-KR" dirty="0"/>
              <a:t>(Attribute)</a:t>
            </a:r>
            <a:r>
              <a:rPr lang="ko-KR" altLang="en-US" dirty="0"/>
              <a:t>에 저장될 수 있는 값의 범위를 제한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(Age)</a:t>
            </a:r>
            <a:r>
              <a:rPr lang="ko-KR" altLang="en-US" dirty="0"/>
              <a:t>는 음수가 될 수 없음</a:t>
            </a:r>
            <a:r>
              <a:rPr lang="en-US" altLang="ko-KR" dirty="0"/>
              <a:t>, </a:t>
            </a:r>
            <a:r>
              <a:rPr lang="ko-KR" altLang="en-US" dirty="0"/>
              <a:t>전화번호는 특정 형식이어야 함</a:t>
            </a:r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E7C1558-F6F7-B8FD-3713-E17661DEED58}"/>
              </a:ext>
            </a:extLst>
          </p:cNvPr>
          <p:cNvGrpSpPr/>
          <p:nvPr/>
        </p:nvGrpSpPr>
        <p:grpSpPr>
          <a:xfrm>
            <a:off x="2798789" y="3220785"/>
            <a:ext cx="6594421" cy="2852133"/>
            <a:chOff x="3791238" y="4183312"/>
            <a:chExt cx="4609524" cy="1993651"/>
          </a:xfrm>
        </p:grpSpPr>
        <p:pic>
          <p:nvPicPr>
            <p:cNvPr id="3" name="그림 2" descr="테이블이(가) 표시된 사진&#10;&#10;자동 생성된 설명">
              <a:extLst>
                <a:ext uri="{FF2B5EF4-FFF2-40B4-BE49-F238E27FC236}">
                  <a16:creationId xmlns:a16="http://schemas.microsoft.com/office/drawing/2014/main" id="{99631556-5E18-8442-184F-EC23748B9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1238" y="4183312"/>
              <a:ext cx="4609524" cy="1993651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1D78F71-B6CD-19A2-D62C-1E168B44075A}"/>
                </a:ext>
              </a:extLst>
            </p:cNvPr>
            <p:cNvSpPr/>
            <p:nvPr/>
          </p:nvSpPr>
          <p:spPr>
            <a:xfrm>
              <a:off x="6548725" y="4183312"/>
              <a:ext cx="933162" cy="199365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247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C2EEE-170A-2D97-2314-18CB09D3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고유 무결성 제약조건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96F77-A20B-5F6E-0CAF-76AB2E5C4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1844"/>
            <a:ext cx="11701221" cy="1145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특정 속성에 대해 고유한 값을 가지도록 조건이 주어진 경우 </a:t>
            </a:r>
            <a:br>
              <a:rPr lang="en-US" altLang="ko-KR" dirty="0"/>
            </a:br>
            <a:r>
              <a:rPr lang="en-US" altLang="ko-KR" dirty="0"/>
              <a:t>      </a:t>
            </a:r>
            <a:r>
              <a:rPr lang="ko-KR" altLang="en-US" dirty="0"/>
              <a:t>릴레이션의 각 </a:t>
            </a:r>
            <a:r>
              <a:rPr lang="ko-KR" altLang="en-US" dirty="0" err="1"/>
              <a:t>튜플이</a:t>
            </a:r>
            <a:r>
              <a:rPr lang="ko-KR" altLang="en-US" dirty="0"/>
              <a:t> 가지는 속성 값들은 서로 달라야 함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B27FD16-C57D-5507-0005-873D9FD70C5E}"/>
              </a:ext>
            </a:extLst>
          </p:cNvPr>
          <p:cNvGrpSpPr/>
          <p:nvPr/>
        </p:nvGrpSpPr>
        <p:grpSpPr>
          <a:xfrm>
            <a:off x="941127" y="3158840"/>
            <a:ext cx="10309745" cy="2163356"/>
            <a:chOff x="838200" y="3841691"/>
            <a:chExt cx="10309745" cy="216335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0AB9DAE-6336-413D-D098-AF2A9FE5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841691"/>
              <a:ext cx="10309745" cy="216335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E224358-EB5D-56BE-B0B7-CF4A950FB131}"/>
                </a:ext>
              </a:extLst>
            </p:cNvPr>
            <p:cNvSpPr/>
            <p:nvPr/>
          </p:nvSpPr>
          <p:spPr>
            <a:xfrm>
              <a:off x="932851" y="3934635"/>
              <a:ext cx="2522448" cy="199365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2DD073-2EAA-0773-3F3C-03FD770677F7}"/>
              </a:ext>
            </a:extLst>
          </p:cNvPr>
          <p:cNvSpPr txBox="1"/>
          <p:nvPr/>
        </p:nvSpPr>
        <p:spPr>
          <a:xfrm>
            <a:off x="941127" y="2774913"/>
            <a:ext cx="6116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000" b="1" dirty="0"/>
              <a:t>✅ 학생 테이블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662732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C2EEE-170A-2D97-2314-18CB09D3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NULL</a:t>
            </a:r>
            <a:r>
              <a:rPr lang="ko-KR" altLang="en-US" dirty="0"/>
              <a:t> 무결성 제약조건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96F77-A20B-5F6E-0CAF-76AB2E5C4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32576"/>
            <a:ext cx="11701221" cy="69301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릴레이션의 특정 속성 값은 </a:t>
            </a:r>
            <a:r>
              <a:rPr lang="en-US" altLang="ko-KR" dirty="0"/>
              <a:t>NULL </a:t>
            </a:r>
            <a:r>
              <a:rPr lang="ko-KR" altLang="en-US" dirty="0"/>
              <a:t>될 수 없음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118950E-1930-770E-8900-F6162F6DFB4F}"/>
              </a:ext>
            </a:extLst>
          </p:cNvPr>
          <p:cNvGrpSpPr/>
          <p:nvPr/>
        </p:nvGrpSpPr>
        <p:grpSpPr>
          <a:xfrm>
            <a:off x="938907" y="3154061"/>
            <a:ext cx="10309745" cy="2163356"/>
            <a:chOff x="838200" y="3841691"/>
            <a:chExt cx="10309745" cy="216335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040276A-F589-A6BD-AB87-31C933E55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841691"/>
              <a:ext cx="10309745" cy="216335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BA8898-98F4-D91D-27BC-55F952637526}"/>
                </a:ext>
              </a:extLst>
            </p:cNvPr>
            <p:cNvSpPr/>
            <p:nvPr/>
          </p:nvSpPr>
          <p:spPr>
            <a:xfrm>
              <a:off x="3476018" y="3952690"/>
              <a:ext cx="2522448" cy="199365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2D0261-BDC1-377D-C5D1-45D33CE0C943}"/>
              </a:ext>
            </a:extLst>
          </p:cNvPr>
          <p:cNvSpPr txBox="1"/>
          <p:nvPr/>
        </p:nvSpPr>
        <p:spPr>
          <a:xfrm>
            <a:off x="938907" y="2770134"/>
            <a:ext cx="6116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000" b="1" dirty="0"/>
              <a:t>✅ 학생 테이블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156444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A273-B964-3CB5-4581-9ED6A7D9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Structural Constraint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9744-5100-C2F8-2AC0-C64627F3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365"/>
            <a:ext cx="11701221" cy="121626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구조적 제약조건</a:t>
            </a:r>
            <a:endParaRPr lang="en-US" altLang="ko-KR" dirty="0"/>
          </a:p>
          <a:p>
            <a:pPr lvl="1"/>
            <a:r>
              <a:rPr lang="ko-KR" altLang="en-US" dirty="0"/>
              <a:t>실선 위에 </a:t>
            </a:r>
            <a:r>
              <a:rPr lang="en-US" altLang="ko-KR" dirty="0"/>
              <a:t>(min, max) </a:t>
            </a:r>
            <a:r>
              <a:rPr lang="ko-KR" altLang="en-US" dirty="0"/>
              <a:t>값을 표시하여</a:t>
            </a:r>
            <a:r>
              <a:rPr lang="en-US" altLang="ko-KR" dirty="0"/>
              <a:t>, </a:t>
            </a:r>
            <a:r>
              <a:rPr lang="ko-KR" altLang="en-US" dirty="0"/>
              <a:t>구체적인 조건을 명시하는 제약조건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491E986-01A5-2861-DF94-7C9EEECE5C6B}"/>
              </a:ext>
            </a:extLst>
          </p:cNvPr>
          <p:cNvGrpSpPr/>
          <p:nvPr/>
        </p:nvGrpSpPr>
        <p:grpSpPr>
          <a:xfrm>
            <a:off x="1378789" y="2749399"/>
            <a:ext cx="9388599" cy="2881380"/>
            <a:chOff x="2774257" y="3827428"/>
            <a:chExt cx="6643485" cy="2038899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9E0CE008-0430-8E33-D744-9242E24297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257" y="3827428"/>
              <a:ext cx="6643485" cy="20388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모서리가 둥근 직사각형 13"/>
            <p:cNvSpPr/>
            <p:nvPr/>
          </p:nvSpPr>
          <p:spPr>
            <a:xfrm>
              <a:off x="6890197" y="4224270"/>
              <a:ext cx="759853" cy="4378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(1, 5)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4452300" y="4224270"/>
              <a:ext cx="759853" cy="4378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(0, 2)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070501" y="4662152"/>
              <a:ext cx="695460" cy="3090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연결선 20"/>
            <p:cNvCxnSpPr/>
            <p:nvPr/>
          </p:nvCxnSpPr>
          <p:spPr>
            <a:xfrm flipV="1">
              <a:off x="7070501" y="4853189"/>
              <a:ext cx="706191" cy="543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 flipV="1">
              <a:off x="7068353" y="4760895"/>
              <a:ext cx="706191" cy="543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645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63C-E663-5BFB-1626-54DFFAF1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29FFB-0B74-0F46-246A-687D529E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카디널리티</a:t>
            </a:r>
            <a:r>
              <a:rPr lang="en-US" altLang="ko-KR" dirty="0"/>
              <a:t>(Cardinality) </a:t>
            </a:r>
            <a:r>
              <a:rPr lang="ko-KR" altLang="en-US" dirty="0"/>
              <a:t>제약 조건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6734C38-DFA9-ED0D-C4B7-70CE241CBC39}"/>
              </a:ext>
            </a:extLst>
          </p:cNvPr>
          <p:cNvSpPr txBox="1">
            <a:spLocks/>
          </p:cNvSpPr>
          <p:nvPr/>
        </p:nvSpPr>
        <p:spPr>
          <a:xfrm>
            <a:off x="168387" y="1010653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카디널리티란</a:t>
            </a:r>
            <a:r>
              <a:rPr lang="en-US" altLang="ko-KR" dirty="0"/>
              <a:t>?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엔터티</a:t>
            </a:r>
            <a:r>
              <a:rPr lang="ko-KR" altLang="en-US" dirty="0"/>
              <a:t> 간의 관계에서 각 </a:t>
            </a:r>
            <a:r>
              <a:rPr lang="ko-KR" altLang="en-US" dirty="0" err="1"/>
              <a:t>엔터티가</a:t>
            </a:r>
            <a:r>
              <a:rPr lang="ko-KR" altLang="en-US" dirty="0"/>
              <a:t> 가질 수 있는 데이터 개수</a:t>
            </a:r>
            <a:r>
              <a:rPr lang="en-US" altLang="ko-KR" dirty="0"/>
              <a:t>(1:1, 1:N, N:M)</a:t>
            </a:r>
            <a:r>
              <a:rPr lang="ko-KR" altLang="en-US" dirty="0"/>
              <a:t>를 정의하는 제약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잘못된 </a:t>
            </a:r>
            <a:r>
              <a:rPr lang="ko-KR" altLang="en-US" dirty="0" err="1"/>
              <a:t>카디널리티</a:t>
            </a:r>
            <a:r>
              <a:rPr lang="ko-KR" altLang="en-US" dirty="0"/>
              <a:t> 설정은 데이터 구조에 심각한 오류를 유발할 수 있음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D0583E3-977C-4472-C2D4-FF4A47BAE74A}"/>
              </a:ext>
            </a:extLst>
          </p:cNvPr>
          <p:cNvGraphicFramePr>
            <a:graphicFrameLocks noGrp="1"/>
          </p:cNvGraphicFramePr>
          <p:nvPr/>
        </p:nvGraphicFramePr>
        <p:xfrm>
          <a:off x="373825" y="3754255"/>
          <a:ext cx="11420242" cy="2325980"/>
        </p:xfrm>
        <a:graphic>
          <a:graphicData uri="http://schemas.openxmlformats.org/drawingml/2006/table">
            <a:tbl>
              <a:tblPr/>
              <a:tblGrid>
                <a:gridCol w="4130726">
                  <a:extLst>
                    <a:ext uri="{9D8B030D-6E8A-4147-A177-3AD203B41FA5}">
                      <a16:colId xmlns:a16="http://schemas.microsoft.com/office/drawing/2014/main" val="1421080795"/>
                    </a:ext>
                  </a:extLst>
                </a:gridCol>
                <a:gridCol w="7289516">
                  <a:extLst>
                    <a:ext uri="{9D8B030D-6E8A-4147-A177-3AD203B41FA5}">
                      <a16:colId xmlns:a16="http://schemas.microsoft.com/office/drawing/2014/main" val="3983031567"/>
                    </a:ext>
                  </a:extLst>
                </a:gridCol>
              </a:tblGrid>
              <a:tr h="5814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 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1425"/>
                  </a:ext>
                </a:extLst>
              </a:tr>
              <a:tr h="58149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1:1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One-to-One)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개의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하나의 다른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연결됨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499582"/>
                  </a:ext>
                </a:extLst>
              </a:tr>
              <a:tr h="581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1:N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One-to-Many)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개의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여러 개의 다른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연결됨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15067"/>
                  </a:ext>
                </a:extLst>
              </a:tr>
              <a:tr h="581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N:M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Many-to-Many)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개의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서로 다수와 연결됨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124805"/>
                  </a:ext>
                </a:extLst>
              </a:tr>
            </a:tbl>
          </a:graphicData>
        </a:graphic>
      </p:graphicFrame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C629956E-25C9-4135-4A99-FCC4C1838BCD}"/>
              </a:ext>
            </a:extLst>
          </p:cNvPr>
          <p:cNvSpPr txBox="1">
            <a:spLocks/>
          </p:cNvSpPr>
          <p:nvPr/>
        </p:nvSpPr>
        <p:spPr>
          <a:xfrm>
            <a:off x="176754" y="3070373"/>
            <a:ext cx="11701221" cy="937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관계 유형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363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9935C1C-7CF7-B652-AA93-6E715A7DD35F}"/>
              </a:ext>
            </a:extLst>
          </p:cNvPr>
          <p:cNvGrpSpPr/>
          <p:nvPr/>
        </p:nvGrpSpPr>
        <p:grpSpPr>
          <a:xfrm>
            <a:off x="1430448" y="1332295"/>
            <a:ext cx="9331104" cy="4482178"/>
            <a:chOff x="1160485" y="2638426"/>
            <a:chExt cx="6583351" cy="31623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AC79CB3-21EF-A171-7747-47DD18A67A08}"/>
                </a:ext>
              </a:extLst>
            </p:cNvPr>
            <p:cNvGrpSpPr/>
            <p:nvPr/>
          </p:nvGrpSpPr>
          <p:grpSpPr>
            <a:xfrm>
              <a:off x="1160485" y="2638426"/>
              <a:ext cx="4297340" cy="3162300"/>
              <a:chOff x="1157941" y="2543183"/>
              <a:chExt cx="4938059" cy="3633797"/>
            </a:xfrm>
          </p:grpSpPr>
          <p:pic>
            <p:nvPicPr>
              <p:cNvPr id="2050" name="Picture 2" descr="Chen Notation Example ERD">
                <a:extLst>
                  <a:ext uri="{FF2B5EF4-FFF2-40B4-BE49-F238E27FC236}">
                    <a16:creationId xmlns:a16="http://schemas.microsoft.com/office/drawing/2014/main" id="{44106AD7-77ED-D06A-FCC5-3CACF67FEE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7941" y="2543183"/>
                <a:ext cx="4938059" cy="36337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E94D806E-792F-9AF3-719A-F7A305F06F2E}"/>
                  </a:ext>
                </a:extLst>
              </p:cNvPr>
              <p:cNvSpPr/>
              <p:nvPr/>
            </p:nvSpPr>
            <p:spPr>
              <a:xfrm>
                <a:off x="1647824" y="3076583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E91DCAB-CF90-F2CD-0EA8-EC66337B0640}"/>
                  </a:ext>
                </a:extLst>
              </p:cNvPr>
              <p:cNvSpPr/>
              <p:nvPr/>
            </p:nvSpPr>
            <p:spPr>
              <a:xfrm>
                <a:off x="1647823" y="4264830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E8170E8-DC76-8DF6-66AF-A56135EA15D1}"/>
                  </a:ext>
                </a:extLst>
              </p:cNvPr>
              <p:cNvSpPr/>
              <p:nvPr/>
            </p:nvSpPr>
            <p:spPr>
              <a:xfrm>
                <a:off x="1647822" y="5453077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F01B10F-C2FB-74AA-1AC7-7AAFA676618E}"/>
                  </a:ext>
                </a:extLst>
              </p:cNvPr>
              <p:cNvSpPr/>
              <p:nvPr/>
            </p:nvSpPr>
            <p:spPr>
              <a:xfrm>
                <a:off x="5062537" y="3090871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5B30CBC-2CE4-F0A6-BB82-E678E264D9C0}"/>
                  </a:ext>
                </a:extLst>
              </p:cNvPr>
              <p:cNvSpPr/>
              <p:nvPr/>
            </p:nvSpPr>
            <p:spPr>
              <a:xfrm>
                <a:off x="5048251" y="4269592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E10FD1D-5497-139C-1789-22F3722EA254}"/>
                  </a:ext>
                </a:extLst>
              </p:cNvPr>
              <p:cNvSpPr/>
              <p:nvPr/>
            </p:nvSpPr>
            <p:spPr>
              <a:xfrm>
                <a:off x="5000625" y="5438788"/>
                <a:ext cx="652463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D79DB5A-C8CA-D3CE-E7D2-3971441C0D12}"/>
                  </a:ext>
                </a:extLst>
              </p:cNvPr>
              <p:cNvSpPr/>
              <p:nvPr/>
            </p:nvSpPr>
            <p:spPr>
              <a:xfrm>
                <a:off x="3295652" y="3086107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B8D1E20-2ADA-9E14-89DA-30F4CA05D269}"/>
                  </a:ext>
                </a:extLst>
              </p:cNvPr>
              <p:cNvSpPr/>
              <p:nvPr/>
            </p:nvSpPr>
            <p:spPr>
              <a:xfrm>
                <a:off x="3295651" y="4264829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7506C0D-88D1-FE89-7914-C6DB679A53B2}"/>
                  </a:ext>
                </a:extLst>
              </p:cNvPr>
              <p:cNvSpPr/>
              <p:nvPr/>
            </p:nvSpPr>
            <p:spPr>
              <a:xfrm>
                <a:off x="3270482" y="5422105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8D1986-C254-3796-B817-D7599881BA65}"/>
                </a:ext>
              </a:extLst>
            </p:cNvPr>
            <p:cNvSpPr txBox="1"/>
            <p:nvPr/>
          </p:nvSpPr>
          <p:spPr>
            <a:xfrm>
              <a:off x="5495927" y="3042483"/>
              <a:ext cx="1958184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여러 개체가 여러 개체에 대응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187F82-73C9-F376-0EE8-965C1135288A}"/>
                </a:ext>
              </a:extLst>
            </p:cNvPr>
            <p:cNvSpPr txBox="1"/>
            <p:nvPr/>
          </p:nvSpPr>
          <p:spPr>
            <a:xfrm>
              <a:off x="5495927" y="4064117"/>
              <a:ext cx="2121165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하나의 개체가 여러 개체에 대응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A0629B-A27F-A90A-6644-B2130B200C8D}"/>
                </a:ext>
              </a:extLst>
            </p:cNvPr>
            <p:cNvSpPr txBox="1"/>
            <p:nvPr/>
          </p:nvSpPr>
          <p:spPr>
            <a:xfrm>
              <a:off x="5495928" y="5072683"/>
              <a:ext cx="2247908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하나의 개체가 하나의 개체에 대응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497873" y="4951141"/>
              <a:ext cx="16726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A9D5E41-FBDA-C510-8B02-B8304F8E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 대응 수</a:t>
            </a:r>
            <a:r>
              <a:rPr lang="en-US" altLang="ko-KR" dirty="0"/>
              <a:t>(</a:t>
            </a:r>
            <a:r>
              <a:rPr lang="en-US" altLang="ko-KR" b="1" dirty="0"/>
              <a:t>Cardinality)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24F97-23C2-6F80-2917-F378BB3012B4}"/>
              </a:ext>
            </a:extLst>
          </p:cNvPr>
          <p:cNvSpPr txBox="1"/>
          <p:nvPr/>
        </p:nvSpPr>
        <p:spPr>
          <a:xfrm>
            <a:off x="2360728" y="5591746"/>
            <a:ext cx="42303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https://www.databasestar.com/entity-relationship-diagram/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806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A273-B964-3CB5-4581-9ED6A7D9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Cardinality Constraint – 1</a:t>
            </a:r>
            <a:r>
              <a:rPr lang="en-US" altLang="ko-KR" dirty="0"/>
              <a:t>:1</a:t>
            </a:r>
            <a:r>
              <a:rPr lang="ko-KR" altLang="en-US" dirty="0"/>
              <a:t>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9744-5100-C2F8-2AC0-C64627F3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29300"/>
            <a:ext cx="11701221" cy="1616619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ko-KR" altLang="en-US" dirty="0">
                <a:latin typeface="Apple SD Gothic Neo"/>
              </a:rPr>
              <a:t>일대일 관계</a:t>
            </a:r>
            <a:r>
              <a:rPr lang="en-US" altLang="ko-KR" dirty="0">
                <a:latin typeface="Apple SD Gothic Neo"/>
              </a:rPr>
              <a:t>(</a:t>
            </a:r>
            <a:r>
              <a:rPr lang="en-US" altLang="ko-KR" b="0" i="0" dirty="0">
                <a:effectLst/>
                <a:latin typeface="Apple SD Gothic Neo"/>
              </a:rPr>
              <a:t>one to one relationship)</a:t>
            </a:r>
          </a:p>
          <a:p>
            <a:pPr lvl="1"/>
            <a:r>
              <a:rPr lang="ko-KR" altLang="en-US" b="0" i="0" dirty="0">
                <a:effectLst/>
                <a:latin typeface="Apple SD Gothic Neo"/>
              </a:rPr>
              <a:t>각 개체들은 </a:t>
            </a:r>
            <a:r>
              <a:rPr lang="en-US" altLang="ko-KR" b="0" i="0" dirty="0">
                <a:effectLst/>
                <a:latin typeface="Apple SD Gothic Neo"/>
              </a:rPr>
              <a:t>1:1</a:t>
            </a:r>
            <a:r>
              <a:rPr lang="ko-KR" altLang="en-US" b="0" i="0" dirty="0">
                <a:effectLst/>
                <a:latin typeface="Apple SD Gothic Neo"/>
              </a:rPr>
              <a:t>로 대응되는 관계</a:t>
            </a:r>
            <a:endParaRPr lang="en-US" altLang="ko-KR" b="0" i="0" dirty="0">
              <a:effectLst/>
              <a:latin typeface="Apple SD Gothic Neo"/>
            </a:endParaRPr>
          </a:p>
          <a:p>
            <a:pPr marL="457200" lvl="1" indent="0">
              <a:buNone/>
            </a:pPr>
            <a:r>
              <a:rPr lang="en-US" altLang="ko-KR" dirty="0">
                <a:latin typeface="Apple SD Gothic Neo"/>
              </a:rPr>
              <a:t>ex) </a:t>
            </a:r>
            <a:r>
              <a:rPr lang="ko-KR" altLang="en-US" dirty="0">
                <a:latin typeface="Apple SD Gothic Neo"/>
              </a:rPr>
              <a:t>한 명의 사람이 하나의 도시락만 먹을 수 있음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3B241F-4416-7297-54CB-ED52D4C846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00" b="49389"/>
          <a:stretch/>
        </p:blipFill>
        <p:spPr>
          <a:xfrm>
            <a:off x="1089941" y="2997075"/>
            <a:ext cx="3064854" cy="2636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A782CB-B491-12FE-C02C-CBEB2C3FA0B5}"/>
              </a:ext>
            </a:extLst>
          </p:cNvPr>
          <p:cNvSpPr txBox="1"/>
          <p:nvPr/>
        </p:nvSpPr>
        <p:spPr>
          <a:xfrm>
            <a:off x="2786062" y="5679111"/>
            <a:ext cx="6619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https://www.geeksforgeeks.org/structural-constraints-of-relationships-in-er-model/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DA76993-1922-5BF1-B264-C202EE01E363}"/>
              </a:ext>
            </a:extLst>
          </p:cNvPr>
          <p:cNvGrpSpPr/>
          <p:nvPr/>
        </p:nvGrpSpPr>
        <p:grpSpPr>
          <a:xfrm>
            <a:off x="4606981" y="3264338"/>
            <a:ext cx="6860452" cy="2102270"/>
            <a:chOff x="4581399" y="3851084"/>
            <a:chExt cx="6860452" cy="210227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04A03A8-0838-1915-1D11-6895FD2A5C17}"/>
                </a:ext>
              </a:extLst>
            </p:cNvPr>
            <p:cNvGrpSpPr/>
            <p:nvPr/>
          </p:nvGrpSpPr>
          <p:grpSpPr>
            <a:xfrm>
              <a:off x="4581399" y="3851084"/>
              <a:ext cx="6860452" cy="2102270"/>
              <a:chOff x="4581399" y="3546055"/>
              <a:chExt cx="6860452" cy="2102270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7B6A9E29-540B-83A1-BF8F-9DB85C8E04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81399" y="3656387"/>
                <a:ext cx="6860452" cy="19919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7F7B58-4E15-31D1-47F5-45B8D4149DA7}"/>
                  </a:ext>
                </a:extLst>
              </p:cNvPr>
              <p:cNvSpPr txBox="1"/>
              <p:nvPr/>
            </p:nvSpPr>
            <p:spPr>
              <a:xfrm>
                <a:off x="6184051" y="3546055"/>
                <a:ext cx="34387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FFC000"/>
                    </a:solidFill>
                  </a:rPr>
                  <a:t>관계 대응 수를 실선 위에 표기</a:t>
                </a:r>
                <a:r>
                  <a:rPr lang="en-US" altLang="ko-KR" b="1" dirty="0">
                    <a:solidFill>
                      <a:srgbClr val="FFC000"/>
                    </a:solidFill>
                  </a:rPr>
                  <a:t>!</a:t>
                </a:r>
                <a:endParaRPr lang="ko-KR" altLang="en-US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F3173F02-18D4-02B5-1723-21767C3FAF62}"/>
                  </a:ext>
                </a:extLst>
              </p:cNvPr>
              <p:cNvSpPr/>
              <p:nvPr/>
            </p:nvSpPr>
            <p:spPr>
              <a:xfrm>
                <a:off x="6304964" y="4054101"/>
                <a:ext cx="555362" cy="468124"/>
              </a:xfrm>
              <a:prstGeom prst="roundRect">
                <a:avLst/>
              </a:prstGeom>
              <a:solidFill>
                <a:srgbClr val="FFC00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A8C4BCB9-921E-BCBF-4765-1F2DF60FE451}"/>
                  </a:ext>
                </a:extLst>
              </p:cNvPr>
              <p:cNvSpPr/>
              <p:nvPr/>
            </p:nvSpPr>
            <p:spPr>
              <a:xfrm>
                <a:off x="9076739" y="4054895"/>
                <a:ext cx="555362" cy="468124"/>
              </a:xfrm>
              <a:prstGeom prst="roundRect">
                <a:avLst/>
              </a:prstGeom>
              <a:solidFill>
                <a:srgbClr val="FFC00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4970684" y="4718693"/>
              <a:ext cx="112531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Person</a:t>
              </a:r>
              <a:endParaRPr lang="ko-KR" altLang="en-US" sz="2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11414" y="4692935"/>
              <a:ext cx="79115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eats</a:t>
              </a:r>
              <a:endParaRPr lang="ko-KR" altLang="en-US" sz="2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66590" y="4731572"/>
              <a:ext cx="112531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Lunch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2637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A273-B964-3CB5-4581-9ED6A7D9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Cardinality Constraint – 1</a:t>
            </a:r>
            <a:r>
              <a:rPr lang="en-US" altLang="ko-KR" dirty="0"/>
              <a:t>:N, N:1</a:t>
            </a:r>
            <a:r>
              <a:rPr lang="ko-KR" altLang="en-US" dirty="0"/>
              <a:t>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9744-5100-C2F8-2AC0-C64627F3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4997"/>
            <a:ext cx="11701221" cy="1145406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latin typeface="+mn-ea"/>
                <a:ea typeface="+mn-ea"/>
              </a:rPr>
              <a:t>✅ </a:t>
            </a:r>
            <a:r>
              <a:rPr lang="ko-KR" altLang="en-US" b="0" i="0" dirty="0">
                <a:effectLst/>
                <a:latin typeface="+mn-ea"/>
                <a:ea typeface="+mn-ea"/>
              </a:rPr>
              <a:t>일대다</a:t>
            </a:r>
            <a:r>
              <a:rPr lang="en-US" altLang="ko-KR" b="0" i="0" dirty="0"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effectLst/>
                <a:latin typeface="+mn-ea"/>
                <a:ea typeface="+mn-ea"/>
              </a:rPr>
              <a:t>다대일 관계 </a:t>
            </a:r>
            <a:r>
              <a:rPr lang="en-US" altLang="ko-KR" b="0" i="0" dirty="0">
                <a:effectLst/>
                <a:latin typeface="+mn-ea"/>
                <a:ea typeface="+mn-ea"/>
              </a:rPr>
              <a:t>(one to many, many to one relationship)</a:t>
            </a:r>
          </a:p>
          <a:p>
            <a:pPr lvl="1"/>
            <a:r>
              <a:rPr lang="ko-KR" altLang="en-US" b="0" i="0" dirty="0">
                <a:effectLst/>
                <a:latin typeface="Apple SD Gothic Neo"/>
              </a:rPr>
              <a:t>한 개체가 여러 개의 개체와 관계를 맺을 수 있으나</a:t>
            </a:r>
            <a:r>
              <a:rPr lang="en-US" altLang="ko-KR" b="0" i="0" dirty="0">
                <a:effectLst/>
                <a:latin typeface="Apple SD Gothic Neo"/>
              </a:rPr>
              <a:t>, </a:t>
            </a:r>
            <a:r>
              <a:rPr lang="ko-KR" altLang="en-US" b="0" i="0" dirty="0">
                <a:effectLst/>
                <a:latin typeface="Apple SD Gothic Neo"/>
              </a:rPr>
              <a:t>역은 성립되지 않음</a:t>
            </a:r>
            <a:endParaRPr lang="en-US" altLang="ko-KR" b="0" i="0" dirty="0">
              <a:effectLst/>
              <a:latin typeface="Apple SD Gothic Neo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31B903-F740-09A6-63F5-5244F34CD7B1}"/>
              </a:ext>
            </a:extLst>
          </p:cNvPr>
          <p:cNvGrpSpPr/>
          <p:nvPr/>
        </p:nvGrpSpPr>
        <p:grpSpPr>
          <a:xfrm>
            <a:off x="2049282" y="2664088"/>
            <a:ext cx="8093436" cy="2850484"/>
            <a:chOff x="2405997" y="3516627"/>
            <a:chExt cx="6825597" cy="240395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30781D6-005D-DA61-760D-4CB16882E2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117" b="53321"/>
            <a:stretch/>
          </p:blipFill>
          <p:spPr>
            <a:xfrm>
              <a:off x="2405997" y="3516627"/>
              <a:ext cx="3135594" cy="240395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7571989-F383-D229-AE81-F7B64E7A8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551" r="56117"/>
            <a:stretch/>
          </p:blipFill>
          <p:spPr>
            <a:xfrm>
              <a:off x="6096000" y="3516627"/>
              <a:ext cx="3135594" cy="2340609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7B30677-161C-244D-1173-DC56FEC8F19C}"/>
              </a:ext>
            </a:extLst>
          </p:cNvPr>
          <p:cNvSpPr txBox="1"/>
          <p:nvPr/>
        </p:nvSpPr>
        <p:spPr>
          <a:xfrm>
            <a:off x="2786062" y="5690034"/>
            <a:ext cx="6619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https://www.geeksforgeeks.org/structural-constraints-of-relationships-in-er-model/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10054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A273-B964-3CB5-4581-9ED6A7D9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Cardinality Constraint – 1</a:t>
            </a:r>
            <a:r>
              <a:rPr lang="en-US" altLang="ko-KR" dirty="0"/>
              <a:t>:N, N:1</a:t>
            </a:r>
            <a:r>
              <a:rPr lang="ko-KR" altLang="en-US" dirty="0"/>
              <a:t>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9744-5100-C2F8-2AC0-C64627F3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39" y="1145407"/>
            <a:ext cx="11701221" cy="1329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en-US" altLang="ko-KR" dirty="0">
                <a:latin typeface="Apple SD Gothic Neo"/>
              </a:rPr>
              <a:t>ex) </a:t>
            </a:r>
            <a:r>
              <a:rPr lang="ko-KR" altLang="en-US" dirty="0">
                <a:latin typeface="Apple SD Gothic Neo"/>
              </a:rPr>
              <a:t>한 팀에 여러 명의 플레이어가 소속될 수 있으나</a:t>
            </a:r>
            <a:r>
              <a:rPr lang="en-US" altLang="ko-KR" dirty="0">
                <a:latin typeface="Apple SD Gothic Neo"/>
              </a:rPr>
              <a:t>,</a:t>
            </a:r>
          </a:p>
          <a:p>
            <a:pPr marL="0" indent="0">
              <a:buNone/>
            </a:pPr>
            <a:r>
              <a:rPr lang="ko-KR" altLang="en-US" dirty="0">
                <a:latin typeface="Apple SD Gothic Neo"/>
              </a:rPr>
              <a:t>             한 플레이어는 한 팀에만 소속되어 있어야 함</a:t>
            </a:r>
            <a:endParaRPr lang="en-US" altLang="ko-KR" b="0" i="0" dirty="0">
              <a:effectLst/>
              <a:latin typeface="Apple SD Gothic Neo"/>
            </a:endParaRPr>
          </a:p>
          <a:p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BEEF98A-B259-63C0-D38C-3818A6F1CFA7}"/>
              </a:ext>
            </a:extLst>
          </p:cNvPr>
          <p:cNvGrpSpPr/>
          <p:nvPr/>
        </p:nvGrpSpPr>
        <p:grpSpPr>
          <a:xfrm>
            <a:off x="1639021" y="2652817"/>
            <a:ext cx="8913957" cy="2588175"/>
            <a:chOff x="663600" y="2290813"/>
            <a:chExt cx="6953250" cy="201888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EFDF972-41AE-3165-1FCF-6976DC07B891}"/>
                </a:ext>
              </a:extLst>
            </p:cNvPr>
            <p:cNvGrpSpPr/>
            <p:nvPr/>
          </p:nvGrpSpPr>
          <p:grpSpPr>
            <a:xfrm>
              <a:off x="663600" y="2290813"/>
              <a:ext cx="6953250" cy="2018882"/>
              <a:chOff x="2619375" y="3702153"/>
              <a:chExt cx="6953250" cy="2018882"/>
            </a:xfrm>
          </p:grpSpPr>
          <p:pic>
            <p:nvPicPr>
              <p:cNvPr id="4098" name="Picture 2">
                <a:extLst>
                  <a:ext uri="{FF2B5EF4-FFF2-40B4-BE49-F238E27FC236}">
                    <a16:creationId xmlns:a16="http://schemas.microsoft.com/office/drawing/2014/main" id="{1FE72929-A42C-9CAE-6C68-C5F858F50C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9375" y="3702153"/>
                <a:ext cx="6953250" cy="2018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08C1D77B-8951-FEAA-E707-D0CE62A70090}"/>
                  </a:ext>
                </a:extLst>
              </p:cNvPr>
              <p:cNvSpPr/>
              <p:nvPr/>
            </p:nvSpPr>
            <p:spPr>
              <a:xfrm>
                <a:off x="4361864" y="4130530"/>
                <a:ext cx="555362" cy="468124"/>
              </a:xfrm>
              <a:prstGeom prst="roundRect">
                <a:avLst/>
              </a:prstGeom>
              <a:solidFill>
                <a:srgbClr val="FFC00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143529-63BA-A1D7-53FA-DFE25A40F528}"/>
                  </a:ext>
                </a:extLst>
              </p:cNvPr>
              <p:cNvSpPr txBox="1"/>
              <p:nvPr/>
            </p:nvSpPr>
            <p:spPr>
              <a:xfrm>
                <a:off x="7296150" y="4168630"/>
                <a:ext cx="34290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N</a:t>
                </a:r>
                <a:endParaRPr lang="ko-KR" altLang="en-US" sz="2000" dirty="0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E219066-5668-12D6-5E4D-3AC4F232D003}"/>
                  </a:ext>
                </a:extLst>
              </p:cNvPr>
              <p:cNvSpPr/>
              <p:nvPr/>
            </p:nvSpPr>
            <p:spPr>
              <a:xfrm>
                <a:off x="7189919" y="4130530"/>
                <a:ext cx="555362" cy="468124"/>
              </a:xfrm>
              <a:prstGeom prst="roundRect">
                <a:avLst/>
              </a:prstGeom>
              <a:solidFill>
                <a:srgbClr val="FFC00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9C5F15-CE37-8E49-286E-90B398882555}"/>
                </a:ext>
              </a:extLst>
            </p:cNvPr>
            <p:cNvSpPr txBox="1"/>
            <p:nvPr/>
          </p:nvSpPr>
          <p:spPr>
            <a:xfrm>
              <a:off x="4748509" y="2377398"/>
              <a:ext cx="1526630" cy="288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C000"/>
                  </a:solidFill>
                </a:rPr>
                <a:t>N:</a:t>
              </a:r>
              <a:r>
                <a:rPr lang="ko-KR" altLang="en-US" b="1" dirty="0">
                  <a:solidFill>
                    <a:srgbClr val="FFC000"/>
                  </a:solidFill>
                </a:rPr>
                <a:t> </a:t>
              </a:r>
              <a:r>
                <a:rPr lang="en-US" altLang="ko-KR" b="1" dirty="0">
                  <a:solidFill>
                    <a:srgbClr val="FFC000"/>
                  </a:solidFill>
                </a:rPr>
                <a:t>0 </a:t>
              </a:r>
              <a:r>
                <a:rPr lang="ko-KR" altLang="en-US" b="1" dirty="0">
                  <a:solidFill>
                    <a:srgbClr val="FFC000"/>
                  </a:solidFill>
                </a:rPr>
                <a:t>이상의 자연수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64DAA2-F536-E6EA-78E8-EF04FC381F6F}"/>
              </a:ext>
            </a:extLst>
          </p:cNvPr>
          <p:cNvSpPr txBox="1"/>
          <p:nvPr/>
        </p:nvSpPr>
        <p:spPr>
          <a:xfrm>
            <a:off x="3149519" y="5080195"/>
            <a:ext cx="589295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b="1" dirty="0"/>
              <a:t> 주의</a:t>
            </a:r>
            <a:r>
              <a:rPr lang="en-US" altLang="ko-KR" sz="2000" b="1" dirty="0"/>
              <a:t>! N</a:t>
            </a:r>
            <a:r>
              <a:rPr lang="ko-KR" altLang="en-US" sz="2000" b="1" dirty="0"/>
              <a:t>을 </a:t>
            </a:r>
            <a:r>
              <a:rPr lang="en-US" altLang="ko-KR" sz="2000" b="1" dirty="0"/>
              <a:t>Player</a:t>
            </a:r>
            <a:r>
              <a:rPr lang="ko-KR" altLang="en-US" sz="2000" b="1" dirty="0"/>
              <a:t> 쪽에 표시</a:t>
            </a:r>
            <a:r>
              <a:rPr lang="en-US" altLang="ko-KR" sz="2000" b="1" dirty="0"/>
              <a:t>! </a:t>
            </a:r>
          </a:p>
          <a:p>
            <a:pPr algn="ctr"/>
            <a:r>
              <a:rPr lang="ko-KR" altLang="en-US" dirty="0"/>
              <a:t>한 팀은 </a:t>
            </a:r>
            <a:r>
              <a:rPr lang="en-US" altLang="ko-KR" dirty="0"/>
              <a:t>N</a:t>
            </a:r>
            <a:r>
              <a:rPr lang="ko-KR" altLang="en-US" dirty="0"/>
              <a:t>명의 </a:t>
            </a:r>
            <a:r>
              <a:rPr lang="en-US" altLang="ko-KR" dirty="0"/>
              <a:t>Player</a:t>
            </a:r>
            <a:r>
              <a:rPr lang="ko-KR" altLang="en-US" dirty="0"/>
              <a:t>와 관계를 맺으므로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en-US" altLang="ko-KR" dirty="0"/>
              <a:t>Player </a:t>
            </a:r>
            <a:r>
              <a:rPr lang="ko-KR" altLang="en-US" dirty="0"/>
              <a:t>쪽에 표시</a:t>
            </a:r>
          </a:p>
        </p:txBody>
      </p:sp>
    </p:spTree>
    <p:extLst>
      <p:ext uri="{BB962C8B-B14F-4D97-AF65-F5344CB8AC3E}">
        <p14:creationId xmlns:p14="http://schemas.microsoft.com/office/powerpoint/2010/main" val="20466009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A273-B964-3CB5-4581-9ED6A7D9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Cardinality Constraint – N:M </a:t>
            </a:r>
            <a:r>
              <a:rPr lang="ko-KR" altLang="en-US" b="1" dirty="0"/>
              <a:t>관계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9744-5100-C2F8-2AC0-C64627F3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090300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latin typeface="+mn-ea"/>
                <a:ea typeface="+mn-ea"/>
              </a:rPr>
              <a:t>✅ </a:t>
            </a:r>
            <a:r>
              <a:rPr lang="ko-KR" altLang="en-US" b="0" i="0" dirty="0">
                <a:effectLst/>
                <a:latin typeface="+mn-ea"/>
                <a:ea typeface="+mn-ea"/>
              </a:rPr>
              <a:t>다대다 관계 </a:t>
            </a:r>
            <a:r>
              <a:rPr lang="en-US" altLang="ko-KR" b="0" i="0" dirty="0">
                <a:effectLst/>
                <a:latin typeface="+mn-ea"/>
                <a:ea typeface="+mn-ea"/>
              </a:rPr>
              <a:t>(many to many relationship) </a:t>
            </a:r>
          </a:p>
          <a:p>
            <a:pPr lvl="1"/>
            <a:r>
              <a:rPr lang="ko-KR" altLang="en-US" b="0" i="0" dirty="0">
                <a:effectLst/>
              </a:rPr>
              <a:t>한 개체가 여러 개의 개체를 가질 수도 있고</a:t>
            </a:r>
            <a:r>
              <a:rPr lang="en-US" altLang="ko-KR" b="0" i="0" dirty="0">
                <a:effectLst/>
              </a:rPr>
              <a:t>, </a:t>
            </a:r>
            <a:r>
              <a:rPr lang="ko-KR" altLang="en-US" b="0" i="0" dirty="0">
                <a:effectLst/>
              </a:rPr>
              <a:t>그 역도 성립</a:t>
            </a:r>
            <a:endParaRPr lang="en-US" altLang="ko-KR" b="0" i="0" dirty="0">
              <a:effectLst/>
            </a:endParaRPr>
          </a:p>
          <a:p>
            <a:pPr marL="457200" lvl="1" indent="0">
              <a:buNone/>
            </a:pPr>
            <a:r>
              <a:rPr lang="en-US" altLang="ko-KR" dirty="0"/>
              <a:t>Ex) </a:t>
            </a: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학생이 여러 개의 프로젝트 참여할 수 있고</a:t>
            </a:r>
            <a:r>
              <a:rPr lang="en-US" altLang="ko-KR" dirty="0"/>
              <a:t>, </a:t>
            </a:r>
            <a:r>
              <a:rPr lang="ko-KR" altLang="en-US" dirty="0"/>
              <a:t>한 프로젝트는 여러 명의 학생이 진행할 수 있음</a:t>
            </a:r>
            <a:endParaRPr lang="en-US" altLang="ko-KR" b="0" i="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782CB-B491-12FE-C02C-CBEB2C3FA0B5}"/>
              </a:ext>
            </a:extLst>
          </p:cNvPr>
          <p:cNvSpPr txBox="1"/>
          <p:nvPr/>
        </p:nvSpPr>
        <p:spPr>
          <a:xfrm>
            <a:off x="2786062" y="5783590"/>
            <a:ext cx="6619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https://www.geeksforgeeks.org/structural-constraints-of-relationships-in-er-model/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066829-9742-AE00-C3B7-38ECE1205F07}"/>
              </a:ext>
            </a:extLst>
          </p:cNvPr>
          <p:cNvGrpSpPr/>
          <p:nvPr/>
        </p:nvGrpSpPr>
        <p:grpSpPr>
          <a:xfrm>
            <a:off x="4697128" y="3586665"/>
            <a:ext cx="6477201" cy="1880661"/>
            <a:chOff x="5362575" y="3335580"/>
            <a:chExt cx="5915025" cy="1717433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E0CE008-0430-8E33-D744-9242E24297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2575" y="3335580"/>
              <a:ext cx="5915025" cy="1717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69CC34-F563-2522-9901-72757555386B}"/>
                </a:ext>
              </a:extLst>
            </p:cNvPr>
            <p:cNvSpPr txBox="1"/>
            <p:nvPr/>
          </p:nvSpPr>
          <p:spPr>
            <a:xfrm>
              <a:off x="6867525" y="3695718"/>
              <a:ext cx="43815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N</a:t>
              </a:r>
              <a:endParaRPr lang="ko-KR" altLang="en-US" sz="2000" dirty="0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EBEBB80-99E0-9FBF-BD5B-D676268AEF5F}"/>
                </a:ext>
              </a:extLst>
            </p:cNvPr>
            <p:cNvSpPr/>
            <p:nvPr/>
          </p:nvSpPr>
          <p:spPr>
            <a:xfrm>
              <a:off x="6808919" y="3627704"/>
              <a:ext cx="555362" cy="468124"/>
            </a:xfrm>
            <a:prstGeom prst="roundRect">
              <a:avLst/>
            </a:prstGeom>
            <a:solidFill>
              <a:srgbClr val="FFC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9A4D28C-7C54-650E-8A23-7FDAA4C75C30}"/>
                </a:ext>
              </a:extLst>
            </p:cNvPr>
            <p:cNvSpPr/>
            <p:nvPr/>
          </p:nvSpPr>
          <p:spPr>
            <a:xfrm>
              <a:off x="9237794" y="3627704"/>
              <a:ext cx="555362" cy="468124"/>
            </a:xfrm>
            <a:prstGeom prst="roundRect">
              <a:avLst/>
            </a:prstGeom>
            <a:solidFill>
              <a:srgbClr val="FFC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B746D6B-C7BD-7C88-4E42-05175A11E5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3" t="53137"/>
          <a:stretch/>
        </p:blipFill>
        <p:spPr>
          <a:xfrm>
            <a:off x="1515578" y="3209493"/>
            <a:ext cx="29337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771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A5A4F-D521-2E1C-4234-017043A0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EBF1D-E1DA-8A39-6353-731F3CE2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참여</a:t>
            </a:r>
            <a:r>
              <a:rPr lang="en-US" altLang="ko-KR" dirty="0"/>
              <a:t>(Participation) </a:t>
            </a:r>
            <a:r>
              <a:rPr lang="ko-KR" altLang="en-US" dirty="0"/>
              <a:t>제약 조건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98D811-A7C9-68BC-B525-E0AA455C903E}"/>
              </a:ext>
            </a:extLst>
          </p:cNvPr>
          <p:cNvSpPr txBox="1">
            <a:spLocks/>
          </p:cNvSpPr>
          <p:nvPr/>
        </p:nvSpPr>
        <p:spPr>
          <a:xfrm>
            <a:off x="245389" y="991403"/>
            <a:ext cx="11701221" cy="272454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참여 제약이란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특정 </a:t>
            </a:r>
            <a:r>
              <a:rPr lang="ko-KR" altLang="en-US" dirty="0" err="1"/>
              <a:t>엔터티가</a:t>
            </a:r>
            <a:r>
              <a:rPr lang="ko-KR" altLang="en-US" dirty="0"/>
              <a:t> </a:t>
            </a:r>
            <a:r>
              <a:rPr lang="ko-KR" altLang="en-US" b="1" dirty="0"/>
              <a:t>반드시 특정 관계에 참여해야 하는지 여부</a:t>
            </a:r>
            <a:r>
              <a:rPr lang="ko-KR" altLang="en-US" dirty="0"/>
              <a:t>를 결정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한 </a:t>
            </a:r>
            <a:r>
              <a:rPr lang="en-US" altLang="ko-KR" dirty="0"/>
              <a:t>Entity</a:t>
            </a:r>
            <a:r>
              <a:rPr lang="ko-KR" altLang="en-US" dirty="0"/>
              <a:t>가 다른 </a:t>
            </a:r>
            <a:r>
              <a:rPr lang="en-US" altLang="ko-KR" dirty="0"/>
              <a:t>Entity</a:t>
            </a:r>
            <a:r>
              <a:rPr lang="ko-KR" altLang="en-US" dirty="0"/>
              <a:t>에 필수로 포함되어야 하는가에 대한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참여 유형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E3CEB6-247D-6949-630D-C7CCDFC7401E}"/>
              </a:ext>
            </a:extLst>
          </p:cNvPr>
          <p:cNvGraphicFramePr>
            <a:graphicFrameLocks noGrp="1"/>
          </p:cNvGraphicFramePr>
          <p:nvPr/>
        </p:nvGraphicFramePr>
        <p:xfrm>
          <a:off x="427756" y="3715945"/>
          <a:ext cx="11336488" cy="2017108"/>
        </p:xfrm>
        <a:graphic>
          <a:graphicData uri="http://schemas.openxmlformats.org/drawingml/2006/table">
            <a:tbl>
              <a:tblPr/>
              <a:tblGrid>
                <a:gridCol w="3115371">
                  <a:extLst>
                    <a:ext uri="{9D8B030D-6E8A-4147-A177-3AD203B41FA5}">
                      <a16:colId xmlns:a16="http://schemas.microsoft.com/office/drawing/2014/main" val="1346345652"/>
                    </a:ext>
                  </a:extLst>
                </a:gridCol>
                <a:gridCol w="3911521">
                  <a:extLst>
                    <a:ext uri="{9D8B030D-6E8A-4147-A177-3AD203B41FA5}">
                      <a16:colId xmlns:a16="http://schemas.microsoft.com/office/drawing/2014/main" val="2438348172"/>
                    </a:ext>
                  </a:extLst>
                </a:gridCol>
                <a:gridCol w="4309596">
                  <a:extLst>
                    <a:ext uri="{9D8B030D-6E8A-4147-A177-3AD203B41FA5}">
                      <a16:colId xmlns:a16="http://schemas.microsoft.com/office/drawing/2014/main" val="2969478227"/>
                    </a:ext>
                  </a:extLst>
                </a:gridCol>
              </a:tblGrid>
              <a:tr h="5095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373721"/>
                  </a:ext>
                </a:extLst>
              </a:tr>
              <a:tr h="7537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참여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Total Participation)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엔터티가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반드시 관계에 참여해야 함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(Order)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은 반드시 고객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(Customer)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 연결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80294"/>
                  </a:ext>
                </a:extLst>
              </a:tr>
              <a:tr h="7537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부분 참여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Partial Participation)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일부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엔터티만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관계에 참여할 수 있음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고객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(Customer)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은 주문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(Order)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없이 존재 가능</a:t>
                      </a:r>
                    </a:p>
                  </a:txBody>
                  <a:tcPr marL="18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46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8821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BBAE-947C-8634-6A25-D161E6A5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30891-E715-1553-8CF6-7F99B3B7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Participation Constraint </a:t>
            </a:r>
            <a:r>
              <a:rPr lang="ko-KR" altLang="en-US" b="1" dirty="0"/>
              <a:t>예시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AAEE58A-7FEE-2E8D-D7D0-6F0012E27EBB}"/>
              </a:ext>
            </a:extLst>
          </p:cNvPr>
          <p:cNvGrpSpPr/>
          <p:nvPr/>
        </p:nvGrpSpPr>
        <p:grpSpPr>
          <a:xfrm>
            <a:off x="2189043" y="2202339"/>
            <a:ext cx="7798068" cy="2007393"/>
            <a:chOff x="2343150" y="2621757"/>
            <a:chExt cx="7798068" cy="2007393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CB180B22-84D9-6B3D-6DE7-C75863E52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3150" y="2621757"/>
              <a:ext cx="7798068" cy="2007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15C0D20-6AFA-2999-B2B7-E250CFC7A0E7}"/>
                </a:ext>
              </a:extLst>
            </p:cNvPr>
            <p:cNvGrpSpPr/>
            <p:nvPr/>
          </p:nvGrpSpPr>
          <p:grpSpPr>
            <a:xfrm>
              <a:off x="4200520" y="3429000"/>
              <a:ext cx="4000505" cy="307468"/>
              <a:chOff x="4200520" y="3429000"/>
              <a:chExt cx="4000505" cy="307468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83B7819D-C840-DD1A-9642-6E24C35C7320}"/>
                  </a:ext>
                </a:extLst>
              </p:cNvPr>
              <p:cNvSpPr/>
              <p:nvPr/>
            </p:nvSpPr>
            <p:spPr>
              <a:xfrm>
                <a:off x="7132769" y="3429000"/>
                <a:ext cx="1068256" cy="304800"/>
              </a:xfrm>
              <a:prstGeom prst="roundRect">
                <a:avLst/>
              </a:prstGeom>
              <a:solidFill>
                <a:srgbClr val="00B0F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B0F0"/>
                  </a:solidFill>
                </a:endParaRPr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2DD92327-4EB4-96BC-C263-9A62D49AF71C}"/>
                  </a:ext>
                </a:extLst>
              </p:cNvPr>
              <p:cNvSpPr/>
              <p:nvPr/>
            </p:nvSpPr>
            <p:spPr>
              <a:xfrm>
                <a:off x="4200520" y="3431668"/>
                <a:ext cx="858712" cy="304800"/>
              </a:xfrm>
              <a:prstGeom prst="roundRect">
                <a:avLst/>
              </a:prstGeom>
              <a:solidFill>
                <a:srgbClr val="00B050">
                  <a:alpha val="2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B0F0"/>
                  </a:solidFill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EAADC9B-A173-687F-F8E7-D625508D1437}"/>
              </a:ext>
            </a:extLst>
          </p:cNvPr>
          <p:cNvSpPr txBox="1"/>
          <p:nvPr/>
        </p:nvSpPr>
        <p:spPr>
          <a:xfrm>
            <a:off x="6978662" y="4055909"/>
            <a:ext cx="41761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직원은 부서에 </a:t>
            </a:r>
            <a:r>
              <a:rPr lang="ko-KR" altLang="en-US" b="1" u="sng" dirty="0">
                <a:solidFill>
                  <a:srgbClr val="00B0F0"/>
                </a:solidFill>
              </a:rPr>
              <a:t>무조건</a:t>
            </a:r>
            <a:r>
              <a:rPr lang="ko-KR" altLang="en-US" b="1" dirty="0">
                <a:solidFill>
                  <a:srgbClr val="FFC000"/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소속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ko-KR" b="1" dirty="0">
                <a:solidFill>
                  <a:srgbClr val="FFC000"/>
                </a:solidFill>
              </a:rPr>
              <a:t> </a:t>
            </a:r>
            <a:r>
              <a:rPr lang="ko-KR" altLang="en-US" b="1" dirty="0">
                <a:solidFill>
                  <a:srgbClr val="00B0F0"/>
                </a:solidFill>
              </a:rPr>
              <a:t>전체 참여 </a:t>
            </a:r>
            <a:r>
              <a:rPr lang="en-US" altLang="ko-KR" b="1" dirty="0">
                <a:solidFill>
                  <a:srgbClr val="00B0F0"/>
                </a:solidFill>
              </a:rPr>
              <a:t>(Total Participation)</a:t>
            </a:r>
          </a:p>
          <a:p>
            <a:endParaRPr lang="en-US" altLang="ko-KR" b="1" dirty="0">
              <a:solidFill>
                <a:srgbClr val="FFC000"/>
              </a:solidFill>
            </a:endParaRPr>
          </a:p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Entity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을 </a:t>
            </a:r>
            <a:r>
              <a:rPr lang="ko-KR" altLang="en-US" b="1" u="sng" dirty="0">
                <a:solidFill>
                  <a:srgbClr val="00B0F0"/>
                </a:solidFill>
              </a:rPr>
              <a:t>두 개의 실선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연결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2CAE1-6C43-F5B6-F15C-EB7EE6304D60}"/>
              </a:ext>
            </a:extLst>
          </p:cNvPr>
          <p:cNvSpPr txBox="1"/>
          <p:nvPr/>
        </p:nvSpPr>
        <p:spPr>
          <a:xfrm>
            <a:off x="851285" y="4055909"/>
            <a:ext cx="41762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부서는 직원이 </a:t>
            </a:r>
            <a:r>
              <a:rPr lang="ko-KR" altLang="en-US" b="1" dirty="0">
                <a:solidFill>
                  <a:srgbClr val="00B050"/>
                </a:solidFill>
              </a:rPr>
              <a:t>없어도 됨</a:t>
            </a:r>
            <a:endParaRPr lang="en-US" altLang="ko-KR" b="1" dirty="0">
              <a:solidFill>
                <a:srgbClr val="00B050"/>
              </a:solidFill>
            </a:endParaRPr>
          </a:p>
          <a:p>
            <a:pPr algn="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ko-KR" b="1" dirty="0">
                <a:solidFill>
                  <a:srgbClr val="FFC000"/>
                </a:solidFill>
              </a:rPr>
              <a:t> </a:t>
            </a:r>
            <a:r>
              <a:rPr lang="ko-KR" altLang="en-US" b="1" dirty="0">
                <a:solidFill>
                  <a:srgbClr val="00B050"/>
                </a:solidFill>
              </a:rPr>
              <a:t>부분 참여 </a:t>
            </a:r>
            <a:r>
              <a:rPr lang="en-US" altLang="ko-KR" b="1" dirty="0">
                <a:solidFill>
                  <a:srgbClr val="00B050"/>
                </a:solidFill>
              </a:rPr>
              <a:t>(Partial Participation)</a:t>
            </a:r>
          </a:p>
          <a:p>
            <a:pPr algn="r"/>
            <a:endParaRPr lang="en-US" altLang="ko-KR" b="1" dirty="0">
              <a:solidFill>
                <a:srgbClr val="00B050"/>
              </a:solidFill>
            </a:endParaRPr>
          </a:p>
          <a:p>
            <a:pPr algn="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Entity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을 </a:t>
            </a:r>
            <a:r>
              <a:rPr lang="ko-KR" altLang="en-US" b="1" u="sng" dirty="0">
                <a:solidFill>
                  <a:srgbClr val="00B050"/>
                </a:solidFill>
              </a:rPr>
              <a:t>한 개의 실선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연결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93EA68-6006-5C12-DB90-E480F0311836}"/>
              </a:ext>
            </a:extLst>
          </p:cNvPr>
          <p:cNvSpPr txBox="1"/>
          <p:nvPr/>
        </p:nvSpPr>
        <p:spPr>
          <a:xfrm>
            <a:off x="2835331" y="1907688"/>
            <a:ext cx="652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highlight>
                  <a:srgbClr val="FFC000"/>
                </a:highlight>
              </a:rPr>
              <a:t>전체 참여는 두 개의 실선</a:t>
            </a:r>
            <a:r>
              <a:rPr lang="en-US" altLang="ko-KR" b="1" dirty="0">
                <a:highlight>
                  <a:srgbClr val="FFC000"/>
                </a:highlight>
              </a:rPr>
              <a:t>, </a:t>
            </a:r>
            <a:r>
              <a:rPr lang="ko-KR" altLang="en-US" b="1" dirty="0">
                <a:highlight>
                  <a:srgbClr val="FFC000"/>
                </a:highlight>
              </a:rPr>
              <a:t>부분 참여는 하나의 실선으로 표시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236E5-2B0F-56B5-59A9-1E4A401090BF}"/>
              </a:ext>
            </a:extLst>
          </p:cNvPr>
          <p:cNvSpPr txBox="1"/>
          <p:nvPr/>
        </p:nvSpPr>
        <p:spPr>
          <a:xfrm>
            <a:off x="4094895" y="268937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5050"/>
                </a:solidFill>
              </a:rPr>
              <a:t>Patial</a:t>
            </a:r>
            <a:endParaRPr lang="ko-KR" altLang="en-US" dirty="0">
              <a:solidFill>
                <a:srgbClr val="FF5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F541B-755F-E974-1D91-09B964CC74FD}"/>
              </a:ext>
            </a:extLst>
          </p:cNvPr>
          <p:cNvSpPr txBox="1"/>
          <p:nvPr/>
        </p:nvSpPr>
        <p:spPr>
          <a:xfrm>
            <a:off x="7152755" y="268937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5050"/>
                </a:solidFill>
              </a:rPr>
              <a:t>Total</a:t>
            </a:r>
            <a:endParaRPr lang="ko-KR" altLang="en-US" dirty="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0702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37B8F-B80D-A987-5684-64BEDE6C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14BE6-0589-061C-C938-2EF6740359C8}"/>
              </a:ext>
            </a:extLst>
          </p:cNvPr>
          <p:cNvSpPr txBox="1"/>
          <p:nvPr/>
        </p:nvSpPr>
        <p:spPr>
          <a:xfrm>
            <a:off x="3674518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관계의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존속성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83544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27B15-04AA-D038-B4ED-391F52C6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E22F4-7FAB-46B0-83EE-71EB02F6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약한 객체</a:t>
            </a:r>
            <a:r>
              <a:rPr lang="en-US" altLang="ko-KR" dirty="0"/>
              <a:t>(</a:t>
            </a:r>
            <a:r>
              <a:rPr lang="ko-KR" altLang="en-US" dirty="0"/>
              <a:t>약한 </a:t>
            </a:r>
            <a:r>
              <a:rPr lang="ko-KR" altLang="en-US" dirty="0" err="1"/>
              <a:t>엔터티</a:t>
            </a:r>
            <a:r>
              <a:rPr lang="en-US" altLang="ko-KR" dirty="0"/>
              <a:t>, Weak Entity)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76579C-5191-1AA8-75CC-EF30DDC9CCF1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701221" cy="513026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💡 자체적으로 고유한 기본 키</a:t>
            </a:r>
            <a:r>
              <a:rPr lang="en-US" altLang="ko-KR" dirty="0"/>
              <a:t>(PK)</a:t>
            </a:r>
            <a:r>
              <a:rPr lang="ko-KR" altLang="en-US" dirty="0"/>
              <a:t>를 가지지 못하고</a:t>
            </a:r>
            <a:r>
              <a:rPr lang="en-US" altLang="ko-KR" dirty="0"/>
              <a:t>, </a:t>
            </a:r>
            <a:r>
              <a:rPr lang="ko-KR" altLang="en-US" dirty="0"/>
              <a:t>다른 </a:t>
            </a:r>
            <a:r>
              <a:rPr lang="ko-KR" altLang="en-US" dirty="0" err="1"/>
              <a:t>엔터티에</a:t>
            </a:r>
            <a:r>
              <a:rPr lang="ko-KR" altLang="en-US" dirty="0"/>
              <a:t> 의존해야만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존재할 수 있는 </a:t>
            </a:r>
            <a:r>
              <a:rPr lang="ko-KR" altLang="en-US" dirty="0" err="1"/>
              <a:t>엔터티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b="1" dirty="0"/>
              <a:t>특징</a:t>
            </a:r>
          </a:p>
          <a:p>
            <a:pPr lvl="1">
              <a:lnSpc>
                <a:spcPct val="130000"/>
              </a:lnSpc>
              <a:buFont typeface="+mj-lt"/>
              <a:buAutoNum type="arabicPeriod"/>
            </a:pPr>
            <a:r>
              <a:rPr lang="ko-KR" altLang="en-US" b="1" dirty="0"/>
              <a:t>고유 식별자</a:t>
            </a:r>
            <a:r>
              <a:rPr lang="en-US" altLang="ko-KR" b="1" dirty="0"/>
              <a:t>(Primary Key)</a:t>
            </a:r>
            <a:r>
              <a:rPr lang="ko-KR" altLang="en-US" b="1" dirty="0"/>
              <a:t>가 없음</a:t>
            </a:r>
            <a:br>
              <a:rPr lang="ko-KR" altLang="en-US" dirty="0"/>
            </a:br>
            <a:r>
              <a:rPr lang="ko-KR" altLang="en-US" sz="2000" dirty="0"/>
              <a:t>→ 다른 </a:t>
            </a:r>
            <a:r>
              <a:rPr lang="ko-KR" altLang="en-US" sz="2000" dirty="0" err="1"/>
              <a:t>엔터티의</a:t>
            </a:r>
            <a:r>
              <a:rPr lang="ko-KR" altLang="en-US" sz="2000" dirty="0"/>
              <a:t> 기본 키 </a:t>
            </a:r>
            <a:r>
              <a:rPr lang="en-US" altLang="ko-KR" sz="2000" dirty="0"/>
              <a:t>+ </a:t>
            </a:r>
            <a:r>
              <a:rPr lang="ko-KR" altLang="en-US" sz="2000" dirty="0"/>
              <a:t>자신의 고유 속성으로 식별</a:t>
            </a:r>
            <a:endParaRPr lang="ko-KR" altLang="en-US" dirty="0"/>
          </a:p>
          <a:p>
            <a:pPr lvl="1">
              <a:lnSpc>
                <a:spcPct val="130000"/>
              </a:lnSpc>
              <a:buFont typeface="+mj-lt"/>
              <a:buAutoNum type="arabicPeriod"/>
            </a:pPr>
            <a:r>
              <a:rPr lang="ko-KR" altLang="en-US" b="1" dirty="0"/>
              <a:t>식별 관계</a:t>
            </a:r>
            <a:r>
              <a:rPr lang="en-US" altLang="ko-KR" b="1" dirty="0"/>
              <a:t>(Identifying Relationship)</a:t>
            </a:r>
            <a:r>
              <a:rPr lang="ko-KR" altLang="en-US" b="1" dirty="0"/>
              <a:t>를 통해 강한 </a:t>
            </a:r>
            <a:r>
              <a:rPr lang="ko-KR" altLang="en-US" b="1" dirty="0" err="1"/>
              <a:t>엔터티와</a:t>
            </a:r>
            <a:r>
              <a:rPr lang="ko-KR" altLang="en-US" b="1" dirty="0"/>
              <a:t> 연결</a:t>
            </a:r>
            <a:br>
              <a:rPr lang="ko-KR" altLang="en-US" dirty="0"/>
            </a:br>
            <a:r>
              <a:rPr lang="ko-KR" altLang="en-US" sz="2000" dirty="0"/>
              <a:t>→ 반드시 </a:t>
            </a:r>
            <a:r>
              <a:rPr lang="ko-KR" altLang="en-US" sz="2000" b="1" dirty="0"/>
              <a:t>강한 </a:t>
            </a:r>
            <a:r>
              <a:rPr lang="ko-KR" altLang="en-US" sz="2000" b="1" dirty="0" err="1"/>
              <a:t>엔터티</a:t>
            </a:r>
            <a:r>
              <a:rPr lang="en-US" altLang="ko-KR" sz="2000" b="1" dirty="0"/>
              <a:t>(Strong Entity)</a:t>
            </a:r>
            <a:r>
              <a:rPr lang="ko-KR" altLang="en-US" sz="2000" b="1" dirty="0"/>
              <a:t>의 도움을 받아야 식별 가능</a:t>
            </a:r>
            <a:endParaRPr lang="ko-KR" altLang="en-US" sz="2000" dirty="0"/>
          </a:p>
          <a:p>
            <a:pPr lvl="1">
              <a:lnSpc>
                <a:spcPct val="130000"/>
              </a:lnSpc>
              <a:buFont typeface="+mj-lt"/>
              <a:buAutoNum type="arabicPeriod"/>
            </a:pPr>
            <a:r>
              <a:rPr lang="ko-KR" altLang="en-US" b="1" dirty="0"/>
              <a:t>관계의 참여 제약은 </a:t>
            </a:r>
            <a:r>
              <a:rPr lang="en-US" altLang="ko-KR" b="1" dirty="0"/>
              <a:t>'</a:t>
            </a:r>
            <a:r>
              <a:rPr lang="ko-KR" altLang="en-US" b="1" dirty="0"/>
              <a:t>전체 참여</a:t>
            </a:r>
            <a:r>
              <a:rPr lang="en-US" altLang="ko-KR" b="1" dirty="0"/>
              <a:t>'</a:t>
            </a:r>
            <a:r>
              <a:rPr lang="ko-KR" altLang="en-US" b="1" dirty="0"/>
              <a:t>가 강제됨</a:t>
            </a:r>
            <a:br>
              <a:rPr lang="ko-KR" altLang="en-US" dirty="0"/>
            </a:br>
            <a:r>
              <a:rPr lang="ko-KR" altLang="en-US" sz="2000" dirty="0"/>
              <a:t>→ 약한 </a:t>
            </a:r>
            <a:r>
              <a:rPr lang="ko-KR" altLang="en-US" sz="2000" dirty="0" err="1"/>
              <a:t>엔터티는</a:t>
            </a:r>
            <a:r>
              <a:rPr lang="ko-KR" altLang="en-US" sz="2000" dirty="0"/>
              <a:t> 관계에 </a:t>
            </a:r>
            <a:r>
              <a:rPr lang="ko-KR" altLang="en-US" sz="2000" b="1" dirty="0"/>
              <a:t>무조건 참여해야 하며</a:t>
            </a:r>
            <a:r>
              <a:rPr lang="en-US" altLang="ko-KR" sz="2000" dirty="0"/>
              <a:t>, </a:t>
            </a:r>
            <a:r>
              <a:rPr lang="ko-KR" altLang="en-US" sz="2000" dirty="0"/>
              <a:t>강한 </a:t>
            </a:r>
            <a:r>
              <a:rPr lang="ko-KR" altLang="en-US" sz="2000" dirty="0" err="1"/>
              <a:t>엔터티</a:t>
            </a:r>
            <a:r>
              <a:rPr lang="ko-KR" altLang="en-US" sz="2000" dirty="0"/>
              <a:t> 없이는 존재할 수 없음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4748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772267" y="4584324"/>
            <a:ext cx="4205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ED7D31"/>
                </a:solidFill>
                <a:latin typeface="+mn-ea"/>
              </a:rPr>
              <a:t>식별 관계</a:t>
            </a:r>
            <a:endParaRPr lang="en-US" altLang="ko-KR" dirty="0">
              <a:solidFill>
                <a:srgbClr val="ED7D31"/>
              </a:solidFill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+mn-ea"/>
              </a:rPr>
              <a:t>강한 개체와 약한 개체와의 관계를 나타냄</a:t>
            </a:r>
            <a:endParaRPr lang="en-US" altLang="ko-KR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+mn-ea"/>
              </a:rPr>
              <a:t>이중 마름모로 표현</a:t>
            </a:r>
          </a:p>
        </p:txBody>
      </p:sp>
      <p:cxnSp>
        <p:nvCxnSpPr>
          <p:cNvPr id="14" name="직선 연결선 13"/>
          <p:cNvCxnSpPr>
            <a:stCxn id="9" idx="3"/>
            <a:endCxn id="10" idx="1"/>
          </p:cNvCxnSpPr>
          <p:nvPr/>
        </p:nvCxnSpPr>
        <p:spPr>
          <a:xfrm flipV="1">
            <a:off x="3071670" y="3669787"/>
            <a:ext cx="70971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5796987" y="3611197"/>
            <a:ext cx="899109" cy="159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V="1">
            <a:off x="8373450" y="2700978"/>
            <a:ext cx="858943" cy="4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9120424" y="2151876"/>
            <a:ext cx="1529717" cy="86288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이름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9486037" y="2752495"/>
            <a:ext cx="85000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98754" y="3127657"/>
            <a:ext cx="2536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ED7D31"/>
                </a:solidFill>
                <a:latin typeface="+mn-ea"/>
              </a:rPr>
              <a:t>구별자</a:t>
            </a:r>
            <a:endParaRPr lang="en-US" altLang="ko-KR" dirty="0">
              <a:solidFill>
                <a:srgbClr val="ED7D31"/>
              </a:solidFill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+mn-ea"/>
              </a:rPr>
              <a:t>약한 개체에서 개체를 구분하는 속성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20144" y="3070920"/>
            <a:ext cx="1751526" cy="119773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+mj-ea"/>
                <a:ea typeface="+mj-ea"/>
              </a:rPr>
              <a:t>주인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680505" y="3070920"/>
            <a:ext cx="1766552" cy="1211197"/>
            <a:chOff x="5278192" y="4880510"/>
            <a:chExt cx="2125014" cy="1390918"/>
          </a:xfrm>
        </p:grpSpPr>
        <p:sp>
          <p:nvSpPr>
            <p:cNvPr id="5" name="직사각형 4"/>
            <p:cNvSpPr/>
            <p:nvPr/>
          </p:nvSpPr>
          <p:spPr>
            <a:xfrm>
              <a:off x="5278192" y="4880510"/>
              <a:ext cx="2125014" cy="13909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5366734" y="4973881"/>
              <a:ext cx="1947929" cy="12041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latin typeface="+mj-ea"/>
                  <a:ea typeface="+mj-ea"/>
                </a:rPr>
                <a:t>반려동물</a:t>
              </a:r>
            </a:p>
          </p:txBody>
        </p:sp>
      </p:grpSp>
      <p:cxnSp>
        <p:nvCxnSpPr>
          <p:cNvPr id="28" name="직선 연결선 27"/>
          <p:cNvCxnSpPr/>
          <p:nvPr/>
        </p:nvCxnSpPr>
        <p:spPr>
          <a:xfrm>
            <a:off x="5809069" y="3704873"/>
            <a:ext cx="899109" cy="159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3781383" y="2947987"/>
            <a:ext cx="2189409" cy="1443599"/>
            <a:chOff x="5035639" y="2677640"/>
            <a:chExt cx="2189409" cy="1443599"/>
          </a:xfrm>
        </p:grpSpPr>
        <p:sp>
          <p:nvSpPr>
            <p:cNvPr id="10" name="다이아몬드 9"/>
            <p:cNvSpPr/>
            <p:nvPr/>
          </p:nvSpPr>
          <p:spPr>
            <a:xfrm>
              <a:off x="5035639" y="2677640"/>
              <a:ext cx="2189409" cy="1443599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다이아몬드 10"/>
            <p:cNvSpPr/>
            <p:nvPr/>
          </p:nvSpPr>
          <p:spPr>
            <a:xfrm>
              <a:off x="5265313" y="2823342"/>
              <a:ext cx="1727915" cy="1139310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+mj-ea"/>
                  <a:ea typeface="+mj-ea"/>
                </a:rPr>
                <a:t>키우다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211306" y="3219990"/>
            <a:ext cx="49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246541" y="3205729"/>
            <a:ext cx="49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887469" y="2151876"/>
            <a:ext cx="506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약한 개체는 식별 개체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강한 개체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에 의존적이기 때문에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참여 제약 조건은 </a:t>
            </a:r>
            <a:r>
              <a:rPr lang="ko-KR" altLang="en-US" dirty="0">
                <a:solidFill>
                  <a:srgbClr val="ED7D31"/>
                </a:solidFill>
                <a:latin typeface="+mn-ea"/>
              </a:rPr>
              <a:t>전체 참여</a:t>
            </a:r>
            <a:r>
              <a:rPr lang="ko-KR" altLang="en-US" dirty="0">
                <a:latin typeface="+mn-ea"/>
              </a:rPr>
              <a:t>이다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9576" y="4297091"/>
            <a:ext cx="2608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  <a:latin typeface="+mn-ea"/>
                <a:cs typeface="Pretendard Light" pitchFamily="2" charset="-127"/>
              </a:rPr>
              <a:t>약한 개체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  <a:cs typeface="Pretendard Light" pitchFamily="2" charset="-127"/>
              </a:rPr>
              <a:t>: </a:t>
            </a:r>
            <a:r>
              <a:rPr lang="ko-KR" altLang="en-US" sz="1400" dirty="0">
                <a:solidFill>
                  <a:srgbClr val="00B050"/>
                </a:solidFill>
                <a:latin typeface="+mn-ea"/>
                <a:cs typeface="Pretendard Light" pitchFamily="2" charset="-127"/>
              </a:rPr>
              <a:t>이중 직사각형으로 표현</a:t>
            </a:r>
          </a:p>
        </p:txBody>
      </p:sp>
      <p:sp>
        <p:nvSpPr>
          <p:cNvPr id="20" name="제목 19">
            <a:extLst>
              <a:ext uri="{FF2B5EF4-FFF2-40B4-BE49-F238E27FC236}">
                <a16:creationId xmlns:a16="http://schemas.microsoft.com/office/drawing/2014/main" id="{BA77D7B3-AE8D-182D-1DAA-51094247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약한 객체</a:t>
            </a:r>
            <a:r>
              <a:rPr lang="en-US" altLang="ko-KR" dirty="0"/>
              <a:t>(</a:t>
            </a:r>
            <a:r>
              <a:rPr lang="ko-KR" altLang="en-US" dirty="0"/>
              <a:t>약한 </a:t>
            </a:r>
            <a:r>
              <a:rPr lang="ko-KR" altLang="en-US" dirty="0" err="1"/>
              <a:t>엔터티</a:t>
            </a:r>
            <a:r>
              <a:rPr lang="en-US" altLang="ko-KR" dirty="0"/>
              <a:t>, Weak Entity)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738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A00A760-7031-6C1B-7DD6-2809D5B7D089}"/>
              </a:ext>
            </a:extLst>
          </p:cNvPr>
          <p:cNvSpPr txBox="1">
            <a:spLocks/>
          </p:cNvSpPr>
          <p:nvPr/>
        </p:nvSpPr>
        <p:spPr>
          <a:xfrm>
            <a:off x="251788" y="1031131"/>
            <a:ext cx="11635412" cy="51258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+mn-ea"/>
              </a:rPr>
              <a:t>회사는 부서와 직원을 관리한다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이 회사의 데이터베이스 요구사항은 다음과 같다</a:t>
            </a:r>
            <a:r>
              <a:rPr lang="en-US" altLang="ko-KR" sz="2400" dirty="0">
                <a:latin typeface="+mn-ea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회사는 여러 개의 </a:t>
            </a:r>
            <a:r>
              <a:rPr lang="ko-KR" altLang="en-US" sz="2000" b="1" dirty="0">
                <a:latin typeface="+mn-ea"/>
              </a:rPr>
              <a:t>부서</a:t>
            </a:r>
            <a:r>
              <a:rPr lang="ko-KR" altLang="en-US" sz="2000" dirty="0">
                <a:latin typeface="+mn-ea"/>
              </a:rPr>
              <a:t>를 운영하며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각 부서는 </a:t>
            </a:r>
            <a:r>
              <a:rPr lang="ko-KR" altLang="en-US" sz="2000" b="1" dirty="0">
                <a:latin typeface="+mn-ea"/>
              </a:rPr>
              <a:t>부서번호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 err="1">
                <a:latin typeface="+mn-ea"/>
              </a:rPr>
              <a:t>고유값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와 </a:t>
            </a:r>
            <a:r>
              <a:rPr lang="ko-KR" altLang="en-US" sz="2000" b="1" dirty="0">
                <a:latin typeface="+mn-ea"/>
              </a:rPr>
              <a:t>부서이름</a:t>
            </a:r>
            <a:r>
              <a:rPr lang="ko-KR" altLang="en-US" sz="2000" dirty="0">
                <a:latin typeface="+mn-ea"/>
              </a:rPr>
              <a:t>을 가진다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각 </a:t>
            </a:r>
            <a:r>
              <a:rPr lang="ko-KR" altLang="en-US" sz="2000" b="1" dirty="0">
                <a:latin typeface="+mn-ea"/>
              </a:rPr>
              <a:t>직원</a:t>
            </a:r>
            <a:r>
              <a:rPr lang="ko-KR" altLang="en-US" sz="2000" dirty="0">
                <a:latin typeface="+mn-ea"/>
              </a:rPr>
              <a:t>은 한 개의 부서에 소속되어 있으며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직원번호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 err="1">
                <a:latin typeface="+mn-ea"/>
              </a:rPr>
              <a:t>고유값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직원이름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직책</a:t>
            </a:r>
            <a:r>
              <a:rPr lang="ko-KR" altLang="en-US" sz="2000" dirty="0">
                <a:latin typeface="+mn-ea"/>
              </a:rPr>
              <a:t> 등의 정보를 가진다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직원은 여러 건의 </a:t>
            </a:r>
            <a:r>
              <a:rPr lang="ko-KR" altLang="en-US" sz="2000" b="1" dirty="0">
                <a:latin typeface="+mn-ea"/>
              </a:rPr>
              <a:t>근무기록</a:t>
            </a:r>
            <a:r>
              <a:rPr lang="ko-KR" altLang="en-US" sz="2000" dirty="0">
                <a:latin typeface="+mn-ea"/>
              </a:rPr>
              <a:t>을 가질 수 있으며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각각의 근무기록은 </a:t>
            </a:r>
            <a:r>
              <a:rPr lang="ko-KR" altLang="en-US" sz="2000" b="1" dirty="0">
                <a:latin typeface="+mn-ea"/>
              </a:rPr>
              <a:t>기간</a:t>
            </a:r>
            <a:r>
              <a:rPr lang="ko-KR" altLang="en-US" sz="2000" dirty="0">
                <a:latin typeface="+mn-ea"/>
              </a:rPr>
              <a:t>과 해당 기간 동안의 </a:t>
            </a:r>
            <a:r>
              <a:rPr lang="ko-KR" altLang="en-US" sz="2000" b="1" dirty="0">
                <a:latin typeface="+mn-ea"/>
              </a:rPr>
              <a:t>직책</a:t>
            </a:r>
            <a:r>
              <a:rPr lang="ko-KR" altLang="en-US" sz="2000" dirty="0">
                <a:latin typeface="+mn-ea"/>
              </a:rPr>
              <a:t> 정보를 포함한다</a:t>
            </a:r>
            <a:r>
              <a:rPr lang="en-US" altLang="ko-KR" sz="2000" dirty="0">
                <a:latin typeface="+mn-ea"/>
              </a:rPr>
              <a:t>. (</a:t>
            </a:r>
            <a:r>
              <a:rPr lang="ko-KR" altLang="en-US" sz="2000" dirty="0">
                <a:latin typeface="+mn-ea"/>
              </a:rPr>
              <a:t>약한 객체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각 직원은 여러 명의 </a:t>
            </a:r>
            <a:r>
              <a:rPr lang="ko-KR" altLang="en-US" sz="2000" b="1" dirty="0">
                <a:latin typeface="+mn-ea"/>
              </a:rPr>
              <a:t>부양가족</a:t>
            </a:r>
            <a:r>
              <a:rPr lang="ko-KR" altLang="en-US" sz="2000" dirty="0">
                <a:latin typeface="+mn-ea"/>
              </a:rPr>
              <a:t>을 가질 수 있으며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부양가족에 대한 정보로는 </a:t>
            </a:r>
            <a:r>
              <a:rPr lang="ko-KR" altLang="en-US" sz="2000" b="1" dirty="0">
                <a:latin typeface="+mn-ea"/>
              </a:rPr>
              <a:t>이름</a:t>
            </a:r>
            <a:r>
              <a:rPr lang="ko-KR" altLang="en-US" sz="2000" dirty="0">
                <a:latin typeface="+mn-ea"/>
              </a:rPr>
              <a:t>과 </a:t>
            </a:r>
            <a:r>
              <a:rPr lang="ko-KR" altLang="en-US" sz="2000" b="1" dirty="0">
                <a:latin typeface="+mn-ea"/>
              </a:rPr>
              <a:t>관계</a:t>
            </a:r>
            <a:r>
              <a:rPr lang="ko-KR" altLang="en-US" sz="2000" dirty="0">
                <a:latin typeface="+mn-ea"/>
              </a:rPr>
              <a:t>가 기록된다</a:t>
            </a:r>
            <a:r>
              <a:rPr lang="en-US" altLang="ko-KR" sz="2000" dirty="0">
                <a:latin typeface="+mn-ea"/>
              </a:rPr>
              <a:t>. (</a:t>
            </a:r>
            <a:r>
              <a:rPr lang="ko-KR" altLang="en-US" sz="2000" dirty="0">
                <a:latin typeface="+mn-ea"/>
              </a:rPr>
              <a:t>약한 객체</a:t>
            </a:r>
            <a:r>
              <a:rPr lang="en-US" altLang="ko-KR" sz="2000" dirty="0">
                <a:latin typeface="+mn-ea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A97F8D3-13A9-16E3-0531-5047FFEC86F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3600" dirty="0">
                <a:solidFill>
                  <a:srgbClr val="ED7D31"/>
                </a:solidFill>
              </a:rPr>
              <a:t>실습</a:t>
            </a:r>
            <a:r>
              <a:rPr lang="en-US" altLang="ko-KR" sz="3600" dirty="0">
                <a:solidFill>
                  <a:srgbClr val="ED7D31"/>
                </a:solidFill>
              </a:rPr>
              <a:t>2. </a:t>
            </a:r>
            <a:r>
              <a:rPr lang="ko-KR" altLang="en-US" sz="3600" dirty="0">
                <a:solidFill>
                  <a:srgbClr val="ED7D31"/>
                </a:solidFill>
              </a:rPr>
              <a:t>요구사항으로부터 </a:t>
            </a:r>
            <a:r>
              <a:rPr lang="en-US" altLang="ko-KR" sz="3600" dirty="0">
                <a:solidFill>
                  <a:srgbClr val="ED7D31"/>
                </a:solidFill>
              </a:rPr>
              <a:t>ER </a:t>
            </a:r>
            <a:r>
              <a:rPr lang="ko-KR" altLang="en-US" sz="3600" dirty="0">
                <a:solidFill>
                  <a:srgbClr val="ED7D31"/>
                </a:solidFill>
              </a:rPr>
              <a:t>다이어그램 그리기</a:t>
            </a:r>
            <a:r>
              <a:rPr lang="en-US" altLang="ko-KR" sz="3600" dirty="0">
                <a:solidFill>
                  <a:srgbClr val="ED7D31"/>
                </a:solidFill>
              </a:rPr>
              <a:t>(2)</a:t>
            </a:r>
            <a:endParaRPr lang="ko-KR" altLang="en-US" sz="36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3341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EB63-5F65-F21D-DCDA-1F906747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936D7B-2103-F6D9-0024-B9FAA1254D70}"/>
              </a:ext>
            </a:extLst>
          </p:cNvPr>
          <p:cNvSpPr txBox="1"/>
          <p:nvPr/>
        </p:nvSpPr>
        <p:spPr>
          <a:xfrm>
            <a:off x="1821446" y="2600493"/>
            <a:ext cx="85491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ER Model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을 </a:t>
            </a:r>
            <a:b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관계 데이터 모델로 사상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8015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0458F-DFF5-0C48-ABBF-BD4B7C0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사상</a:t>
            </a:r>
            <a:r>
              <a:rPr lang="en-US" altLang="ko-KR" dirty="0"/>
              <a:t>(Mapping)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1CAAA9-29F5-DC41-4E37-9C156BB36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10972"/>
            <a:ext cx="11701221" cy="79165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💡개념적 모델</a:t>
            </a:r>
            <a:r>
              <a:rPr lang="en-US" altLang="ko-KR" dirty="0"/>
              <a:t>(ER </a:t>
            </a:r>
            <a:r>
              <a:rPr lang="ko-KR" altLang="en-US" dirty="0"/>
              <a:t>모델</a:t>
            </a:r>
            <a:r>
              <a:rPr lang="en-US" altLang="ko-KR" dirty="0"/>
              <a:t>)</a:t>
            </a:r>
            <a:r>
              <a:rPr lang="ko-KR" altLang="en-US" dirty="0"/>
              <a:t>에서 논리적 모델</a:t>
            </a:r>
            <a:r>
              <a:rPr lang="en-US" altLang="ko-KR" dirty="0"/>
              <a:t>(</a:t>
            </a:r>
            <a:r>
              <a:rPr lang="ko-KR" altLang="en-US" dirty="0"/>
              <a:t>관계 데이터 모델</a:t>
            </a:r>
            <a:r>
              <a:rPr lang="en-US" altLang="ko-KR" dirty="0"/>
              <a:t>)</a:t>
            </a:r>
            <a:r>
              <a:rPr lang="ko-KR" altLang="en-US" dirty="0"/>
              <a:t>로 변환하는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317F5-A10D-8AF2-A506-1B1BCFBC6D97}"/>
              </a:ext>
            </a:extLst>
          </p:cNvPr>
          <p:cNvSpPr txBox="1"/>
          <p:nvPr/>
        </p:nvSpPr>
        <p:spPr>
          <a:xfrm>
            <a:off x="4476349" y="5623917"/>
            <a:ext cx="32393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https://mangkyu.tistory.com/27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5FA8B4-A675-352F-6DA6-4B151523AC4F}"/>
              </a:ext>
            </a:extLst>
          </p:cNvPr>
          <p:cNvGrpSpPr/>
          <p:nvPr/>
        </p:nvGrpSpPr>
        <p:grpSpPr>
          <a:xfrm>
            <a:off x="2340898" y="2256378"/>
            <a:ext cx="7390751" cy="3176969"/>
            <a:chOff x="3543300" y="3315906"/>
            <a:chExt cx="7390751" cy="317696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4B73AB1-E43C-CF0D-3C30-92EFD3AF8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3300" y="3315906"/>
              <a:ext cx="5537200" cy="317696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6FBAA32-12E0-BA91-DE08-D97EFB79D360}"/>
                </a:ext>
              </a:extLst>
            </p:cNvPr>
            <p:cNvSpPr/>
            <p:nvPr/>
          </p:nvSpPr>
          <p:spPr>
            <a:xfrm>
              <a:off x="6429677" y="3380874"/>
              <a:ext cx="2521817" cy="299105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5991F4-6517-4932-1CFA-3C90C8E3A14A}"/>
                </a:ext>
              </a:extLst>
            </p:cNvPr>
            <p:cNvSpPr txBox="1"/>
            <p:nvPr/>
          </p:nvSpPr>
          <p:spPr>
            <a:xfrm>
              <a:off x="9553810" y="4001294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00B050"/>
                  </a:solidFill>
                </a:rPr>
                <a:t>ER </a:t>
              </a:r>
              <a:r>
                <a:rPr lang="ko-KR" altLang="en-US" b="1" dirty="0">
                  <a:solidFill>
                    <a:srgbClr val="00B050"/>
                  </a:solidFill>
                </a:rPr>
                <a:t>모델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E9928D-4AA1-EEDD-2246-F4A463CB8777}"/>
                </a:ext>
              </a:extLst>
            </p:cNvPr>
            <p:cNvSpPr txBox="1"/>
            <p:nvPr/>
          </p:nvSpPr>
          <p:spPr>
            <a:xfrm>
              <a:off x="9234547" y="5491575"/>
              <a:ext cx="1699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00B050"/>
                  </a:solidFill>
                </a:rPr>
                <a:t>관계 데이터 모델</a:t>
              </a:r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6E942991-217A-4FED-4659-F81C8D7B727D}"/>
                </a:ext>
              </a:extLst>
            </p:cNvPr>
            <p:cNvSpPr/>
            <p:nvPr/>
          </p:nvSpPr>
          <p:spPr>
            <a:xfrm>
              <a:off x="9949141" y="4732020"/>
              <a:ext cx="154979" cy="443499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91ADA76-6947-60B7-1430-DC6267C9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504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0458F-DFF5-0C48-ABBF-BD4B7C0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ER Model</a:t>
            </a:r>
            <a:r>
              <a:rPr lang="ko-KR" altLang="en-US" dirty="0"/>
              <a:t>을 관계 데이터 모델로 사상</a:t>
            </a:r>
            <a:endParaRPr lang="ko-KR" altLang="en-US" sz="54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C32863-631C-0FD5-2DCA-F1A39CDD0E8B}"/>
              </a:ext>
            </a:extLst>
          </p:cNvPr>
          <p:cNvGrpSpPr/>
          <p:nvPr/>
        </p:nvGrpSpPr>
        <p:grpSpPr>
          <a:xfrm>
            <a:off x="2300048" y="1255188"/>
            <a:ext cx="5421727" cy="3388167"/>
            <a:chOff x="3535207" y="3171179"/>
            <a:chExt cx="5025766" cy="3140721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13209709-88D8-5341-4FDF-3B9EDEF657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3" r="7553"/>
            <a:stretch/>
          </p:blipFill>
          <p:spPr bwMode="auto">
            <a:xfrm>
              <a:off x="3535207" y="3171179"/>
              <a:ext cx="5025766" cy="314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7182C6-A6A6-DDB0-99E3-C5B564BDF9B8}"/>
                </a:ext>
              </a:extLst>
            </p:cNvPr>
            <p:cNvSpPr txBox="1"/>
            <p:nvPr/>
          </p:nvSpPr>
          <p:spPr>
            <a:xfrm>
              <a:off x="6898695" y="4564736"/>
              <a:ext cx="1156299" cy="334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b="1" u="sng" dirty="0"/>
                <a:t>Student ID</a:t>
              </a:r>
              <a:endParaRPr lang="ko-KR" altLang="en-US" sz="1600" b="1" u="sng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EE3B248-7C9B-7984-D738-260B78EB63B7}"/>
              </a:ext>
            </a:extLst>
          </p:cNvPr>
          <p:cNvSpPr txBox="1"/>
          <p:nvPr/>
        </p:nvSpPr>
        <p:spPr>
          <a:xfrm>
            <a:off x="2154200" y="5413078"/>
            <a:ext cx="5713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/>
              <a:t>Student(</a:t>
            </a:r>
            <a:r>
              <a:rPr lang="en-US" altLang="ko-KR" sz="2800" b="1" u="sng" dirty="0"/>
              <a:t>Student</a:t>
            </a:r>
            <a:r>
              <a:rPr lang="ko-KR" altLang="en-US" sz="2800" b="1" u="sng" dirty="0"/>
              <a:t> </a:t>
            </a:r>
            <a:r>
              <a:rPr lang="en-US" altLang="ko-KR" sz="2800" b="1" u="sng" dirty="0"/>
              <a:t>ID</a:t>
            </a:r>
            <a:r>
              <a:rPr lang="en-US" altLang="ko-KR" sz="2800" b="1" dirty="0"/>
              <a:t>,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Name,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Major)</a:t>
            </a:r>
            <a:endParaRPr lang="ko-KR" altLang="en-US" sz="2800" b="1" dirty="0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D27359C1-2DAC-1481-23BE-9C9E800D3079}"/>
              </a:ext>
            </a:extLst>
          </p:cNvPr>
          <p:cNvSpPr/>
          <p:nvPr/>
        </p:nvSpPr>
        <p:spPr>
          <a:xfrm>
            <a:off x="4875446" y="4584237"/>
            <a:ext cx="270934" cy="5606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5B087-0008-7355-FF10-432DFFBD4744}"/>
              </a:ext>
            </a:extLst>
          </p:cNvPr>
          <p:cNvSpPr txBox="1"/>
          <p:nvPr/>
        </p:nvSpPr>
        <p:spPr>
          <a:xfrm>
            <a:off x="5213788" y="4688870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5050"/>
                </a:solidFill>
              </a:rPr>
              <a:t>사상</a:t>
            </a:r>
            <a:r>
              <a:rPr lang="en-US" altLang="ko-KR" b="1" dirty="0">
                <a:solidFill>
                  <a:srgbClr val="FF5050"/>
                </a:solidFill>
              </a:rPr>
              <a:t> (mapping)</a:t>
            </a:r>
            <a:endParaRPr lang="ko-KR" altLang="en-US" b="1" dirty="0">
              <a:solidFill>
                <a:srgbClr val="FF5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6E1058-4DA6-1ACE-23DE-7A80EF20B194}"/>
              </a:ext>
            </a:extLst>
          </p:cNvPr>
          <p:cNvSpPr txBox="1"/>
          <p:nvPr/>
        </p:nvSpPr>
        <p:spPr>
          <a:xfrm>
            <a:off x="7881439" y="2749216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B050"/>
                </a:solidFill>
              </a:rPr>
              <a:t>←  </a:t>
            </a:r>
            <a:r>
              <a:rPr lang="en-US" altLang="ko-KR" sz="2000" b="1" dirty="0">
                <a:solidFill>
                  <a:srgbClr val="00B050"/>
                </a:solidFill>
              </a:rPr>
              <a:t>ER Model</a:t>
            </a:r>
            <a:endParaRPr lang="ko-KR" altLang="en-US" sz="2000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B3C3B5-D1F9-D3F9-FD20-FDCD3239784D}"/>
              </a:ext>
            </a:extLst>
          </p:cNvPr>
          <p:cNvSpPr txBox="1"/>
          <p:nvPr/>
        </p:nvSpPr>
        <p:spPr>
          <a:xfrm>
            <a:off x="7881439" y="5474633"/>
            <a:ext cx="250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B050"/>
                </a:solidFill>
              </a:rPr>
              <a:t>← 관계 데이터 모델</a:t>
            </a:r>
            <a:endParaRPr lang="en-US" altLang="ko-KR" sz="2000" b="1" dirty="0">
              <a:solidFill>
                <a:srgbClr val="00B050"/>
              </a:solidFill>
            </a:endParaRPr>
          </a:p>
          <a:p>
            <a:r>
              <a:rPr lang="en-US" altLang="ko-KR" sz="1600" b="1" dirty="0">
                <a:solidFill>
                  <a:srgbClr val="00B050"/>
                </a:solidFill>
              </a:rPr>
              <a:t>      (</a:t>
            </a:r>
            <a:r>
              <a:rPr lang="ko-KR" altLang="en-US" sz="1600" b="1" dirty="0">
                <a:solidFill>
                  <a:srgbClr val="00B050"/>
                </a:solidFill>
              </a:rPr>
              <a:t>릴레이션 스키마 표기법</a:t>
            </a:r>
            <a:r>
              <a:rPr lang="en-US" altLang="ko-KR" sz="1600" b="1" dirty="0">
                <a:solidFill>
                  <a:srgbClr val="00B050"/>
                </a:solidFill>
              </a:rPr>
              <a:t>)</a:t>
            </a:r>
            <a:endParaRPr lang="ko-KR" altLang="en-US" sz="1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322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E2F8E-5231-FF4A-9D05-A5FC005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진 관계</a:t>
            </a:r>
            <a:r>
              <a:rPr lang="en-US" altLang="ko-KR" dirty="0"/>
              <a:t>(binary</a:t>
            </a:r>
            <a:r>
              <a:rPr lang="ko-KR" altLang="en-US" dirty="0"/>
              <a:t> </a:t>
            </a:r>
            <a:r>
              <a:rPr lang="en-US" altLang="ko-KR" dirty="0"/>
              <a:t>relationship)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B7708-54EF-D4A7-2232-BFB05E752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657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</a:t>
            </a:r>
            <a:r>
              <a:rPr lang="en-US" altLang="ko-KR" dirty="0"/>
              <a:t>ER </a:t>
            </a:r>
            <a:r>
              <a:rPr lang="ko-KR" altLang="en-US" dirty="0"/>
              <a:t>모델에서 두 개의 </a:t>
            </a:r>
            <a:r>
              <a:rPr lang="ko-KR" altLang="en-US" dirty="0" err="1"/>
              <a:t>엔터티</a:t>
            </a:r>
            <a:r>
              <a:rPr lang="ko-KR" altLang="en-US" dirty="0"/>
              <a:t> 타입</a:t>
            </a:r>
            <a:r>
              <a:rPr lang="en-US" altLang="ko-KR" dirty="0"/>
              <a:t>(Entity Type) </a:t>
            </a:r>
            <a:r>
              <a:rPr lang="ko-KR" altLang="en-US" dirty="0"/>
              <a:t>사이에 정의된 관계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3E8BF44-9CDD-E643-BA40-8AC9A86FF8A0}"/>
              </a:ext>
            </a:extLst>
          </p:cNvPr>
          <p:cNvGrpSpPr/>
          <p:nvPr/>
        </p:nvGrpSpPr>
        <p:grpSpPr>
          <a:xfrm>
            <a:off x="2262978" y="2147860"/>
            <a:ext cx="7678838" cy="3826390"/>
            <a:chOff x="1429164" y="2475119"/>
            <a:chExt cx="7678838" cy="382639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8E3F753-AD2C-0BB3-1B28-C61AE9D508E2}"/>
                </a:ext>
              </a:extLst>
            </p:cNvPr>
            <p:cNvGrpSpPr/>
            <p:nvPr/>
          </p:nvGrpSpPr>
          <p:grpSpPr>
            <a:xfrm>
              <a:off x="1429164" y="2475119"/>
              <a:ext cx="5166087" cy="3826390"/>
              <a:chOff x="3512956" y="2485510"/>
              <a:chExt cx="5166087" cy="3826390"/>
            </a:xfrm>
          </p:grpSpPr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370AA819-4938-F2AF-71C3-8394A754AB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2956" y="2485510"/>
                <a:ext cx="5166087" cy="14999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225CAC3D-0A3C-6156-CEA7-4B72A6B8A7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2956" y="3620622"/>
                <a:ext cx="5166087" cy="14999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3CEE524B-AB47-AF6E-F032-7BCAE1E4F3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2956" y="4811922"/>
                <a:ext cx="5166087" cy="14999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BF0DD942-9760-E65D-603A-02CF366BA7A4}"/>
                </a:ext>
              </a:extLst>
            </p:cNvPr>
            <p:cNvSpPr/>
            <p:nvPr/>
          </p:nvSpPr>
          <p:spPr>
            <a:xfrm rot="16200000">
              <a:off x="6740096" y="2955188"/>
              <a:ext cx="270934" cy="560621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D49BF8-94B4-D25E-8EB4-1F2E20A41690}"/>
                </a:ext>
              </a:extLst>
            </p:cNvPr>
            <p:cNvSpPr txBox="1"/>
            <p:nvPr/>
          </p:nvSpPr>
          <p:spPr>
            <a:xfrm>
              <a:off x="7368424" y="3049277"/>
              <a:ext cx="1598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00B0F0"/>
                  </a:solidFill>
                </a:rPr>
                <a:t>이진 </a:t>
              </a:r>
              <a:r>
                <a:rPr lang="en-US" altLang="ko-KR" b="1" dirty="0">
                  <a:solidFill>
                    <a:srgbClr val="00B0F0"/>
                  </a:solidFill>
                </a:rPr>
                <a:t>1:1 </a:t>
              </a:r>
              <a:r>
                <a:rPr lang="ko-KR" altLang="en-US" b="1" dirty="0">
                  <a:solidFill>
                    <a:srgbClr val="00B0F0"/>
                  </a:solidFill>
                </a:rPr>
                <a:t>관계</a:t>
              </a:r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714F09E9-5B71-DB89-0F36-8D0D25ACF417}"/>
                </a:ext>
              </a:extLst>
            </p:cNvPr>
            <p:cNvSpPr/>
            <p:nvPr/>
          </p:nvSpPr>
          <p:spPr>
            <a:xfrm rot="16200000">
              <a:off x="6740095" y="4053161"/>
              <a:ext cx="270934" cy="560621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7545FB-6861-457C-9126-6B3412C90363}"/>
                </a:ext>
              </a:extLst>
            </p:cNvPr>
            <p:cNvSpPr txBox="1"/>
            <p:nvPr/>
          </p:nvSpPr>
          <p:spPr>
            <a:xfrm>
              <a:off x="7368423" y="4147250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00B0F0"/>
                  </a:solidFill>
                </a:rPr>
                <a:t>이진 </a:t>
              </a:r>
              <a:r>
                <a:rPr lang="en-US" altLang="ko-KR" b="1" dirty="0">
                  <a:solidFill>
                    <a:srgbClr val="00B0F0"/>
                  </a:solidFill>
                </a:rPr>
                <a:t>1:N </a:t>
              </a:r>
              <a:r>
                <a:rPr lang="ko-KR" altLang="en-US" b="1" dirty="0">
                  <a:solidFill>
                    <a:srgbClr val="00B0F0"/>
                  </a:solidFill>
                </a:rPr>
                <a:t>관계</a:t>
              </a:r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0B2D481D-EEBC-6F0B-2AAF-F10B46C4DC59}"/>
                </a:ext>
              </a:extLst>
            </p:cNvPr>
            <p:cNvSpPr/>
            <p:nvPr/>
          </p:nvSpPr>
          <p:spPr>
            <a:xfrm rot="16200000">
              <a:off x="6740095" y="5245640"/>
              <a:ext cx="270934" cy="560621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75BFE3-834A-D466-16E1-EC08C8EABF41}"/>
                </a:ext>
              </a:extLst>
            </p:cNvPr>
            <p:cNvSpPr txBox="1"/>
            <p:nvPr/>
          </p:nvSpPr>
          <p:spPr>
            <a:xfrm>
              <a:off x="7368423" y="5339729"/>
              <a:ext cx="1739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00B0F0"/>
                  </a:solidFill>
                </a:rPr>
                <a:t>이진 </a:t>
              </a:r>
              <a:r>
                <a:rPr lang="en-US" altLang="ko-KR" b="1" dirty="0">
                  <a:solidFill>
                    <a:srgbClr val="00B0F0"/>
                  </a:solidFill>
                </a:rPr>
                <a:t>N:M </a:t>
              </a:r>
              <a:r>
                <a:rPr lang="ko-KR" altLang="en-US" b="1" dirty="0">
                  <a:solidFill>
                    <a:srgbClr val="00B0F0"/>
                  </a:solidFill>
                </a:rPr>
                <a:t>관계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1F2BAE-72F3-3F18-5E82-C1AA6296FC21}"/>
                </a:ext>
              </a:extLst>
            </p:cNvPr>
            <p:cNvSpPr txBox="1"/>
            <p:nvPr/>
          </p:nvSpPr>
          <p:spPr>
            <a:xfrm>
              <a:off x="2826326" y="5163403"/>
              <a:ext cx="25977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N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462689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E2F8E-5231-FF4A-9D05-A5FC005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이진 </a:t>
            </a:r>
            <a:r>
              <a:rPr lang="en-US" altLang="ko-KR" dirty="0"/>
              <a:t>1:1 </a:t>
            </a:r>
            <a:r>
              <a:rPr lang="ko-KR" altLang="en-US" dirty="0"/>
              <a:t>관계 타입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FA86E67-FDB4-7ED1-ADE8-381890B2A2C0}"/>
              </a:ext>
            </a:extLst>
          </p:cNvPr>
          <p:cNvGrpSpPr/>
          <p:nvPr/>
        </p:nvGrpSpPr>
        <p:grpSpPr>
          <a:xfrm>
            <a:off x="479554" y="2674992"/>
            <a:ext cx="5527410" cy="2124797"/>
            <a:chOff x="662106" y="1825625"/>
            <a:chExt cx="5756795" cy="2212975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CE36FACC-6D3E-99EC-97E2-3264BB688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913" y="1825625"/>
              <a:ext cx="5166087" cy="1499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34BD957-2FD7-93C7-A75D-CC94EA1470A0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 flipH="1">
              <a:off x="1183084" y="2882900"/>
              <a:ext cx="457199" cy="685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77EC100-58D9-5835-D5F5-A15155AE3190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1640283" y="2882900"/>
              <a:ext cx="632620" cy="715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20A64D5-D485-B48A-E51C-2546BF0D24E4}"/>
                </a:ext>
              </a:extLst>
            </p:cNvPr>
            <p:cNvSpPr/>
            <p:nvPr/>
          </p:nvSpPr>
          <p:spPr>
            <a:xfrm>
              <a:off x="731837" y="3568700"/>
              <a:ext cx="902494" cy="44048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23494E5-D3A2-6069-A0BC-4D81B8392679}"/>
                </a:ext>
              </a:extLst>
            </p:cNvPr>
            <p:cNvSpPr/>
            <p:nvPr/>
          </p:nvSpPr>
          <p:spPr>
            <a:xfrm>
              <a:off x="1821656" y="3598111"/>
              <a:ext cx="902494" cy="44048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이름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485760-5340-AE59-6949-B2A3AFCA276E}"/>
                </a:ext>
              </a:extLst>
            </p:cNvPr>
            <p:cNvSpPr txBox="1"/>
            <p:nvPr/>
          </p:nvSpPr>
          <p:spPr>
            <a:xfrm>
              <a:off x="662106" y="3635739"/>
              <a:ext cx="1041955" cy="288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u="sng" dirty="0"/>
                <a:t>학원번호</a:t>
              </a: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7A466B8-8EEF-551C-130A-D1EBB363BA48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flipH="1">
              <a:off x="4808105" y="2882900"/>
              <a:ext cx="457199" cy="685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937D1B1-D9B3-520F-399D-5DFD4E14F693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H="1" flipV="1">
              <a:off x="5265304" y="2882900"/>
              <a:ext cx="632620" cy="715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37330A8-ACB5-6889-FC03-799CB650BDA3}"/>
                </a:ext>
              </a:extLst>
            </p:cNvPr>
            <p:cNvSpPr/>
            <p:nvPr/>
          </p:nvSpPr>
          <p:spPr>
            <a:xfrm>
              <a:off x="4356858" y="3568700"/>
              <a:ext cx="902494" cy="44048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3CF860FE-B1E1-9F8E-F46E-7231A1D1E282}"/>
                </a:ext>
              </a:extLst>
            </p:cNvPr>
            <p:cNvSpPr/>
            <p:nvPr/>
          </p:nvSpPr>
          <p:spPr>
            <a:xfrm>
              <a:off x="5446677" y="3598111"/>
              <a:ext cx="902494" cy="44048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E588FB-1345-7D72-F562-CF626DFD171D}"/>
                </a:ext>
              </a:extLst>
            </p:cNvPr>
            <p:cNvSpPr txBox="1"/>
            <p:nvPr/>
          </p:nvSpPr>
          <p:spPr>
            <a:xfrm>
              <a:off x="4287127" y="3635739"/>
              <a:ext cx="1041955" cy="288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u="sng" dirty="0"/>
                <a:t>사무실번호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1746A4-6421-4A3D-F74C-7B07FEA7AF80}"/>
                </a:ext>
              </a:extLst>
            </p:cNvPr>
            <p:cNvSpPr txBox="1"/>
            <p:nvPr/>
          </p:nvSpPr>
          <p:spPr>
            <a:xfrm>
              <a:off x="5376946" y="3650444"/>
              <a:ext cx="1041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주소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45EB002-67E2-588D-A345-524877E9CC48}"/>
              </a:ext>
            </a:extLst>
          </p:cNvPr>
          <p:cNvSpPr txBox="1"/>
          <p:nvPr/>
        </p:nvSpPr>
        <p:spPr>
          <a:xfrm>
            <a:off x="6928764" y="2291526"/>
            <a:ext cx="4783682" cy="2862322"/>
          </a:xfrm>
          <a:prstGeom prst="rect">
            <a:avLst/>
          </a:prstGeom>
          <a:solidFill>
            <a:srgbClr val="F5F5F2"/>
          </a:solidFill>
        </p:spPr>
        <p:txBody>
          <a:bodyPr wrap="none" rtlCol="0">
            <a:sp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 [</a:t>
            </a:r>
            <a:r>
              <a:rPr lang="ko-KR" altLang="en-US" b="1" dirty="0"/>
              <a:t>방법</a:t>
            </a:r>
            <a:r>
              <a:rPr lang="en-US" altLang="ko-KR" b="1" dirty="0"/>
              <a:t>1]</a:t>
            </a:r>
          </a:p>
          <a:p>
            <a:r>
              <a:rPr lang="en-US" altLang="ko-KR" b="1" dirty="0"/>
              <a:t> Academy(</a:t>
            </a:r>
            <a:r>
              <a:rPr lang="ko-KR" altLang="en-US" b="1" u="sng" dirty="0">
                <a:solidFill>
                  <a:srgbClr val="00B0F0"/>
                </a:solidFill>
              </a:rPr>
              <a:t>학원번호</a:t>
            </a:r>
            <a:r>
              <a:rPr lang="en-US" altLang="ko-KR" b="1" dirty="0"/>
              <a:t>, </a:t>
            </a:r>
            <a:r>
              <a:rPr lang="ko-KR" altLang="en-US" b="1" dirty="0"/>
              <a:t>이름</a:t>
            </a:r>
            <a:r>
              <a:rPr lang="en-US" altLang="ko-KR" b="1" dirty="0"/>
              <a:t>) </a:t>
            </a:r>
          </a:p>
          <a:p>
            <a:r>
              <a:rPr lang="en-US" altLang="ko-KR" b="1" dirty="0"/>
              <a:t> Office(</a:t>
            </a:r>
            <a:r>
              <a:rPr lang="ko-KR" altLang="en-US" b="1" u="sng" dirty="0"/>
              <a:t>사무실번호</a:t>
            </a:r>
            <a:r>
              <a:rPr lang="en-US" altLang="ko-KR" b="1" dirty="0"/>
              <a:t>, </a:t>
            </a:r>
            <a:r>
              <a:rPr lang="ko-KR" altLang="en-US" b="1" dirty="0"/>
              <a:t>주소</a:t>
            </a:r>
            <a:r>
              <a:rPr lang="en-US" altLang="ko-KR" b="1" dirty="0"/>
              <a:t>, </a:t>
            </a:r>
            <a:r>
              <a:rPr lang="ko-KR" altLang="en-US" b="1" dirty="0">
                <a:solidFill>
                  <a:srgbClr val="00B0F0"/>
                </a:solidFill>
              </a:rPr>
              <a:t>학원번호</a:t>
            </a:r>
            <a:r>
              <a:rPr lang="en-US" altLang="ko-KR" b="1" dirty="0">
                <a:solidFill>
                  <a:srgbClr val="00B0F0"/>
                </a:solidFill>
              </a:rPr>
              <a:t>(FK)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 [</a:t>
            </a:r>
            <a:r>
              <a:rPr lang="ko-KR" altLang="en-US" b="1" dirty="0"/>
              <a:t>방법</a:t>
            </a:r>
            <a:r>
              <a:rPr lang="en-US" altLang="ko-KR" b="1" dirty="0"/>
              <a:t>2]</a:t>
            </a:r>
          </a:p>
          <a:p>
            <a:r>
              <a:rPr lang="en-US" altLang="ko-KR" b="1" dirty="0"/>
              <a:t> Academy(</a:t>
            </a:r>
            <a:r>
              <a:rPr lang="ko-KR" altLang="en-US" b="1" u="sng" dirty="0"/>
              <a:t>학원번호</a:t>
            </a:r>
            <a:r>
              <a:rPr lang="en-US" altLang="ko-KR" b="1" dirty="0"/>
              <a:t>, </a:t>
            </a:r>
            <a:r>
              <a:rPr lang="ko-KR" altLang="en-US" b="1" dirty="0"/>
              <a:t>이름</a:t>
            </a:r>
            <a:r>
              <a:rPr lang="en-US" altLang="ko-KR" b="1" dirty="0"/>
              <a:t>, </a:t>
            </a:r>
            <a:r>
              <a:rPr lang="ko-KR" altLang="en-US" b="1" dirty="0">
                <a:solidFill>
                  <a:srgbClr val="00B0F0"/>
                </a:solidFill>
              </a:rPr>
              <a:t>사무실번호</a:t>
            </a:r>
            <a:r>
              <a:rPr lang="en-US" altLang="ko-KR" b="1" dirty="0">
                <a:solidFill>
                  <a:srgbClr val="00B0F0"/>
                </a:solidFill>
              </a:rPr>
              <a:t>(FK)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 Office(</a:t>
            </a:r>
            <a:r>
              <a:rPr lang="ko-KR" altLang="en-US" b="1" u="sng" dirty="0">
                <a:solidFill>
                  <a:srgbClr val="00B0F0"/>
                </a:solidFill>
              </a:rPr>
              <a:t>사무실번호</a:t>
            </a:r>
            <a:r>
              <a:rPr lang="en-US" altLang="ko-KR" b="1" dirty="0"/>
              <a:t>, </a:t>
            </a:r>
            <a:r>
              <a:rPr lang="ko-KR" altLang="en-US" b="1" dirty="0"/>
              <a:t>주소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2DD28CCB-5360-3416-4208-E085F86BE8F2}"/>
              </a:ext>
            </a:extLst>
          </p:cNvPr>
          <p:cNvSpPr/>
          <p:nvPr/>
        </p:nvSpPr>
        <p:spPr>
          <a:xfrm rot="16200000">
            <a:off x="6237380" y="3457081"/>
            <a:ext cx="270934" cy="5606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FB1424-12C6-E7DC-FF1E-842223624BC9}"/>
              </a:ext>
            </a:extLst>
          </p:cNvPr>
          <p:cNvSpPr txBox="1"/>
          <p:nvPr/>
        </p:nvSpPr>
        <p:spPr>
          <a:xfrm>
            <a:off x="6026270" y="3901793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5050"/>
                </a:solidFill>
              </a:rPr>
              <a:t>사상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4DEABE-7D4E-B9C1-F325-DB9372A38BBC}"/>
              </a:ext>
            </a:extLst>
          </p:cNvPr>
          <p:cNvSpPr txBox="1"/>
          <p:nvPr/>
        </p:nvSpPr>
        <p:spPr>
          <a:xfrm>
            <a:off x="2459434" y="1690688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B050"/>
                </a:solidFill>
              </a:rPr>
              <a:t>ER Model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D827F-082A-E002-0594-8635AD80FE20}"/>
              </a:ext>
            </a:extLst>
          </p:cNvPr>
          <p:cNvSpPr txBox="1"/>
          <p:nvPr/>
        </p:nvSpPr>
        <p:spPr>
          <a:xfrm>
            <a:off x="8221586" y="1690688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00B050"/>
                </a:solidFill>
              </a:rPr>
              <a:t>관계 데이터 모델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D3E7DB1-82D2-379E-F835-C280684420C2}"/>
              </a:ext>
            </a:extLst>
          </p:cNvPr>
          <p:cNvSpPr/>
          <p:nvPr/>
        </p:nvSpPr>
        <p:spPr>
          <a:xfrm>
            <a:off x="2005327" y="3002159"/>
            <a:ext cx="351418" cy="296216"/>
          </a:xfrm>
          <a:prstGeom prst="roundRect">
            <a:avLst/>
          </a:prstGeom>
          <a:solidFill>
            <a:srgbClr val="FFC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5A17D34-0138-60B2-4A51-2BAFFF3B4005}"/>
              </a:ext>
            </a:extLst>
          </p:cNvPr>
          <p:cNvSpPr/>
          <p:nvPr/>
        </p:nvSpPr>
        <p:spPr>
          <a:xfrm>
            <a:off x="4001196" y="3002159"/>
            <a:ext cx="351418" cy="296216"/>
          </a:xfrm>
          <a:prstGeom prst="roundRect">
            <a:avLst/>
          </a:prstGeom>
          <a:solidFill>
            <a:srgbClr val="FFC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0326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E2F8E-5231-FF4A-9D05-A5FC005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이진 </a:t>
            </a:r>
            <a:r>
              <a:rPr lang="en-US" altLang="ko-KR" dirty="0"/>
              <a:t>1:N </a:t>
            </a:r>
            <a:r>
              <a:rPr lang="ko-KR" altLang="en-US" dirty="0"/>
              <a:t>관계 타입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9563CC9-9FBC-4B72-74F7-167828194747}"/>
              </a:ext>
            </a:extLst>
          </p:cNvPr>
          <p:cNvGrpSpPr/>
          <p:nvPr/>
        </p:nvGrpSpPr>
        <p:grpSpPr>
          <a:xfrm>
            <a:off x="479554" y="2664719"/>
            <a:ext cx="5672902" cy="2145343"/>
            <a:chOff x="779831" y="2679011"/>
            <a:chExt cx="5672902" cy="214534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DE4FC89C-7D92-D95C-251F-128E88AA3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8233" y="2679011"/>
              <a:ext cx="5018583" cy="1457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B65062-F59E-0F53-78C8-934150E7138C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1280050" y="3714704"/>
              <a:ext cx="438981" cy="6584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2CF8C78-9A93-F2E4-9213-4280480D2B3F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H="1" flipV="1">
              <a:off x="1719032" y="3714704"/>
              <a:ext cx="607413" cy="6867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E2CEF1F-6B3A-A486-BDC6-8ADC1530BF5B}"/>
                </a:ext>
              </a:extLst>
            </p:cNvPr>
            <p:cNvSpPr/>
            <p:nvPr/>
          </p:nvSpPr>
          <p:spPr>
            <a:xfrm>
              <a:off x="846784" y="4373178"/>
              <a:ext cx="866533" cy="4229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D905320-5B0C-207A-A54D-2C30D17C2CD9}"/>
                </a:ext>
              </a:extLst>
            </p:cNvPr>
            <p:cNvSpPr/>
            <p:nvPr/>
          </p:nvSpPr>
          <p:spPr>
            <a:xfrm>
              <a:off x="1893178" y="4401417"/>
              <a:ext cx="866533" cy="4229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팀명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F90337-820D-A081-CE04-C10149E9BF91}"/>
                </a:ext>
              </a:extLst>
            </p:cNvPr>
            <p:cNvSpPr txBox="1"/>
            <p:nvPr/>
          </p:nvSpPr>
          <p:spPr>
            <a:xfrm>
              <a:off x="779831" y="4437545"/>
              <a:ext cx="1000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u="sng" dirty="0" err="1"/>
                <a:t>팀코드</a:t>
              </a:r>
              <a:endParaRPr lang="ko-KR" altLang="en-US" sz="1200" u="sng" dirty="0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D0AE8430-17EA-47D6-E3F4-A62FCCBF95F1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4906121" y="3713153"/>
              <a:ext cx="438981" cy="6584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7E4F7B8-FFA3-71D2-056D-A8CA26DDE1B5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5345102" y="3713153"/>
              <a:ext cx="607413" cy="6867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5767EE-81FE-70DA-B935-7F77ECFCAAFF}"/>
                </a:ext>
              </a:extLst>
            </p:cNvPr>
            <p:cNvSpPr/>
            <p:nvPr/>
          </p:nvSpPr>
          <p:spPr>
            <a:xfrm>
              <a:off x="4472854" y="4371627"/>
              <a:ext cx="866533" cy="4229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D033348-6D6A-C88A-4D25-5F6CA9CC1999}"/>
                </a:ext>
              </a:extLst>
            </p:cNvPr>
            <p:cNvSpPr/>
            <p:nvPr/>
          </p:nvSpPr>
          <p:spPr>
            <a:xfrm>
              <a:off x="5519248" y="4399866"/>
              <a:ext cx="866533" cy="4229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E235CD-8D2D-925C-44F4-DA03332453AE}"/>
                </a:ext>
              </a:extLst>
            </p:cNvPr>
            <p:cNvSpPr txBox="1"/>
            <p:nvPr/>
          </p:nvSpPr>
          <p:spPr>
            <a:xfrm>
              <a:off x="4405902" y="4435994"/>
              <a:ext cx="1000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u="sng" dirty="0"/>
                <a:t>선수번호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3B0782-DE61-AEE2-688D-3128A7817E5E}"/>
                </a:ext>
              </a:extLst>
            </p:cNvPr>
            <p:cNvSpPr txBox="1"/>
            <p:nvPr/>
          </p:nvSpPr>
          <p:spPr>
            <a:xfrm>
              <a:off x="5452296" y="4450113"/>
              <a:ext cx="1000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이름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BB2593C-F00B-9E30-CB01-00E5B97114C0}"/>
                </a:ext>
              </a:extLst>
            </p:cNvPr>
            <p:cNvSpPr/>
            <p:nvPr/>
          </p:nvSpPr>
          <p:spPr>
            <a:xfrm>
              <a:off x="2358078" y="3015598"/>
              <a:ext cx="351418" cy="296216"/>
            </a:xfrm>
            <a:prstGeom prst="roundRect">
              <a:avLst/>
            </a:prstGeom>
            <a:solidFill>
              <a:srgbClr val="FFC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003A13C-185C-FFE6-5729-839CB7EF8A2F}"/>
                </a:ext>
              </a:extLst>
            </p:cNvPr>
            <p:cNvSpPr/>
            <p:nvPr/>
          </p:nvSpPr>
          <p:spPr>
            <a:xfrm>
              <a:off x="4405902" y="3015598"/>
              <a:ext cx="351418" cy="296216"/>
            </a:xfrm>
            <a:prstGeom prst="roundRect">
              <a:avLst/>
            </a:prstGeom>
            <a:solidFill>
              <a:srgbClr val="FFC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695C3AA-DE5E-1A80-FEE4-B77EA91B8425}"/>
              </a:ext>
            </a:extLst>
          </p:cNvPr>
          <p:cNvSpPr txBox="1"/>
          <p:nvPr/>
        </p:nvSpPr>
        <p:spPr>
          <a:xfrm>
            <a:off x="7076384" y="3098696"/>
            <a:ext cx="3904339" cy="1200329"/>
          </a:xfrm>
          <a:prstGeom prst="rect">
            <a:avLst/>
          </a:prstGeom>
          <a:solidFill>
            <a:srgbClr val="F5F5F2"/>
          </a:solidFill>
        </p:spPr>
        <p:txBody>
          <a:bodyPr wrap="none" rtlCol="0">
            <a:sp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 Team(</a:t>
            </a:r>
            <a:r>
              <a:rPr lang="ko-KR" altLang="en-US" b="1" u="sng" dirty="0" err="1">
                <a:solidFill>
                  <a:srgbClr val="00B0F0"/>
                </a:solidFill>
              </a:rPr>
              <a:t>팀코드</a:t>
            </a:r>
            <a:r>
              <a:rPr lang="en-US" altLang="ko-KR" b="1" dirty="0"/>
              <a:t>, </a:t>
            </a:r>
            <a:r>
              <a:rPr lang="ko-KR" altLang="en-US" b="1" dirty="0" err="1"/>
              <a:t>팀명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 Player(</a:t>
            </a:r>
            <a:r>
              <a:rPr lang="ko-KR" altLang="en-US" b="1" u="sng" dirty="0"/>
              <a:t>선수번호</a:t>
            </a:r>
            <a:r>
              <a:rPr lang="en-US" altLang="ko-KR" b="1" dirty="0"/>
              <a:t>, </a:t>
            </a:r>
            <a:r>
              <a:rPr lang="ko-KR" altLang="en-US" b="1" dirty="0"/>
              <a:t>이름</a:t>
            </a:r>
            <a:r>
              <a:rPr lang="en-US" altLang="ko-KR" b="1" dirty="0"/>
              <a:t>, </a:t>
            </a:r>
            <a:r>
              <a:rPr lang="ko-KR" altLang="en-US" b="1" dirty="0" err="1">
                <a:solidFill>
                  <a:srgbClr val="00B0F0"/>
                </a:solidFill>
              </a:rPr>
              <a:t>팀코드</a:t>
            </a:r>
            <a:r>
              <a:rPr lang="en-US" altLang="ko-KR" b="1" dirty="0">
                <a:solidFill>
                  <a:srgbClr val="00B0F0"/>
                </a:solidFill>
              </a:rPr>
              <a:t>(FK)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B738519F-4441-7F40-8A8E-38B7B1B21309}"/>
              </a:ext>
            </a:extLst>
          </p:cNvPr>
          <p:cNvSpPr/>
          <p:nvPr/>
        </p:nvSpPr>
        <p:spPr>
          <a:xfrm rot="16200000">
            <a:off x="6237380" y="3457081"/>
            <a:ext cx="270934" cy="5606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91EA3-29D0-0D8B-DC4B-C9B6806ECE8A}"/>
              </a:ext>
            </a:extLst>
          </p:cNvPr>
          <p:cNvSpPr txBox="1"/>
          <p:nvPr/>
        </p:nvSpPr>
        <p:spPr>
          <a:xfrm>
            <a:off x="6026270" y="3901793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5050"/>
                </a:solidFill>
              </a:rPr>
              <a:t>사상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68F93B-7A6E-657C-8789-D1270613F372}"/>
              </a:ext>
            </a:extLst>
          </p:cNvPr>
          <p:cNvSpPr txBox="1"/>
          <p:nvPr/>
        </p:nvSpPr>
        <p:spPr>
          <a:xfrm>
            <a:off x="2459434" y="1690688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B050"/>
                </a:solidFill>
              </a:rPr>
              <a:t>ER Model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0B4D36-5B6A-56B1-0647-C2D71C140E72}"/>
              </a:ext>
            </a:extLst>
          </p:cNvPr>
          <p:cNvSpPr txBox="1"/>
          <p:nvPr/>
        </p:nvSpPr>
        <p:spPr>
          <a:xfrm>
            <a:off x="7059819" y="4698701"/>
            <a:ext cx="422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</a:rPr>
              <a:t>[</a:t>
            </a:r>
            <a:r>
              <a:rPr lang="ko-KR" altLang="en-US" sz="1400" b="1" dirty="0">
                <a:solidFill>
                  <a:srgbClr val="002060"/>
                </a:solidFill>
              </a:rPr>
              <a:t>참고</a:t>
            </a:r>
            <a:r>
              <a:rPr lang="en-US" altLang="ko-KR" sz="1400" b="1" dirty="0">
                <a:solidFill>
                  <a:srgbClr val="002060"/>
                </a:solidFill>
              </a:rPr>
              <a:t>] Team</a:t>
            </a:r>
            <a:r>
              <a:rPr lang="ko-KR" altLang="en-US" sz="1400" b="1" dirty="0">
                <a:solidFill>
                  <a:srgbClr val="002060"/>
                </a:solidFill>
              </a:rPr>
              <a:t>에 </a:t>
            </a:r>
            <a:r>
              <a:rPr lang="en-US" altLang="ko-KR" sz="1400" b="1" dirty="0">
                <a:solidFill>
                  <a:srgbClr val="002060"/>
                </a:solidFill>
              </a:rPr>
              <a:t>Player</a:t>
            </a:r>
            <a:r>
              <a:rPr lang="ko-KR" altLang="en-US" sz="1400" b="1" dirty="0">
                <a:solidFill>
                  <a:srgbClr val="002060"/>
                </a:solidFill>
              </a:rPr>
              <a:t>의 선수번호를 저장한다면</a:t>
            </a:r>
            <a:r>
              <a:rPr lang="en-US" altLang="ko-KR" sz="1400" b="1" dirty="0">
                <a:solidFill>
                  <a:srgbClr val="002060"/>
                </a:solidFill>
              </a:rPr>
              <a:t>?</a:t>
            </a:r>
          </a:p>
          <a:p>
            <a:r>
              <a:rPr lang="en-US" altLang="ko-KR" sz="1400" b="1" dirty="0">
                <a:solidFill>
                  <a:srgbClr val="002060"/>
                </a:solidFill>
              </a:rPr>
              <a:t>Team</a:t>
            </a:r>
            <a:r>
              <a:rPr lang="ko-KR" altLang="en-US" sz="1400" b="1" dirty="0">
                <a:solidFill>
                  <a:srgbClr val="002060"/>
                </a:solidFill>
              </a:rPr>
              <a:t>의 </a:t>
            </a:r>
            <a:r>
              <a:rPr lang="en-US" altLang="ko-KR" sz="1400" b="1" dirty="0">
                <a:solidFill>
                  <a:srgbClr val="002060"/>
                </a:solidFill>
              </a:rPr>
              <a:t>Player</a:t>
            </a:r>
            <a:r>
              <a:rPr lang="ko-KR" altLang="en-US" sz="1400" b="1" dirty="0">
                <a:solidFill>
                  <a:srgbClr val="002060"/>
                </a:solidFill>
              </a:rPr>
              <a:t>가 여러 명이 저장되므로 불가능</a:t>
            </a:r>
            <a:r>
              <a:rPr lang="en-US" altLang="ko-KR" sz="1400" b="1" dirty="0">
                <a:solidFill>
                  <a:srgbClr val="002060"/>
                </a:solidFill>
              </a:rPr>
              <a:t>!!</a:t>
            </a:r>
            <a:endParaRPr lang="ko-KR" altLang="en-US" sz="1400" b="1" dirty="0">
              <a:solidFill>
                <a:srgbClr val="002060"/>
              </a:solidFill>
            </a:endParaRPr>
          </a:p>
        </p:txBody>
      </p:sp>
      <p:sp>
        <p:nvSpPr>
          <p:cNvPr id="37" name="말풍선: 모서리가 둥근 사각형 36">
            <a:extLst>
              <a:ext uri="{FF2B5EF4-FFF2-40B4-BE49-F238E27FC236}">
                <a16:creationId xmlns:a16="http://schemas.microsoft.com/office/drawing/2014/main" id="{2786BCDD-F13B-36DC-A1B9-06CDE74B38F2}"/>
              </a:ext>
            </a:extLst>
          </p:cNvPr>
          <p:cNvSpPr/>
          <p:nvPr/>
        </p:nvSpPr>
        <p:spPr>
          <a:xfrm>
            <a:off x="4424606" y="2333261"/>
            <a:ext cx="794365" cy="366662"/>
          </a:xfrm>
          <a:prstGeom prst="wedgeRoundRectCallout">
            <a:avLst>
              <a:gd name="adj1" fmla="val -65945"/>
              <a:gd name="adj2" fmla="val 128381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기준</a:t>
            </a:r>
            <a:r>
              <a:rPr lang="en-US" altLang="ko-KR" sz="1400" b="1" dirty="0">
                <a:solidFill>
                  <a:schemeClr val="tx1"/>
                </a:solidFill>
              </a:rPr>
              <a:t>!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03B005-D06C-1457-355E-B484BCF0611E}"/>
              </a:ext>
            </a:extLst>
          </p:cNvPr>
          <p:cNvSpPr txBox="1"/>
          <p:nvPr/>
        </p:nvSpPr>
        <p:spPr>
          <a:xfrm>
            <a:off x="5218971" y="2345102"/>
            <a:ext cx="5930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</a:rPr>
              <a:t>N(M) </a:t>
            </a:r>
            <a:r>
              <a:rPr lang="ko-KR" altLang="en-US" sz="1400" b="1" dirty="0">
                <a:solidFill>
                  <a:srgbClr val="002060"/>
                </a:solidFill>
              </a:rPr>
              <a:t>쪽인 </a:t>
            </a:r>
            <a:r>
              <a:rPr lang="en-US" altLang="ko-KR" sz="1400" b="1" dirty="0">
                <a:solidFill>
                  <a:srgbClr val="002060"/>
                </a:solidFill>
              </a:rPr>
              <a:t>Player </a:t>
            </a:r>
            <a:r>
              <a:rPr lang="ko-KR" altLang="en-US" sz="1400" b="1" dirty="0" err="1">
                <a:solidFill>
                  <a:srgbClr val="002060"/>
                </a:solidFill>
              </a:rPr>
              <a:t>릴레이션에</a:t>
            </a:r>
            <a:r>
              <a:rPr lang="ko-KR" altLang="en-US" sz="1400" b="1" dirty="0">
                <a:solidFill>
                  <a:srgbClr val="002060"/>
                </a:solidFill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</a:rPr>
              <a:t>Team </a:t>
            </a:r>
            <a:r>
              <a:rPr lang="ko-KR" altLang="en-US" sz="1400" b="1" dirty="0">
                <a:solidFill>
                  <a:srgbClr val="002060"/>
                </a:solidFill>
              </a:rPr>
              <a:t>릴레이션의 키 속성을 </a:t>
            </a:r>
            <a:r>
              <a:rPr lang="en-US" altLang="ko-KR" sz="1400" b="1" dirty="0">
                <a:solidFill>
                  <a:srgbClr val="002060"/>
                </a:solidFill>
              </a:rPr>
              <a:t>FK</a:t>
            </a:r>
            <a:r>
              <a:rPr lang="ko-KR" altLang="en-US" sz="1400" b="1" dirty="0">
                <a:solidFill>
                  <a:srgbClr val="002060"/>
                </a:solidFill>
              </a:rPr>
              <a:t>로 사용</a:t>
            </a:r>
            <a:r>
              <a:rPr lang="en-US" altLang="ko-KR" sz="1400" b="1" dirty="0">
                <a:solidFill>
                  <a:srgbClr val="002060"/>
                </a:solidFill>
              </a:rPr>
              <a:t>!!</a:t>
            </a:r>
            <a:endParaRPr lang="ko-KR" altLang="en-US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DCD9E-23E4-4073-2ACB-EE43C771E6E3}"/>
              </a:ext>
            </a:extLst>
          </p:cNvPr>
          <p:cNvSpPr txBox="1"/>
          <p:nvPr/>
        </p:nvSpPr>
        <p:spPr>
          <a:xfrm>
            <a:off x="8221586" y="1690688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00B050"/>
                </a:solidFill>
              </a:rPr>
              <a:t>관계 데이터 모델</a:t>
            </a:r>
          </a:p>
        </p:txBody>
      </p:sp>
    </p:spTree>
    <p:extLst>
      <p:ext uri="{BB962C8B-B14F-4D97-AF65-F5344CB8AC3E}">
        <p14:creationId xmlns:p14="http://schemas.microsoft.com/office/powerpoint/2010/main" val="2070004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E2F8E-5231-FF4A-9D05-A5FC005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이진 </a:t>
            </a:r>
            <a:r>
              <a:rPr lang="en-US" altLang="ko-KR" dirty="0"/>
              <a:t>N:M </a:t>
            </a:r>
            <a:r>
              <a:rPr lang="ko-KR" altLang="en-US" dirty="0"/>
              <a:t>관계 타입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8C61223-86EE-9AE5-9DE4-6F92C34EFBE6}"/>
              </a:ext>
            </a:extLst>
          </p:cNvPr>
          <p:cNvGrpSpPr/>
          <p:nvPr/>
        </p:nvGrpSpPr>
        <p:grpSpPr>
          <a:xfrm>
            <a:off x="568590" y="2687630"/>
            <a:ext cx="5527410" cy="2167120"/>
            <a:chOff x="568590" y="2355121"/>
            <a:chExt cx="5527410" cy="216712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F53E155-5C81-D8EB-5C4F-0976985835CB}"/>
                </a:ext>
              </a:extLst>
            </p:cNvPr>
            <p:cNvGrpSpPr/>
            <p:nvPr/>
          </p:nvGrpSpPr>
          <p:grpSpPr>
            <a:xfrm>
              <a:off x="568590" y="2355121"/>
              <a:ext cx="5527410" cy="2167120"/>
              <a:chOff x="479554" y="2652032"/>
              <a:chExt cx="5527410" cy="2167120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FC503D25-B6CA-C1E9-352E-6FE80E75A0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2583" y="2652032"/>
                <a:ext cx="4940462" cy="14344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DBF7254B-2832-9103-F471-A9008BEEF984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H="1">
                <a:off x="979773" y="3690139"/>
                <a:ext cx="438981" cy="6584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37E2C5FF-6EA4-ED37-3525-F283E4665446}"/>
                  </a:ext>
                </a:extLst>
              </p:cNvPr>
              <p:cNvCxnSpPr>
                <a:cxnSpLocks/>
                <a:stCxn id="7" idx="0"/>
              </p:cNvCxnSpPr>
              <p:nvPr/>
            </p:nvCxnSpPr>
            <p:spPr>
              <a:xfrm flipH="1" flipV="1">
                <a:off x="1418755" y="3690139"/>
                <a:ext cx="607413" cy="6867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526E538B-F2CA-A6EF-3E6C-57263FA8E1EB}"/>
                  </a:ext>
                </a:extLst>
              </p:cNvPr>
              <p:cNvSpPr/>
              <p:nvPr/>
            </p:nvSpPr>
            <p:spPr>
              <a:xfrm>
                <a:off x="546507" y="4348613"/>
                <a:ext cx="866533" cy="4229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650C0386-CDCD-9E7D-4446-48864A76EE78}"/>
                  </a:ext>
                </a:extLst>
              </p:cNvPr>
              <p:cNvSpPr/>
              <p:nvPr/>
            </p:nvSpPr>
            <p:spPr>
              <a:xfrm>
                <a:off x="1592901" y="4376852"/>
                <a:ext cx="866533" cy="4229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이름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554731-0A92-B91B-5C50-5E95A2D3FB6F}"/>
                  </a:ext>
                </a:extLst>
              </p:cNvPr>
              <p:cNvSpPr txBox="1"/>
              <p:nvPr/>
            </p:nvSpPr>
            <p:spPr>
              <a:xfrm>
                <a:off x="479554" y="4412980"/>
                <a:ext cx="10004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u="sng" dirty="0"/>
                  <a:t>학생번호</a:t>
                </a: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87B528C5-A398-D982-AC20-02E8AEA27D0B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flipH="1">
                <a:off x="4460352" y="3690139"/>
                <a:ext cx="438981" cy="6584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5B7A47E6-29FE-59A9-957A-889A88ACF3CD}"/>
                  </a:ext>
                </a:extLst>
              </p:cNvPr>
              <p:cNvCxnSpPr>
                <a:cxnSpLocks/>
                <a:stCxn id="12" idx="0"/>
              </p:cNvCxnSpPr>
              <p:nvPr/>
            </p:nvCxnSpPr>
            <p:spPr>
              <a:xfrm flipH="1" flipV="1">
                <a:off x="4899333" y="3690139"/>
                <a:ext cx="607413" cy="6867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25875AF5-A6A3-965E-3F57-A20ACFA51546}"/>
                  </a:ext>
                </a:extLst>
              </p:cNvPr>
              <p:cNvSpPr/>
              <p:nvPr/>
            </p:nvSpPr>
            <p:spPr>
              <a:xfrm>
                <a:off x="4027085" y="4348613"/>
                <a:ext cx="866533" cy="4229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174218A3-2676-83DD-142A-69061955D5FD}"/>
                  </a:ext>
                </a:extLst>
              </p:cNvPr>
              <p:cNvSpPr/>
              <p:nvPr/>
            </p:nvSpPr>
            <p:spPr>
              <a:xfrm>
                <a:off x="5073479" y="4376852"/>
                <a:ext cx="866533" cy="4229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B1D67-25B0-613B-84CE-73EDF1AC1E7B}"/>
                  </a:ext>
                </a:extLst>
              </p:cNvPr>
              <p:cNvSpPr txBox="1"/>
              <p:nvPr/>
            </p:nvSpPr>
            <p:spPr>
              <a:xfrm>
                <a:off x="3960132" y="4357487"/>
                <a:ext cx="1000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u="sng" dirty="0"/>
                  <a:t>프로젝트</a:t>
                </a:r>
                <a:endParaRPr lang="en-US" altLang="ko-KR" sz="1200" u="sng" dirty="0"/>
              </a:p>
              <a:p>
                <a:pPr algn="ctr"/>
                <a:r>
                  <a:rPr lang="ko-KR" altLang="en-US" sz="1200" u="sng" dirty="0"/>
                  <a:t>번호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2208FB-9DD8-CF52-FC66-54C64F5D300E}"/>
                  </a:ext>
                </a:extLst>
              </p:cNvPr>
              <p:cNvSpPr txBox="1"/>
              <p:nvPr/>
            </p:nvSpPr>
            <p:spPr>
              <a:xfrm>
                <a:off x="5006527" y="4427099"/>
                <a:ext cx="10004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프로젝트명</a:t>
                </a: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EC7B0B7-1452-85A9-CF01-4FBCB7D06AC9}"/>
                </a:ext>
              </a:extLst>
            </p:cNvPr>
            <p:cNvSpPr/>
            <p:nvPr/>
          </p:nvSpPr>
          <p:spPr>
            <a:xfrm>
              <a:off x="4111073" y="2674075"/>
              <a:ext cx="351418" cy="296216"/>
            </a:xfrm>
            <a:prstGeom prst="roundRect">
              <a:avLst/>
            </a:prstGeom>
            <a:solidFill>
              <a:srgbClr val="FFC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89525FB2-FBC3-5A73-B3A6-A7DF620FB0FF}"/>
              </a:ext>
            </a:extLst>
          </p:cNvPr>
          <p:cNvSpPr/>
          <p:nvPr/>
        </p:nvSpPr>
        <p:spPr>
          <a:xfrm rot="16200000">
            <a:off x="6237380" y="3457081"/>
            <a:ext cx="270934" cy="5606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2A0591-5A2B-021A-9766-F755BB9768F4}"/>
              </a:ext>
            </a:extLst>
          </p:cNvPr>
          <p:cNvSpPr txBox="1"/>
          <p:nvPr/>
        </p:nvSpPr>
        <p:spPr>
          <a:xfrm>
            <a:off x="2161025" y="3025801"/>
            <a:ext cx="25977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N</a:t>
            </a:r>
            <a:endParaRPr lang="ko-KR" alt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31FB8B-7C90-03BA-8635-520B5E3C8623}"/>
              </a:ext>
            </a:extLst>
          </p:cNvPr>
          <p:cNvSpPr txBox="1"/>
          <p:nvPr/>
        </p:nvSpPr>
        <p:spPr>
          <a:xfrm>
            <a:off x="6026270" y="3901793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5050"/>
                </a:solidFill>
              </a:rPr>
              <a:t>사상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9A4C3F0-36E3-DA68-EA8D-C3B5BC092449}"/>
              </a:ext>
            </a:extLst>
          </p:cNvPr>
          <p:cNvSpPr/>
          <p:nvPr/>
        </p:nvSpPr>
        <p:spPr>
          <a:xfrm>
            <a:off x="2121413" y="3003652"/>
            <a:ext cx="351418" cy="296216"/>
          </a:xfrm>
          <a:prstGeom prst="roundRect">
            <a:avLst/>
          </a:prstGeom>
          <a:solidFill>
            <a:srgbClr val="FFC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EB6328E-156D-846F-86DA-E8DDB39A7BA3}"/>
              </a:ext>
            </a:extLst>
          </p:cNvPr>
          <p:cNvSpPr/>
          <p:nvPr/>
        </p:nvSpPr>
        <p:spPr>
          <a:xfrm>
            <a:off x="2980030" y="3235963"/>
            <a:ext cx="540138" cy="296216"/>
          </a:xfrm>
          <a:prstGeom prst="roundRect">
            <a:avLst/>
          </a:prstGeom>
          <a:solidFill>
            <a:srgbClr val="7030A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F014DFB-00EC-A4A2-339B-29C3A691F192}"/>
              </a:ext>
            </a:extLst>
          </p:cNvPr>
          <p:cNvGrpSpPr/>
          <p:nvPr/>
        </p:nvGrpSpPr>
        <p:grpSpPr>
          <a:xfrm>
            <a:off x="7173403" y="2721958"/>
            <a:ext cx="4294404" cy="2350557"/>
            <a:chOff x="7076384" y="3098696"/>
            <a:chExt cx="4294404" cy="235055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3A98D8-CAD1-0A11-D94D-32C520607298}"/>
                </a:ext>
              </a:extLst>
            </p:cNvPr>
            <p:cNvSpPr txBox="1"/>
            <p:nvPr/>
          </p:nvSpPr>
          <p:spPr>
            <a:xfrm>
              <a:off x="7076384" y="3098696"/>
              <a:ext cx="3881191" cy="1477328"/>
            </a:xfrm>
            <a:prstGeom prst="rect">
              <a:avLst/>
            </a:prstGeom>
            <a:solidFill>
              <a:srgbClr val="F5F5F2"/>
            </a:solidFill>
          </p:spPr>
          <p:txBody>
            <a:bodyPr wrap="none" rtlCol="0">
              <a:spAutoFit/>
            </a:bodyPr>
            <a:lstStyle/>
            <a:p>
              <a:endParaRPr lang="en-US" altLang="ko-KR" b="1" dirty="0"/>
            </a:p>
            <a:p>
              <a:r>
                <a:rPr lang="en-US" altLang="ko-KR" b="1" dirty="0"/>
                <a:t> Student(</a:t>
              </a:r>
              <a:r>
                <a:rPr lang="ko-KR" altLang="en-US" b="1" u="sng" dirty="0">
                  <a:solidFill>
                    <a:srgbClr val="00B0F0"/>
                  </a:solidFill>
                </a:rPr>
                <a:t>학생번호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이름</a:t>
              </a:r>
              <a:r>
                <a:rPr lang="en-US" altLang="ko-KR" b="1" dirty="0"/>
                <a:t>)</a:t>
              </a:r>
            </a:p>
            <a:p>
              <a:r>
                <a:rPr lang="en-US" altLang="ko-KR" b="1" dirty="0"/>
                <a:t> Project(</a:t>
              </a:r>
              <a:r>
                <a:rPr lang="ko-KR" altLang="en-US" b="1" u="sng" dirty="0">
                  <a:solidFill>
                    <a:srgbClr val="00B050"/>
                  </a:solidFill>
                </a:rPr>
                <a:t>프로젝트번호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프로젝트명</a:t>
              </a:r>
              <a:r>
                <a:rPr lang="en-US" altLang="ko-KR" b="1" dirty="0"/>
                <a:t>)</a:t>
              </a:r>
            </a:p>
            <a:p>
              <a:r>
                <a:rPr lang="en-US" altLang="ko-KR" b="1" dirty="0"/>
                <a:t> Does(</a:t>
              </a:r>
              <a:r>
                <a:rPr lang="ko-KR" altLang="en-US" b="1" u="sng" dirty="0">
                  <a:solidFill>
                    <a:srgbClr val="00B0F0"/>
                  </a:solidFill>
                </a:rPr>
                <a:t>학생번호</a:t>
              </a:r>
              <a:r>
                <a:rPr lang="en-US" altLang="ko-KR" b="1" dirty="0"/>
                <a:t>, </a:t>
              </a:r>
              <a:r>
                <a:rPr lang="ko-KR" altLang="en-US" b="1" u="sng" dirty="0">
                  <a:solidFill>
                    <a:srgbClr val="00B050"/>
                  </a:solidFill>
                </a:rPr>
                <a:t>프로젝트번호</a:t>
              </a:r>
              <a:r>
                <a:rPr lang="en-US" altLang="ko-KR" b="1" dirty="0"/>
                <a:t>)</a:t>
              </a:r>
            </a:p>
            <a:p>
              <a:endParaRPr lang="en-US" altLang="ko-KR" b="1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B6639A48-6A18-6D72-496A-68F20C38BF30}"/>
                </a:ext>
              </a:extLst>
            </p:cNvPr>
            <p:cNvSpPr/>
            <p:nvPr/>
          </p:nvSpPr>
          <p:spPr>
            <a:xfrm>
              <a:off x="7147933" y="3971925"/>
              <a:ext cx="3329568" cy="299200"/>
            </a:xfrm>
            <a:prstGeom prst="roundRect">
              <a:avLst/>
            </a:prstGeom>
            <a:solidFill>
              <a:srgbClr val="7030A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3FB6DA-28AC-9A4D-2E7B-B803C7988F45}"/>
                </a:ext>
              </a:extLst>
            </p:cNvPr>
            <p:cNvSpPr txBox="1"/>
            <p:nvPr/>
          </p:nvSpPr>
          <p:spPr>
            <a:xfrm>
              <a:off x="7142397" y="4710589"/>
              <a:ext cx="42283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002060"/>
                  </a:solidFill>
                </a:rPr>
                <a:t>N:M </a:t>
              </a:r>
              <a:r>
                <a:rPr lang="ko-KR" altLang="en-US" sz="1400" b="1" dirty="0">
                  <a:solidFill>
                    <a:srgbClr val="002060"/>
                  </a:solidFill>
                </a:rPr>
                <a:t>관계에서는 </a:t>
              </a:r>
              <a:r>
                <a:rPr lang="ko-KR" altLang="en-US" sz="1400" b="1" dirty="0">
                  <a:solidFill>
                    <a:srgbClr val="002060"/>
                  </a:solidFill>
                  <a:highlight>
                    <a:srgbClr val="FFC000"/>
                  </a:highlight>
                </a:rPr>
                <a:t>교차 릴레이션</a:t>
              </a:r>
              <a:r>
                <a:rPr lang="ko-KR" altLang="en-US" sz="1400" b="1" dirty="0">
                  <a:solidFill>
                    <a:srgbClr val="002060"/>
                  </a:solidFill>
                </a:rPr>
                <a:t>을 생성하고 </a:t>
              </a:r>
              <a:endParaRPr lang="en-US" altLang="ko-KR" sz="1400" b="1" dirty="0">
                <a:solidFill>
                  <a:srgbClr val="002060"/>
                </a:solidFill>
              </a:endParaRPr>
            </a:p>
            <a:p>
              <a:r>
                <a:rPr lang="ko-KR" altLang="en-US" sz="1400" b="1" dirty="0">
                  <a:solidFill>
                    <a:srgbClr val="002060"/>
                  </a:solidFill>
                </a:rPr>
                <a:t>관계에 참여하는 두 릴레이션</a:t>
              </a:r>
              <a:r>
                <a:rPr lang="en-US" altLang="ko-KR" sz="1400" b="1" dirty="0">
                  <a:solidFill>
                    <a:srgbClr val="002060"/>
                  </a:solidFill>
                </a:rPr>
                <a:t>(Student, Project)</a:t>
              </a:r>
              <a:r>
                <a:rPr lang="ko-KR" altLang="en-US" sz="1400" b="1" dirty="0">
                  <a:solidFill>
                    <a:srgbClr val="002060"/>
                  </a:solidFill>
                </a:rPr>
                <a:t>의 기본키를 각각 참조하는 외래키로 속성을 구성</a:t>
              </a:r>
              <a:r>
                <a:rPr lang="en-US" altLang="ko-KR" sz="1400" b="1" dirty="0">
                  <a:solidFill>
                    <a:srgbClr val="002060"/>
                  </a:solidFill>
                </a:rPr>
                <a:t>!</a:t>
              </a:r>
              <a:endParaRPr lang="ko-KR" altLang="en-US" sz="14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71F5DB7-A1DF-893D-215E-9CF186341382}"/>
                </a:ext>
              </a:extLst>
            </p:cNvPr>
            <p:cNvCxnSpPr>
              <a:stCxn id="28" idx="2"/>
              <a:endCxn id="30" idx="0"/>
            </p:cNvCxnSpPr>
            <p:nvPr/>
          </p:nvCxnSpPr>
          <p:spPr>
            <a:xfrm>
              <a:off x="8812717" y="4271125"/>
              <a:ext cx="443876" cy="439464"/>
            </a:xfrm>
            <a:prstGeom prst="straightConnector1">
              <a:avLst/>
            </a:prstGeom>
            <a:ln w="2222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ED9E31-846B-661A-94EA-627B58E407C2}"/>
              </a:ext>
            </a:extLst>
          </p:cNvPr>
          <p:cNvSpPr txBox="1"/>
          <p:nvPr/>
        </p:nvSpPr>
        <p:spPr>
          <a:xfrm>
            <a:off x="2459434" y="1690688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B050"/>
                </a:solidFill>
              </a:rPr>
              <a:t>ER Model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3C694-AB93-9B96-3726-F4FC890BF7F0}"/>
              </a:ext>
            </a:extLst>
          </p:cNvPr>
          <p:cNvSpPr txBox="1"/>
          <p:nvPr/>
        </p:nvSpPr>
        <p:spPr>
          <a:xfrm>
            <a:off x="8221586" y="1690688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00B050"/>
                </a:solidFill>
              </a:rPr>
              <a:t>관계 데이터 모델</a:t>
            </a:r>
          </a:p>
        </p:txBody>
      </p:sp>
    </p:spTree>
    <p:extLst>
      <p:ext uri="{BB962C8B-B14F-4D97-AF65-F5344CB8AC3E}">
        <p14:creationId xmlns:p14="http://schemas.microsoft.com/office/powerpoint/2010/main" val="4215737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4C0-080E-7873-49D8-47A8D83A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7E103CF-C411-26DC-6A56-9054DD7F55EE}"/>
              </a:ext>
            </a:extLst>
          </p:cNvPr>
          <p:cNvSpPr txBox="1">
            <a:spLocks/>
          </p:cNvSpPr>
          <p:nvPr/>
        </p:nvSpPr>
        <p:spPr>
          <a:xfrm>
            <a:off x="251787" y="1031131"/>
            <a:ext cx="11616161" cy="8078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실습 </a:t>
            </a:r>
            <a:r>
              <a:rPr lang="en-US" altLang="ko-KR" dirty="0"/>
              <a:t>2</a:t>
            </a:r>
            <a:r>
              <a:rPr lang="ko-KR" altLang="en-US" dirty="0"/>
              <a:t>번에서 만든 </a:t>
            </a:r>
            <a:r>
              <a:rPr lang="en-US" altLang="ko-KR" dirty="0"/>
              <a:t>ER </a:t>
            </a:r>
            <a:r>
              <a:rPr lang="ko-KR" altLang="en-US" dirty="0"/>
              <a:t>다이어그램을 </a:t>
            </a:r>
            <a:r>
              <a:rPr lang="ko-KR" altLang="en-US" dirty="0" err="1"/>
              <a:t>릴레이션</a:t>
            </a:r>
            <a:r>
              <a:rPr lang="ko-KR" altLang="en-US" dirty="0"/>
              <a:t> 스키마로 작성해보자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21C627B-D08B-FFB2-0CA0-8FB08D2A7D4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사상</a:t>
            </a:r>
            <a:r>
              <a:rPr lang="en-US" altLang="ko-KR" dirty="0">
                <a:solidFill>
                  <a:srgbClr val="ED7D31"/>
                </a:solidFill>
              </a:rPr>
              <a:t>(mapping)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</p:spTree>
    <p:extLst>
      <p:ext uri="{BB962C8B-B14F-4D97-AF65-F5344CB8AC3E}">
        <p14:creationId xmlns:p14="http://schemas.microsoft.com/office/powerpoint/2010/main" val="33201432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4824598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</TotalTime>
  <Words>2843</Words>
  <Application>Microsoft Office PowerPoint</Application>
  <PresentationFormat>와이드스크린</PresentationFormat>
  <Paragraphs>446</Paragraphs>
  <Slides>60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1" baseType="lpstr">
      <vt:lpstr>Apple SD Gothic Neo</vt:lpstr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데이터 모델링</vt:lpstr>
      <vt:lpstr>데이터 모델링의 과정</vt:lpstr>
      <vt:lpstr>데이터 모델링의 과정</vt:lpstr>
      <vt:lpstr>데이터 모델링의 과정</vt:lpstr>
      <vt:lpstr>데이터 모델링의 과정</vt:lpstr>
      <vt:lpstr>PowerPoint 프레젠테이션</vt:lpstr>
      <vt:lpstr>ER 모델</vt:lpstr>
      <vt:lpstr>ER 모델 구성요소</vt:lpstr>
      <vt:lpstr>ERD(Entity-Relationship Diagram)</vt:lpstr>
      <vt:lpstr>개체(Entity)</vt:lpstr>
      <vt:lpstr>개체 타입(Entity Type)</vt:lpstr>
      <vt:lpstr>개체(Entity) 이름 규칙</vt:lpstr>
      <vt:lpstr>속성(Attribute)</vt:lpstr>
      <vt:lpstr>속성(Attribute)</vt:lpstr>
      <vt:lpstr>속성(Attribute) 규칙 </vt:lpstr>
      <vt:lpstr>키 속성(Key Attribute)</vt:lpstr>
      <vt:lpstr>속성(Attribute) 유형</vt:lpstr>
      <vt:lpstr>속성(Attribute) 유형</vt:lpstr>
      <vt:lpstr>속성(Attribute) 유형</vt:lpstr>
      <vt:lpstr>관계(Relation)</vt:lpstr>
      <vt:lpstr>관계 타입(Relation Type)</vt:lpstr>
      <vt:lpstr>PowerPoint 프레젠테이션</vt:lpstr>
      <vt:lpstr>PowerPoint 프레젠테이션</vt:lpstr>
      <vt:lpstr>ER 모델 제약조건(Constraints)</vt:lpstr>
      <vt:lpstr>ER 모델 제약조건(Constraints)</vt:lpstr>
      <vt:lpstr>키(Key) 제약 조건</vt:lpstr>
      <vt:lpstr>키(Key) 제약 조건</vt:lpstr>
      <vt:lpstr>키(Key) 제약 조건</vt:lpstr>
      <vt:lpstr>키(Key) 제약 조건</vt:lpstr>
      <vt:lpstr>개체(Entity) 무결성 제약 조건</vt:lpstr>
      <vt:lpstr>참조(Referential) 무결성 제약 조건</vt:lpstr>
      <vt:lpstr>참조(Referential) 무결성 제약 조건</vt:lpstr>
      <vt:lpstr>도메인(Domain) 제약 조건</vt:lpstr>
      <vt:lpstr>고유 무결성 제약조건 </vt:lpstr>
      <vt:lpstr>NULL 무결성 제약조건 </vt:lpstr>
      <vt:lpstr>Structural Constraint</vt:lpstr>
      <vt:lpstr>카디널리티(Cardinality) 제약 조건</vt:lpstr>
      <vt:lpstr>관계 대응 수(Cardinality)</vt:lpstr>
      <vt:lpstr>Cardinality Constraint – 1:1 관계</vt:lpstr>
      <vt:lpstr>Cardinality Constraint – 1:N, N:1 관계</vt:lpstr>
      <vt:lpstr>Cardinality Constraint – 1:N, N:1 관계</vt:lpstr>
      <vt:lpstr>Cardinality Constraint – N:M 관계</vt:lpstr>
      <vt:lpstr>참여(Participation) 제약 조건</vt:lpstr>
      <vt:lpstr>Participation Constraint 예시</vt:lpstr>
      <vt:lpstr>PowerPoint 프레젠테이션</vt:lpstr>
      <vt:lpstr>약한 객체(약한 엔터티, Weak Entity)</vt:lpstr>
      <vt:lpstr>약한 객체(약한 엔터티, Weak Entity)</vt:lpstr>
      <vt:lpstr>PowerPoint 프레젠테이션</vt:lpstr>
      <vt:lpstr>PowerPoint 프레젠테이션</vt:lpstr>
      <vt:lpstr>사상(Mapping)이란?</vt:lpstr>
      <vt:lpstr>ER Model을 관계 데이터 모델로 사상</vt:lpstr>
      <vt:lpstr>2진 관계(binary relationship) </vt:lpstr>
      <vt:lpstr>이진 1:1 관계 타입</vt:lpstr>
      <vt:lpstr>이진 1:N 관계 타입</vt:lpstr>
      <vt:lpstr>이진 N:M 관계 타입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283</cp:revision>
  <dcterms:created xsi:type="dcterms:W3CDTF">2023-01-31T04:26:23Z</dcterms:created>
  <dcterms:modified xsi:type="dcterms:W3CDTF">2025-10-22T01:20:46Z</dcterms:modified>
</cp:coreProperties>
</file>