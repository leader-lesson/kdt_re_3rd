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790" r:id="rId2"/>
    <p:sldId id="791" r:id="rId3"/>
    <p:sldId id="828" r:id="rId4"/>
    <p:sldId id="829" r:id="rId5"/>
    <p:sldId id="830" r:id="rId6"/>
    <p:sldId id="831" r:id="rId7"/>
    <p:sldId id="314" r:id="rId8"/>
    <p:sldId id="816" r:id="rId9"/>
    <p:sldId id="825" r:id="rId10"/>
    <p:sldId id="833" r:id="rId11"/>
    <p:sldId id="832" r:id="rId12"/>
    <p:sldId id="826" r:id="rId13"/>
    <p:sldId id="819" r:id="rId14"/>
    <p:sldId id="820" r:id="rId15"/>
    <p:sldId id="821" r:id="rId16"/>
    <p:sldId id="822" r:id="rId17"/>
    <p:sldId id="823" r:id="rId18"/>
    <p:sldId id="827" r:id="rId19"/>
    <p:sldId id="75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0000FF"/>
    <a:srgbClr val="00B0F0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6424" autoAdjust="0"/>
  </p:normalViewPr>
  <p:slideViewPr>
    <p:cSldViewPr snapToGrid="0">
      <p:cViewPr varScale="1">
        <p:scale>
          <a:sx n="57" d="100"/>
          <a:sy n="57" d="100"/>
        </p:scale>
        <p:origin x="72" y="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1818-78EF-6A70-8489-F8857B66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1767F7-4DEF-90C2-DDF7-C0875E661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D556AD-1FD6-E285-FA0E-465517F2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7BA82-8884-3A1A-A4B2-B68D2C576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56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8D84-EB0B-3269-1672-A66CEB6E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7FC4A9-5C11-83FB-FF70-55C64AF68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B5BB6B-2491-7AA4-6F6A-30DDFE5F8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8AC6B-1574-672B-0ED6-CBD306EF0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389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F8A9-E937-A2C2-B4C9-F6A983FC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9C0A0E-8BEE-339F-7000-542576418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BF8E48-DD9D-7913-A524-4ADED44C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9F049-B307-4428-9910-72357B435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18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F733-922F-8AED-DE2D-C0FD2773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63612B-316A-89A0-D26C-EE8E3C53B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5E1492-8DB6-3FC7-BF9F-8576BB24C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32CE11-5E88-C3F1-3E06-BE969EEB6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3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94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D42E-A0D0-21B3-0104-70F64D51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147F77-A444-F52B-B7B2-C5088905D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D950F-978F-CBBD-C8AD-38489A981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3F1F83-BE94-DF61-B98E-77EC11636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093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A3CE-030B-ED07-0F1B-6227F170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C9FA5D-C703-CACF-25CE-EA47BCAED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17A5E-5A8A-6EFA-BEA2-999AC5B2C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D772-5F2B-D876-238F-2E4C19E86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843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E92E-47D7-1331-E76A-773DE3D8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6264ED-369D-1C2B-3D43-F278D77E9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46EA2-42F4-89AD-7B73-AFF85AC99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88A56-C28E-A1CF-FE1F-74518E6E0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74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DD2C-3C79-4A03-DB1D-6DA4A4CAB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DDF241-7E4A-A585-CE12-820342919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9843C-210F-A3CD-F324-04AB7C59C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70829-203D-8E71-20CA-2EBF3509D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173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8B33-26F5-75E6-453F-E5A76D175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5CBBDE-6EAD-28D2-A489-BCD4AA2DF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832D42-C3B2-AA22-CA93-00D28666D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D24E4E-5533-0D26-1D96-349EDBAD9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86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DD46-1057-9FFC-A60D-168158B3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91CFF9-8C6F-F79C-5B3E-DB4F5642C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00892-74E5-1082-EE17-E0B7582D1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0E283B-FBCC-DCB2-7F7A-63A8BD054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12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9962-85BE-8F94-7F1E-6E1E5884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182408-1E83-FDD6-1131-AC5CAE445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0CD939-115E-58BD-FE62-4F6E1042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A945D-463E-A3F8-8DFD-42F555A53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39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B4F3-AFB1-AEA2-FEA8-4DD31411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589A7-6E4B-557F-3B4D-2C27EC283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524EC-CDD9-8754-0D82-7971753F7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DAF0D9-4AD3-47CC-9202-93AD1A5E9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407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AADC-C211-D7A1-73DA-FDF5B231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54766B-5BB5-A502-C725-4D287730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A558FC-3AB2-F817-676A-5F997E0C4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24F4FD-4D9D-7179-326F-E60EF719B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42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57FD-5529-497D-130E-3FC1690D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4D8778-AF07-C925-03AA-5097C6C9E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351ECB-7E53-DC63-88F3-376075731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C66ED-0FC8-0D37-2C6C-FCB3B8167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757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6583-2722-439F-F46E-8ED8FD5E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437B2A-4678-67BA-E7AE-AEB775B28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78DC6A-15BE-EF32-BAAC-EC378453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74019-690D-C897-89D6-A6D9AAF1D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86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74024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1237956" y="2600493"/>
            <a:ext cx="9716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데이터베이스 기초 이론 퀴즈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916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3F6F-096C-0F62-097B-7EEDA2CF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5FA38E3-4563-E38A-8EE4-86EA19A0FF4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0E9E81C-9010-D6DF-F5E2-D0DA53ED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데이터베이스</a:t>
            </a:r>
            <a:r>
              <a:rPr lang="en-US" altLang="ko-KR" dirty="0"/>
              <a:t>(Database)</a:t>
            </a:r>
            <a:r>
              <a:rPr lang="ko-KR" altLang="en-US" dirty="0"/>
              <a:t>와 데이터베이스 관리 시스템</a:t>
            </a:r>
            <a:r>
              <a:rPr lang="en-US" altLang="ko-KR" dirty="0"/>
              <a:t>(DBMS)</a:t>
            </a:r>
            <a:r>
              <a:rPr lang="ko-KR" altLang="en-US" dirty="0"/>
              <a:t>을 바르게 설명한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65A4-A735-0702-4960-E88688D483B3}"/>
              </a:ext>
            </a:extLst>
          </p:cNvPr>
          <p:cNvSpPr txBox="1"/>
          <p:nvPr/>
        </p:nvSpPr>
        <p:spPr>
          <a:xfrm>
            <a:off x="365759" y="2711270"/>
            <a:ext cx="11573691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데이터를 저장하는 하드웨어 장비이고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이를 관리하는 프로그램이다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데이터를 관리하는 소프트웨어이고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데이터의 집합이다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구조화된 데이터의 집합이며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이를 관리하는 소프트웨어이다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데이터베이스는 동일한 개념이다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264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1A81-51C0-19A2-635A-7369A74F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F6C3FAA-0AE5-E950-69CE-03EE68F6251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F0C3051-2416-7069-E1DD-243E419C0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데이터베이스</a:t>
            </a:r>
            <a:r>
              <a:rPr lang="en-US" altLang="ko-KR" dirty="0"/>
              <a:t>(Database)</a:t>
            </a:r>
            <a:r>
              <a:rPr lang="ko-KR" altLang="en-US" dirty="0"/>
              <a:t>와 데이터베이스 관리 시스템</a:t>
            </a:r>
            <a:r>
              <a:rPr lang="en-US" altLang="ko-KR" dirty="0"/>
              <a:t>(DBMS)</a:t>
            </a:r>
            <a:r>
              <a:rPr lang="ko-KR" altLang="en-US" dirty="0"/>
              <a:t>을 바르게 설명한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97CCE-D44F-AD9D-1553-240FBB9F716D}"/>
              </a:ext>
            </a:extLst>
          </p:cNvPr>
          <p:cNvSpPr txBox="1"/>
          <p:nvPr/>
        </p:nvSpPr>
        <p:spPr>
          <a:xfrm>
            <a:off x="365759" y="2711270"/>
            <a:ext cx="11573691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데이터를 저장하는 하드웨어 장비이고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이를 관리하는 프로그램이다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데이터를 관리하는 소프트웨어이고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데이터의 집합이다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데이터베이스는 구조화된 데이터의 집합이며</a:t>
            </a: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DBMS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이를 관리하는 소프트웨어이다</a:t>
            </a: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DBMS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데이터베이스는 동일한 개념이다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841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056F-209E-BDF3-6FF2-8717CF8A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D44AAA8-991A-85F2-DA4B-EDC429294ED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900E211-AAC1-B347-64D3-7DDA1DC8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</a:t>
            </a:r>
            <a:r>
              <a:rPr lang="en-US" altLang="ko-KR" dirty="0"/>
              <a:t>DBMS</a:t>
            </a:r>
            <a:r>
              <a:rPr lang="ko-KR" altLang="en-US" dirty="0"/>
              <a:t>를 사용하는 주요 이유로 보기 어려운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AA96E-D2F1-12EA-7413-C70FE7A963C6}"/>
              </a:ext>
            </a:extLst>
          </p:cNvPr>
          <p:cNvSpPr txBox="1"/>
          <p:nvPr/>
        </p:nvSpPr>
        <p:spPr>
          <a:xfrm>
            <a:off x="365759" y="2711270"/>
            <a:ext cx="11573691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체계적으로 저장하고 관리하기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무결성과 정합성을 유지하기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다양한 데이터를 그래픽으로 시각화하기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다수의 사용자 접근을 통제하기 위해</a:t>
            </a:r>
          </a:p>
        </p:txBody>
      </p:sp>
    </p:spTree>
    <p:extLst>
      <p:ext uri="{BB962C8B-B14F-4D97-AF65-F5344CB8AC3E}">
        <p14:creationId xmlns:p14="http://schemas.microsoft.com/office/powerpoint/2010/main" val="75587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97D3-D41F-85ED-4BC2-DFA96626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C502F45-C987-0425-3B1A-A3A09672E20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EAFAF7E-61C7-16BB-AE9D-B396BA1AD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</a:t>
            </a:r>
            <a:r>
              <a:rPr lang="en-US" altLang="ko-KR" dirty="0"/>
              <a:t>DBMS</a:t>
            </a:r>
            <a:r>
              <a:rPr lang="ko-KR" altLang="en-US" dirty="0"/>
              <a:t>를 사용하는 주요 이유로 보기 어려운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E775E-2C11-013E-B1C6-7A4A8437251F}"/>
              </a:ext>
            </a:extLst>
          </p:cNvPr>
          <p:cNvSpPr txBox="1"/>
          <p:nvPr/>
        </p:nvSpPr>
        <p:spPr>
          <a:xfrm>
            <a:off x="365759" y="2711270"/>
            <a:ext cx="11573691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체계적으로 저장하고 관리하기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무결성과 정합성을 유지하기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다양한 데이터를 그래픽으로 시각화하기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다수의 사용자 접근을 통제하기 위해</a:t>
            </a:r>
          </a:p>
        </p:txBody>
      </p:sp>
    </p:spTree>
    <p:extLst>
      <p:ext uri="{BB962C8B-B14F-4D97-AF65-F5344CB8AC3E}">
        <p14:creationId xmlns:p14="http://schemas.microsoft.com/office/powerpoint/2010/main" val="23592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0AA0C32-3EC1-4559-DE36-C9B90CAD093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80C4B6A-CB65-D27A-003E-C40EF93DA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데이터베이스에서 하나의 논리적 작업 단위를 </a:t>
            </a:r>
            <a:r>
              <a:rPr lang="en-US" altLang="ko-KR" dirty="0"/>
              <a:t>__________</a:t>
            </a:r>
            <a:r>
              <a:rPr lang="ko-KR" altLang="en-US" dirty="0"/>
              <a:t>이라고 하며</a:t>
            </a:r>
            <a:r>
              <a:rPr lang="en-US" altLang="ko-KR" dirty="0"/>
              <a:t>, </a:t>
            </a:r>
            <a:r>
              <a:rPr lang="ko-KR" altLang="en-US" dirty="0"/>
              <a:t>모두 성공하거나 모두 실패해야 한다</a:t>
            </a:r>
            <a:r>
              <a:rPr lang="en-US" altLang="ko-KR" dirty="0"/>
              <a:t>.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613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106CE-B6DC-E48E-94F4-5208F10E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9C3453C-12C2-3A3A-F969-14A9127809B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326353D-76C4-CAB7-925A-78EF37DFB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데이터베이스에서 하나의 논리적 작업 단위를 </a:t>
            </a:r>
            <a:r>
              <a:rPr lang="en-US" altLang="ko-KR" dirty="0"/>
              <a:t>__________</a:t>
            </a:r>
            <a:r>
              <a:rPr lang="ko-KR" altLang="en-US" dirty="0"/>
              <a:t>이라고 하며</a:t>
            </a:r>
            <a:r>
              <a:rPr lang="en-US" altLang="ko-KR" dirty="0"/>
              <a:t>, </a:t>
            </a:r>
            <a:r>
              <a:rPr lang="ko-KR" altLang="en-US" dirty="0"/>
              <a:t>모두 성공하거나 모두 실패해야 한다</a:t>
            </a:r>
            <a:r>
              <a:rPr lang="en-US" altLang="ko-KR" dirty="0"/>
              <a:t>.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EC6DB-90B8-FC0B-3DD1-3FB89794E434}"/>
              </a:ext>
            </a:extLst>
          </p:cNvPr>
          <p:cNvSpPr txBox="1"/>
          <p:nvPr/>
        </p:nvSpPr>
        <p:spPr>
          <a:xfrm>
            <a:off x="3030583" y="3231271"/>
            <a:ext cx="6113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정답</a:t>
            </a:r>
            <a:r>
              <a:rPr lang="en-US" altLang="ko-KR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:</a:t>
            </a:r>
            <a:r>
              <a:rPr lang="ko-KR" altLang="en-US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트랜잭션</a:t>
            </a:r>
            <a:r>
              <a:rPr lang="en-US" altLang="ko-KR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(</a:t>
            </a:r>
            <a:r>
              <a:rPr lang="ko-KR" altLang="en-US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또는 </a:t>
            </a:r>
            <a:r>
              <a:rPr lang="en-US" altLang="ko-KR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Transaction)</a:t>
            </a:r>
            <a:endParaRPr lang="ko-KR" altLang="en-US" sz="32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204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BE16-D7E2-D944-412C-6032C8D6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3906530-B70B-0C22-6E0B-972E37DED90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2E0A27-2533-B4F7-2891-761C2A70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</a:t>
            </a:r>
            <a:r>
              <a:rPr lang="en-US" altLang="ko-KR" dirty="0"/>
              <a:t>ACID </a:t>
            </a:r>
            <a:r>
              <a:rPr lang="ko-KR" altLang="en-US" dirty="0"/>
              <a:t>원칙이 필요한 </a:t>
            </a:r>
            <a:r>
              <a:rPr lang="ko-KR" altLang="en-US" b="1" dirty="0"/>
              <a:t>주된 목적</a:t>
            </a:r>
            <a:r>
              <a:rPr lang="ko-KR" altLang="en-US" dirty="0"/>
              <a:t>으로 가장 적절한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FC865-6C3B-D0B8-416D-D236E38309F5}"/>
              </a:ext>
            </a:extLst>
          </p:cNvPr>
          <p:cNvSpPr txBox="1"/>
          <p:nvPr/>
        </p:nvSpPr>
        <p:spPr>
          <a:xfrm>
            <a:off x="365759" y="2711270"/>
            <a:ext cx="8334103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데이터베이스의 사용자 인터페이스를 개선하기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빠르게 압축하고 전송하기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트랜잭션 중 데이터의 무결성과 안정성을 보장하기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SQL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명령어의 실행 속도를 높이기 위해</a:t>
            </a:r>
          </a:p>
        </p:txBody>
      </p:sp>
    </p:spTree>
    <p:extLst>
      <p:ext uri="{BB962C8B-B14F-4D97-AF65-F5344CB8AC3E}">
        <p14:creationId xmlns:p14="http://schemas.microsoft.com/office/powerpoint/2010/main" val="380708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5B82-A121-085E-68CA-E69DE41B3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A177D52-863B-2F0E-DF32-D3F66A79F0C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9E96E93-BCCB-4056-DE73-48A782598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</a:t>
            </a:r>
            <a:r>
              <a:rPr lang="en-US" altLang="ko-KR" dirty="0"/>
              <a:t>ACID </a:t>
            </a:r>
            <a:r>
              <a:rPr lang="ko-KR" altLang="en-US" dirty="0"/>
              <a:t>원칙이 필요한 </a:t>
            </a:r>
            <a:r>
              <a:rPr lang="ko-KR" altLang="en-US" b="1" dirty="0"/>
              <a:t>주된 목적</a:t>
            </a:r>
            <a:r>
              <a:rPr lang="ko-KR" altLang="en-US" dirty="0"/>
              <a:t>으로 가장 적절한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72F0F-40E3-0E5B-6456-DEB35404BEAE}"/>
              </a:ext>
            </a:extLst>
          </p:cNvPr>
          <p:cNvSpPr txBox="1"/>
          <p:nvPr/>
        </p:nvSpPr>
        <p:spPr>
          <a:xfrm>
            <a:off x="365759" y="2711270"/>
            <a:ext cx="8334103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데이터베이스의 사용자 인터페이스를 개선하기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빠르게 압축하고 전송하기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트랜잭션 중 데이터의 무결성과 안정성을 보장하기 위해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SQL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명령어의 실행 속도를 높이기 위해</a:t>
            </a:r>
          </a:p>
        </p:txBody>
      </p:sp>
    </p:spTree>
    <p:extLst>
      <p:ext uri="{BB962C8B-B14F-4D97-AF65-F5344CB8AC3E}">
        <p14:creationId xmlns:p14="http://schemas.microsoft.com/office/powerpoint/2010/main" val="3981937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A50F-60CF-2F9F-7861-1F70E797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5BE2FAA-3AF3-316D-2455-56041DCBA13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82F59E0-4D17-5AE8-4B1B-436D60405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트랜잭션의 원자성이 보장되지 않을 경우 발생할 수 있는 문제는 무엇인가요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8E598-1712-0CB4-8419-4992AD5E0EB2}"/>
              </a:ext>
            </a:extLst>
          </p:cNvPr>
          <p:cNvSpPr txBox="1"/>
          <p:nvPr/>
        </p:nvSpPr>
        <p:spPr>
          <a:xfrm>
            <a:off x="365760" y="2711270"/>
            <a:ext cx="6113416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중복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 공간 부족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손실 및 불일치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네트워크 트래픽 증가</a:t>
            </a:r>
          </a:p>
        </p:txBody>
      </p:sp>
    </p:spTree>
    <p:extLst>
      <p:ext uri="{BB962C8B-B14F-4D97-AF65-F5344CB8AC3E}">
        <p14:creationId xmlns:p14="http://schemas.microsoft.com/office/powerpoint/2010/main" val="2210338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E97F-4D50-B3EC-4D3B-857127DE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72F90F8-14A6-CD72-B693-65F7C21F745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3E041C1-0007-FEBA-E932-E39D90A5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트랜잭션의 원자성이 보장되지 않을 경우 발생할 수 있는 문제는 무엇인가요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CEC37-F02C-A1EC-F333-3CCD3869E882}"/>
              </a:ext>
            </a:extLst>
          </p:cNvPr>
          <p:cNvSpPr txBox="1"/>
          <p:nvPr/>
        </p:nvSpPr>
        <p:spPr>
          <a:xfrm>
            <a:off x="365760" y="2711270"/>
            <a:ext cx="6113416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중복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 공간 부족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손실 및 불일치</a:t>
            </a:r>
            <a:b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네트워크 트래픽 증가</a:t>
            </a:r>
          </a:p>
        </p:txBody>
      </p:sp>
    </p:spTree>
    <p:extLst>
      <p:ext uri="{BB962C8B-B14F-4D97-AF65-F5344CB8AC3E}">
        <p14:creationId xmlns:p14="http://schemas.microsoft.com/office/powerpoint/2010/main" val="18245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587B-DAE7-AC0D-574A-59C6A3D8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B91D058-C75E-44B0-4531-42D3257236D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32F9777-29BB-8509-12BF-F79BF272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관계형 데이터베이스에서 데이터는 </a:t>
            </a:r>
            <a:r>
              <a:rPr lang="en-US" altLang="ko-KR" dirty="0"/>
              <a:t>_______ </a:t>
            </a:r>
            <a:r>
              <a:rPr lang="ko-KR" altLang="en-US" dirty="0"/>
              <a:t>구조로 저장되며</a:t>
            </a:r>
            <a:r>
              <a:rPr lang="en-US" altLang="ko-KR" dirty="0"/>
              <a:t>, </a:t>
            </a:r>
            <a:r>
              <a:rPr lang="ko-KR" altLang="en-US" dirty="0"/>
              <a:t>행</a:t>
            </a:r>
            <a:r>
              <a:rPr lang="en-US" altLang="ko-KR" dirty="0"/>
              <a:t>(Row)</a:t>
            </a:r>
            <a:r>
              <a:rPr lang="ko-KR" altLang="en-US" dirty="0"/>
              <a:t>과 열</a:t>
            </a:r>
            <a:r>
              <a:rPr lang="en-US" altLang="ko-KR" dirty="0"/>
              <a:t>(Column)</a:t>
            </a:r>
            <a:r>
              <a:rPr lang="ko-KR" altLang="en-US" dirty="0"/>
              <a:t>로 구성된다</a:t>
            </a:r>
            <a:r>
              <a:rPr lang="en-US" altLang="ko-KR" dirty="0"/>
              <a:t>.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63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8E235-4045-3AF7-4489-432F25C9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9C34A49-40FA-20F8-7939-2867B2EF869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6.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003C98C-F972-4647-B0FD-B77960F1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관계형 데이터베이스에서 데이터는 </a:t>
            </a:r>
            <a:r>
              <a:rPr lang="en-US" altLang="ko-KR" dirty="0"/>
              <a:t>_______ </a:t>
            </a:r>
            <a:r>
              <a:rPr lang="ko-KR" altLang="en-US" dirty="0"/>
              <a:t>구조로 저장되며</a:t>
            </a:r>
            <a:r>
              <a:rPr lang="en-US" altLang="ko-KR" dirty="0"/>
              <a:t>, </a:t>
            </a:r>
            <a:r>
              <a:rPr lang="ko-KR" altLang="en-US" dirty="0"/>
              <a:t>행</a:t>
            </a:r>
            <a:r>
              <a:rPr lang="en-US" altLang="ko-KR" dirty="0"/>
              <a:t>(Row)</a:t>
            </a:r>
            <a:r>
              <a:rPr lang="ko-KR" altLang="en-US" dirty="0"/>
              <a:t>과 열</a:t>
            </a:r>
            <a:r>
              <a:rPr lang="en-US" altLang="ko-KR" dirty="0"/>
              <a:t>(Column)</a:t>
            </a:r>
            <a:r>
              <a:rPr lang="ko-KR" altLang="en-US" dirty="0"/>
              <a:t>로 구성된다</a:t>
            </a:r>
            <a:r>
              <a:rPr lang="en-US" altLang="ko-KR" dirty="0"/>
              <a:t>.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BF2D1-5411-4A53-EF52-F1FDD170C4D6}"/>
              </a:ext>
            </a:extLst>
          </p:cNvPr>
          <p:cNvSpPr txBox="1"/>
          <p:nvPr/>
        </p:nvSpPr>
        <p:spPr>
          <a:xfrm>
            <a:off x="3030583" y="3231271"/>
            <a:ext cx="6113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정답</a:t>
            </a:r>
            <a:r>
              <a:rPr lang="en-US" altLang="ko-KR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:</a:t>
            </a:r>
            <a:r>
              <a:rPr lang="ko-KR" altLang="en-US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테이블</a:t>
            </a:r>
          </a:p>
        </p:txBody>
      </p:sp>
    </p:spTree>
    <p:extLst>
      <p:ext uri="{BB962C8B-B14F-4D97-AF65-F5344CB8AC3E}">
        <p14:creationId xmlns:p14="http://schemas.microsoft.com/office/powerpoint/2010/main" val="17299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F7242-CCDE-AACC-BE81-02BF103F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09A5E1B-8C5D-CF3A-B400-9F35F02D390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E164BAA-0AA9-D834-0CFE-C1A62236E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데이터베이스 테이블에서 하나의 행</a:t>
            </a:r>
            <a:r>
              <a:rPr lang="en-US" altLang="ko-KR" dirty="0"/>
              <a:t>(Row)</a:t>
            </a:r>
            <a:r>
              <a:rPr lang="ko-KR" altLang="en-US" dirty="0"/>
              <a:t>에 해당하며</a:t>
            </a:r>
            <a:r>
              <a:rPr lang="en-US" altLang="ko-KR" dirty="0"/>
              <a:t>, </a:t>
            </a:r>
            <a:r>
              <a:rPr lang="ko-KR" altLang="en-US" dirty="0"/>
              <a:t>하나의 레코드를 구성하는 데이터 집합을 가리키는 용어는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504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B012-FD15-9090-E62D-B2683714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52031D-82AD-B99D-1F40-61BC6B37167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7.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170821F-EF6C-7FC9-1AC9-579710BF9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데이터베이스 테이블에서 하나의 행</a:t>
            </a:r>
            <a:r>
              <a:rPr lang="en-US" altLang="ko-KR" dirty="0"/>
              <a:t>(Row)</a:t>
            </a:r>
            <a:r>
              <a:rPr lang="ko-KR" altLang="en-US" dirty="0"/>
              <a:t>에 해당하며</a:t>
            </a:r>
            <a:r>
              <a:rPr lang="en-US" altLang="ko-KR" dirty="0"/>
              <a:t>, </a:t>
            </a:r>
            <a:r>
              <a:rPr lang="ko-KR" altLang="en-US" dirty="0"/>
              <a:t>하나의 레코드를 구성하는 데이터 집합을 가리키는 용어는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9C846-18A9-D599-9B22-F11AD5B96DBE}"/>
              </a:ext>
            </a:extLst>
          </p:cNvPr>
          <p:cNvSpPr txBox="1"/>
          <p:nvPr/>
        </p:nvSpPr>
        <p:spPr>
          <a:xfrm>
            <a:off x="3030583" y="3231271"/>
            <a:ext cx="6113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정답</a:t>
            </a:r>
            <a:r>
              <a:rPr lang="en-US" altLang="ko-KR" sz="32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:</a:t>
            </a:r>
            <a:r>
              <a:rPr lang="ko-KR" altLang="en-US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en-US" sz="32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튜플</a:t>
            </a:r>
            <a:r>
              <a:rPr lang="en-US" altLang="ko-KR" sz="32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(Tuple)</a:t>
            </a:r>
            <a:endParaRPr lang="ko-KR" altLang="en-US" sz="32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51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EA74-BB7B-BB0D-095D-ED0D6C38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1196D92-8C5C-C7E8-39C5-F1FA680EDEA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8.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94E8EB9-42A5-47F5-79A5-70388D2DD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관계형 데이터베이스에서 외래 키</a:t>
            </a:r>
            <a:r>
              <a:rPr lang="en-US" altLang="ko-KR" dirty="0"/>
              <a:t>(Foreign Key)</a:t>
            </a:r>
            <a:r>
              <a:rPr lang="ko-KR" altLang="en-US" dirty="0"/>
              <a:t>에 대한 설명으로 옳은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31065-45ED-18DB-2FBF-9708F2E95BF7}"/>
              </a:ext>
            </a:extLst>
          </p:cNvPr>
          <p:cNvSpPr txBox="1"/>
          <p:nvPr/>
        </p:nvSpPr>
        <p:spPr>
          <a:xfrm>
            <a:off x="365760" y="2711270"/>
            <a:ext cx="6113416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유일한 값을 가지며 기본 키 역할을 한다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테이블의 기본 키를 참조하는 속성이다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가져야 한다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 간 관계 없이 독립적으로 존재한다</a:t>
            </a:r>
          </a:p>
        </p:txBody>
      </p:sp>
    </p:spTree>
    <p:extLst>
      <p:ext uri="{BB962C8B-B14F-4D97-AF65-F5344CB8AC3E}">
        <p14:creationId xmlns:p14="http://schemas.microsoft.com/office/powerpoint/2010/main" val="347562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4BAC-C0E8-291E-FA65-F2A72B9D9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23DE898-7C89-2B34-468F-D32CA608151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8. 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5ED6AF5-96E3-B946-5E86-29D5347A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3487"/>
            <a:ext cx="10845800" cy="15107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다음 중 관계형 데이터베이스에서 외래 키</a:t>
            </a:r>
            <a:r>
              <a:rPr lang="en-US" altLang="ko-KR" dirty="0"/>
              <a:t>(Foreign Key)</a:t>
            </a:r>
            <a:r>
              <a:rPr lang="ko-KR" altLang="en-US" dirty="0"/>
              <a:t>에 대한 설명으로 옳은 것은</a:t>
            </a:r>
            <a:r>
              <a:rPr lang="en-US" altLang="ko-KR" dirty="0"/>
              <a:t>?</a:t>
            </a:r>
            <a:endParaRPr lang="en-US" altLang="ko-KR" sz="2400" dirty="0">
              <a:latin typeface="Pretendard SemiBold" pitchFamily="2" charset="-127"/>
              <a:ea typeface="Pretendard SemiBold" pitchFamily="2" charset="-127"/>
              <a:cs typeface="Pretendard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B5FB3-77FD-1197-C032-F15416D6CAF7}"/>
              </a:ext>
            </a:extLst>
          </p:cNvPr>
          <p:cNvSpPr txBox="1"/>
          <p:nvPr/>
        </p:nvSpPr>
        <p:spPr>
          <a:xfrm>
            <a:off x="365760" y="2711270"/>
            <a:ext cx="6113416" cy="2244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유일한 값을 가지며 기본 키 역할을 한다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B.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테이블의 기본 키를 참조하는 속성이다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Null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가져야 한다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 간 관계 없이 독립적으로 존재한다</a:t>
            </a:r>
          </a:p>
        </p:txBody>
      </p:sp>
    </p:spTree>
    <p:extLst>
      <p:ext uri="{BB962C8B-B14F-4D97-AF65-F5344CB8AC3E}">
        <p14:creationId xmlns:p14="http://schemas.microsoft.com/office/powerpoint/2010/main" val="246185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5127167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4778</TotalTime>
  <Words>652</Words>
  <Application>Microsoft Office PowerPoint</Application>
  <PresentationFormat>와이드스크린</PresentationFormat>
  <Paragraphs>90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G마켓 산스 TTF Bold</vt:lpstr>
      <vt:lpstr>Pretendard Black</vt:lpstr>
      <vt:lpstr>Pretendard Light</vt:lpstr>
      <vt:lpstr>Pretendard Medium</vt:lpstr>
      <vt:lpstr>Pretendard SemiBold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630</cp:revision>
  <dcterms:created xsi:type="dcterms:W3CDTF">2023-01-30T00:45:54Z</dcterms:created>
  <dcterms:modified xsi:type="dcterms:W3CDTF">2025-10-17T03:57:01Z</dcterms:modified>
</cp:coreProperties>
</file>