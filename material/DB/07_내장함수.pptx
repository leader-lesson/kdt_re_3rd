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1009" r:id="rId2"/>
    <p:sldId id="257" r:id="rId3"/>
    <p:sldId id="992" r:id="rId4"/>
    <p:sldId id="446" r:id="rId5"/>
    <p:sldId id="979" r:id="rId6"/>
    <p:sldId id="993" r:id="rId7"/>
    <p:sldId id="994" r:id="rId8"/>
    <p:sldId id="995" r:id="rId9"/>
    <p:sldId id="998" r:id="rId10"/>
    <p:sldId id="996" r:id="rId11"/>
    <p:sldId id="997" r:id="rId12"/>
    <p:sldId id="999" r:id="rId13"/>
    <p:sldId id="1000" r:id="rId14"/>
    <p:sldId id="1004" r:id="rId15"/>
    <p:sldId id="1001" r:id="rId16"/>
    <p:sldId id="1002" r:id="rId17"/>
    <p:sldId id="1003" r:id="rId18"/>
    <p:sldId id="1005" r:id="rId19"/>
    <p:sldId id="1006" r:id="rId20"/>
    <p:sldId id="1007" r:id="rId21"/>
    <p:sldId id="1008" r:id="rId22"/>
    <p:sldId id="813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66FF99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5" autoAdjust="0"/>
    <p:restoredTop sz="96230" autoAdjust="0"/>
  </p:normalViewPr>
  <p:slideViewPr>
    <p:cSldViewPr snapToGrid="0">
      <p:cViewPr varScale="1">
        <p:scale>
          <a:sx n="77" d="100"/>
          <a:sy n="77" d="100"/>
        </p:scale>
        <p:origin x="67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606B-E949-6942-3DF5-10F03330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99CD33-5546-5730-1C37-7A40BAAF2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0B0A0D-F403-FCDF-9E6F-29CE076FF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3EE06D-9B59-F512-175B-4D3886E5B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955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310C0-55FD-89C9-A820-898DFCA84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0E5883-9E80-DADA-FCC4-F0177AB2A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AC1C74-6072-B367-AB70-15C205896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33413-5351-14B7-2F7D-287B13B1B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559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62FF8-BDA3-56BA-79CC-1CB20D88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9FC3C7-955B-B622-FB1D-DB2F19DD7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741D6-6A5D-B68B-4086-D12A96EF2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655DF-A5AC-45E6-85E7-B4A7B525A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129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76A4B-96ED-BA3C-CCE4-FFE085BB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7D5DF-1EE8-C73D-3407-86236C8BC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83B570-A425-015F-2528-3F02BB1C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EF446-2838-894E-0A5E-C0F605D64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368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D495-9D86-1E2D-906A-5827FAE4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DBB40-7D08-9D2F-9E09-43134FECE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77DE7C-0AA6-A0AD-32AC-4ED915999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FD339-51ED-B916-C037-8F74CF28D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173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6B57-5D4B-C33C-6708-F6570BBF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F86F3-E6EE-F865-8503-C8CA1D6D8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6CAAC9-A15B-E8EB-9D39-151BC5E19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E1C72A-F408-A56E-FE60-F16723166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11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FF58-5E76-1CC4-0D06-A5C90047E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085AE-D543-78D0-AD6C-808D05D97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CF388-7193-29C5-14C2-DA6BA81B8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A529AB-01FA-F7A4-033C-8F0B72B3E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821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BB24-DCCA-BA82-BAB4-8CB061E4C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0A7EDE-8D2A-A622-A175-22CE866FD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E2928-6FB2-B411-4A37-23E3447FB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91EC7-9A67-8BD2-20C9-16EFA2FA0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495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718E-EB61-761E-599B-4815C0E8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63C1D2-8D4D-F394-A488-E39F078EA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29862D-A6DF-6271-E99C-E856843A4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F1610-B59B-D749-747C-59FEBF29F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787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E4CD-32BF-5D8D-6A10-4E829727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F4A3A6-1B0D-726B-5696-DAA896D31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731A00-029C-89D2-2130-315393EF0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C10EC-9586-7A4F-BE1F-7741F8879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948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1DFA8-E924-2F68-360E-DC23894A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4DCFAB-EDF7-751D-B3D9-7D7912D4B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B56AFA-9E6B-4CFF-3062-83EA19131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59F65B-31B3-DB8C-4D06-7D3208098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22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7EBD-D506-93A0-E181-98016618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01865F-495C-082F-B577-92F98C8BC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B88E02-50F5-80BD-06FD-CE896082D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97FA8F-0075-C560-5995-F8C957EA5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501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B4285-CD27-ED1D-59C3-DDB37ACA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506843-4FFE-234B-F0EC-7AACBC3E8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C08EF2-D3CA-0447-43BB-75E8D7FCB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3C453-FCFF-D50B-DB3E-5799B14D1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872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7DAC-B739-AC1A-6720-1E11C458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25382-9D7D-6D0D-4B82-0A23E86DC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737259-75AD-2B3B-FC75-BBB0C6B5F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C3AE4F-3F0D-87EE-009B-6DC2071F3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14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B737-E1F5-96B4-EB9E-DE921012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9308A8-02B9-D6E9-2153-81DD58150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176C55-88A4-F42C-3C6E-24F5FF4E4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41AB96-79CD-4DFF-CCA3-56D79B381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212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4C07-1849-EDB3-CE8F-2F781461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B29821-36D7-B6B6-3A71-AF460EEC2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57B3-8B0C-DFB3-A093-023EE1012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24117-3062-0525-D5F3-D7A4E488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04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5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674024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657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040805" y="2600493"/>
            <a:ext cx="41104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7.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내장함수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8B96-1BF3-E642-1A1B-D39E7181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ABAB87-AB54-66FC-91C7-58D557756F60}"/>
              </a:ext>
            </a:extLst>
          </p:cNvPr>
          <p:cNvSpPr txBox="1"/>
          <p:nvPr/>
        </p:nvSpPr>
        <p:spPr>
          <a:xfrm>
            <a:off x="4522509" y="2600493"/>
            <a:ext cx="3147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내장함수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784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533478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en-US" altLang="ko-KR" sz="2400" b="1" dirty="0"/>
              <a:t>MySQL</a:t>
            </a:r>
            <a:r>
              <a:rPr lang="ko-KR" altLang="en-US" sz="2400" b="1" dirty="0"/>
              <a:t>에서 기본적으로 제공하는 함수</a:t>
            </a:r>
            <a:r>
              <a:rPr lang="ko-KR" altLang="en-US" sz="2400" dirty="0"/>
              <a:t>로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데이터를 처리하고 변형할 수 있게 해주는 도구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프로그래밍의 함수처럼 입력을 받아 출력을 반환하며</a:t>
            </a:r>
            <a:r>
              <a:rPr lang="en-US" altLang="ko-KR" sz="2400" dirty="0"/>
              <a:t>, </a:t>
            </a:r>
            <a:r>
              <a:rPr lang="ko-KR" altLang="en-US" sz="2400" dirty="0"/>
              <a:t>복잡한 로직을 단순화할 수 있음</a:t>
            </a:r>
            <a:endParaRPr lang="en-US" altLang="ko-KR" sz="2400" dirty="0"/>
          </a:p>
          <a:p>
            <a:pPr>
              <a:lnSpc>
                <a:spcPct val="150000"/>
              </a:lnSpc>
              <a:buNone/>
            </a:pPr>
            <a:r>
              <a:rPr lang="ko-KR" altLang="en-US" sz="2400" b="1" dirty="0"/>
              <a:t>✅ 함수 분류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문자열 함수</a:t>
            </a:r>
            <a:r>
              <a:rPr lang="en-US" altLang="ko-KR" sz="2000" dirty="0"/>
              <a:t>: </a:t>
            </a:r>
            <a:r>
              <a:rPr lang="ko-KR" altLang="en-US" sz="2000" dirty="0"/>
              <a:t>텍스트 가공 및 처리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수학 함수</a:t>
            </a:r>
            <a:r>
              <a:rPr lang="en-US" altLang="ko-KR" sz="2000" dirty="0"/>
              <a:t>: </a:t>
            </a:r>
            <a:r>
              <a:rPr lang="ko-KR" altLang="en-US" sz="2000" dirty="0"/>
              <a:t>수치 연산 및 반올림 등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날짜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시간 함수</a:t>
            </a:r>
            <a:r>
              <a:rPr lang="en-US" altLang="ko-KR" sz="2000" dirty="0"/>
              <a:t>: </a:t>
            </a:r>
            <a:r>
              <a:rPr lang="ko-KR" altLang="en-US" sz="2000" dirty="0"/>
              <a:t>시간 및 날짜 처리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조건 함수</a:t>
            </a:r>
            <a:r>
              <a:rPr lang="en-US" altLang="ko-KR" sz="2000" dirty="0"/>
              <a:t>: </a:t>
            </a:r>
            <a:r>
              <a:rPr lang="ko-KR" altLang="en-US" sz="2000" dirty="0"/>
              <a:t>조건에 따라 결과 반환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집계 함수</a:t>
            </a:r>
            <a:r>
              <a:rPr lang="en-US" altLang="ko-KR" sz="2000" dirty="0"/>
              <a:t>: </a:t>
            </a:r>
            <a:r>
              <a:rPr lang="ko-KR" altLang="en-US" sz="2000" dirty="0"/>
              <a:t>그룹별 계산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COUNT, AVG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형 변환 함수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자료형</a:t>
            </a:r>
            <a:r>
              <a:rPr lang="ko-KR" altLang="en-US" sz="2000" dirty="0"/>
              <a:t> 변환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291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함수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25DE859-694F-53D7-FD0B-499E6BECF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041395"/>
              </p:ext>
            </p:extLst>
          </p:nvPr>
        </p:nvGraphicFramePr>
        <p:xfrm>
          <a:off x="427566" y="1601314"/>
          <a:ext cx="11336867" cy="4486540"/>
        </p:xfrm>
        <a:graphic>
          <a:graphicData uri="http://schemas.openxmlformats.org/drawingml/2006/table">
            <a:tbl>
              <a:tblPr/>
              <a:tblGrid>
                <a:gridCol w="2226733">
                  <a:extLst>
                    <a:ext uri="{9D8B030D-6E8A-4147-A177-3AD203B41FA5}">
                      <a16:colId xmlns:a16="http://schemas.microsoft.com/office/drawing/2014/main" val="368973725"/>
                    </a:ext>
                  </a:extLst>
                </a:gridCol>
                <a:gridCol w="3252753">
                  <a:extLst>
                    <a:ext uri="{9D8B030D-6E8A-4147-A177-3AD203B41FA5}">
                      <a16:colId xmlns:a16="http://schemas.microsoft.com/office/drawing/2014/main" val="2873254086"/>
                    </a:ext>
                  </a:extLst>
                </a:gridCol>
                <a:gridCol w="5857381">
                  <a:extLst>
                    <a:ext uri="{9D8B030D-6E8A-4147-A177-3AD203B41FA5}">
                      <a16:colId xmlns:a16="http://schemas.microsoft.com/office/drawing/2014/main" val="3417497637"/>
                    </a:ext>
                  </a:extLst>
                </a:gridCol>
              </a:tblGrid>
              <a:tr h="44865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117881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CONCAT()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문자열을 연결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CONCAT('A', 'B') → 'AB'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280252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CONCAT_WS()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구분자를 넣고 연결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CONCAT_WS('-', '2025', '03', '25') → '2025-03-25'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56584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SUBSTRING()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지정한 위치의 부분 문자열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SUBSTRING('MySQL', 2, 3) → '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ySQ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538552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LEFT()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왼쪽에서 몇 글자 추출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LEFT('abcdef', 3) → 'abc'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747017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RIGHT()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오른쪽에서 몇 글자 추출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RIGHT('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abcdef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', 2) → '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ef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270570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LOWER()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소문자로 변환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LOWER('HELLO') → 'hello'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213222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UPPER()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대문자로 변환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UPPER('hello') → 'HELLO'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373074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TRIM()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양쪽 공백 제거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TRIM(' hello ') → 'hello'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300859"/>
                  </a:ext>
                </a:extLst>
              </a:tr>
              <a:tr h="448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REPLACE()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문자열 치환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REPLACE('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abcabc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', 'a', 'z') → '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zbczbc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5058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16CF599-6A97-2A41-D7F2-0D1CAE87BEF2}"/>
              </a:ext>
            </a:extLst>
          </p:cNvPr>
          <p:cNvSpPr txBox="1"/>
          <p:nvPr/>
        </p:nvSpPr>
        <p:spPr>
          <a:xfrm>
            <a:off x="251788" y="955751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주요 문자열 함수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41230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DAA-499F-62A9-C891-EF49146E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B12C61-8A3C-9ADF-5778-D413B55417CD}"/>
              </a:ext>
            </a:extLst>
          </p:cNvPr>
          <p:cNvSpPr txBox="1"/>
          <p:nvPr/>
        </p:nvSpPr>
        <p:spPr>
          <a:xfrm>
            <a:off x="251788" y="990432"/>
            <a:ext cx="7779694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sz="2400" dirty="0" err="1">
                <a:latin typeface="+mn-ea"/>
                <a:cs typeface="Pretendard Medium" panose="02000603000000020004" pitchFamily="2" charset="-127"/>
              </a:rPr>
              <a:t>function</a:t>
            </a:r>
            <a:r>
              <a:rPr lang="en-US" altLang="ko-KR" sz="2400" dirty="0" err="1"/>
              <a:t>_db</a:t>
            </a:r>
            <a:r>
              <a:rPr lang="ko-KR" altLang="en-US" sz="2400" dirty="0"/>
              <a:t>를 사용해서 제시된 실습 문제를 해결해보세요</a:t>
            </a:r>
            <a:r>
              <a:rPr lang="en-US" altLang="ko-KR" sz="24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E6E0DAF-9A5D-B8D2-A147-796AFAC80A3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문자열 함수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1E1E4-BC86-9C91-6A14-CD3B6DB4F018}"/>
              </a:ext>
            </a:extLst>
          </p:cNvPr>
          <p:cNvSpPr txBox="1"/>
          <p:nvPr/>
        </p:nvSpPr>
        <p:spPr>
          <a:xfrm>
            <a:off x="482110" y="1678636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1. 사용자 이름과 이메일을 결합하여 "홍길동(</a:t>
            </a:r>
            <a:r>
              <a:rPr lang="ko-KR" altLang="en-US" sz="2000" dirty="0" err="1"/>
              <a:t>hong@example.com</a:t>
            </a:r>
            <a:r>
              <a:rPr lang="ko-KR" altLang="en-US" sz="2000" dirty="0"/>
              <a:t>)" 형식으로 </a:t>
            </a:r>
            <a:r>
              <a:rPr lang="ko-KR" altLang="en-US" sz="2000" dirty="0" err="1"/>
              <a:t>출력하시오</a:t>
            </a:r>
            <a:r>
              <a:rPr lang="ko-KR" altLang="en-US" sz="20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formatted_contact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C9F0C62-482C-C19B-BFA5-A32D123AC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372946"/>
              </p:ext>
            </p:extLst>
          </p:nvPr>
        </p:nvGraphicFramePr>
        <p:xfrm>
          <a:off x="981075" y="2747842"/>
          <a:ext cx="10229850" cy="795074"/>
        </p:xfrm>
        <a:graphic>
          <a:graphicData uri="http://schemas.openxmlformats.org/drawingml/2006/table">
            <a:tbl>
              <a:tblPr/>
              <a:tblGrid>
                <a:gridCol w="1332879">
                  <a:extLst>
                    <a:ext uri="{9D8B030D-6E8A-4147-A177-3AD203B41FA5}">
                      <a16:colId xmlns:a16="http://schemas.microsoft.com/office/drawing/2014/main" val="3075638664"/>
                    </a:ext>
                  </a:extLst>
                </a:gridCol>
                <a:gridCol w="3732063">
                  <a:extLst>
                    <a:ext uri="{9D8B030D-6E8A-4147-A177-3AD203B41FA5}">
                      <a16:colId xmlns:a16="http://schemas.microsoft.com/office/drawing/2014/main" val="3085183667"/>
                    </a:ext>
                  </a:extLst>
                </a:gridCol>
                <a:gridCol w="5164908">
                  <a:extLst>
                    <a:ext uri="{9D8B030D-6E8A-4147-A177-3AD203B41FA5}">
                      <a16:colId xmlns:a16="http://schemas.microsoft.com/office/drawing/2014/main" val="3635900670"/>
                    </a:ext>
                  </a:extLst>
                </a:gridCol>
              </a:tblGrid>
              <a:tr h="3975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formatted_contact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281599"/>
                  </a:ext>
                </a:extLst>
              </a:tr>
              <a:tr h="3975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hong@example.com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hong@example.com)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5318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A91FBD-EB54-1279-C43A-4D7C213B2CE2}"/>
              </a:ext>
            </a:extLst>
          </p:cNvPr>
          <p:cNvSpPr txBox="1"/>
          <p:nvPr/>
        </p:nvSpPr>
        <p:spPr>
          <a:xfrm>
            <a:off x="482110" y="3998071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2</a:t>
            </a:r>
            <a:r>
              <a:rPr lang="ko-KR" altLang="en-US" sz="2000" dirty="0"/>
              <a:t>. 이메일 주소에서 도메인</a:t>
            </a:r>
            <a:r>
              <a:rPr lang="en-US" altLang="ko-KR" sz="2000" dirty="0"/>
              <a:t>(@ </a:t>
            </a:r>
            <a:r>
              <a:rPr lang="ko-KR" altLang="en-US" sz="2000" dirty="0"/>
              <a:t>뒤 문자열</a:t>
            </a:r>
            <a:r>
              <a:rPr lang="en-US" altLang="ko-KR" sz="2000" dirty="0"/>
              <a:t>)</a:t>
            </a:r>
            <a:r>
              <a:rPr lang="ko-KR" altLang="en-US" sz="2000" dirty="0"/>
              <a:t>만 추출하여 </a:t>
            </a:r>
            <a:r>
              <a:rPr lang="en-US" altLang="ko-KR" sz="2000" dirty="0" err="1"/>
              <a:t>email_domain</a:t>
            </a:r>
            <a:r>
              <a:rPr lang="en-US" altLang="ko-KR" sz="2000" dirty="0"/>
              <a:t> </a:t>
            </a:r>
            <a:r>
              <a:rPr lang="ko-KR" altLang="en-US" sz="2000" dirty="0"/>
              <a:t>컬럼으로 </a:t>
            </a:r>
            <a:r>
              <a:rPr lang="ko-KR" altLang="en-US" sz="2000" dirty="0" err="1"/>
              <a:t>출력하시오</a:t>
            </a:r>
            <a:r>
              <a:rPr lang="ko-KR" altLang="en-US" sz="20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email_domain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FC769C-E85A-87F6-BAF3-ADE8FB7BA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76710"/>
              </p:ext>
            </p:extLst>
          </p:nvPr>
        </p:nvGraphicFramePr>
        <p:xfrm>
          <a:off x="981075" y="5010488"/>
          <a:ext cx="10229850" cy="780712"/>
        </p:xfrm>
        <a:graphic>
          <a:graphicData uri="http://schemas.openxmlformats.org/drawingml/2006/table">
            <a:tbl>
              <a:tblPr/>
              <a:tblGrid>
                <a:gridCol w="5123392">
                  <a:extLst>
                    <a:ext uri="{9D8B030D-6E8A-4147-A177-3AD203B41FA5}">
                      <a16:colId xmlns:a16="http://schemas.microsoft.com/office/drawing/2014/main" val="2061493121"/>
                    </a:ext>
                  </a:extLst>
                </a:gridCol>
                <a:gridCol w="5106458">
                  <a:extLst>
                    <a:ext uri="{9D8B030D-6E8A-4147-A177-3AD203B41FA5}">
                      <a16:colId xmlns:a16="http://schemas.microsoft.com/office/drawing/2014/main" val="100655090"/>
                    </a:ext>
                  </a:extLst>
                </a:gridCol>
              </a:tblGrid>
              <a:tr h="3903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email_domain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559671"/>
                  </a:ext>
                </a:extLst>
              </a:tr>
              <a:tr h="3903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hong@example.com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example.com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129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4E8B-C7BD-7DA3-9BD3-9A9BB4D1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D926C-9420-1D48-9748-EAA36DE3AC6D}"/>
              </a:ext>
            </a:extLst>
          </p:cNvPr>
          <p:cNvSpPr txBox="1"/>
          <p:nvPr/>
        </p:nvSpPr>
        <p:spPr>
          <a:xfrm>
            <a:off x="251788" y="990432"/>
            <a:ext cx="7930376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 function </a:t>
            </a:r>
            <a:r>
              <a:rPr lang="en-US" altLang="ko-KR" sz="2400" dirty="0"/>
              <a:t>_</a:t>
            </a:r>
            <a:r>
              <a:rPr lang="en-US" altLang="ko-KR" sz="2400" dirty="0" err="1"/>
              <a:t>db</a:t>
            </a:r>
            <a:r>
              <a:rPr lang="ko-KR" altLang="en-US" sz="2400" dirty="0"/>
              <a:t>를 사용해서 제시된 실습 문제를 해결해보세요</a:t>
            </a:r>
            <a:r>
              <a:rPr lang="en-US" altLang="ko-KR" sz="24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9CFBA37-28F0-7D70-4DEE-8D06A8DAA71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문자열 함수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341EA-54C7-D6C9-D7F1-564BC37BEED1}"/>
              </a:ext>
            </a:extLst>
          </p:cNvPr>
          <p:cNvSpPr txBox="1"/>
          <p:nvPr/>
        </p:nvSpPr>
        <p:spPr>
          <a:xfrm>
            <a:off x="482110" y="1678636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3</a:t>
            </a:r>
            <a:r>
              <a:rPr lang="ko-KR" altLang="en-US" sz="2000" dirty="0"/>
              <a:t>. 상품명에서 마지막 단어</a:t>
            </a:r>
            <a:r>
              <a:rPr lang="en-US" altLang="ko-KR" sz="2000" dirty="0"/>
              <a:t>(</a:t>
            </a:r>
            <a:r>
              <a:rPr lang="ko-KR" altLang="en-US" sz="2000" dirty="0"/>
              <a:t>공백 기준</a:t>
            </a:r>
            <a:r>
              <a:rPr lang="en-US" altLang="ko-KR" sz="2000" dirty="0"/>
              <a:t>)</a:t>
            </a:r>
            <a:r>
              <a:rPr lang="ko-KR" altLang="en-US" sz="2000" dirty="0"/>
              <a:t>를 추출하여 </a:t>
            </a:r>
            <a:r>
              <a:rPr lang="en-US" altLang="ko-KR" sz="2000" dirty="0" err="1"/>
              <a:t>category_keyword</a:t>
            </a:r>
            <a:r>
              <a:rPr lang="en-US" altLang="ko-KR" sz="2000" dirty="0"/>
              <a:t> </a:t>
            </a:r>
            <a:r>
              <a:rPr lang="ko-KR" altLang="en-US" sz="2000" dirty="0"/>
              <a:t>컬럼으로 </a:t>
            </a:r>
            <a:r>
              <a:rPr lang="ko-KR" altLang="en-US" sz="2000" dirty="0" err="1"/>
              <a:t>출력하시오</a:t>
            </a:r>
            <a:r>
              <a:rPr lang="ko-KR" altLang="en-US" sz="20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category_keyword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CD14AEE-888A-9801-FE9A-604C68965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21986"/>
              </p:ext>
            </p:extLst>
          </p:nvPr>
        </p:nvGraphicFramePr>
        <p:xfrm>
          <a:off x="1030816" y="2850521"/>
          <a:ext cx="10153652" cy="1687611"/>
        </p:xfrm>
        <a:graphic>
          <a:graphicData uri="http://schemas.openxmlformats.org/drawingml/2006/table">
            <a:tbl>
              <a:tblPr/>
              <a:tblGrid>
                <a:gridCol w="5082092">
                  <a:extLst>
                    <a:ext uri="{9D8B030D-6E8A-4147-A177-3AD203B41FA5}">
                      <a16:colId xmlns:a16="http://schemas.microsoft.com/office/drawing/2014/main" val="1788994724"/>
                    </a:ext>
                  </a:extLst>
                </a:gridCol>
                <a:gridCol w="5071560">
                  <a:extLst>
                    <a:ext uri="{9D8B030D-6E8A-4147-A177-3AD203B41FA5}">
                      <a16:colId xmlns:a16="http://schemas.microsoft.com/office/drawing/2014/main" val="1376737810"/>
                    </a:ext>
                  </a:extLst>
                </a:gridCol>
              </a:tblGrid>
              <a:tr h="5625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product_name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category_keyword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872358"/>
                  </a:ext>
                </a:extLst>
              </a:tr>
              <a:tr h="5625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무선 마우스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마우스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785848"/>
                  </a:ext>
                </a:extLst>
              </a:tr>
              <a:tr h="5625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USB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키보드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키보드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489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81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77B7-4500-D19A-2333-401434E9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C0163-97D8-B05A-5E6A-ECF61F0A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수학 함수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D816E-2D73-F1F2-7E5C-6385C3584A5E}"/>
              </a:ext>
            </a:extLst>
          </p:cNvPr>
          <p:cNvSpPr txBox="1"/>
          <p:nvPr/>
        </p:nvSpPr>
        <p:spPr>
          <a:xfrm>
            <a:off x="251788" y="955751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주요 수학 함수</a:t>
            </a:r>
            <a:endParaRPr lang="en-US" altLang="ko-KR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132948C-A251-2F58-6A9E-005C63853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110364"/>
              </p:ext>
            </p:extLst>
          </p:nvPr>
        </p:nvGraphicFramePr>
        <p:xfrm>
          <a:off x="483659" y="1644224"/>
          <a:ext cx="11224682" cy="4164895"/>
        </p:xfrm>
        <a:graphic>
          <a:graphicData uri="http://schemas.openxmlformats.org/drawingml/2006/table">
            <a:tbl>
              <a:tblPr/>
              <a:tblGrid>
                <a:gridCol w="2122719">
                  <a:extLst>
                    <a:ext uri="{9D8B030D-6E8A-4147-A177-3AD203B41FA5}">
                      <a16:colId xmlns:a16="http://schemas.microsoft.com/office/drawing/2014/main" val="505346512"/>
                    </a:ext>
                  </a:extLst>
                </a:gridCol>
                <a:gridCol w="4341926">
                  <a:extLst>
                    <a:ext uri="{9D8B030D-6E8A-4147-A177-3AD203B41FA5}">
                      <a16:colId xmlns:a16="http://schemas.microsoft.com/office/drawing/2014/main" val="3784368295"/>
                    </a:ext>
                  </a:extLst>
                </a:gridCol>
                <a:gridCol w="4760037">
                  <a:extLst>
                    <a:ext uri="{9D8B030D-6E8A-4147-A177-3AD203B41FA5}">
                      <a16:colId xmlns:a16="http://schemas.microsoft.com/office/drawing/2014/main" val="1862556985"/>
                    </a:ext>
                  </a:extLst>
                </a:gridCol>
              </a:tblGrid>
              <a:tr h="5949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866690"/>
                  </a:ext>
                </a:extLst>
              </a:tr>
              <a:tr h="5949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ROUND(x, d)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소수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자리로 반올림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ROUND(123.456, 1) → 123.5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786533"/>
                  </a:ext>
                </a:extLst>
              </a:tr>
              <a:tr h="5949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CEIL(x)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보다 큰 최소 정수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CEIL(4.2) → 5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533250"/>
                  </a:ext>
                </a:extLst>
              </a:tr>
              <a:tr h="5949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FLOOR(x)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보다 작은 최대 정수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FLOOR(4.9) → 4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146225"/>
                  </a:ext>
                </a:extLst>
              </a:tr>
              <a:tr h="5949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MOD(a, b)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나눈 나머지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MOD(10, 3) → 1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342773"/>
                  </a:ext>
                </a:extLst>
              </a:tr>
              <a:tr h="5949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ABS(x)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절댓값 반환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ABS(-50) → 50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300887"/>
                  </a:ext>
                </a:extLst>
              </a:tr>
              <a:tr h="5949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0~1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 난수 반환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RAND() → 0.7256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5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67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A1A3C-3D82-ABFE-40FC-DC37E8B9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ED34-3592-7499-CFDA-D2F40321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날짜 함수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C357B-AD0A-9E1D-792B-DF5B387BFDDB}"/>
              </a:ext>
            </a:extLst>
          </p:cNvPr>
          <p:cNvSpPr txBox="1"/>
          <p:nvPr/>
        </p:nvSpPr>
        <p:spPr>
          <a:xfrm>
            <a:off x="251788" y="955751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주요 날짜 함수</a:t>
            </a:r>
            <a:endParaRPr lang="en-US" altLang="ko-KR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99CC31-474F-ABC6-D505-A679412BE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517816"/>
              </p:ext>
            </p:extLst>
          </p:nvPr>
        </p:nvGraphicFramePr>
        <p:xfrm>
          <a:off x="457103" y="1667101"/>
          <a:ext cx="11285717" cy="4329437"/>
        </p:xfrm>
        <a:graphic>
          <a:graphicData uri="http://schemas.openxmlformats.org/drawingml/2006/table">
            <a:tbl>
              <a:tblPr/>
              <a:tblGrid>
                <a:gridCol w="3287124">
                  <a:extLst>
                    <a:ext uri="{9D8B030D-6E8A-4147-A177-3AD203B41FA5}">
                      <a16:colId xmlns:a16="http://schemas.microsoft.com/office/drawing/2014/main" val="4120038102"/>
                    </a:ext>
                  </a:extLst>
                </a:gridCol>
                <a:gridCol w="2519113">
                  <a:extLst>
                    <a:ext uri="{9D8B030D-6E8A-4147-A177-3AD203B41FA5}">
                      <a16:colId xmlns:a16="http://schemas.microsoft.com/office/drawing/2014/main" val="1573510307"/>
                    </a:ext>
                  </a:extLst>
                </a:gridCol>
                <a:gridCol w="5479480">
                  <a:extLst>
                    <a:ext uri="{9D8B030D-6E8A-4147-A177-3AD203B41FA5}">
                      <a16:colId xmlns:a16="http://schemas.microsoft.com/office/drawing/2014/main" val="3563691146"/>
                    </a:ext>
                  </a:extLst>
                </a:gridCol>
              </a:tblGrid>
              <a:tr h="6184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15533"/>
                  </a:ext>
                </a:extLst>
              </a:tr>
              <a:tr h="6184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NOW()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날짜 및 시간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2025-03-26 10:45:00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131532"/>
                  </a:ext>
                </a:extLst>
              </a:tr>
              <a:tr h="6184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CURDATE()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날짜만 반환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2025-03-26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7964"/>
                  </a:ext>
                </a:extLst>
              </a:tr>
              <a:tr h="6184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DATEDIFF()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 간 차이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DATEDIFF('2025-03-26', '2025-03-20') → 6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693020"/>
                  </a:ext>
                </a:extLst>
              </a:tr>
              <a:tr h="6184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DATE_ADD()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기간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DATE_ADD('2025-03-20',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INTERVAL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5 DAY)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673755"/>
                  </a:ext>
                </a:extLst>
              </a:tr>
              <a:tr h="6184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DATE_SUB()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기간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DATE_SUB('2025-03-26',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INTERVAL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7 DAY)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492426"/>
                  </a:ext>
                </a:extLst>
              </a:tr>
              <a:tr h="6184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YEAR(), MONTH(), DAY()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추출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YEAR(NOW()) → 2025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374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794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A80B2-B19B-B7A0-2EBB-47065A70E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C71F09-5226-61C1-C441-96372060EEF6}"/>
              </a:ext>
            </a:extLst>
          </p:cNvPr>
          <p:cNvSpPr txBox="1"/>
          <p:nvPr/>
        </p:nvSpPr>
        <p:spPr>
          <a:xfrm>
            <a:off x="251788" y="990432"/>
            <a:ext cx="7930376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latin typeface="+mn-ea"/>
                <a:cs typeface="Pretendard Medium" panose="02000603000000020004" pitchFamily="2" charset="-127"/>
              </a:rPr>
              <a:t>function</a:t>
            </a:r>
            <a:r>
              <a:rPr lang="en-US" altLang="ko-KR" sz="2400" dirty="0" err="1"/>
              <a:t>_db</a:t>
            </a:r>
            <a:r>
              <a:rPr lang="ko-KR" altLang="en-US" sz="2400" dirty="0"/>
              <a:t>를 사용해서 제시된 실습 문제를 해결해보세요</a:t>
            </a:r>
            <a:r>
              <a:rPr lang="en-US" altLang="ko-KR" sz="24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99FF159-5BC0-4B84-E7CD-B2D89367536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수학 함수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날짜 함수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F5EE3-C545-8FD9-53C8-73EA33BB0B88}"/>
              </a:ext>
            </a:extLst>
          </p:cNvPr>
          <p:cNvSpPr txBox="1"/>
          <p:nvPr/>
        </p:nvSpPr>
        <p:spPr>
          <a:xfrm>
            <a:off x="482110" y="1678636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1. 상품 가격의 평균을 계산하고</a:t>
            </a:r>
            <a:r>
              <a:rPr lang="en-US" altLang="ko-KR" sz="2000" dirty="0"/>
              <a:t>, </a:t>
            </a:r>
            <a:r>
              <a:rPr lang="ko-KR" altLang="en-US" sz="2000" dirty="0"/>
              <a:t>소수 첫째 자리까지 반올림하여 </a:t>
            </a:r>
            <a:r>
              <a:rPr lang="ko-KR" altLang="en-US" sz="2000" dirty="0" err="1"/>
              <a:t>출력하시오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avg_price_rounded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42765-B669-CA2E-942B-DA991A68F007}"/>
              </a:ext>
            </a:extLst>
          </p:cNvPr>
          <p:cNvSpPr txBox="1"/>
          <p:nvPr/>
        </p:nvSpPr>
        <p:spPr>
          <a:xfrm>
            <a:off x="482110" y="2918428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2</a:t>
            </a:r>
            <a:r>
              <a:rPr lang="ko-KR" altLang="en-US" sz="2000" dirty="0"/>
              <a:t>. 최근 </a:t>
            </a:r>
            <a:r>
              <a:rPr lang="en-US" altLang="ko-KR" sz="2000" dirty="0"/>
              <a:t>7</a:t>
            </a:r>
            <a:r>
              <a:rPr lang="ko-KR" altLang="en-US" sz="2000" dirty="0"/>
              <a:t>일 이내에 주문된 주문건을 조회하고</a:t>
            </a:r>
            <a:r>
              <a:rPr lang="en-US" altLang="ko-KR" sz="2000" dirty="0"/>
              <a:t>, </a:t>
            </a:r>
            <a:r>
              <a:rPr lang="ko-KR" altLang="en-US" sz="2000" dirty="0"/>
              <a:t>경과일을 </a:t>
            </a:r>
            <a:r>
              <a:rPr lang="ko-KR" altLang="en-US" sz="2000" dirty="0" err="1"/>
              <a:t>출력하시오</a:t>
            </a:r>
            <a:r>
              <a:rPr lang="ko-KR" altLang="en-US" sz="20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days_ago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4A8FD1B-AB9A-7BEE-3F8E-5C12FF286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358383"/>
              </p:ext>
            </p:extLst>
          </p:nvPr>
        </p:nvGraphicFramePr>
        <p:xfrm>
          <a:off x="1066198" y="4038338"/>
          <a:ext cx="10031729" cy="1141026"/>
        </p:xfrm>
        <a:graphic>
          <a:graphicData uri="http://schemas.openxmlformats.org/drawingml/2006/table">
            <a:tbl>
              <a:tblPr/>
              <a:tblGrid>
                <a:gridCol w="2520048">
                  <a:extLst>
                    <a:ext uri="{9D8B030D-6E8A-4147-A177-3AD203B41FA5}">
                      <a16:colId xmlns:a16="http://schemas.microsoft.com/office/drawing/2014/main" val="2186669090"/>
                    </a:ext>
                  </a:extLst>
                </a:gridCol>
                <a:gridCol w="4749321">
                  <a:extLst>
                    <a:ext uri="{9D8B030D-6E8A-4147-A177-3AD203B41FA5}">
                      <a16:colId xmlns:a16="http://schemas.microsoft.com/office/drawing/2014/main" val="2781316514"/>
                    </a:ext>
                  </a:extLst>
                </a:gridCol>
                <a:gridCol w="2762360">
                  <a:extLst>
                    <a:ext uri="{9D8B030D-6E8A-4147-A177-3AD203B41FA5}">
                      <a16:colId xmlns:a16="http://schemas.microsoft.com/office/drawing/2014/main" val="3546680056"/>
                    </a:ext>
                  </a:extLst>
                </a:gridCol>
              </a:tblGrid>
              <a:tr h="3803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order_id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created_at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days_ago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682848"/>
                  </a:ext>
                </a:extLst>
              </a:tr>
              <a:tr h="3803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2025-03-24 9:00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675463"/>
                  </a:ext>
                </a:extLst>
              </a:tr>
              <a:tr h="3803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2025-03-25 14:20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600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20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B4261-3453-6611-96C0-650EF847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48CB44-2A0B-880E-2DBB-121F41062727}"/>
              </a:ext>
            </a:extLst>
          </p:cNvPr>
          <p:cNvSpPr txBox="1"/>
          <p:nvPr/>
        </p:nvSpPr>
        <p:spPr>
          <a:xfrm>
            <a:off x="251788" y="990432"/>
            <a:ext cx="7930376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latin typeface="+mn-ea"/>
                <a:cs typeface="Pretendard Medium" panose="02000603000000020004" pitchFamily="2" charset="-127"/>
              </a:rPr>
              <a:t>function</a:t>
            </a:r>
            <a:r>
              <a:rPr lang="en-US" altLang="ko-KR" sz="2400" dirty="0" err="1"/>
              <a:t>_db</a:t>
            </a:r>
            <a:r>
              <a:rPr lang="ko-KR" altLang="en-US" sz="2400" dirty="0"/>
              <a:t>를 사용해서 제시된 실습 문제를 해결해보세요</a:t>
            </a:r>
            <a:r>
              <a:rPr lang="en-US" altLang="ko-KR" sz="24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F5EECFB-C342-3D9C-DD8D-89BD997B106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수학 함수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날짜 함수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57248-08CD-9A9E-7522-6936292CED7B}"/>
              </a:ext>
            </a:extLst>
          </p:cNvPr>
          <p:cNvSpPr txBox="1"/>
          <p:nvPr/>
        </p:nvSpPr>
        <p:spPr>
          <a:xfrm>
            <a:off x="482110" y="1678636"/>
            <a:ext cx="11227780" cy="50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3</a:t>
            </a:r>
            <a:r>
              <a:rPr lang="ko-KR" altLang="en-US" sz="2000" dirty="0"/>
              <a:t>. 사용자 </a:t>
            </a:r>
            <a:r>
              <a:rPr lang="en-US" altLang="ko-KR" sz="2000" dirty="0"/>
              <a:t>ID</a:t>
            </a:r>
            <a:r>
              <a:rPr lang="ko-KR" altLang="en-US" sz="2000" dirty="0"/>
              <a:t>가 홀수이면서</a:t>
            </a:r>
            <a:r>
              <a:rPr lang="en-US" altLang="ko-KR" sz="2000" dirty="0"/>
              <a:t>, </a:t>
            </a:r>
            <a:r>
              <a:rPr lang="ko-KR" altLang="en-US" sz="2000" dirty="0"/>
              <a:t>이름에 </a:t>
            </a:r>
            <a:r>
              <a:rPr lang="en-US" altLang="ko-KR" sz="2000" dirty="0"/>
              <a:t>'</a:t>
            </a:r>
            <a:r>
              <a:rPr lang="ko-KR" altLang="en-US" sz="2000" dirty="0"/>
              <a:t>김</a:t>
            </a:r>
            <a:r>
              <a:rPr lang="en-US" altLang="ko-KR" sz="2000" dirty="0"/>
              <a:t>' </a:t>
            </a:r>
            <a:r>
              <a:rPr lang="ko-KR" altLang="en-US" sz="2000" dirty="0"/>
              <a:t>또는 </a:t>
            </a:r>
            <a:r>
              <a:rPr lang="en-US" altLang="ko-KR" sz="2000" dirty="0"/>
              <a:t>'</a:t>
            </a:r>
            <a:r>
              <a:rPr lang="ko-KR" altLang="en-US" sz="2000" dirty="0"/>
              <a:t>이</a:t>
            </a:r>
            <a:r>
              <a:rPr lang="en-US" altLang="ko-KR" sz="2000" dirty="0"/>
              <a:t>'</a:t>
            </a:r>
            <a:r>
              <a:rPr lang="ko-KR" altLang="en-US" sz="2000" dirty="0"/>
              <a:t>가 포함된 사용자만 </a:t>
            </a:r>
            <a:r>
              <a:rPr lang="ko-KR" altLang="en-US" sz="2000" dirty="0" err="1"/>
              <a:t>조회하시오</a:t>
            </a:r>
            <a:r>
              <a:rPr lang="ko-KR" altLang="en-US" sz="20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5549CF-F943-22C5-644F-EC8E8A1E6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821585"/>
              </p:ext>
            </p:extLst>
          </p:nvPr>
        </p:nvGraphicFramePr>
        <p:xfrm>
          <a:off x="861328" y="2286177"/>
          <a:ext cx="10469344" cy="1142823"/>
        </p:xfrm>
        <a:graphic>
          <a:graphicData uri="http://schemas.openxmlformats.org/drawingml/2006/table">
            <a:tbl>
              <a:tblPr/>
              <a:tblGrid>
                <a:gridCol w="2505960">
                  <a:extLst>
                    <a:ext uri="{9D8B030D-6E8A-4147-A177-3AD203B41FA5}">
                      <a16:colId xmlns:a16="http://schemas.microsoft.com/office/drawing/2014/main" val="814598334"/>
                    </a:ext>
                  </a:extLst>
                </a:gridCol>
                <a:gridCol w="2227520">
                  <a:extLst>
                    <a:ext uri="{9D8B030D-6E8A-4147-A177-3AD203B41FA5}">
                      <a16:colId xmlns:a16="http://schemas.microsoft.com/office/drawing/2014/main" val="3127671895"/>
                    </a:ext>
                  </a:extLst>
                </a:gridCol>
                <a:gridCol w="5735864">
                  <a:extLst>
                    <a:ext uri="{9D8B030D-6E8A-4147-A177-3AD203B41FA5}">
                      <a16:colId xmlns:a16="http://schemas.microsoft.com/office/drawing/2014/main" val="2298920536"/>
                    </a:ext>
                  </a:extLst>
                </a:gridCol>
              </a:tblGrid>
              <a:tr h="3809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user_id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406056"/>
                  </a:ext>
                </a:extLst>
              </a:tr>
              <a:tr h="3809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이철수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lee@example.com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489300"/>
                  </a:ext>
                </a:extLst>
              </a:tr>
              <a:tr h="3809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김민호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kim@example.com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8531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EBD33E-DE24-C242-35B3-7BAF986B82A4}"/>
              </a:ext>
            </a:extLst>
          </p:cNvPr>
          <p:cNvSpPr txBox="1"/>
          <p:nvPr/>
        </p:nvSpPr>
        <p:spPr>
          <a:xfrm>
            <a:off x="482110" y="3824200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4</a:t>
            </a:r>
            <a:r>
              <a:rPr lang="ko-KR" altLang="en-US" sz="2000" dirty="0"/>
              <a:t>. </a:t>
            </a:r>
            <a:r>
              <a:rPr lang="ko-KR" altLang="en-US" sz="2000" dirty="0" err="1"/>
              <a:t>배송완료된</a:t>
            </a:r>
            <a:r>
              <a:rPr lang="ko-KR" altLang="en-US" sz="2000" dirty="0"/>
              <a:t> 주문 중</a:t>
            </a:r>
            <a:r>
              <a:rPr lang="en-US" altLang="ko-KR" sz="2000" dirty="0"/>
              <a:t>, </a:t>
            </a:r>
            <a:r>
              <a:rPr lang="ko-KR" altLang="en-US" sz="2000" dirty="0"/>
              <a:t>주문일로부터 </a:t>
            </a:r>
            <a:r>
              <a:rPr lang="en-US" altLang="ko-KR" sz="2000" dirty="0"/>
              <a:t>7</a:t>
            </a:r>
            <a:r>
              <a:rPr lang="ko-KR" altLang="en-US" sz="2000" dirty="0"/>
              <a:t>일 이상 경과한 주문을 </a:t>
            </a:r>
            <a:r>
              <a:rPr lang="ko-KR" altLang="en-US" sz="2000" dirty="0" err="1"/>
              <a:t>조회하시오</a:t>
            </a:r>
            <a:r>
              <a:rPr lang="en-US" altLang="ko-KR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days_since_order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33207E7-43C6-C84A-A02A-609881330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273825"/>
              </p:ext>
            </p:extLst>
          </p:nvPr>
        </p:nvGraphicFramePr>
        <p:xfrm>
          <a:off x="861328" y="4872691"/>
          <a:ext cx="10469344" cy="854340"/>
        </p:xfrm>
        <a:graphic>
          <a:graphicData uri="http://schemas.openxmlformats.org/drawingml/2006/table">
            <a:tbl>
              <a:tblPr/>
              <a:tblGrid>
                <a:gridCol w="1695969">
                  <a:extLst>
                    <a:ext uri="{9D8B030D-6E8A-4147-A177-3AD203B41FA5}">
                      <a16:colId xmlns:a16="http://schemas.microsoft.com/office/drawing/2014/main" val="3050300720"/>
                    </a:ext>
                  </a:extLst>
                </a:gridCol>
                <a:gridCol w="2380879">
                  <a:extLst>
                    <a:ext uri="{9D8B030D-6E8A-4147-A177-3AD203B41FA5}">
                      <a16:colId xmlns:a16="http://schemas.microsoft.com/office/drawing/2014/main" val="3589762919"/>
                    </a:ext>
                  </a:extLst>
                </a:gridCol>
                <a:gridCol w="3163633">
                  <a:extLst>
                    <a:ext uri="{9D8B030D-6E8A-4147-A177-3AD203B41FA5}">
                      <a16:colId xmlns:a16="http://schemas.microsoft.com/office/drawing/2014/main" val="1230327486"/>
                    </a:ext>
                  </a:extLst>
                </a:gridCol>
                <a:gridCol w="3228863">
                  <a:extLst>
                    <a:ext uri="{9D8B030D-6E8A-4147-A177-3AD203B41FA5}">
                      <a16:colId xmlns:a16="http://schemas.microsoft.com/office/drawing/2014/main" val="4213251718"/>
                    </a:ext>
                  </a:extLst>
                </a:gridCol>
              </a:tblGrid>
              <a:tr h="4271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order_id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order_status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created_at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days_since_order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821809"/>
                  </a:ext>
                </a:extLst>
              </a:tr>
              <a:tr h="4271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배송완료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2025-03-18 10:00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209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52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0FAC-B95B-ACB7-A4EC-1229FF72F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18C75-CE01-523F-ABCE-38D5087B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29331B-C463-ABB4-7483-7B71FB1EA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58150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sz="2400" dirty="0"/>
              <a:t>주어진 조건에 따라 서로 다른 값을 선택하거나 </a:t>
            </a:r>
            <a:r>
              <a:rPr lang="en-US" altLang="ko-KR" sz="2400" dirty="0"/>
              <a:t>NULL</a:t>
            </a:r>
            <a:r>
              <a:rPr lang="ko-KR" altLang="en-US" sz="2400" dirty="0"/>
              <a:t>값을 처리할 수 있도록 해주는</a:t>
            </a:r>
            <a:r>
              <a:rPr lang="en-US" altLang="ko-KR" sz="2400" dirty="0"/>
              <a:t> </a:t>
            </a:r>
            <a:r>
              <a:rPr lang="ko-KR" altLang="en-US" sz="2400" dirty="0"/>
              <a:t>내장 함수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8FE97-7748-1A1F-078A-BA725DAC3078}"/>
              </a:ext>
            </a:extLst>
          </p:cNvPr>
          <p:cNvSpPr txBox="1"/>
          <p:nvPr/>
        </p:nvSpPr>
        <p:spPr>
          <a:xfrm>
            <a:off x="238991" y="1622234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주요 조건 함수</a:t>
            </a:r>
            <a:endParaRPr lang="en-US" altLang="ko-KR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6884570-A26E-8537-26DD-F57F36497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622502"/>
              </p:ext>
            </p:extLst>
          </p:nvPr>
        </p:nvGraphicFramePr>
        <p:xfrm>
          <a:off x="469566" y="2335840"/>
          <a:ext cx="11186628" cy="2945943"/>
        </p:xfrm>
        <a:graphic>
          <a:graphicData uri="http://schemas.openxmlformats.org/drawingml/2006/table">
            <a:tbl>
              <a:tblPr/>
              <a:tblGrid>
                <a:gridCol w="3524918">
                  <a:extLst>
                    <a:ext uri="{9D8B030D-6E8A-4147-A177-3AD203B41FA5}">
                      <a16:colId xmlns:a16="http://schemas.microsoft.com/office/drawing/2014/main" val="3450466652"/>
                    </a:ext>
                  </a:extLst>
                </a:gridCol>
                <a:gridCol w="4360244">
                  <a:extLst>
                    <a:ext uri="{9D8B030D-6E8A-4147-A177-3AD203B41FA5}">
                      <a16:colId xmlns:a16="http://schemas.microsoft.com/office/drawing/2014/main" val="3467843747"/>
                    </a:ext>
                  </a:extLst>
                </a:gridCol>
                <a:gridCol w="3301466">
                  <a:extLst>
                    <a:ext uri="{9D8B030D-6E8A-4147-A177-3AD203B41FA5}">
                      <a16:colId xmlns:a16="http://schemas.microsoft.com/office/drawing/2014/main" val="3134108467"/>
                    </a:ext>
                  </a:extLst>
                </a:gridCol>
              </a:tblGrid>
              <a:tr h="5036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365149"/>
                  </a:ext>
                </a:extLst>
              </a:tr>
              <a:tr h="8141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IF(condition,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true_val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false_val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조건이 참이면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true_val,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아니면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false_val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반환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IF(price &gt; 100000, '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고가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', '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저가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341197"/>
                  </a:ext>
                </a:extLst>
              </a:tr>
              <a:tr h="8141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IFNULL(expr1, expr2)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expr1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이면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expr2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반환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IFNULL(email, '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64223"/>
                  </a:ext>
                </a:extLst>
              </a:tr>
              <a:tr h="8141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NULLIF(expr1, expr2)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expr1 = expr2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이면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NULLIF(price, 0)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38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570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A9B6-8864-C594-AC01-EBC72272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B8189-2FA1-FD74-FED5-FF26A27E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1F85B-3FA1-F54E-6123-FACB0D12E0E8}"/>
              </a:ext>
            </a:extLst>
          </p:cNvPr>
          <p:cNvSpPr txBox="1"/>
          <p:nvPr/>
        </p:nvSpPr>
        <p:spPr>
          <a:xfrm>
            <a:off x="2147965" y="879121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CASE</a:t>
            </a:r>
            <a:r>
              <a:rPr lang="ko-KR" altLang="en-US" sz="2400" dirty="0"/>
              <a:t>문 문법</a:t>
            </a: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C1D1A4-702F-5122-00F3-937AD1928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468" y="1503940"/>
            <a:ext cx="7621064" cy="370574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30B124A-83E6-7F35-0E21-696017032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468" y="5252996"/>
            <a:ext cx="5693549" cy="1070231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IF()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보다 복잡한 조건에 적합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그룹별 분류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등급화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라벨링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작업에 효과적</a:t>
            </a:r>
          </a:p>
        </p:txBody>
      </p:sp>
    </p:spTree>
    <p:extLst>
      <p:ext uri="{BB962C8B-B14F-4D97-AF65-F5344CB8AC3E}">
        <p14:creationId xmlns:p14="http://schemas.microsoft.com/office/powerpoint/2010/main" val="1971726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45966-0989-994E-3672-C468B208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93C35-673C-2DEA-FC61-D8C80EB7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B1030-72C6-8425-322A-C007518CBEC0}"/>
              </a:ext>
            </a:extLst>
          </p:cNvPr>
          <p:cNvSpPr txBox="1"/>
          <p:nvPr/>
        </p:nvSpPr>
        <p:spPr>
          <a:xfrm>
            <a:off x="2783233" y="953723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CASE</a:t>
            </a:r>
            <a:r>
              <a:rPr lang="ko-KR" altLang="en-US" sz="2400" dirty="0"/>
              <a:t>문 사용 예시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B5DC21-9833-A9E3-EE26-0126AC6AA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301" y="1535229"/>
            <a:ext cx="6387398" cy="47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2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1835-D921-55CA-56EA-4D99C2B9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6787BB-407F-2BC0-9D13-C538CE083BB6}"/>
              </a:ext>
            </a:extLst>
          </p:cNvPr>
          <p:cNvSpPr txBox="1"/>
          <p:nvPr/>
        </p:nvSpPr>
        <p:spPr>
          <a:xfrm>
            <a:off x="251788" y="990432"/>
            <a:ext cx="7930376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latin typeface="+mn-ea"/>
                <a:cs typeface="Pretendard Medium" panose="02000603000000020004" pitchFamily="2" charset="-127"/>
              </a:rPr>
              <a:t>function</a:t>
            </a:r>
            <a:r>
              <a:rPr lang="en-US" altLang="ko-KR" sz="2400" dirty="0" err="1"/>
              <a:t>_db</a:t>
            </a:r>
            <a:r>
              <a:rPr lang="ko-KR" altLang="en-US" sz="2400" dirty="0"/>
              <a:t>를 사용해서 제시된 실습 문제를 해결해보세요</a:t>
            </a:r>
            <a:r>
              <a:rPr lang="en-US" altLang="ko-KR" sz="24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1FB0B1D-295C-E2BD-3965-50D2EF8A27F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조건 함수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AF1F6-9633-EF45-A7FF-3A5760DA60B9}"/>
              </a:ext>
            </a:extLst>
          </p:cNvPr>
          <p:cNvSpPr txBox="1"/>
          <p:nvPr/>
        </p:nvSpPr>
        <p:spPr>
          <a:xfrm>
            <a:off x="482110" y="1678636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1. 상품 가격이 평균보다 높은 경우 </a:t>
            </a:r>
            <a:r>
              <a:rPr lang="en-US" altLang="ko-KR" sz="2000" dirty="0"/>
              <a:t>'</a:t>
            </a:r>
            <a:r>
              <a:rPr lang="ko-KR" altLang="en-US" sz="2000" dirty="0"/>
              <a:t>고가</a:t>
            </a:r>
            <a:r>
              <a:rPr lang="en-US" altLang="ko-KR" sz="2000" dirty="0"/>
              <a:t>', </a:t>
            </a:r>
            <a:r>
              <a:rPr lang="ko-KR" altLang="en-US" sz="2000" dirty="0"/>
              <a:t>아니면 </a:t>
            </a:r>
            <a:r>
              <a:rPr lang="en-US" altLang="ko-KR" sz="2000" dirty="0"/>
              <a:t>'</a:t>
            </a:r>
            <a:r>
              <a:rPr lang="ko-KR" altLang="en-US" sz="2000" dirty="0"/>
              <a:t>저가</a:t>
            </a:r>
            <a:r>
              <a:rPr lang="en-US" altLang="ko-KR" sz="2000" dirty="0"/>
              <a:t>'</a:t>
            </a:r>
            <a:r>
              <a:rPr lang="ko-KR" altLang="en-US" sz="2000" dirty="0"/>
              <a:t>로 </a:t>
            </a:r>
            <a:r>
              <a:rPr lang="ko-KR" altLang="en-US" sz="2000" dirty="0" err="1"/>
              <a:t>출력하시오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price_grade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75B1517-30BB-BAB5-3D72-324E88D3B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57321"/>
              </p:ext>
            </p:extLst>
          </p:nvPr>
        </p:nvGraphicFramePr>
        <p:xfrm>
          <a:off x="1025458" y="2872970"/>
          <a:ext cx="10139847" cy="2902185"/>
        </p:xfrm>
        <a:graphic>
          <a:graphicData uri="http://schemas.openxmlformats.org/drawingml/2006/table">
            <a:tbl>
              <a:tblPr/>
              <a:tblGrid>
                <a:gridCol w="4195799">
                  <a:extLst>
                    <a:ext uri="{9D8B030D-6E8A-4147-A177-3AD203B41FA5}">
                      <a16:colId xmlns:a16="http://schemas.microsoft.com/office/drawing/2014/main" val="2551433230"/>
                    </a:ext>
                  </a:extLst>
                </a:gridCol>
                <a:gridCol w="2194463">
                  <a:extLst>
                    <a:ext uri="{9D8B030D-6E8A-4147-A177-3AD203B41FA5}">
                      <a16:colId xmlns:a16="http://schemas.microsoft.com/office/drawing/2014/main" val="54256711"/>
                    </a:ext>
                  </a:extLst>
                </a:gridCol>
                <a:gridCol w="3749585">
                  <a:extLst>
                    <a:ext uri="{9D8B030D-6E8A-4147-A177-3AD203B41FA5}">
                      <a16:colId xmlns:a16="http://schemas.microsoft.com/office/drawing/2014/main" val="2295333166"/>
                    </a:ext>
                  </a:extLst>
                </a:gridCol>
              </a:tblGrid>
              <a:tr h="5804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product_name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price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price_grade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496933"/>
                  </a:ext>
                </a:extLst>
              </a:tr>
              <a:tr h="5804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노트북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1299000</a:t>
                      </a:r>
                    </a:p>
                  </a:txBody>
                  <a:tcPr marL="635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239677"/>
                  </a:ext>
                </a:extLst>
              </a:tr>
              <a:tr h="5804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무선 마우스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29900</a:t>
                      </a:r>
                    </a:p>
                  </a:txBody>
                  <a:tcPr marL="635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42341"/>
                  </a:ext>
                </a:extLst>
              </a:tr>
              <a:tr h="5804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기계식 키보드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89000</a:t>
                      </a:r>
                    </a:p>
                  </a:txBody>
                  <a:tcPr marL="635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584574"/>
                  </a:ext>
                </a:extLst>
              </a:tr>
              <a:tr h="5804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데스크탑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1590000</a:t>
                      </a:r>
                    </a:p>
                  </a:txBody>
                  <a:tcPr marL="635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05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11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AAC1-968F-E2AF-228D-D58135EC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EA3D4C-595F-B390-F1F3-470C5E9C2EC0}"/>
              </a:ext>
            </a:extLst>
          </p:cNvPr>
          <p:cNvSpPr txBox="1"/>
          <p:nvPr/>
        </p:nvSpPr>
        <p:spPr>
          <a:xfrm>
            <a:off x="251788" y="990432"/>
            <a:ext cx="7930376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sz="2400" dirty="0">
                <a:latin typeface="+mn-ea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latin typeface="+mn-ea"/>
                <a:cs typeface="Pretendard Medium" panose="02000603000000020004" pitchFamily="2" charset="-127"/>
              </a:rPr>
              <a:t>function</a:t>
            </a:r>
            <a:r>
              <a:rPr lang="en-US" altLang="ko-KR" sz="2400" dirty="0" err="1"/>
              <a:t>_db</a:t>
            </a:r>
            <a:r>
              <a:rPr lang="ko-KR" altLang="en-US" sz="2400" dirty="0"/>
              <a:t>를 사용해서 제시된 실습 문제를 해결해보세요</a:t>
            </a:r>
            <a:r>
              <a:rPr lang="en-US" altLang="ko-KR" sz="24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AA5A3F9-7015-EC86-817F-ECB13879C44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조건 함수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E2EEF-414E-3CFD-C16F-FD577498A229}"/>
              </a:ext>
            </a:extLst>
          </p:cNvPr>
          <p:cNvSpPr txBox="1"/>
          <p:nvPr/>
        </p:nvSpPr>
        <p:spPr>
          <a:xfrm>
            <a:off x="482110" y="1678636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2</a:t>
            </a:r>
            <a:r>
              <a:rPr lang="ko-KR" altLang="en-US" sz="2000" dirty="0"/>
              <a:t>. 이메일이 </a:t>
            </a:r>
            <a:r>
              <a:rPr lang="en-US" altLang="ko-KR" sz="2000" dirty="0"/>
              <a:t>NULL</a:t>
            </a:r>
            <a:r>
              <a:rPr lang="ko-KR" altLang="en-US" sz="2000" dirty="0"/>
              <a:t>인 경우 </a:t>
            </a:r>
            <a:r>
              <a:rPr lang="en-US" altLang="ko-KR" sz="2000" dirty="0"/>
              <a:t>'</a:t>
            </a:r>
            <a:r>
              <a:rPr lang="ko-KR" altLang="en-US" sz="2000" dirty="0"/>
              <a:t>이메일 </a:t>
            </a:r>
            <a:r>
              <a:rPr lang="ko-KR" altLang="en-US" sz="2000" dirty="0" err="1"/>
              <a:t>미입력</a:t>
            </a:r>
            <a:r>
              <a:rPr lang="en-US" altLang="ko-KR" sz="2000" dirty="0"/>
              <a:t>'</a:t>
            </a:r>
            <a:r>
              <a:rPr lang="ko-KR" altLang="en-US" sz="2000" dirty="0"/>
              <a:t>으로 </a:t>
            </a:r>
            <a:r>
              <a:rPr lang="ko-KR" altLang="en-US" sz="2000" dirty="0" err="1"/>
              <a:t>표시하시오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checked_email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57741E-5DEB-3851-701D-3F5BD55BF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890480"/>
              </p:ext>
            </p:extLst>
          </p:nvPr>
        </p:nvGraphicFramePr>
        <p:xfrm>
          <a:off x="1041534" y="2815219"/>
          <a:ext cx="10108932" cy="2632680"/>
        </p:xfrm>
        <a:graphic>
          <a:graphicData uri="http://schemas.openxmlformats.org/drawingml/2006/table">
            <a:tbl>
              <a:tblPr/>
              <a:tblGrid>
                <a:gridCol w="2229911">
                  <a:extLst>
                    <a:ext uri="{9D8B030D-6E8A-4147-A177-3AD203B41FA5}">
                      <a16:colId xmlns:a16="http://schemas.microsoft.com/office/drawing/2014/main" val="61731599"/>
                    </a:ext>
                  </a:extLst>
                </a:gridCol>
                <a:gridCol w="2081251">
                  <a:extLst>
                    <a:ext uri="{9D8B030D-6E8A-4147-A177-3AD203B41FA5}">
                      <a16:colId xmlns:a16="http://schemas.microsoft.com/office/drawing/2014/main" val="273604374"/>
                    </a:ext>
                  </a:extLst>
                </a:gridCol>
                <a:gridCol w="5797770">
                  <a:extLst>
                    <a:ext uri="{9D8B030D-6E8A-4147-A177-3AD203B41FA5}">
                      <a16:colId xmlns:a16="http://schemas.microsoft.com/office/drawing/2014/main" val="2396678355"/>
                    </a:ext>
                  </a:extLst>
                </a:gridCol>
              </a:tblGrid>
              <a:tr h="6581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user_id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checked_email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970070"/>
                  </a:ext>
                </a:extLst>
              </a:tr>
              <a:tr h="6581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hong@example.com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239280"/>
                  </a:ext>
                </a:extLst>
              </a:tr>
              <a:tr h="6581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이철수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이메일 미입력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46362"/>
                  </a:ext>
                </a:extLst>
              </a:tr>
              <a:tr h="6581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장동건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이메일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미입력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710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30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0A53C-1C3B-EDEF-54D0-A77599D3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10D47-144A-0388-7D8D-66E0DA4D8DD7}"/>
              </a:ext>
            </a:extLst>
          </p:cNvPr>
          <p:cNvSpPr txBox="1"/>
          <p:nvPr/>
        </p:nvSpPr>
        <p:spPr>
          <a:xfrm>
            <a:off x="251788" y="990432"/>
            <a:ext cx="7843814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sz="2400" dirty="0" err="1"/>
              <a:t>practice_db</a:t>
            </a:r>
            <a:r>
              <a:rPr lang="ko-KR" altLang="en-US" sz="2400" dirty="0"/>
              <a:t>를 사용해서 제시된 실습 문제를 해결해보세요</a:t>
            </a:r>
            <a:r>
              <a:rPr lang="en-US" altLang="ko-KR" sz="24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D67A7A5-F9DC-5980-07D4-BF7F2C0C869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조건 함수</a:t>
            </a:r>
            <a:r>
              <a:rPr lang="en-US" altLang="ko-KR" dirty="0">
                <a:solidFill>
                  <a:srgbClr val="ED7D31"/>
                </a:solidFill>
              </a:rPr>
              <a:t>(3)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9514D-3A70-99A7-A993-E29BD7639428}"/>
              </a:ext>
            </a:extLst>
          </p:cNvPr>
          <p:cNvSpPr txBox="1"/>
          <p:nvPr/>
        </p:nvSpPr>
        <p:spPr>
          <a:xfrm>
            <a:off x="482110" y="1678636"/>
            <a:ext cx="1122778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3</a:t>
            </a:r>
            <a:r>
              <a:rPr lang="ko-KR" altLang="en-US" sz="2000" dirty="0"/>
              <a:t>. </a:t>
            </a:r>
            <a:r>
              <a:rPr lang="ko-KR" altLang="en-US" sz="2000" dirty="0" err="1"/>
              <a:t>배송완료된</a:t>
            </a:r>
            <a:r>
              <a:rPr lang="ko-KR" altLang="en-US" sz="2000" dirty="0"/>
              <a:t> 주문 중</a:t>
            </a:r>
            <a:r>
              <a:rPr lang="en-US" altLang="ko-KR" sz="2000" dirty="0"/>
              <a:t>, 5</a:t>
            </a:r>
            <a:r>
              <a:rPr lang="ko-KR" altLang="en-US" sz="2000" dirty="0"/>
              <a:t>일 이상 지난 주문은 </a:t>
            </a:r>
            <a:r>
              <a:rPr lang="en-US" altLang="ko-KR" sz="2000" dirty="0"/>
              <a:t>'</a:t>
            </a:r>
            <a:r>
              <a:rPr lang="ko-KR" altLang="en-US" sz="2000" dirty="0"/>
              <a:t>후기 요청</a:t>
            </a:r>
            <a:r>
              <a:rPr lang="en-US" altLang="ko-KR" sz="2000" dirty="0"/>
              <a:t>', </a:t>
            </a:r>
            <a:r>
              <a:rPr lang="ko-KR" altLang="en-US" sz="2000" dirty="0"/>
              <a:t>그 외는 </a:t>
            </a:r>
            <a:r>
              <a:rPr lang="en-US" altLang="ko-KR" sz="2000" dirty="0"/>
              <a:t>'</a:t>
            </a:r>
            <a:r>
              <a:rPr lang="ko-KR" altLang="en-US" sz="2000" dirty="0"/>
              <a:t>배송 확인</a:t>
            </a:r>
            <a:r>
              <a:rPr lang="en-US" altLang="ko-KR" sz="2000" dirty="0"/>
              <a:t>'</a:t>
            </a:r>
            <a:r>
              <a:rPr lang="ko-KR" altLang="en-US" sz="2000" dirty="0"/>
              <a:t>으로 </a:t>
            </a:r>
            <a:r>
              <a:rPr lang="ko-KR" altLang="en-US" sz="2000" dirty="0" err="1"/>
              <a:t>표시하시오</a:t>
            </a:r>
            <a:r>
              <a:rPr lang="en-US" altLang="ko-KR" sz="2000" dirty="0"/>
              <a:t>.(case </a:t>
            </a:r>
            <a:r>
              <a:rPr lang="ko-KR" altLang="en-US" sz="2000" dirty="0"/>
              <a:t>사용</a:t>
            </a:r>
            <a:r>
              <a:rPr lang="en-US" altLang="ko-KR" sz="2000" dirty="0"/>
              <a:t>)</a:t>
            </a:r>
            <a:endParaRPr lang="ko-KR" alt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followup_status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8594823-086C-1786-9CB9-C9B1899BC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432209"/>
              </p:ext>
            </p:extLst>
          </p:nvPr>
        </p:nvGraphicFramePr>
        <p:xfrm>
          <a:off x="1066600" y="2818722"/>
          <a:ext cx="10069828" cy="2590676"/>
        </p:xfrm>
        <a:graphic>
          <a:graphicData uri="http://schemas.openxmlformats.org/drawingml/2006/table">
            <a:tbl>
              <a:tblPr/>
              <a:tblGrid>
                <a:gridCol w="1720615">
                  <a:extLst>
                    <a:ext uri="{9D8B030D-6E8A-4147-A177-3AD203B41FA5}">
                      <a16:colId xmlns:a16="http://schemas.microsoft.com/office/drawing/2014/main" val="3382044835"/>
                    </a:ext>
                  </a:extLst>
                </a:gridCol>
                <a:gridCol w="2341164">
                  <a:extLst>
                    <a:ext uri="{9D8B030D-6E8A-4147-A177-3AD203B41FA5}">
                      <a16:colId xmlns:a16="http://schemas.microsoft.com/office/drawing/2014/main" val="731187413"/>
                    </a:ext>
                  </a:extLst>
                </a:gridCol>
                <a:gridCol w="3159162">
                  <a:extLst>
                    <a:ext uri="{9D8B030D-6E8A-4147-A177-3AD203B41FA5}">
                      <a16:colId xmlns:a16="http://schemas.microsoft.com/office/drawing/2014/main" val="3348528725"/>
                    </a:ext>
                  </a:extLst>
                </a:gridCol>
                <a:gridCol w="2848887">
                  <a:extLst>
                    <a:ext uri="{9D8B030D-6E8A-4147-A177-3AD203B41FA5}">
                      <a16:colId xmlns:a16="http://schemas.microsoft.com/office/drawing/2014/main" val="351147677"/>
                    </a:ext>
                  </a:extLst>
                </a:gridCol>
              </a:tblGrid>
              <a:tr h="6476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order_id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order_status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created_at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followup_status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553514"/>
                  </a:ext>
                </a:extLst>
              </a:tr>
              <a:tr h="6476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배송완료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2025-03-20 10:00:00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후기 요청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213833"/>
                  </a:ext>
                </a:extLst>
              </a:tr>
              <a:tr h="6476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배송완료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2025-03-25 14:20:00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배송 확인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45824"/>
                  </a:ext>
                </a:extLst>
              </a:tr>
              <a:tr h="6476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주문취소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2025-03-21 15:30:00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대상 아님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989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505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A958-8B37-57F3-20FA-1D61B86F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AB9B7-4FBB-AB5A-3F99-8C4470DF1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3A1AF-7FEF-FD05-EA9C-1DDBA7FB1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58150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sz="2400" dirty="0"/>
              <a:t>데이터의 자료형</a:t>
            </a:r>
            <a:r>
              <a:rPr lang="en-US" altLang="ko-KR" sz="2400" dirty="0"/>
              <a:t>(Data Type)</a:t>
            </a:r>
            <a:r>
              <a:rPr lang="ko-KR" altLang="en-US" sz="2400" dirty="0"/>
              <a:t>을 다른 형식으로 바꾸는 것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33048-9E7A-D8D9-E0CD-2020473BE3A8}"/>
              </a:ext>
            </a:extLst>
          </p:cNvPr>
          <p:cNvSpPr txBox="1"/>
          <p:nvPr/>
        </p:nvSpPr>
        <p:spPr>
          <a:xfrm>
            <a:off x="238990" y="1622234"/>
            <a:ext cx="11385320" cy="1690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📌 자료형이 자동으로 변환되기도 하고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암시적 형 변환</a:t>
            </a:r>
            <a:r>
              <a:rPr lang="en-US" altLang="ko-KR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     </a:t>
            </a:r>
            <a:r>
              <a:rPr lang="ko-KR" altLang="en-US" sz="2400" dirty="0"/>
              <a:t>사용자가 직접 명시하기도 함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명시적 형 변환</a:t>
            </a:r>
            <a:r>
              <a:rPr lang="en-US" altLang="ko-KR" sz="2400" b="1" dirty="0"/>
              <a:t>)</a:t>
            </a:r>
            <a:endParaRPr lang="ko-KR" altLang="en-US" sz="2400" b="1" dirty="0"/>
          </a:p>
          <a:p>
            <a:pPr>
              <a:lnSpc>
                <a:spcPct val="150000"/>
              </a:lnSpc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127444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D013-BFDC-A385-81C9-CCDF03C9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5CFF8-503E-D3A0-01B1-99793E6C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암시적 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FD632-8855-7F88-63E4-DBEE01C8A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131910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en-US" altLang="ko-KR" sz="2400" dirty="0"/>
              <a:t>MySQL</a:t>
            </a:r>
            <a:r>
              <a:rPr lang="ko-KR" altLang="en-US" sz="2400" dirty="0"/>
              <a:t>이 자동으로 자료형을 변환하여 처리하는 것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연산이나 비교 시 자동 적용 → 편리하지만</a:t>
            </a:r>
            <a:r>
              <a:rPr lang="en-US" altLang="ko-KR" sz="2000" dirty="0"/>
              <a:t> </a:t>
            </a:r>
            <a:r>
              <a:rPr lang="ko-KR" altLang="en-US" sz="2000" dirty="0"/>
              <a:t>예상치 못한 결과를 초래할 수 있음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1CE051-CCF1-60A3-7AF6-77A89A55D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28" y="2573470"/>
            <a:ext cx="9421540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80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32E4-8801-E3CA-87D9-003B06BE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74EA3-5767-A352-C209-628535FE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명시적 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423D8-5654-6181-2420-16FCCE134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5778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sz="2400" dirty="0"/>
              <a:t>사용자가 명확히 형변환을 지정하는 방식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203244-942F-6B4F-5724-A2230C813A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72" b="17056"/>
          <a:stretch/>
        </p:blipFill>
        <p:spPr>
          <a:xfrm>
            <a:off x="3156517" y="2581711"/>
            <a:ext cx="5891761" cy="12373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A65F0B7-2C1E-11BE-E2D4-FA497865F2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023" b="20023"/>
          <a:stretch/>
        </p:blipFill>
        <p:spPr>
          <a:xfrm>
            <a:off x="3150119" y="4562288"/>
            <a:ext cx="5891761" cy="1237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8932B9-2994-295C-D044-5370F9B1FBD5}"/>
              </a:ext>
            </a:extLst>
          </p:cNvPr>
          <p:cNvSpPr txBox="1"/>
          <p:nvPr/>
        </p:nvSpPr>
        <p:spPr>
          <a:xfrm>
            <a:off x="3045931" y="2000205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CAST</a:t>
            </a:r>
            <a:r>
              <a:rPr lang="ko-KR" altLang="en-US" sz="2400" dirty="0"/>
              <a:t> 문법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A1D723-A0D0-B6B0-B382-23CE48928CCA}"/>
              </a:ext>
            </a:extLst>
          </p:cNvPr>
          <p:cNvSpPr txBox="1"/>
          <p:nvPr/>
        </p:nvSpPr>
        <p:spPr>
          <a:xfrm>
            <a:off x="3045931" y="3980782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CONVERT </a:t>
            </a:r>
            <a:r>
              <a:rPr lang="ko-KR" altLang="en-US" sz="2400" dirty="0"/>
              <a:t>문법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78594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C4095-4ABD-9F47-1448-D9CEA906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5C4E0-B906-60DB-E9D8-8A571967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CAST</a:t>
            </a:r>
            <a:r>
              <a:rPr lang="ko-KR" altLang="en-US" dirty="0"/>
              <a:t>와 </a:t>
            </a:r>
            <a:r>
              <a:rPr lang="en-US" altLang="ko-KR" dirty="0"/>
              <a:t>CONVERT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EEEBEF5-9823-5B4A-B5FE-3F0A3F982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3"/>
            <a:ext cx="11701221" cy="206223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 상황에 따라 선택적으로 사용</a:t>
            </a:r>
            <a:endParaRPr lang="en-US" altLang="ko-KR" dirty="0">
              <a:latin typeface="+mn-ea"/>
              <a:ea typeface="+mn-ea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✔️단순한 형 변환 → </a:t>
            </a:r>
            <a:r>
              <a:rPr lang="en-US" altLang="ko-KR" dirty="0"/>
              <a:t>CAST() (</a:t>
            </a:r>
            <a:r>
              <a:rPr lang="ko-KR" altLang="en-US" dirty="0"/>
              <a:t>표준 문법</a:t>
            </a:r>
            <a:r>
              <a:rPr lang="en-US" altLang="ko-KR" dirty="0"/>
              <a:t>, </a:t>
            </a:r>
            <a:r>
              <a:rPr lang="ko-KR" altLang="en-US" dirty="0"/>
              <a:t>가독성 좋음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ko-KR" altLang="en-US" dirty="0" err="1"/>
              <a:t>문자셋</a:t>
            </a:r>
            <a:r>
              <a:rPr lang="ko-KR" altLang="en-US" dirty="0"/>
              <a:t> 변환 등 </a:t>
            </a:r>
            <a:r>
              <a:rPr lang="en-US" altLang="ko-KR" dirty="0"/>
              <a:t>MySQL </a:t>
            </a:r>
            <a:r>
              <a:rPr lang="ko-KR" altLang="en-US" dirty="0"/>
              <a:t>고유 기능 사용 → </a:t>
            </a:r>
            <a:r>
              <a:rPr lang="en-US" altLang="ko-KR" dirty="0"/>
              <a:t>CONVERT()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0C744-0AE2-BB22-C6B8-69C37734F91C}"/>
              </a:ext>
            </a:extLst>
          </p:cNvPr>
          <p:cNvSpPr txBox="1"/>
          <p:nvPr/>
        </p:nvSpPr>
        <p:spPr>
          <a:xfrm>
            <a:off x="251788" y="3429000"/>
            <a:ext cx="6678641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CONVERT</a:t>
            </a:r>
            <a:r>
              <a:rPr lang="ko-KR" altLang="en-US" sz="2400" dirty="0"/>
              <a:t>의 </a:t>
            </a:r>
            <a:r>
              <a:rPr lang="ko-KR" altLang="en-US" sz="2400" dirty="0" err="1"/>
              <a:t>문자셋</a:t>
            </a:r>
            <a:r>
              <a:rPr lang="ko-KR" altLang="en-US" sz="2400" dirty="0"/>
              <a:t> 변환 기능</a:t>
            </a:r>
            <a:r>
              <a:rPr lang="en-US" altLang="ko-KR" sz="2400" dirty="0"/>
              <a:t>(CAST</a:t>
            </a:r>
            <a:r>
              <a:rPr lang="ko-KR" altLang="en-US" sz="2400" dirty="0"/>
              <a:t>는 지원</a:t>
            </a:r>
            <a:r>
              <a:rPr lang="en-US" altLang="ko-KR" sz="2400" dirty="0"/>
              <a:t>X)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6F5133-95B8-3475-4B79-5BBD79932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48" b="13936"/>
          <a:stretch/>
        </p:blipFill>
        <p:spPr>
          <a:xfrm>
            <a:off x="2215655" y="4178902"/>
            <a:ext cx="7773485" cy="184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01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4341</TotalTime>
  <Words>1224</Words>
  <Application>Microsoft Office PowerPoint</Application>
  <PresentationFormat>와이드스크린</PresentationFormat>
  <Paragraphs>267</Paragraphs>
  <Slides>22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내장 함수</vt:lpstr>
      <vt:lpstr>문자열 함수</vt:lpstr>
      <vt:lpstr>PowerPoint 프레젠테이션</vt:lpstr>
      <vt:lpstr>PowerPoint 프레젠테이션</vt:lpstr>
      <vt:lpstr>수학 함수</vt:lpstr>
      <vt:lpstr>날짜 함수</vt:lpstr>
      <vt:lpstr>PowerPoint 프레젠테이션</vt:lpstr>
      <vt:lpstr>PowerPoint 프레젠테이션</vt:lpstr>
      <vt:lpstr>조건 함수</vt:lpstr>
      <vt:lpstr>CASE 문</vt:lpstr>
      <vt:lpstr>CASE 문</vt:lpstr>
      <vt:lpstr>PowerPoint 프레젠테이션</vt:lpstr>
      <vt:lpstr>PowerPoint 프레젠테이션</vt:lpstr>
      <vt:lpstr>PowerPoint 프레젠테이션</vt:lpstr>
      <vt:lpstr>형 변환</vt:lpstr>
      <vt:lpstr>암시적 형 변환</vt:lpstr>
      <vt:lpstr>명시적 형 변환</vt:lpstr>
      <vt:lpstr>CAST와 CONVERT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316</cp:revision>
  <dcterms:created xsi:type="dcterms:W3CDTF">2023-01-31T04:26:23Z</dcterms:created>
  <dcterms:modified xsi:type="dcterms:W3CDTF">2025-10-21T01:16:40Z</dcterms:modified>
</cp:coreProperties>
</file>