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1012" r:id="rId2"/>
    <p:sldId id="257" r:id="rId3"/>
    <p:sldId id="446" r:id="rId4"/>
    <p:sldId id="979" r:id="rId5"/>
    <p:sldId id="433" r:id="rId6"/>
    <p:sldId id="1008" r:id="rId7"/>
    <p:sldId id="1000" r:id="rId8"/>
    <p:sldId id="1001" r:id="rId9"/>
    <p:sldId id="1002" r:id="rId10"/>
    <p:sldId id="1003" r:id="rId11"/>
    <p:sldId id="1004" r:id="rId12"/>
    <p:sldId id="1005" r:id="rId13"/>
    <p:sldId id="1006" r:id="rId14"/>
    <p:sldId id="980" r:id="rId15"/>
    <p:sldId id="968" r:id="rId16"/>
    <p:sldId id="996" r:id="rId17"/>
    <p:sldId id="973" r:id="rId18"/>
    <p:sldId id="981" r:id="rId19"/>
    <p:sldId id="982" r:id="rId20"/>
    <p:sldId id="983" r:id="rId21"/>
    <p:sldId id="984" r:id="rId22"/>
    <p:sldId id="987" r:id="rId23"/>
    <p:sldId id="985" r:id="rId24"/>
    <p:sldId id="986" r:id="rId25"/>
    <p:sldId id="994" r:id="rId26"/>
    <p:sldId id="997" r:id="rId27"/>
    <p:sldId id="998" r:id="rId28"/>
    <p:sldId id="995" r:id="rId29"/>
    <p:sldId id="999" r:id="rId30"/>
    <p:sldId id="1007" r:id="rId31"/>
    <p:sldId id="1009" r:id="rId32"/>
    <p:sldId id="1011" r:id="rId33"/>
    <p:sldId id="1010" r:id="rId34"/>
    <p:sldId id="813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50"/>
    <a:srgbClr val="66FF99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5" autoAdjust="0"/>
    <p:restoredTop sz="80052" autoAdjust="0"/>
  </p:normalViewPr>
  <p:slideViewPr>
    <p:cSldViewPr snapToGrid="0">
      <p:cViewPr varScale="1">
        <p:scale>
          <a:sx n="66" d="100"/>
          <a:sy n="66" d="100"/>
        </p:scale>
        <p:origin x="379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700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4A76-5F25-DBB2-7EF9-1EA46DA8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EB0844-4417-709D-8DD8-951AB24B4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32A3A-CDD2-CF22-641C-09A189EAD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4B588-7B56-D5E2-B50F-30A9A6B3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84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56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A8394-F0E7-CDDF-27DE-EA48BCD6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DD9E2-B9BD-ADDE-998E-626DB7321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3A5A97-5269-B09F-549D-6B83F1473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31E58-CA5F-D683-866F-F99EA92FF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7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BF17-97D8-C0C6-D1C0-ACBCD62F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7528D-327C-19B7-FA6D-A3012C4F1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7EFA5E-B7BB-181E-4308-C8C86D9B9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AD7DC0-AF15-F2B2-D956-EF6C6DC2E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271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33627-5293-96F0-8B3F-402EA9E37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AB5198-2321-2A4E-9521-E7835E77E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2FEAEC-624A-D09F-DDDA-EF820CEB5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D04EED-D0C4-D993-07CC-40C30E288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86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75DF-67B1-60D2-B6A6-0AE10566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3AC7EA-D882-7425-463F-DBE873E1E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12765A-36A7-9F24-1E99-C40C4C1BB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B0630-6079-BE34-7484-06438C81E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249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985D-4235-5C5C-C215-3AC4C321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4E9EC5-3D2A-C382-906D-0A3AB4EA5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C32EB0-13B9-04AD-DBD3-986708441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8E1FE-8F2F-90BB-6065-26FFCD5FD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815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157A6-2106-C25C-AA19-68A2D33D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F6C785-F26C-4FFE-E513-731A1110A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13955A-9AC0-E410-BEEE-DD7DA9062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3A5DDF-1A7D-8B06-9431-1D10A7CE4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8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176E6-E83A-5240-5C80-E1520322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0A3FD4-4C5A-B6FE-7C40-FF4A41C89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1BAEB8-161E-1AD8-94EF-5055FE960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699B8-1E40-2C4A-7800-00786D463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014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9A7DA-DE5B-3BDC-B706-EF1B19CE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C625CC-6402-4F8D-5CB7-3917EC8EE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6F125E-8D6A-C18E-A456-BFB661783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practice_01.sql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D27F4-7DCB-16D7-C0D5-AEFE38653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791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64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D397-04D8-F654-EBBE-5C159ACB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1BBE1-FD58-F514-EA85-E485C44C9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B0DCD-C205-5EEA-1567-C1660E630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40A625-B5BC-A590-87C9-B4C65ECB1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489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79F2-81E8-544D-23FD-5650236D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861362-AC6B-82A3-66E8-B801C6894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1EFF83-42D4-C934-58A6-3C0F7A006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A8E0D3-17DA-EFF7-6199-77AF1B54B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8952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94FB-2934-F0E0-C93B-F53B7AE7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34C458-78D0-3970-EDF0-B558CF35A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73FF39-E694-EF5E-F8EF-17C75C07E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90E89-568F-1CE2-D385-B208BCE86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85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0C9B-E999-B2EF-0FD4-2C9906241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8D53DD-BEA1-BB72-FD70-35350E71E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F93438-FBB4-CBB4-9FD5-F977C1D0C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612CBF-18D9-C1F5-D76C-D1EA09245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56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7614-45B3-E2CF-DAD9-D33CC8BB2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C7CF1B-FC95-6AEE-6811-CCF89034F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8FF442-F38E-A85B-E5A0-F81CEB52F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A1616C-1B59-FA72-5BD2-12C58C7CF2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89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E26D-2FD3-699B-86B3-9453C3B8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62A8B-F059-6EC0-91E7-26B96647C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F0B745-68F8-E764-C511-6090BDDB1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DAABB-3064-E4E9-E6BE-ACA8C2A67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827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723E-F4C6-4635-789E-C1A4E952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CC90EF-502F-CFEF-92FC-A360DB391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3C55CD-D242-69F3-CB86-1A1EFC881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F179F-D494-5480-236C-DDDA4505D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396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0172-65A1-1F99-7DE0-01811C212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958DF-2FEE-3E7C-3E2F-B15E8C119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0EC33D-98DC-E99B-84BB-CB9A6BFF3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CE64C7-5ED5-3F04-7841-7954BF1548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2941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1E73-8D42-CEA2-574E-CA45DADC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8FF1FC-40B0-CE93-9277-51A286145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163BC4-04A2-1B6B-57AE-1491B6C77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5DDD2C-A105-C8C8-391A-C3D91E41BB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0075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4F663-8948-44AC-633E-AE5C2834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50750A-8A55-D878-1FCD-CD8F3DC5E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30161B-CC95-6C3F-83F0-959450C1A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23CAC-278C-76E6-9381-9C9DF22D28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695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4A755-6EBF-7C8B-20B7-4A84E76D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4EA498-8DAD-A0C0-9EA3-3A096A440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0BC3DF-81EC-A2E2-FC35-D3D63B532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73E98A-5121-74B7-027B-136C9171B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669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2F7C-7ABB-40FB-2A66-268EBE752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7B0C45-F7B2-5159-89FE-DC7DA259F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6B4DB5-F7E4-1C96-28E3-96139CCA0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712DBF-219B-C0B0-041F-185D58A97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6685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118F-36FF-D60A-5DDA-23A1690C9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00AD29-469C-EE8D-6642-CDE097A67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18E845-F9AE-6A75-8C9D-E11DC3869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DD61C-F668-B408-BB3D-207BD3AF2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688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0F6C-6D84-A9D8-5713-8BD448A6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91C623-B1E8-24D5-0DFC-27773AD45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820544-B0CE-BB11-41BB-A8ED17D0C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ABBB1-475C-83D3-D9BE-0E3A5FEFE4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117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68EB-355B-830E-64CE-D6791640C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70EF66-A795-08DE-4498-2F4CDBCD0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363538-1F32-44C3-580E-5B71287B9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FF83C3-71DF-8B29-678B-2FAC9B753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1463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B96B-415C-5F82-1B72-145EF182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AAF348-C420-3A49-818C-8254C74B0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0347EE-4106-AB2C-0704-684D4374B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A7B79-8022-0C94-E915-CA655B18C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717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B96B-415C-5F82-1B72-145EF182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AAF348-C420-3A49-818C-8254C74B0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0347EE-4106-AB2C-0704-684D4374B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A7B79-8022-0C94-E915-CA655B18C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717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B96B-415C-5F82-1B72-145EF182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AAF348-C420-3A49-818C-8254C74B0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0347EE-4106-AB2C-0704-684D4374B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A7B79-8022-0C94-E915-CA655B18C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717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B96B-415C-5F82-1B72-145EF182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AAF348-C420-3A49-818C-8254C74B01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0347EE-4106-AB2C-0704-684D4374B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EA7B79-8022-0C94-E915-CA655B18C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85E4C-4682-4BB3-B64C-03E9D3B1E4F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5717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669" y="3630071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3461004C-8186-96F2-8923-668AA8F20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17510" y="2600493"/>
            <a:ext cx="33570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6. JOIN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FA812-BDAB-AA77-800E-C3A0D26A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E1561-0C25-F773-6327-83DD2B852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1259529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>
                <a:latin typeface="+mn-ea"/>
                <a:ea typeface="+mn-ea"/>
              </a:rPr>
              <a:t>둘 이상의 테이블을 공통된 키를 기준으로 연결하여 하나의 결과로 조회하는 </a:t>
            </a:r>
            <a:endParaRPr lang="en-US" altLang="ko-KR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dirty="0">
                <a:latin typeface="+mn-ea"/>
                <a:ea typeface="+mn-ea"/>
              </a:rPr>
              <a:t>      SQL </a:t>
            </a:r>
            <a:r>
              <a:rPr lang="ko-KR" altLang="en-US" dirty="0">
                <a:latin typeface="+mn-ea"/>
                <a:ea typeface="+mn-ea"/>
              </a:rPr>
              <a:t>연산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CDA1A49-5E0B-839C-98A5-862B73D44896}"/>
              </a:ext>
            </a:extLst>
          </p:cNvPr>
          <p:cNvGrpSpPr/>
          <p:nvPr/>
        </p:nvGrpSpPr>
        <p:grpSpPr>
          <a:xfrm>
            <a:off x="1828600" y="3217333"/>
            <a:ext cx="8534800" cy="2175933"/>
            <a:chOff x="864116" y="3742378"/>
            <a:chExt cx="7306057" cy="1862667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17E6E40-0423-22B7-8D14-B90887A0F2DD}"/>
                </a:ext>
              </a:extLst>
            </p:cNvPr>
            <p:cNvSpPr/>
            <p:nvPr/>
          </p:nvSpPr>
          <p:spPr>
            <a:xfrm>
              <a:off x="864116" y="4766442"/>
              <a:ext cx="1882910" cy="838603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/>
                <a:t>Orders</a:t>
              </a:r>
              <a:br>
                <a:rPr lang="en-US" altLang="ko-KR" sz="1600" b="1" dirty="0"/>
              </a:br>
              <a:r>
                <a:rPr lang="en-US" altLang="ko-KR" sz="1600" b="1" dirty="0"/>
                <a:t>Table</a:t>
              </a:r>
              <a:endParaRPr lang="ko-KR" altLang="en-US" sz="1600" b="1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7EB743A-FAE9-4A1C-E21B-CA73D304FF8C}"/>
                </a:ext>
              </a:extLst>
            </p:cNvPr>
            <p:cNvSpPr/>
            <p:nvPr/>
          </p:nvSpPr>
          <p:spPr>
            <a:xfrm>
              <a:off x="864116" y="3742378"/>
              <a:ext cx="1882910" cy="838603"/>
            </a:xfrm>
            <a:prstGeom prst="roundRect">
              <a:avLst>
                <a:gd name="adj" fmla="val 7658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/>
                <a:t>Customer</a:t>
              </a:r>
            </a:p>
            <a:p>
              <a:pPr algn="ctr"/>
              <a:r>
                <a:rPr lang="en-US" altLang="ko-KR" sz="1600" b="1" dirty="0"/>
                <a:t>Table</a:t>
              </a:r>
              <a:endParaRPr lang="ko-KR" altLang="en-US" sz="1600" b="1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7C3BF6A-116D-1192-776C-D30C06F43338}"/>
                </a:ext>
              </a:extLst>
            </p:cNvPr>
            <p:cNvGrpSpPr/>
            <p:nvPr/>
          </p:nvGrpSpPr>
          <p:grpSpPr>
            <a:xfrm>
              <a:off x="3440066" y="4211747"/>
              <a:ext cx="4730107" cy="1066696"/>
              <a:chOff x="3440066" y="4211747"/>
              <a:chExt cx="4730107" cy="1066696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43C28B9C-024F-156A-69FA-69A3F765F1FC}"/>
                  </a:ext>
                </a:extLst>
              </p:cNvPr>
              <p:cNvGrpSpPr/>
              <p:nvPr/>
            </p:nvGrpSpPr>
            <p:grpSpPr>
              <a:xfrm>
                <a:off x="3440066" y="4211747"/>
                <a:ext cx="2431472" cy="1066696"/>
                <a:chOff x="3242639" y="4159480"/>
                <a:chExt cx="2431472" cy="1066696"/>
              </a:xfrm>
            </p:grpSpPr>
            <p:sp>
              <p:nvSpPr>
                <p:cNvPr id="14" name="화살표: 아래쪽 13">
                  <a:extLst>
                    <a:ext uri="{FF2B5EF4-FFF2-40B4-BE49-F238E27FC236}">
                      <a16:creationId xmlns:a16="http://schemas.microsoft.com/office/drawing/2014/main" id="{1C02E7AF-CF8F-255D-2C0C-40D2B4DB3A17}"/>
                    </a:ext>
                  </a:extLst>
                </p:cNvPr>
                <p:cNvSpPr/>
                <p:nvPr/>
              </p:nvSpPr>
              <p:spPr>
                <a:xfrm rot="16200000" flipH="1">
                  <a:off x="3925027" y="3477092"/>
                  <a:ext cx="1066696" cy="2431472"/>
                </a:xfrm>
                <a:prstGeom prst="downArrow">
                  <a:avLst/>
                </a:prstGeom>
                <a:gradFill>
                  <a:gsLst>
                    <a:gs pos="0">
                      <a:srgbClr val="FFC000">
                        <a:alpha val="2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CF63005-6B38-706F-6749-0FC57A38268A}"/>
                    </a:ext>
                  </a:extLst>
                </p:cNvPr>
                <p:cNvSpPr txBox="1"/>
                <p:nvPr/>
              </p:nvSpPr>
              <p:spPr>
                <a:xfrm>
                  <a:off x="4008029" y="4492133"/>
                  <a:ext cx="7200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b="1" dirty="0"/>
                    <a:t>JOIN</a:t>
                  </a:r>
                  <a:endParaRPr lang="ko-KR" altLang="en-US" b="1" dirty="0"/>
                </a:p>
              </p:txBody>
            </p:sp>
          </p:grp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CAAA1D5D-3B3F-4D57-3114-30B006174487}"/>
                  </a:ext>
                </a:extLst>
              </p:cNvPr>
              <p:cNvSpPr/>
              <p:nvPr/>
            </p:nvSpPr>
            <p:spPr>
              <a:xfrm>
                <a:off x="6471704" y="4309765"/>
                <a:ext cx="1698469" cy="838603"/>
              </a:xfrm>
              <a:prstGeom prst="roundRect">
                <a:avLst>
                  <a:gd name="adj" fmla="val 7658"/>
                </a:avLst>
              </a:prstGeom>
              <a:solidFill>
                <a:srgbClr val="F5F5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 dirty="0">
                    <a:solidFill>
                      <a:schemeClr val="tx1"/>
                    </a:solidFill>
                  </a:rPr>
                  <a:t>배송 정보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7CC5F05-25D3-7F9B-9AD0-22D41402742A}"/>
              </a:ext>
            </a:extLst>
          </p:cNvPr>
          <p:cNvSpPr txBox="1"/>
          <p:nvPr/>
        </p:nvSpPr>
        <p:spPr>
          <a:xfrm>
            <a:off x="2801486" y="3358860"/>
            <a:ext cx="6589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✅두 테이블을 엮어서 정보를 추출</a:t>
            </a:r>
          </a:p>
        </p:txBody>
      </p:sp>
    </p:spTree>
    <p:extLst>
      <p:ext uri="{BB962C8B-B14F-4D97-AF65-F5344CB8AC3E}">
        <p14:creationId xmlns:p14="http://schemas.microsoft.com/office/powerpoint/2010/main" val="307291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E6E7C-77C3-22B8-C604-5D87575A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D018F-2CA3-AB93-4BAF-B06DA995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기본키와 </a:t>
            </a:r>
            <a:r>
              <a:rPr lang="ko-KR" altLang="en-US" dirty="0" err="1"/>
              <a:t>외래키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F6877-D21C-10B6-B5D0-A5AF0D55D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58334"/>
            <a:ext cx="11701221" cy="40724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기본 키 </a:t>
            </a:r>
            <a:r>
              <a:rPr lang="en-US" altLang="ko-KR" dirty="0"/>
              <a:t>(Primary Key)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테이블 내에서 각 행</a:t>
            </a:r>
            <a:r>
              <a:rPr lang="en-US" altLang="ko-KR" dirty="0"/>
              <a:t>(</a:t>
            </a:r>
            <a:r>
              <a:rPr lang="ko-KR" altLang="en-US" dirty="0"/>
              <a:t>레코드</a:t>
            </a:r>
            <a:r>
              <a:rPr lang="en-US" altLang="ko-KR" dirty="0"/>
              <a:t>)</a:t>
            </a:r>
            <a:r>
              <a:rPr lang="ko-KR" altLang="en-US" dirty="0"/>
              <a:t>을 유일하게 식별하기 위한 하나 이상의 컬럼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중복되거나 </a:t>
            </a:r>
            <a:r>
              <a:rPr lang="en-US" altLang="ko-KR" dirty="0"/>
              <a:t>NULL </a:t>
            </a:r>
            <a:r>
              <a:rPr lang="ko-KR" altLang="en-US" dirty="0"/>
              <a:t>값을 가질 수 없으며</a:t>
            </a:r>
            <a:r>
              <a:rPr lang="en-US" altLang="ko-KR" dirty="0"/>
              <a:t>, </a:t>
            </a:r>
            <a:r>
              <a:rPr lang="ko-KR" altLang="en-US" dirty="0"/>
              <a:t>테이블당 하나만 존재할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+mn-ea"/>
                <a:ea typeface="+mn-ea"/>
                <a:cs typeface="Pretendard Medium" panose="02000603000000020004" pitchFamily="2" charset="-127"/>
              </a:rPr>
              <a:t>💡 </a:t>
            </a:r>
            <a:r>
              <a:rPr lang="ko-KR" altLang="en-US" dirty="0"/>
              <a:t>외래 키 </a:t>
            </a:r>
            <a:r>
              <a:rPr lang="en-US" altLang="ko-KR" dirty="0"/>
              <a:t>(Foreign Key)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다른 테이블의 기본 키를 참조하여 두 테이블 간의 관계를 설정하는 컬럼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테이블 간 데이터의 무결성을 보장할 수 있음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2304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9935C1C-7CF7-B652-AA93-6E715A7DD35F}"/>
              </a:ext>
            </a:extLst>
          </p:cNvPr>
          <p:cNvGrpSpPr/>
          <p:nvPr/>
        </p:nvGrpSpPr>
        <p:grpSpPr>
          <a:xfrm>
            <a:off x="1424612" y="798215"/>
            <a:ext cx="9380015" cy="4505672"/>
            <a:chOff x="1160485" y="2638426"/>
            <a:chExt cx="6583351" cy="31623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AC79CB3-21EF-A171-7747-47DD18A67A08}"/>
                </a:ext>
              </a:extLst>
            </p:cNvPr>
            <p:cNvGrpSpPr/>
            <p:nvPr/>
          </p:nvGrpSpPr>
          <p:grpSpPr>
            <a:xfrm>
              <a:off x="1160485" y="2638426"/>
              <a:ext cx="4297340" cy="3162300"/>
              <a:chOff x="1157941" y="2543183"/>
              <a:chExt cx="4938059" cy="3633797"/>
            </a:xfrm>
          </p:grpSpPr>
          <p:pic>
            <p:nvPicPr>
              <p:cNvPr id="2050" name="Picture 2" descr="Chen Notation Example ERD">
                <a:extLst>
                  <a:ext uri="{FF2B5EF4-FFF2-40B4-BE49-F238E27FC236}">
                    <a16:creationId xmlns:a16="http://schemas.microsoft.com/office/drawing/2014/main" id="{44106AD7-77ED-D06A-FCC5-3CACF67FEE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7941" y="2543183"/>
                <a:ext cx="4938059" cy="36337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E94D806E-792F-9AF3-719A-F7A305F06F2E}"/>
                  </a:ext>
                </a:extLst>
              </p:cNvPr>
              <p:cNvSpPr/>
              <p:nvPr/>
            </p:nvSpPr>
            <p:spPr>
              <a:xfrm>
                <a:off x="1647824" y="3076583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E91DCAB-CF90-F2CD-0EA8-EC66337B0640}"/>
                  </a:ext>
                </a:extLst>
              </p:cNvPr>
              <p:cNvSpPr/>
              <p:nvPr/>
            </p:nvSpPr>
            <p:spPr>
              <a:xfrm>
                <a:off x="1647823" y="4264830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E8170E8-DC76-8DF6-66AF-A56135EA15D1}"/>
                  </a:ext>
                </a:extLst>
              </p:cNvPr>
              <p:cNvSpPr/>
              <p:nvPr/>
            </p:nvSpPr>
            <p:spPr>
              <a:xfrm>
                <a:off x="1647822" y="5453077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F01B10F-C2FB-74AA-1AC7-7AAFA676618E}"/>
                  </a:ext>
                </a:extLst>
              </p:cNvPr>
              <p:cNvSpPr/>
              <p:nvPr/>
            </p:nvSpPr>
            <p:spPr>
              <a:xfrm>
                <a:off x="5062537" y="3090871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5B30CBC-2CE4-F0A6-BB82-E678E264D9C0}"/>
                  </a:ext>
                </a:extLst>
              </p:cNvPr>
              <p:cNvSpPr/>
              <p:nvPr/>
            </p:nvSpPr>
            <p:spPr>
              <a:xfrm>
                <a:off x="5048251" y="4269592"/>
                <a:ext cx="542925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E10FD1D-5497-139C-1789-22F3722EA254}"/>
                  </a:ext>
                </a:extLst>
              </p:cNvPr>
              <p:cNvSpPr/>
              <p:nvPr/>
            </p:nvSpPr>
            <p:spPr>
              <a:xfrm>
                <a:off x="5000625" y="5438788"/>
                <a:ext cx="652463" cy="190500"/>
              </a:xfrm>
              <a:prstGeom prst="rect">
                <a:avLst/>
              </a:prstGeom>
              <a:solidFill>
                <a:srgbClr val="B2D6E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D79DB5A-C8CA-D3CE-E7D2-3971441C0D12}"/>
                  </a:ext>
                </a:extLst>
              </p:cNvPr>
              <p:cNvSpPr/>
              <p:nvPr/>
            </p:nvSpPr>
            <p:spPr>
              <a:xfrm>
                <a:off x="3295652" y="3086107"/>
                <a:ext cx="650408" cy="204789"/>
              </a:xfrm>
              <a:prstGeom prst="rect">
                <a:avLst/>
              </a:prstGeom>
              <a:solidFill>
                <a:srgbClr val="C1E4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6B8D1E20-2ADA-9E14-89DA-30F4CA05D269}"/>
                  </a:ext>
                </a:extLst>
              </p:cNvPr>
              <p:cNvSpPr/>
              <p:nvPr/>
            </p:nvSpPr>
            <p:spPr>
              <a:xfrm>
                <a:off x="3295651" y="4264829"/>
                <a:ext cx="650408" cy="204789"/>
              </a:xfrm>
              <a:prstGeom prst="rect">
                <a:avLst/>
              </a:prstGeom>
              <a:solidFill>
                <a:srgbClr val="C1E4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7506C0D-88D1-FE89-7914-C6DB679A53B2}"/>
                  </a:ext>
                </a:extLst>
              </p:cNvPr>
              <p:cNvSpPr/>
              <p:nvPr/>
            </p:nvSpPr>
            <p:spPr>
              <a:xfrm>
                <a:off x="3270482" y="5422105"/>
                <a:ext cx="650408" cy="204789"/>
              </a:xfrm>
              <a:prstGeom prst="rect">
                <a:avLst/>
              </a:prstGeom>
              <a:solidFill>
                <a:srgbClr val="C1E4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8D1986-C254-3796-B817-D7599881BA65}"/>
                </a:ext>
              </a:extLst>
            </p:cNvPr>
            <p:cNvSpPr txBox="1"/>
            <p:nvPr/>
          </p:nvSpPr>
          <p:spPr>
            <a:xfrm>
              <a:off x="5495927" y="3042483"/>
              <a:ext cx="1958184" cy="260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여러 개체가 여러 개체에 대응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C187F82-73C9-F376-0EE8-965C1135288A}"/>
                </a:ext>
              </a:extLst>
            </p:cNvPr>
            <p:cNvSpPr txBox="1"/>
            <p:nvPr/>
          </p:nvSpPr>
          <p:spPr>
            <a:xfrm>
              <a:off x="5495927" y="4064117"/>
              <a:ext cx="2121165" cy="260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하나의 개체가 여러 개체에 대응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DA0629B-A27F-A90A-6644-B2130B200C8D}"/>
                </a:ext>
              </a:extLst>
            </p:cNvPr>
            <p:cNvSpPr txBox="1"/>
            <p:nvPr/>
          </p:nvSpPr>
          <p:spPr>
            <a:xfrm>
              <a:off x="5495928" y="5072683"/>
              <a:ext cx="2247908" cy="260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하나의 개체가 하나의 개체에 대응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497873" y="4951141"/>
              <a:ext cx="16726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A9D5E41-FBDA-C510-8B02-B8304F8E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관계형 모델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24F97-23C2-6F80-2917-F378BB3012B4}"/>
              </a:ext>
            </a:extLst>
          </p:cNvPr>
          <p:cNvSpPr txBox="1"/>
          <p:nvPr/>
        </p:nvSpPr>
        <p:spPr>
          <a:xfrm>
            <a:off x="2386863" y="5096409"/>
            <a:ext cx="42303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https://www.databasestar.com/entity-relationship-diagram/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1BCFB-AFD7-DF2F-596F-94CA0D6CE3DC}"/>
              </a:ext>
            </a:extLst>
          </p:cNvPr>
          <p:cNvSpPr txBox="1"/>
          <p:nvPr/>
        </p:nvSpPr>
        <p:spPr>
          <a:xfrm>
            <a:off x="2801486" y="5602007"/>
            <a:ext cx="65890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/>
              <a:t>✅테이블 간 관계는 주로 외래 키를 통해 연결</a:t>
            </a:r>
          </a:p>
        </p:txBody>
      </p:sp>
    </p:spTree>
    <p:extLst>
      <p:ext uri="{BB962C8B-B14F-4D97-AF65-F5344CB8AC3E}">
        <p14:creationId xmlns:p14="http://schemas.microsoft.com/office/powerpoint/2010/main" val="296380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86571-C6C1-868D-7685-037B699E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A2D8A-38A2-5905-C3E4-9E7AC2D5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과 키</a:t>
            </a:r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CEA0050-C630-25BB-1E7A-FAE381C0D395}"/>
              </a:ext>
            </a:extLst>
          </p:cNvPr>
          <p:cNvSpPr txBox="1">
            <a:spLocks/>
          </p:cNvSpPr>
          <p:nvPr/>
        </p:nvSpPr>
        <p:spPr>
          <a:xfrm>
            <a:off x="245389" y="1023485"/>
            <a:ext cx="11701221" cy="22835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SQL</a:t>
            </a:r>
            <a:r>
              <a:rPr lang="ko-KR" altLang="en-US" dirty="0"/>
              <a:t>에서 </a:t>
            </a:r>
            <a:r>
              <a:rPr lang="en-US" altLang="ko-KR" dirty="0"/>
              <a:t>JOIN</a:t>
            </a:r>
            <a:r>
              <a:rPr lang="ko-KR" altLang="en-US" dirty="0"/>
              <a:t>은 공통된 </a:t>
            </a:r>
            <a:r>
              <a:rPr lang="ko-KR" altLang="en-US" dirty="0" err="1"/>
              <a:t>컬럼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ID)</a:t>
            </a:r>
            <a:r>
              <a:rPr lang="ko-KR" altLang="en-US" dirty="0"/>
              <a:t>을 기준으로 연결하는 연산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외래 키로 연결되어 있지 않아도 </a:t>
            </a:r>
            <a:r>
              <a:rPr lang="en-US" altLang="ko-KR" dirty="0"/>
              <a:t>ON </a:t>
            </a:r>
            <a:r>
              <a:rPr lang="ko-KR" altLang="en-US" dirty="0"/>
              <a:t>절로 조건만 맞으면 </a:t>
            </a:r>
            <a:r>
              <a:rPr lang="en-US" altLang="ko-KR" dirty="0"/>
              <a:t>JOIN </a:t>
            </a:r>
            <a:r>
              <a:rPr lang="ko-KR" altLang="en-US" dirty="0"/>
              <a:t>수행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그러나 </a:t>
            </a:r>
            <a:r>
              <a:rPr lang="en-US" altLang="ko-KR" dirty="0"/>
              <a:t>FK </a:t>
            </a:r>
            <a:r>
              <a:rPr lang="ko-KR" altLang="en-US" dirty="0"/>
              <a:t>설정을 권장함</a:t>
            </a:r>
            <a:endParaRPr lang="en-US" altLang="ko-KR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688461"/>
              </p:ext>
            </p:extLst>
          </p:nvPr>
        </p:nvGraphicFramePr>
        <p:xfrm>
          <a:off x="637539" y="3189765"/>
          <a:ext cx="10916920" cy="2784315"/>
        </p:xfrm>
        <a:graphic>
          <a:graphicData uri="http://schemas.openxmlformats.org/drawingml/2006/table">
            <a:tbl>
              <a:tblPr/>
              <a:tblGrid>
                <a:gridCol w="3935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1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8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이유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설명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8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데이터 무결성 유지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잘못된 참조 방지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존재하지 않는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ID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 입력 차단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8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설계 명확화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ERD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시 관계 시각화 가능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8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유지보수 및 협업 효율성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테이블 간 의존성 파악 쉬움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8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연쇄 삭제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/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갱신 제어 가능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ON DELETE CASCADE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itchFamily="2" charset="-127"/>
                          <a:ea typeface="Pretendard Light" pitchFamily="2" charset="-127"/>
                          <a:cs typeface="Pretendard Light" pitchFamily="2" charset="-127"/>
                        </a:rPr>
                        <a:t>등 사용 가능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27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10DA9-8734-012C-F45F-E6CACAB2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A1F150-7C6B-EBA7-843C-F89F685DB75E}"/>
              </a:ext>
            </a:extLst>
          </p:cNvPr>
          <p:cNvSpPr txBox="1"/>
          <p:nvPr/>
        </p:nvSpPr>
        <p:spPr>
          <a:xfrm>
            <a:off x="464687" y="1185770"/>
            <a:ext cx="9610323" cy="21628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🚀</a:t>
            </a:r>
            <a:r>
              <a:rPr lang="en-US" altLang="ko-KR" sz="2800" dirty="0"/>
              <a:t>JOIN </a:t>
            </a:r>
            <a:r>
              <a:rPr lang="ko-KR" altLang="en-US" sz="2800" dirty="0"/>
              <a:t>연습에 사용할 </a:t>
            </a:r>
            <a:r>
              <a:rPr lang="en-US" altLang="ko-KR" sz="2800" dirty="0"/>
              <a:t>DB</a:t>
            </a:r>
            <a:r>
              <a:rPr lang="ko-KR" altLang="en-US" sz="2800" dirty="0"/>
              <a:t>를 직접 만들어 봅시다</a:t>
            </a:r>
            <a:r>
              <a:rPr lang="en-US" altLang="ko-KR" sz="28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데이터베이스 이름이 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인 데이터베이스를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동일한 이름의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이미 존재하면 삭제하고 새로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 후 앞으로 사용할 데이터베이스를 </a:t>
            </a:r>
            <a:r>
              <a:rPr lang="en-US" altLang="ko-KR" sz="2000" dirty="0" err="1"/>
              <a:t>codingon_store_db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지정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36FDDB8-A883-470E-DC68-2F8F3455D8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685101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F254-8A33-81D7-1588-33403C00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1F9EBF-E458-52B9-0409-86C51E8F0406}"/>
              </a:ext>
            </a:extLst>
          </p:cNvPr>
          <p:cNvSpPr txBox="1"/>
          <p:nvPr/>
        </p:nvSpPr>
        <p:spPr>
          <a:xfrm>
            <a:off x="464687" y="1185770"/>
            <a:ext cx="8674169" cy="382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2400" dirty="0"/>
              <a:t>다음 조건에 맞는 </a:t>
            </a:r>
            <a:r>
              <a:rPr lang="en-US" altLang="ko-KR" sz="2400" dirty="0"/>
              <a:t>customers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번호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customer_id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증가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(name)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이메일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(email)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VARCHAR(100)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(city)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전화번호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(phone)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VARCHAR(20)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생년월일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birth_date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회원 등급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membership_level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VARCHAR(20)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Silver, Gold, VIP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FAC0FDC-73E6-3BA8-B3D8-6C0406F46337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86671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F4C30-4C48-DA17-3548-78DFDE2F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2C356B-A19C-058C-F5D2-999F53D21C53}"/>
              </a:ext>
            </a:extLst>
          </p:cNvPr>
          <p:cNvSpPr txBox="1"/>
          <p:nvPr/>
        </p:nvSpPr>
        <p:spPr>
          <a:xfrm>
            <a:off x="464687" y="1185770"/>
            <a:ext cx="8247771" cy="382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400" dirty="0"/>
              <a:t>다음 조건에 맞는 </a:t>
            </a:r>
            <a:r>
              <a:rPr lang="en-US" altLang="ko-KR" sz="2400" dirty="0"/>
              <a:t>orders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 번호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order_id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증가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customer_id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customers(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customer_id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참조하는 외래 키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 날짜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order_date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 상태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order_status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VARCHAR(20),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'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처리중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결제 방식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payment_method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VARCHAR(30)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배송비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delivery_fee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이며 기본값은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 err="1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AF35091-4457-CF54-8878-DD97F49F90C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65056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3E1B-23A8-A98B-D5BD-693DB9FAF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9C7C4B-77B1-FB98-F31F-595C87E6A718}"/>
              </a:ext>
            </a:extLst>
          </p:cNvPr>
          <p:cNvSpPr txBox="1"/>
          <p:nvPr/>
        </p:nvSpPr>
        <p:spPr>
          <a:xfrm>
            <a:off x="464687" y="1185770"/>
            <a:ext cx="6670416" cy="336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2400" dirty="0"/>
              <a:t>다음 조건에 맞는 </a:t>
            </a:r>
            <a:r>
              <a:rPr lang="en-US" altLang="ko-KR" sz="2400" dirty="0"/>
              <a:t>products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product_id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증가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(name)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VARCHAR(100)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(price)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재고 수량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stock_quantity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카테고리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(category)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제조사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(manufacturer)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E8E8C2E-58C1-A4D1-612B-BE8B5A797A2B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3860529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DAD5-104B-8FD1-53EF-028E0EFF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68345C-2C36-7DD0-6BE3-60158266B2C6}"/>
              </a:ext>
            </a:extLst>
          </p:cNvPr>
          <p:cNvSpPr txBox="1"/>
          <p:nvPr/>
        </p:nvSpPr>
        <p:spPr>
          <a:xfrm>
            <a:off x="464687" y="1185770"/>
            <a:ext cx="8374408" cy="2439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다음 조건에 맞는 </a:t>
            </a:r>
            <a:r>
              <a:rPr lang="en-US" altLang="ko-KR" sz="2400" dirty="0" err="1"/>
              <a:t>order_items</a:t>
            </a:r>
            <a:r>
              <a:rPr lang="en-US" altLang="ko-KR" sz="2400" dirty="0"/>
              <a:t>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 상세 번호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order_item_id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증가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(quantity)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INT, NOT NULL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unit_price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할인율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discount_rate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소수점 포함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15.00%) DECIMAL(5,2)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3410BB9-6049-AA29-411D-C2E615B0BE3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388584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FEFA-9DF7-C1A9-3726-D038641D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39647D-CFFC-F657-ED0D-352BDF117199}"/>
              </a:ext>
            </a:extLst>
          </p:cNvPr>
          <p:cNvSpPr txBox="1"/>
          <p:nvPr/>
        </p:nvSpPr>
        <p:spPr>
          <a:xfrm>
            <a:off x="464687" y="1185770"/>
            <a:ext cx="6941324" cy="336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sz="2400" dirty="0"/>
              <a:t>다음 조건에 맞는 </a:t>
            </a:r>
            <a:r>
              <a:rPr lang="en-US" altLang="ko-KR" sz="2400" dirty="0"/>
              <a:t>employees </a:t>
            </a:r>
            <a:r>
              <a:rPr lang="ko-KR" altLang="en-US" sz="2400" dirty="0"/>
              <a:t>테이블을 생성하세요</a:t>
            </a:r>
            <a:r>
              <a:rPr lang="en-US" altLang="ko-KR" sz="2400" dirty="0"/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employee_id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INT,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증가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 키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(name)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VARCHAR(50), NOT NULL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매니저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manager_id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INT, FK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–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employee_id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참조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입사일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hire_date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부서명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(department)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(position)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VARCHAR(50)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56D890A-3E25-8BFE-029D-8DC1B54E114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</p:spTree>
    <p:extLst>
      <p:ext uri="{BB962C8B-B14F-4D97-AF65-F5344CB8AC3E}">
        <p14:creationId xmlns:p14="http://schemas.microsoft.com/office/powerpoint/2010/main" val="322945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83CB-104A-FD33-3FF5-6A887B25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8175057D-FD64-6FD5-E79E-16C4DF7F16B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새로운 </a:t>
            </a:r>
            <a:r>
              <a:rPr lang="en-US" altLang="ko-KR" dirty="0">
                <a:solidFill>
                  <a:srgbClr val="ED7D31"/>
                </a:solidFill>
              </a:rPr>
              <a:t>DB</a:t>
            </a:r>
            <a:r>
              <a:rPr lang="ko-KR" altLang="en-US" dirty="0">
                <a:solidFill>
                  <a:srgbClr val="ED7D31"/>
                </a:solidFill>
              </a:rPr>
              <a:t> 만들기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F5C9F7-8520-D82C-0627-81314116A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199" y="1480776"/>
            <a:ext cx="6959602" cy="4790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9ED4C5-7CC9-B33E-BEB4-1D85F52BE536}"/>
              </a:ext>
            </a:extLst>
          </p:cNvPr>
          <p:cNvSpPr txBox="1"/>
          <p:nvPr/>
        </p:nvSpPr>
        <p:spPr>
          <a:xfrm>
            <a:off x="2616199" y="1083509"/>
            <a:ext cx="611505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/>
              <a:t>🚀</a:t>
            </a:r>
            <a:r>
              <a:rPr lang="ko-KR" altLang="en-US" dirty="0"/>
              <a:t>완성한 </a:t>
            </a:r>
            <a:r>
              <a:rPr lang="en-US" altLang="ko-KR" dirty="0"/>
              <a:t>DB</a:t>
            </a:r>
            <a:r>
              <a:rPr lang="ko-KR" altLang="en-US" dirty="0"/>
              <a:t>의 </a:t>
            </a:r>
            <a:r>
              <a:rPr lang="en-US" altLang="ko-KR" dirty="0"/>
              <a:t>ER</a:t>
            </a:r>
            <a:r>
              <a:rPr lang="ko-KR" altLang="en-US" dirty="0"/>
              <a:t>다이어그램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42607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BB773-54B9-7B9F-A27C-21233F1D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JOIN </a:t>
            </a:r>
            <a:r>
              <a:rPr lang="ko-KR" altLang="en-US" dirty="0"/>
              <a:t>기본 문법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C65B9-1DD6-C390-DDEE-F46657AF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493" y="4511368"/>
            <a:ext cx="6451013" cy="13898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JOIN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앞의 테이블이 기준 테이블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ON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절은 어떤 컬럼을 기준으로 연결할지를 명시</a:t>
            </a:r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3477C9-0AAE-8EAF-B375-9FC3F96CE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91" y="1254953"/>
            <a:ext cx="8348418" cy="314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00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CED2-2D8F-717C-9238-E7A44BFEC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6E1CE-AE34-B7C3-EBDB-A99E441F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종류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20BE50-2E50-5F85-989C-ADCFD5E47659}"/>
              </a:ext>
            </a:extLst>
          </p:cNvPr>
          <p:cNvSpPr txBox="1">
            <a:spLocks/>
          </p:cNvSpPr>
          <p:nvPr/>
        </p:nvSpPr>
        <p:spPr>
          <a:xfrm>
            <a:off x="245389" y="1145408"/>
            <a:ext cx="11701221" cy="154004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/>
              <a:t>✅</a:t>
            </a:r>
            <a:r>
              <a:rPr lang="en-US" altLang="ko-KR" dirty="0"/>
              <a:t>JOIN </a:t>
            </a:r>
            <a:r>
              <a:rPr lang="ko-KR" altLang="en-US" dirty="0"/>
              <a:t>종류별 개념</a:t>
            </a:r>
            <a:endParaRPr lang="ko-KR" altLang="en-US" sz="28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F9E9D6A-D6B4-2A6C-B25E-371D94C7B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12087"/>
              </p:ext>
            </p:extLst>
          </p:nvPr>
        </p:nvGraphicFramePr>
        <p:xfrm>
          <a:off x="415925" y="1962150"/>
          <a:ext cx="11385550" cy="3750439"/>
        </p:xfrm>
        <a:graphic>
          <a:graphicData uri="http://schemas.openxmlformats.org/drawingml/2006/table">
            <a:tbl>
              <a:tblPr/>
              <a:tblGrid>
                <a:gridCol w="1452590">
                  <a:extLst>
                    <a:ext uri="{9D8B030D-6E8A-4147-A177-3AD203B41FA5}">
                      <a16:colId xmlns:a16="http://schemas.microsoft.com/office/drawing/2014/main" val="4028989067"/>
                    </a:ext>
                  </a:extLst>
                </a:gridCol>
                <a:gridCol w="2388192">
                  <a:extLst>
                    <a:ext uri="{9D8B030D-6E8A-4147-A177-3AD203B41FA5}">
                      <a16:colId xmlns:a16="http://schemas.microsoft.com/office/drawing/2014/main" val="752496953"/>
                    </a:ext>
                  </a:extLst>
                </a:gridCol>
                <a:gridCol w="7544768">
                  <a:extLst>
                    <a:ext uri="{9D8B030D-6E8A-4147-A177-3AD203B41FA5}">
                      <a16:colId xmlns:a16="http://schemas.microsoft.com/office/drawing/2014/main" val="3405920479"/>
                    </a:ext>
                  </a:extLst>
                </a:gridCol>
              </a:tblGrid>
              <a:tr h="5357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 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종류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575531"/>
                  </a:ext>
                </a:extLst>
              </a:tr>
              <a:tr h="5357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INNER 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양쪽 테이블 모두에 존재하는 행만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38324"/>
                  </a:ext>
                </a:extLst>
              </a:tr>
              <a:tr h="53577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OUTER</a:t>
                      </a:r>
                      <a:b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LEFT 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 테이블의 모든 행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오른쪽에 일치하는 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197615"/>
                  </a:ext>
                </a:extLst>
              </a:tr>
              <a:tr h="535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RIGHT 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오른쪽 테이블의 모든 행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왼쪽에 일치하는 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910778"/>
                  </a:ext>
                </a:extLst>
              </a:tr>
              <a:tr h="5357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FULL OUTER 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양쪽 테이블의 모든 행을 결합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(MySQL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에서는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UNION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으로 우회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33998"/>
                  </a:ext>
                </a:extLst>
              </a:tr>
              <a:tr h="5357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CROSS 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테이블의 모든 행을 서로 곱하여 가능한 모든 조합을 반환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105845"/>
                  </a:ext>
                </a:extLst>
              </a:tr>
              <a:tr h="535777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SELF JOIN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자기 자신과 조인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961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827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94C4-ADE0-28BD-FB28-F80E4B1D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12464-4091-57CA-3F3A-55124F7A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종류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63AC168-8D67-C35B-230B-C6DCBAC7D31B}"/>
              </a:ext>
            </a:extLst>
          </p:cNvPr>
          <p:cNvGrpSpPr/>
          <p:nvPr/>
        </p:nvGrpSpPr>
        <p:grpSpPr>
          <a:xfrm>
            <a:off x="2733675" y="1056507"/>
            <a:ext cx="6724650" cy="5046821"/>
            <a:chOff x="2733675" y="1145407"/>
            <a:chExt cx="6724650" cy="5046821"/>
          </a:xfrm>
        </p:grpSpPr>
        <p:pic>
          <p:nvPicPr>
            <p:cNvPr id="2050" name="Picture 2" descr="Ace the Coding Interview: SQL — Cross Join | by Ivo Manolov | Medium">
              <a:extLst>
                <a:ext uri="{FF2B5EF4-FFF2-40B4-BE49-F238E27FC236}">
                  <a16:creationId xmlns:a16="http://schemas.microsoft.com/office/drawing/2014/main" id="{6669D6F9-3D05-57A2-9A07-0D7D09A09E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1163" y="1145407"/>
              <a:ext cx="6269674" cy="4800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8F5741-51CC-1450-6274-2CF5A9090670}"/>
                </a:ext>
              </a:extLst>
            </p:cNvPr>
            <p:cNvSpPr txBox="1"/>
            <p:nvPr/>
          </p:nvSpPr>
          <p:spPr>
            <a:xfrm>
              <a:off x="2733675" y="5946007"/>
              <a:ext cx="6724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https://medium.com/@iammanolov98/mastering-sql-joins-coding-interview-preparation-cross-join-230abb340336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2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7E81B-671B-F7B1-B5C9-0C30D15D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13E8A-D030-E658-0DAF-60ADF4F6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INNER JOIN (</a:t>
            </a:r>
            <a:r>
              <a:rPr lang="ko-KR" altLang="en-US" dirty="0"/>
              <a:t>교집합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ACEA0050-C630-25BB-1E7A-FAE381C0D395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16069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INNER JOIN</a:t>
            </a:r>
            <a:r>
              <a:rPr lang="ko-KR" altLang="en-US" dirty="0"/>
              <a:t>은 두 테이블에서 일치하는 데이터만 반환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일반적으로 </a:t>
            </a:r>
            <a:r>
              <a:rPr lang="en-US" altLang="ko-KR" dirty="0"/>
              <a:t>JOIN</a:t>
            </a:r>
            <a:r>
              <a:rPr lang="ko-KR" altLang="en-US" dirty="0"/>
              <a:t>은 </a:t>
            </a:r>
            <a:r>
              <a:rPr lang="en-US" altLang="ko-KR" dirty="0"/>
              <a:t>INNER JOIN</a:t>
            </a:r>
            <a:r>
              <a:rPr lang="ko-KR" altLang="en-US" dirty="0"/>
              <a:t>을 가리킴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015862-E667-98CE-5A7A-A56E79704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517" y="3631488"/>
            <a:ext cx="6786836" cy="1606959"/>
          </a:xfrm>
          <a:prstGeom prst="rect">
            <a:avLst/>
          </a:prstGeom>
        </p:spPr>
      </p:pic>
      <p:pic>
        <p:nvPicPr>
          <p:cNvPr id="11" name="Picture 2" descr="Ace the Coding Interview: SQL — Cross Join | by Ivo Manolov | Medium">
            <a:extLst>
              <a:ext uri="{FF2B5EF4-FFF2-40B4-BE49-F238E27FC236}">
                <a16:creationId xmlns:a16="http://schemas.microsoft.com/office/drawing/2014/main" id="{EF79FA33-034B-C94D-87CF-966F69CE34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6" t="65446" r="53291" b="13919"/>
          <a:stretch/>
        </p:blipFill>
        <p:spPr bwMode="auto">
          <a:xfrm>
            <a:off x="584199" y="3102334"/>
            <a:ext cx="3952275" cy="237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826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FF5BC-83AA-12F1-5E30-01ED017F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409D2-F297-0FCF-0250-CE376858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INNER JOIN (</a:t>
            </a:r>
            <a:r>
              <a:rPr lang="ko-KR" altLang="en-US" dirty="0"/>
              <a:t>교집합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2EAE95-C651-560B-0621-48C18E2A5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979" y="1259309"/>
            <a:ext cx="8532040" cy="3187336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DA43BC67-FB38-A53C-B3F3-E120B857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364" y="4575787"/>
            <a:ext cx="10311269" cy="13898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customers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orders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테이블에서 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customer_id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일치하는 경우만 결과에 포함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양쪽 테이블에 모두 존재해야 결과에 나타남</a:t>
            </a:r>
          </a:p>
        </p:txBody>
      </p:sp>
    </p:spTree>
    <p:extLst>
      <p:ext uri="{BB962C8B-B14F-4D97-AF65-F5344CB8AC3E}">
        <p14:creationId xmlns:p14="http://schemas.microsoft.com/office/powerpoint/2010/main" val="433100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D4DBD-4A02-BBE4-B6A4-0EB38509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90B54-56B4-1956-2CE4-6AAB6EC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LEFT OUTER</a:t>
            </a:r>
            <a:r>
              <a:rPr lang="ko-KR" altLang="en-US" dirty="0"/>
              <a:t> </a:t>
            </a:r>
            <a:r>
              <a:rPr lang="en-US" altLang="ko-KR" dirty="0"/>
              <a:t>JOIN (</a:t>
            </a:r>
            <a:r>
              <a:rPr lang="ko-KR" altLang="en-US" dirty="0"/>
              <a:t>왼쪽 외부 조인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6892907-AC7F-68B8-013C-B6C6D8B22F3F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13416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💡왼쪽</a:t>
            </a:r>
            <a:r>
              <a:rPr lang="en-US" altLang="ko-KR" dirty="0"/>
              <a:t>(</a:t>
            </a:r>
            <a:r>
              <a:rPr lang="ko-KR" altLang="en-US" dirty="0"/>
              <a:t>기준</a:t>
            </a:r>
            <a:r>
              <a:rPr lang="en-US" altLang="ko-KR" dirty="0"/>
              <a:t>) </a:t>
            </a:r>
            <a:r>
              <a:rPr lang="ko-KR" altLang="en-US" dirty="0"/>
              <a:t>테이블의 모든 행을 포함하고</a:t>
            </a:r>
            <a:r>
              <a:rPr lang="en-US" altLang="ko-KR" dirty="0"/>
              <a:t>, </a:t>
            </a:r>
            <a:r>
              <a:rPr lang="ko-KR" altLang="en-US" dirty="0"/>
              <a:t>오른쪽 테이블에 일치하는 값이 있을 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경우 함께 결합</a:t>
            </a:r>
            <a:r>
              <a:rPr lang="en-US" altLang="ko-KR" dirty="0"/>
              <a:t>, </a:t>
            </a:r>
            <a:r>
              <a:rPr lang="ko-KR" altLang="en-US" dirty="0"/>
              <a:t>없을 경우에는 </a:t>
            </a:r>
            <a:r>
              <a:rPr lang="en-US" altLang="ko-KR" dirty="0"/>
              <a:t>NULL</a:t>
            </a:r>
            <a:r>
              <a:rPr lang="ko-KR" altLang="en-US" dirty="0"/>
              <a:t>로 채워서 반환</a:t>
            </a: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1BCAC63-4F16-9E52-537C-EA9BEB3B1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931" y="5412897"/>
            <a:ext cx="8904138" cy="824158"/>
          </a:xfrm>
          <a:prstGeom prst="rect">
            <a:avLst/>
          </a:prstGeom>
        </p:spPr>
      </p:pic>
      <p:pic>
        <p:nvPicPr>
          <p:cNvPr id="3" name="Picture 2" descr="Ace the Coding Interview: SQL — Cross Join | by Ivo Manolov | Medium">
            <a:extLst>
              <a:ext uri="{FF2B5EF4-FFF2-40B4-BE49-F238E27FC236}">
                <a16:creationId xmlns:a16="http://schemas.microsoft.com/office/drawing/2014/main" id="{FB79944A-7B20-3439-A20E-95D33EC84B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" t="3382" r="70299" b="75983"/>
          <a:stretch/>
        </p:blipFill>
        <p:spPr bwMode="auto">
          <a:xfrm>
            <a:off x="4119862" y="2764308"/>
            <a:ext cx="3952275" cy="237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50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FD4EA-2BDE-943A-FEA9-4344337C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641442-B838-5F78-1416-22BA96F51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3930" y="5469457"/>
            <a:ext cx="8904138" cy="71103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F82267-223D-1F25-3493-6FAF0D86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RIGHT OUTER JOIN (</a:t>
            </a:r>
            <a:r>
              <a:rPr lang="ko-KR" altLang="en-US" dirty="0"/>
              <a:t>오른쪽 외부 조인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29859FD5-94E6-B393-6EAF-3B56253952ED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701221" cy="13416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💡오른쪽</a:t>
            </a:r>
            <a:r>
              <a:rPr lang="en-US" altLang="ko-KR" dirty="0"/>
              <a:t>(</a:t>
            </a:r>
            <a:r>
              <a:rPr lang="ko-KR" altLang="en-US" dirty="0"/>
              <a:t>기준</a:t>
            </a:r>
            <a:r>
              <a:rPr lang="en-US" altLang="ko-KR" dirty="0"/>
              <a:t>) </a:t>
            </a:r>
            <a:r>
              <a:rPr lang="ko-KR" altLang="en-US" dirty="0"/>
              <a:t>테이블의 모든 행을 포함하고</a:t>
            </a:r>
            <a:r>
              <a:rPr lang="en-US" altLang="ko-KR" dirty="0"/>
              <a:t>, </a:t>
            </a:r>
            <a:r>
              <a:rPr lang="ko-KR" altLang="en-US" dirty="0"/>
              <a:t>왼쪽 테이블에 일치하는 값이 있을 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경우 함께 결합</a:t>
            </a:r>
            <a:r>
              <a:rPr lang="en-US" altLang="ko-KR" dirty="0"/>
              <a:t>, </a:t>
            </a:r>
            <a:r>
              <a:rPr lang="ko-KR" altLang="en-US" dirty="0"/>
              <a:t>없을 경우에는 </a:t>
            </a:r>
            <a:r>
              <a:rPr lang="en-US" altLang="ko-KR" dirty="0"/>
              <a:t>NULL</a:t>
            </a:r>
            <a:r>
              <a:rPr lang="ko-KR" altLang="en-US" dirty="0"/>
              <a:t>로 채워서 반환</a:t>
            </a:r>
            <a:endParaRPr lang="en-US" altLang="ko-KR" dirty="0"/>
          </a:p>
        </p:txBody>
      </p:sp>
      <p:pic>
        <p:nvPicPr>
          <p:cNvPr id="4" name="Picture 2" descr="Ace the Coding Interview: SQL — Cross Join | by Ivo Manolov | Medium">
            <a:extLst>
              <a:ext uri="{FF2B5EF4-FFF2-40B4-BE49-F238E27FC236}">
                <a16:creationId xmlns:a16="http://schemas.microsoft.com/office/drawing/2014/main" id="{7E2ECBDC-3572-BE22-D698-7CD984B3F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80" t="3523" r="4387" b="75842"/>
          <a:stretch/>
        </p:blipFill>
        <p:spPr bwMode="auto">
          <a:xfrm>
            <a:off x="4119862" y="2761133"/>
            <a:ext cx="3952275" cy="237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645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280C-177D-FEBD-A72A-42343450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C739D5-3097-BD2E-0D78-DE20C27D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UNION</a:t>
            </a:r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32D051DD-77B6-394F-6F2D-03FF33D7C85A}"/>
              </a:ext>
            </a:extLst>
          </p:cNvPr>
          <p:cNvSpPr txBox="1">
            <a:spLocks/>
          </p:cNvSpPr>
          <p:nvPr/>
        </p:nvSpPr>
        <p:spPr>
          <a:xfrm>
            <a:off x="245389" y="1145408"/>
            <a:ext cx="11667211" cy="269846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💡두 개 이상의 </a:t>
            </a:r>
            <a:r>
              <a:rPr lang="en-US" altLang="ko-KR" dirty="0"/>
              <a:t>SELECT </a:t>
            </a:r>
            <a:r>
              <a:rPr lang="ko-KR" altLang="en-US" dirty="0"/>
              <a:t>쿼리 결과를 수직으로 합쳐 하나의 결과 집합으로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반환하는 </a:t>
            </a:r>
            <a:r>
              <a:rPr lang="en-US" altLang="ko-KR" dirty="0"/>
              <a:t>SQL </a:t>
            </a:r>
            <a:r>
              <a:rPr lang="ko-KR" altLang="en-US" dirty="0"/>
              <a:t>연산자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SELECT </a:t>
            </a:r>
            <a:r>
              <a:rPr lang="ko-KR" altLang="en-US" dirty="0"/>
              <a:t>문들의 결과 컬럼 수와 데이터 타입이 같아야 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기본적으로 중복된 행은 제거됨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E87E3-FCE9-B2CD-289B-D7992C486DF9}"/>
              </a:ext>
            </a:extLst>
          </p:cNvPr>
          <p:cNvSpPr txBox="1"/>
          <p:nvPr/>
        </p:nvSpPr>
        <p:spPr>
          <a:xfrm>
            <a:off x="618066" y="3972467"/>
            <a:ext cx="8424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수직적으로 합친다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?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SELECT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결과를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단위로 아래로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이어 붙이는 방식</a:t>
            </a:r>
            <a:endParaRPr lang="en-US" altLang="ko-KR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D195C3-5AD7-FE41-3AC9-08A8DFFBD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95" y="4889651"/>
            <a:ext cx="9920398" cy="71312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9541815-DA3F-8E7C-D2F2-F935D445817F}"/>
              </a:ext>
            </a:extLst>
          </p:cNvPr>
          <p:cNvSpPr/>
          <p:nvPr/>
        </p:nvSpPr>
        <p:spPr>
          <a:xfrm>
            <a:off x="5666873" y="5033981"/>
            <a:ext cx="753178" cy="423543"/>
          </a:xfrm>
          <a:prstGeom prst="rect">
            <a:avLst/>
          </a:prstGeom>
          <a:noFill/>
          <a:ln w="508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791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59BA-FD1E-1C72-F5AA-C2281DA1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906B6-24FE-B741-7217-C1093CA0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UNION ALL </a:t>
            </a:r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EBC8B4DD-83AB-F3CD-5711-6C365400AD97}"/>
              </a:ext>
            </a:extLst>
          </p:cNvPr>
          <p:cNvSpPr txBox="1">
            <a:spLocks/>
          </p:cNvSpPr>
          <p:nvPr/>
        </p:nvSpPr>
        <p:spPr>
          <a:xfrm>
            <a:off x="245389" y="1145408"/>
            <a:ext cx="11667211" cy="82294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💡여러 </a:t>
            </a:r>
            <a:r>
              <a:rPr lang="en-US" altLang="ko-KR" dirty="0"/>
              <a:t>SELECT </a:t>
            </a:r>
            <a:r>
              <a:rPr lang="ko-KR" altLang="en-US" dirty="0"/>
              <a:t>결과를 그대로 모두 합쳐</a:t>
            </a:r>
            <a:r>
              <a:rPr lang="en-US" altLang="ko-KR" dirty="0"/>
              <a:t>, </a:t>
            </a:r>
            <a:r>
              <a:rPr lang="ko-KR" altLang="en-US" dirty="0"/>
              <a:t>중복도 포함한 전체 결과를 반환</a:t>
            </a: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E90E3F-67D1-4C0F-8F1B-303A4C4B0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944165"/>
              </p:ext>
            </p:extLst>
          </p:nvPr>
        </p:nvGraphicFramePr>
        <p:xfrm>
          <a:off x="591268" y="1968349"/>
          <a:ext cx="11009463" cy="1641126"/>
        </p:xfrm>
        <a:graphic>
          <a:graphicData uri="http://schemas.openxmlformats.org/drawingml/2006/table">
            <a:tbl>
              <a:tblPr/>
              <a:tblGrid>
                <a:gridCol w="2164572">
                  <a:extLst>
                    <a:ext uri="{9D8B030D-6E8A-4147-A177-3AD203B41FA5}">
                      <a16:colId xmlns:a16="http://schemas.microsoft.com/office/drawing/2014/main" val="3809974703"/>
                    </a:ext>
                  </a:extLst>
                </a:gridCol>
                <a:gridCol w="8844891">
                  <a:extLst>
                    <a:ext uri="{9D8B030D-6E8A-4147-A177-3AD203B41FA5}">
                      <a16:colId xmlns:a16="http://schemas.microsoft.com/office/drawing/2014/main" val="1091109773"/>
                    </a:ext>
                  </a:extLst>
                </a:gridCol>
              </a:tblGrid>
              <a:tr h="5470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577532"/>
                  </a:ext>
                </a:extLst>
              </a:tr>
              <a:tr h="547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중복된 결과는 제거됨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느릴 수 있음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019969"/>
                  </a:ext>
                </a:extLst>
              </a:tr>
              <a:tr h="5470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UNION ALL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중복을 포함하여 모든 결과를 표시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더 빠름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320545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ED68BEA-035A-D185-DE8C-226FE06B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89" r="25970" b="13656"/>
          <a:stretch/>
        </p:blipFill>
        <p:spPr>
          <a:xfrm>
            <a:off x="2798462" y="3878981"/>
            <a:ext cx="6561063" cy="232541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20748FE-FE22-80E2-38A8-4497A0A0937B}"/>
              </a:ext>
            </a:extLst>
          </p:cNvPr>
          <p:cNvSpPr/>
          <p:nvPr/>
        </p:nvSpPr>
        <p:spPr>
          <a:xfrm>
            <a:off x="3270183" y="4840551"/>
            <a:ext cx="1706078" cy="424468"/>
          </a:xfrm>
          <a:prstGeom prst="rect">
            <a:avLst/>
          </a:prstGeom>
          <a:noFill/>
          <a:ln w="508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228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3FE-1E03-2EA7-187A-B1D6EC54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38444-E879-4997-1BA5-1EEC35BB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UNION</a:t>
            </a:r>
            <a:r>
              <a:rPr lang="ko-KR" altLang="en-US" dirty="0"/>
              <a:t>과 </a:t>
            </a:r>
            <a:r>
              <a:rPr lang="en-US" altLang="ko-KR" dirty="0"/>
              <a:t>FULL OUTER JOIN</a:t>
            </a:r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3393A46-8E1D-B039-6250-13BE34F0CA7D}"/>
              </a:ext>
            </a:extLst>
          </p:cNvPr>
          <p:cNvSpPr txBox="1">
            <a:spLocks/>
          </p:cNvSpPr>
          <p:nvPr/>
        </p:nvSpPr>
        <p:spPr>
          <a:xfrm>
            <a:off x="245389" y="1145407"/>
            <a:ext cx="11667211" cy="27661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</a:t>
            </a:r>
            <a:r>
              <a:rPr lang="en-US" altLang="ko-KR" dirty="0"/>
              <a:t>FULL OUTER JOIN</a:t>
            </a:r>
            <a:r>
              <a:rPr lang="ko-KR" altLang="en-US" dirty="0"/>
              <a:t>은 양쪽 테이블의 모든 데이터를 포함하며</a:t>
            </a:r>
            <a:r>
              <a:rPr lang="en-US" altLang="ko-KR" dirty="0"/>
              <a:t>, </a:t>
            </a:r>
            <a:r>
              <a:rPr lang="ko-KR" altLang="en-US" dirty="0"/>
              <a:t>어느 한쪽에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일치하는 값이 없는 경우에는 </a:t>
            </a:r>
            <a:r>
              <a:rPr lang="en-US" altLang="ko-KR" dirty="0"/>
              <a:t>NULL</a:t>
            </a:r>
            <a:r>
              <a:rPr lang="ko-KR" altLang="en-US" dirty="0"/>
              <a:t>로 채워서 반환함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개념적으로 </a:t>
            </a:r>
            <a:r>
              <a:rPr lang="en-US" altLang="ko-KR" b="1" dirty="0"/>
              <a:t>LEFT JOIN</a:t>
            </a:r>
            <a:r>
              <a:rPr lang="ko-KR" altLang="en-US" b="1" dirty="0"/>
              <a:t>과 </a:t>
            </a:r>
            <a:r>
              <a:rPr lang="en-US" altLang="ko-KR" b="1" dirty="0"/>
              <a:t>RIGHT JOIN</a:t>
            </a:r>
            <a:r>
              <a:rPr lang="ko-KR" altLang="en-US" b="1" dirty="0"/>
              <a:t>의 합집합</a:t>
            </a:r>
            <a:endParaRPr lang="en-US" altLang="ko-KR" b="1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 MySQL</a:t>
            </a:r>
            <a:r>
              <a:rPr lang="ko-KR" altLang="en-US" dirty="0"/>
              <a:t>은 </a:t>
            </a:r>
            <a:r>
              <a:rPr lang="en-US" altLang="ko-KR" dirty="0"/>
              <a:t>FULL OUTER JOIN</a:t>
            </a:r>
            <a:r>
              <a:rPr lang="ko-KR" altLang="en-US" dirty="0"/>
              <a:t>을 지원하지 않기 때문에 </a:t>
            </a:r>
            <a:r>
              <a:rPr lang="en-US" altLang="ko-KR" b="1" dirty="0"/>
              <a:t>UNION</a:t>
            </a:r>
            <a:r>
              <a:rPr lang="ko-KR" altLang="en-US" b="1" dirty="0"/>
              <a:t>으로 대체</a:t>
            </a:r>
            <a:endParaRPr lang="en-US" altLang="ko-KR" b="1" dirty="0"/>
          </a:p>
        </p:txBody>
      </p:sp>
      <p:pic>
        <p:nvPicPr>
          <p:cNvPr id="3" name="Picture 2" descr="Ace the Coding Interview: SQL — Cross Join | by Ivo Manolov | Medium">
            <a:extLst>
              <a:ext uri="{FF2B5EF4-FFF2-40B4-BE49-F238E27FC236}">
                <a16:creationId xmlns:a16="http://schemas.microsoft.com/office/drawing/2014/main" id="{FF12C907-B68C-47F5-C439-0DCBA0E3A1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64" t="28704" r="35903" b="50661"/>
          <a:stretch/>
        </p:blipFill>
        <p:spPr bwMode="auto">
          <a:xfrm>
            <a:off x="4119862" y="3871323"/>
            <a:ext cx="3952275" cy="237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6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9C20-05AD-F370-472F-8C5A55EE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B603B-E745-7802-189B-A26E686A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UNION</a:t>
            </a:r>
            <a:r>
              <a:rPr lang="ko-KR" altLang="en-US" dirty="0"/>
              <a:t>과 </a:t>
            </a:r>
            <a:r>
              <a:rPr lang="en-US" altLang="ko-KR" dirty="0"/>
              <a:t>FULL OUTER JOIN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EAA6E0-2A6C-288F-BC5D-0AA76EE0E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33" y="1773256"/>
            <a:ext cx="10761134" cy="3946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7CA674-DDD6-A7D6-4508-FCF65A03AFCD}"/>
              </a:ext>
            </a:extLst>
          </p:cNvPr>
          <p:cNvSpPr txBox="1"/>
          <p:nvPr/>
        </p:nvSpPr>
        <p:spPr>
          <a:xfrm>
            <a:off x="618067" y="1311591"/>
            <a:ext cx="61129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FULL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OUTER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JOIN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구현</a:t>
            </a:r>
            <a:endParaRPr lang="en-US" altLang="ko-KR" sz="2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EF47E2-6FB9-DDAB-954F-41A96D13C305}"/>
              </a:ext>
            </a:extLst>
          </p:cNvPr>
          <p:cNvSpPr/>
          <p:nvPr/>
        </p:nvSpPr>
        <p:spPr>
          <a:xfrm>
            <a:off x="1143000" y="3746389"/>
            <a:ext cx="897467" cy="402278"/>
          </a:xfrm>
          <a:prstGeom prst="rect">
            <a:avLst/>
          </a:prstGeom>
          <a:noFill/>
          <a:ln w="508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689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B662-C9D7-AA18-F749-A37816E9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DC586-A7AD-EECA-B6C1-D8711E77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CROSS JOIN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491DFE-C6B3-49E3-5A7D-2204A9776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2835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 두 테이블의 모든 행을 서로 곱하여 가능한 모든 조합을 반환하는 </a:t>
            </a:r>
            <a:r>
              <a:rPr lang="en-US" altLang="ko-KR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JOIN </a:t>
            </a: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방식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주로 테스트 데이터 생성</a:t>
            </a:r>
            <a:r>
              <a:rPr lang="en-US" altLang="ko-KR" dirty="0"/>
              <a:t>, </a:t>
            </a:r>
            <a:r>
              <a:rPr lang="ko-KR" altLang="en-US" dirty="0"/>
              <a:t>모든 조합 확인 등의 특정 목적에만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행 수가 폭발적으로 늘어날 수 있으므로</a:t>
            </a:r>
            <a:r>
              <a:rPr lang="en-US" altLang="ko-KR" dirty="0"/>
              <a:t>, </a:t>
            </a:r>
            <a:r>
              <a:rPr lang="ko-KR" altLang="en-US" dirty="0"/>
              <a:t>실수로 사용하면 성능에 큰 영향을 미칠 수 있음</a:t>
            </a:r>
            <a:endParaRPr lang="en-US" altLang="ko-KR" dirty="0"/>
          </a:p>
        </p:txBody>
      </p:sp>
      <p:pic>
        <p:nvPicPr>
          <p:cNvPr id="2050" name="Picture 2" descr="SQL 기본 문법: JOIN(INNER, OUTER, CROSS, SELF JOIN)">
            <a:extLst>
              <a:ext uri="{FF2B5EF4-FFF2-40B4-BE49-F238E27FC236}">
                <a16:creationId xmlns:a16="http://schemas.microsoft.com/office/drawing/2014/main" id="{5709AB8A-F393-23F1-509F-E35315B59D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47" b="27618"/>
          <a:stretch/>
        </p:blipFill>
        <p:spPr bwMode="auto">
          <a:xfrm>
            <a:off x="2981827" y="3429000"/>
            <a:ext cx="6241142" cy="253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5D179-6A63-A071-24BB-0F4A10B046E2}"/>
              </a:ext>
            </a:extLst>
          </p:cNvPr>
          <p:cNvSpPr txBox="1"/>
          <p:nvPr/>
        </p:nvSpPr>
        <p:spPr>
          <a:xfrm>
            <a:off x="2476118" y="5965084"/>
            <a:ext cx="72525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https://hongong.hanbit.co.kr/sql-%EA%B8%B0%EB%B3%B8-%EB%AC%B8%EB%B2%95-joininner-outer-cross-self-join/</a:t>
            </a:r>
          </a:p>
        </p:txBody>
      </p:sp>
    </p:spTree>
    <p:extLst>
      <p:ext uri="{BB962C8B-B14F-4D97-AF65-F5344CB8AC3E}">
        <p14:creationId xmlns:p14="http://schemas.microsoft.com/office/powerpoint/2010/main" val="95046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86FC7-0319-9C4A-EE44-702E2B6D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2F848-542A-3714-4932-D896EE6B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CROSS JOIN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A62F7-2444-D010-DCB9-D5FAA798F9B0}"/>
              </a:ext>
            </a:extLst>
          </p:cNvPr>
          <p:cNvSpPr txBox="1"/>
          <p:nvPr/>
        </p:nvSpPr>
        <p:spPr>
          <a:xfrm>
            <a:off x="2390775" y="1399193"/>
            <a:ext cx="2143125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사용 예시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7C4EA27-54E4-8ED7-DC13-E09A9DD2D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980699"/>
            <a:ext cx="7162800" cy="377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00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CF4B4-9A39-5F02-5926-F9DB6497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6186B-F979-B772-F4AA-FBC1CE004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CROSS JOIN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544BAB-7603-FFF5-E9DD-788EE66A6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873940"/>
              </p:ext>
            </p:extLst>
          </p:nvPr>
        </p:nvGraphicFramePr>
        <p:xfrm>
          <a:off x="2496174" y="1486497"/>
          <a:ext cx="5089356" cy="1561584"/>
        </p:xfrm>
        <a:graphic>
          <a:graphicData uri="http://schemas.openxmlformats.org/drawingml/2006/table">
            <a:tbl>
              <a:tblPr/>
              <a:tblGrid>
                <a:gridCol w="2199915">
                  <a:extLst>
                    <a:ext uri="{9D8B030D-6E8A-4147-A177-3AD203B41FA5}">
                      <a16:colId xmlns:a16="http://schemas.microsoft.com/office/drawing/2014/main" val="3061086459"/>
                    </a:ext>
                  </a:extLst>
                </a:gridCol>
                <a:gridCol w="2889441">
                  <a:extLst>
                    <a:ext uri="{9D8B030D-6E8A-4147-A177-3AD203B41FA5}">
                      <a16:colId xmlns:a16="http://schemas.microsoft.com/office/drawing/2014/main" val="681032008"/>
                    </a:ext>
                  </a:extLst>
                </a:gridCol>
              </a:tblGrid>
              <a:tr h="520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product_id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product_name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950866"/>
                  </a:ext>
                </a:extLst>
              </a:tr>
              <a:tr h="5205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마우스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526010"/>
                  </a:ext>
                </a:extLst>
              </a:tr>
              <a:tr h="5205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키보드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02745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EB5119-72D2-347E-FB7F-DDCE45D55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12764"/>
              </p:ext>
            </p:extLst>
          </p:nvPr>
        </p:nvGraphicFramePr>
        <p:xfrm>
          <a:off x="8200574" y="1486496"/>
          <a:ext cx="1533070" cy="1561584"/>
        </p:xfrm>
        <a:graphic>
          <a:graphicData uri="http://schemas.openxmlformats.org/drawingml/2006/table">
            <a:tbl>
              <a:tblPr/>
              <a:tblGrid>
                <a:gridCol w="1533070">
                  <a:extLst>
                    <a:ext uri="{9D8B030D-6E8A-4147-A177-3AD203B41FA5}">
                      <a16:colId xmlns:a16="http://schemas.microsoft.com/office/drawing/2014/main" val="3564441209"/>
                    </a:ext>
                  </a:extLst>
                </a:gridCol>
              </a:tblGrid>
              <a:tr h="5205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color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953664"/>
                  </a:ext>
                </a:extLst>
              </a:tr>
              <a:tr h="5205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검정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14893"/>
                  </a:ext>
                </a:extLst>
              </a:tr>
              <a:tr h="5205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흰색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15739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2DDAA87-FA6C-6712-FBB1-007C53082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131693"/>
              </p:ext>
            </p:extLst>
          </p:nvPr>
        </p:nvGraphicFramePr>
        <p:xfrm>
          <a:off x="2496174" y="3624251"/>
          <a:ext cx="7237470" cy="2048720"/>
        </p:xfrm>
        <a:graphic>
          <a:graphicData uri="http://schemas.openxmlformats.org/drawingml/2006/table">
            <a:tbl>
              <a:tblPr/>
              <a:tblGrid>
                <a:gridCol w="3618735">
                  <a:extLst>
                    <a:ext uri="{9D8B030D-6E8A-4147-A177-3AD203B41FA5}">
                      <a16:colId xmlns:a16="http://schemas.microsoft.com/office/drawing/2014/main" val="1834440961"/>
                    </a:ext>
                  </a:extLst>
                </a:gridCol>
                <a:gridCol w="3618735">
                  <a:extLst>
                    <a:ext uri="{9D8B030D-6E8A-4147-A177-3AD203B41FA5}">
                      <a16:colId xmlns:a16="http://schemas.microsoft.com/office/drawing/2014/main" val="544440727"/>
                    </a:ext>
                  </a:extLst>
                </a:gridCol>
              </a:tblGrid>
              <a:tr h="4097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product_name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color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446157"/>
                  </a:ext>
                </a:extLst>
              </a:tr>
              <a:tr h="4097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마우스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검정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519827"/>
                  </a:ext>
                </a:extLst>
              </a:tr>
              <a:tr h="4097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마우스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흰색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562"/>
                  </a:ext>
                </a:extLst>
              </a:tr>
              <a:tr h="4097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키보드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검정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523189"/>
                  </a:ext>
                </a:extLst>
              </a:tr>
              <a:tr h="4097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키보드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흰색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1018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430BE26-5B10-6060-FA2E-CF58BF60C968}"/>
              </a:ext>
            </a:extLst>
          </p:cNvPr>
          <p:cNvSpPr txBox="1"/>
          <p:nvPr/>
        </p:nvSpPr>
        <p:spPr>
          <a:xfrm>
            <a:off x="2450703" y="1062705"/>
            <a:ext cx="2222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dirty="0"/>
              <a:t>products </a:t>
            </a:r>
            <a:r>
              <a:rPr lang="ko-KR" altLang="en-US" dirty="0"/>
              <a:t>테이블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62BA5-4817-73E8-FA5A-598191307E42}"/>
              </a:ext>
            </a:extLst>
          </p:cNvPr>
          <p:cNvSpPr txBox="1"/>
          <p:nvPr/>
        </p:nvSpPr>
        <p:spPr>
          <a:xfrm>
            <a:off x="8089503" y="1062705"/>
            <a:ext cx="1838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dirty="0"/>
              <a:t>colors </a:t>
            </a:r>
            <a:r>
              <a:rPr lang="ko-KR" altLang="en-US" dirty="0"/>
              <a:t>테이블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B5DC1-014D-3F15-1D3C-CF8113EC9989}"/>
              </a:ext>
            </a:extLst>
          </p:cNvPr>
          <p:cNvSpPr txBox="1"/>
          <p:nvPr/>
        </p:nvSpPr>
        <p:spPr>
          <a:xfrm>
            <a:off x="2450703" y="3188188"/>
            <a:ext cx="6117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sz="1800" dirty="0"/>
              <a:t>CROSS JOIN </a:t>
            </a:r>
            <a:r>
              <a:rPr lang="ko-KR" altLang="en-US" sz="1800" dirty="0"/>
              <a:t>결과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758849-A487-7FDB-F64B-9B26974CFD61}"/>
              </a:ext>
            </a:extLst>
          </p:cNvPr>
          <p:cNvSpPr txBox="1"/>
          <p:nvPr/>
        </p:nvSpPr>
        <p:spPr>
          <a:xfrm>
            <a:off x="3907948" y="5795300"/>
            <a:ext cx="4413921" cy="45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 dirty="0">
                <a:latin typeface="+mn-ea"/>
              </a:rPr>
              <a:t>➡️ </a:t>
            </a:r>
            <a:r>
              <a:rPr lang="en-US" altLang="ko-KR" sz="2000" dirty="0">
                <a:latin typeface="+mn-ea"/>
              </a:rPr>
              <a:t>2</a:t>
            </a:r>
            <a:r>
              <a:rPr lang="ko-KR" altLang="en-US" sz="2000" dirty="0">
                <a:latin typeface="+mn-ea"/>
              </a:rPr>
              <a:t>개의 상품 </a:t>
            </a:r>
            <a:r>
              <a:rPr lang="en-US" altLang="ko-KR" sz="2000" dirty="0">
                <a:latin typeface="+mn-ea"/>
              </a:rPr>
              <a:t>× 2</a:t>
            </a:r>
            <a:r>
              <a:rPr lang="ko-KR" altLang="en-US" sz="2000" dirty="0">
                <a:latin typeface="+mn-ea"/>
              </a:rPr>
              <a:t>개의 색상 </a:t>
            </a:r>
            <a:r>
              <a:rPr lang="en-US" altLang="ko-KR" sz="2000" dirty="0">
                <a:latin typeface="+mn-ea"/>
              </a:rPr>
              <a:t>= </a:t>
            </a:r>
            <a:r>
              <a:rPr lang="en-US" altLang="ko-KR" sz="2000" b="1" dirty="0">
                <a:latin typeface="+mn-ea"/>
              </a:rPr>
              <a:t>4</a:t>
            </a:r>
            <a:r>
              <a:rPr lang="ko-KR" altLang="en-US" sz="2000" b="1" dirty="0">
                <a:latin typeface="+mn-ea"/>
              </a:rPr>
              <a:t>개 조합</a:t>
            </a:r>
            <a:endParaRPr lang="ko-KR" altLang="en-US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1212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2F80C-8BE6-4DD5-49B6-02E3DC26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126018-75EA-815C-AAB8-F225A1FD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SELF JOIN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15DF3A-DB39-1FAF-E75F-477E657D0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28359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💡</a:t>
            </a:r>
            <a:r>
              <a:rPr lang="ko-KR" altLang="en-US" dirty="0"/>
              <a:t>하나의 테이블을 마치 두 개의 테이블처럼 사용하여 자기 자신과 조인하는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📌테이블 내부에 있는 행들 간의 관계를 표현할 때 사용됨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✅주요 특징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8A078E4-50E7-56FD-E6F2-A8534AF1E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48187"/>
              </p:ext>
            </p:extLst>
          </p:nvPr>
        </p:nvGraphicFramePr>
        <p:xfrm>
          <a:off x="495300" y="3428999"/>
          <a:ext cx="11304814" cy="2405745"/>
        </p:xfrm>
        <a:graphic>
          <a:graphicData uri="http://schemas.openxmlformats.org/drawingml/2006/table">
            <a:tbl>
              <a:tblPr/>
              <a:tblGrid>
                <a:gridCol w="2209722">
                  <a:extLst>
                    <a:ext uri="{9D8B030D-6E8A-4147-A177-3AD203B41FA5}">
                      <a16:colId xmlns:a16="http://schemas.microsoft.com/office/drawing/2014/main" val="2136553553"/>
                    </a:ext>
                  </a:extLst>
                </a:gridCol>
                <a:gridCol w="9095092">
                  <a:extLst>
                    <a:ext uri="{9D8B030D-6E8A-4147-A177-3AD203B41FA5}">
                      <a16:colId xmlns:a16="http://schemas.microsoft.com/office/drawing/2014/main" val="777810225"/>
                    </a:ext>
                  </a:extLst>
                </a:gridCol>
              </a:tblGrid>
              <a:tr h="4811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150347"/>
                  </a:ext>
                </a:extLst>
              </a:tr>
              <a:tr h="4811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 목적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한 테이블 내에서 행 간 관계 분석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상사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-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직원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부서 구조 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97694"/>
                  </a:ext>
                </a:extLst>
              </a:tr>
              <a:tr h="4811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필수 조건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하나의 테이블에 두 개의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별칭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(Alias)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부여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845471"/>
                  </a:ext>
                </a:extLst>
              </a:tr>
              <a:tr h="4811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조인 방식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일반적인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과 동일하게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ON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절 사용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63113"/>
                  </a:ext>
                </a:extLst>
              </a:tr>
              <a:tr h="48114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실무 활용 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계층 구조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트리 구조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연관 관계 비교 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18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280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0B34-555D-634A-ADE0-D5E5CDDB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71F6C-730A-C267-2E85-B271BC01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SELF JOIN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0A8E315-2E9B-4670-1BA5-4EFFB6D5E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125754"/>
              </p:ext>
            </p:extLst>
          </p:nvPr>
        </p:nvGraphicFramePr>
        <p:xfrm>
          <a:off x="517978" y="1377636"/>
          <a:ext cx="4676322" cy="1844540"/>
        </p:xfrm>
        <a:graphic>
          <a:graphicData uri="http://schemas.openxmlformats.org/drawingml/2006/table">
            <a:tbl>
              <a:tblPr/>
              <a:tblGrid>
                <a:gridCol w="1377077">
                  <a:extLst>
                    <a:ext uri="{9D8B030D-6E8A-4147-A177-3AD203B41FA5}">
                      <a16:colId xmlns:a16="http://schemas.microsoft.com/office/drawing/2014/main" val="2070109447"/>
                    </a:ext>
                  </a:extLst>
                </a:gridCol>
                <a:gridCol w="1233631">
                  <a:extLst>
                    <a:ext uri="{9D8B030D-6E8A-4147-A177-3AD203B41FA5}">
                      <a16:colId xmlns:a16="http://schemas.microsoft.com/office/drawing/2014/main" val="2326155501"/>
                    </a:ext>
                  </a:extLst>
                </a:gridCol>
                <a:gridCol w="2065614">
                  <a:extLst>
                    <a:ext uri="{9D8B030D-6E8A-4147-A177-3AD203B41FA5}">
                      <a16:colId xmlns:a16="http://schemas.microsoft.com/office/drawing/2014/main" val="723617770"/>
                    </a:ext>
                  </a:extLst>
                </a:gridCol>
              </a:tblGrid>
              <a:tr h="3689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emp_id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manager_id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259141"/>
                  </a:ext>
                </a:extLst>
              </a:tr>
              <a:tr h="368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김과장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056291"/>
                  </a:ext>
                </a:extLst>
              </a:tr>
              <a:tr h="368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008827"/>
                  </a:ext>
                </a:extLst>
              </a:tr>
              <a:tr h="368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박사원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861965"/>
                  </a:ext>
                </a:extLst>
              </a:tr>
              <a:tr h="368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5555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0098E40-A15B-24E9-E154-14B088700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200424"/>
              </p:ext>
            </p:extLst>
          </p:nvPr>
        </p:nvGraphicFramePr>
        <p:xfrm>
          <a:off x="6177161" y="3944702"/>
          <a:ext cx="5292516" cy="1754980"/>
        </p:xfrm>
        <a:graphic>
          <a:graphicData uri="http://schemas.openxmlformats.org/drawingml/2006/table">
            <a:tbl>
              <a:tblPr/>
              <a:tblGrid>
                <a:gridCol w="2646258">
                  <a:extLst>
                    <a:ext uri="{9D8B030D-6E8A-4147-A177-3AD203B41FA5}">
                      <a16:colId xmlns:a16="http://schemas.microsoft.com/office/drawing/2014/main" val="3483487535"/>
                    </a:ext>
                  </a:extLst>
                </a:gridCol>
                <a:gridCol w="2646258">
                  <a:extLst>
                    <a:ext uri="{9D8B030D-6E8A-4147-A177-3AD203B41FA5}">
                      <a16:colId xmlns:a16="http://schemas.microsoft.com/office/drawing/2014/main" val="1072116938"/>
                    </a:ext>
                  </a:extLst>
                </a:gridCol>
              </a:tblGrid>
              <a:tr h="35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직원명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상사명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04902"/>
                  </a:ext>
                </a:extLst>
              </a:tr>
              <a:tr h="35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김과장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NULL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648313"/>
                  </a:ext>
                </a:extLst>
              </a:tr>
              <a:tr h="35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이대리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김과장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620592"/>
                  </a:ext>
                </a:extLst>
              </a:tr>
              <a:tr h="35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박사원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이대리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746028"/>
                  </a:ext>
                </a:extLst>
              </a:tr>
              <a:tr h="3509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김과장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99215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611544-5906-6B79-7CBF-C0A46D566340}"/>
              </a:ext>
            </a:extLst>
          </p:cNvPr>
          <p:cNvSpPr txBox="1"/>
          <p:nvPr/>
        </p:nvSpPr>
        <p:spPr>
          <a:xfrm>
            <a:off x="367903" y="981090"/>
            <a:ext cx="238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dirty="0"/>
              <a:t>employees </a:t>
            </a:r>
            <a:r>
              <a:rPr lang="ko-KR" altLang="en-US" dirty="0"/>
              <a:t>테이블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908BB-F12F-4F80-FF13-3E48001108CE}"/>
              </a:ext>
            </a:extLst>
          </p:cNvPr>
          <p:cNvSpPr txBox="1"/>
          <p:nvPr/>
        </p:nvSpPr>
        <p:spPr>
          <a:xfrm>
            <a:off x="367903" y="3575370"/>
            <a:ext cx="238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dirty="0"/>
              <a:t>SELF JOIN </a:t>
            </a:r>
            <a:r>
              <a:rPr lang="ko-KR" altLang="en-US" dirty="0"/>
              <a:t>쿼리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1F0EEFA-022A-FAB7-6AD3-14299D16EB68}"/>
              </a:ext>
            </a:extLst>
          </p:cNvPr>
          <p:cNvGrpSpPr/>
          <p:nvPr/>
        </p:nvGrpSpPr>
        <p:grpSpPr>
          <a:xfrm>
            <a:off x="517978" y="4032250"/>
            <a:ext cx="5070393" cy="1580929"/>
            <a:chOff x="454107" y="4118753"/>
            <a:chExt cx="5915851" cy="184453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77EDDDB-8BDE-180D-AE02-89B515BCD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4155" b="14132"/>
            <a:stretch/>
          </p:blipFill>
          <p:spPr>
            <a:xfrm>
              <a:off x="454107" y="4118753"/>
              <a:ext cx="5915851" cy="1844539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C00E29D-B181-50E1-477B-0397E3BEFC03}"/>
                </a:ext>
              </a:extLst>
            </p:cNvPr>
            <p:cNvSpPr/>
            <p:nvPr/>
          </p:nvSpPr>
          <p:spPr>
            <a:xfrm>
              <a:off x="767046" y="4646124"/>
              <a:ext cx="2794000" cy="698492"/>
            </a:xfrm>
            <a:prstGeom prst="rect">
              <a:avLst/>
            </a:prstGeom>
            <a:noFill/>
            <a:ln w="508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BE7352-424F-26B5-0B4B-36D1AB3C367D}"/>
              </a:ext>
            </a:extLst>
          </p:cNvPr>
          <p:cNvSpPr txBox="1"/>
          <p:nvPr/>
        </p:nvSpPr>
        <p:spPr>
          <a:xfrm>
            <a:off x="5993159" y="3517191"/>
            <a:ext cx="238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sz="1800" dirty="0"/>
              <a:t>SELF JOIN </a:t>
            </a:r>
            <a:r>
              <a:rPr lang="ko-KR" altLang="en-US" sz="1800" dirty="0"/>
              <a:t>결과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D0270-DD3C-172F-6CA4-1F9B0F349794}"/>
              </a:ext>
            </a:extLst>
          </p:cNvPr>
          <p:cNvSpPr txBox="1"/>
          <p:nvPr/>
        </p:nvSpPr>
        <p:spPr>
          <a:xfrm>
            <a:off x="6177160" y="5699682"/>
            <a:ext cx="5401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테이블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employees를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두 개의 별칭으로 나눠서 자기 자신과 조인</a:t>
            </a:r>
          </a:p>
          <a:p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e.manager_id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= </a:t>
            </a:r>
            <a:r>
              <a:rPr lang="ko-KR" altLang="en-US" sz="1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m.emp_id가</a:t>
            </a:r>
            <a:r>
              <a:rPr lang="ko-KR" altLang="en-US" sz="1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직원과 그 상사를 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51967-45EA-B11E-8CE1-CDF94F6CCF9C}"/>
              </a:ext>
            </a:extLst>
          </p:cNvPr>
          <p:cNvSpPr txBox="1"/>
          <p:nvPr/>
        </p:nvSpPr>
        <p:spPr>
          <a:xfrm>
            <a:off x="5993159" y="1037685"/>
            <a:ext cx="238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✅</a:t>
            </a:r>
            <a:r>
              <a:rPr lang="en-US" altLang="ko-KR" sz="1800" dirty="0"/>
              <a:t>DB </a:t>
            </a:r>
            <a:r>
              <a:rPr lang="ko-KR" altLang="en-US" sz="1800" dirty="0"/>
              <a:t>스키마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EF9C3A-EE5E-98E8-FE07-DB12559429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85" b="18899"/>
          <a:stretch/>
        </p:blipFill>
        <p:spPr>
          <a:xfrm>
            <a:off x="6096000" y="1465196"/>
            <a:ext cx="5279629" cy="130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27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DE13-5AF5-3D4D-EE38-2E522F62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926FC3A1-5908-83AF-9860-511D96A4AB9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JOIN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61444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고객 이름과 그 고객이 주문한 날짜를 출력하세요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customers, orders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customer_name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order_date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주문하지 않은 고객의 이름을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customers, orders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customer_name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125" y="759991"/>
            <a:ext cx="1800225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125" y="4723519"/>
            <a:ext cx="98107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6936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DE13-5AF5-3D4D-EE38-2E522F62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926FC3A1-5908-83AF-9860-511D96A4AB9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JOIN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614445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고객 이름과 주문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ID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출력하되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고객 정보가 없는 주문도 포함하세요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orders, customers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customer_name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order_id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고객과 모든 상품의 조합을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customers, products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customer_name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product_name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8"/>
          <a:stretch/>
        </p:blipFill>
        <p:spPr bwMode="auto">
          <a:xfrm>
            <a:off x="6796985" y="1145407"/>
            <a:ext cx="1685925" cy="3525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3159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DE13-5AF5-3D4D-EE38-2E522F62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926FC3A1-5908-83AF-9860-511D96A4AB9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JOIN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61444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직원 이름과 상사 이름을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.(null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employees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employee_name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manager_name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 startAt="5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고객과 모든 주문 정보를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주문이 없는 고객과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고객 정보가 없는 주문도 모두 포함되도록 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customers, orders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customer_name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order_date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614" y="671682"/>
            <a:ext cx="26193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457" y="2665948"/>
            <a:ext cx="238125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736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DE13-5AF5-3D4D-EE38-2E522F629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>
            <a:extLst>
              <a:ext uri="{FF2B5EF4-FFF2-40B4-BE49-F238E27FC236}">
                <a16:creationId xmlns:a16="http://schemas.microsoft.com/office/drawing/2014/main" id="{926FC3A1-5908-83AF-9860-511D96A4AB92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JOIN </a:t>
            </a:r>
            <a:r>
              <a:rPr lang="ko-KR" altLang="en-US" dirty="0">
                <a:solidFill>
                  <a:srgbClr val="ED7D31"/>
                </a:solidFill>
              </a:rPr>
              <a:t>연습하기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CF58E-FB14-855C-5790-8F806A477A2F}"/>
              </a:ext>
            </a:extLst>
          </p:cNvPr>
          <p:cNvSpPr txBox="1"/>
          <p:nvPr/>
        </p:nvSpPr>
        <p:spPr>
          <a:xfrm>
            <a:off x="464687" y="1185770"/>
            <a:ext cx="681746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🔎</a:t>
            </a:r>
            <a:r>
              <a:rPr lang="en-US" altLang="ko-KR" sz="2400" dirty="0" err="1"/>
              <a:t>codingon_store_db</a:t>
            </a:r>
            <a:r>
              <a:rPr lang="ko-KR" altLang="en-US" sz="2400" dirty="0"/>
              <a:t>를 활용해서</a:t>
            </a:r>
            <a:endParaRPr lang="en-US" altLang="ko-K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단가가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NULL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이 아닌 상품에 대해 상품명과 총 판매 수량을 출력하세요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order_items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products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product_name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total_quantity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457200" indent="-457200">
              <a:lnSpc>
                <a:spcPct val="150000"/>
              </a:lnSpc>
              <a:buAutoNum type="arabicPeriod" startAt="7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상품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구매 수량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단가를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주문별로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사용 테이블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orders,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order_items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products, customers</a:t>
            </a:r>
          </a:p>
          <a:p>
            <a:pPr marL="914400" lvl="1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출력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컬럼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customer_name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product_name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quantity,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unit_price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99" y="946074"/>
            <a:ext cx="2533650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198" y="3429000"/>
            <a:ext cx="3579881" cy="2748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4277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4490</TotalTime>
  <Words>1679</Words>
  <Application>Microsoft Office PowerPoint</Application>
  <PresentationFormat>와이드스크린</PresentationFormat>
  <Paragraphs>297</Paragraphs>
  <Slides>34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3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Wingdings</vt:lpstr>
      <vt:lpstr>1_Office 테마</vt:lpstr>
      <vt:lpstr>x</vt:lpstr>
      <vt:lpstr>PowerPoint 프레젠테이션</vt:lpstr>
      <vt:lpstr>JOIN</vt:lpstr>
      <vt:lpstr>기본키와 외래키</vt:lpstr>
      <vt:lpstr>관계형 모델</vt:lpstr>
      <vt:lpstr>JOIN과 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JOIN 기본 문법</vt:lpstr>
      <vt:lpstr>JOIN의 종류</vt:lpstr>
      <vt:lpstr>JOIN의 종류</vt:lpstr>
      <vt:lpstr>INNER JOIN (교집합)</vt:lpstr>
      <vt:lpstr>INNER JOIN (교집합)</vt:lpstr>
      <vt:lpstr>LEFT OUTER JOIN (왼쪽 외부 조인)</vt:lpstr>
      <vt:lpstr>RIGHT OUTER JOIN (오른쪽 외부 조인)</vt:lpstr>
      <vt:lpstr>UNION</vt:lpstr>
      <vt:lpstr>UNION ALL </vt:lpstr>
      <vt:lpstr>UNION과 FULL OUTER JOIN</vt:lpstr>
      <vt:lpstr>UNION과 FULL OUTER JOIN</vt:lpstr>
      <vt:lpstr>CROSS JOIN</vt:lpstr>
      <vt:lpstr>CROSS JOIN</vt:lpstr>
      <vt:lpstr>CROSS JOIN</vt:lpstr>
      <vt:lpstr>SELF JOIN</vt:lpstr>
      <vt:lpstr>SELF JOIN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316</cp:revision>
  <dcterms:created xsi:type="dcterms:W3CDTF">2023-01-31T04:26:23Z</dcterms:created>
  <dcterms:modified xsi:type="dcterms:W3CDTF">2025-10-24T02:32:36Z</dcterms:modified>
</cp:coreProperties>
</file>