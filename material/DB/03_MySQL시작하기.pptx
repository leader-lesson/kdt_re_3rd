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790" r:id="rId2"/>
    <p:sldId id="257" r:id="rId3"/>
    <p:sldId id="766" r:id="rId4"/>
    <p:sldId id="937" r:id="rId5"/>
    <p:sldId id="938" r:id="rId6"/>
    <p:sldId id="946" r:id="rId7"/>
    <p:sldId id="940" r:id="rId8"/>
    <p:sldId id="949" r:id="rId9"/>
    <p:sldId id="941" r:id="rId10"/>
    <p:sldId id="942" r:id="rId11"/>
    <p:sldId id="943" r:id="rId12"/>
    <p:sldId id="944" r:id="rId13"/>
    <p:sldId id="945" r:id="rId14"/>
    <p:sldId id="950" r:id="rId15"/>
    <p:sldId id="419" r:id="rId16"/>
    <p:sldId id="579" r:id="rId17"/>
    <p:sldId id="420" r:id="rId18"/>
    <p:sldId id="947" r:id="rId19"/>
    <p:sldId id="421" r:id="rId20"/>
    <p:sldId id="423" r:id="rId21"/>
    <p:sldId id="424" r:id="rId22"/>
    <p:sldId id="427" r:id="rId23"/>
    <p:sldId id="315" r:id="rId24"/>
    <p:sldId id="428" r:id="rId25"/>
    <p:sldId id="425" r:id="rId26"/>
    <p:sldId id="426" r:id="rId27"/>
    <p:sldId id="948" r:id="rId28"/>
    <p:sldId id="81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5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81268" autoAdjust="0"/>
  </p:normalViewPr>
  <p:slideViewPr>
    <p:cSldViewPr snapToGrid="0">
      <p:cViewPr varScale="1">
        <p:scale>
          <a:sx n="62" d="100"/>
          <a:sy n="62" d="100"/>
        </p:scale>
        <p:origin x="70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https://db-engines.com/en/ranking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024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22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22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99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484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842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비밀번호 잊어버리지 말자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567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135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135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여기서 설치 경로는</a:t>
            </a:r>
            <a:r>
              <a:rPr lang="en-US" altLang="ko-KR" dirty="0"/>
              <a:t> </a:t>
            </a:r>
            <a:r>
              <a:rPr lang="en-US" altLang="ko-KR" dirty="0" err="1"/>
              <a:t>gui</a:t>
            </a:r>
            <a:r>
              <a:rPr lang="ko-KR" altLang="en-US" dirty="0"/>
              <a:t>를 이용해 설치했을 경우임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*</a:t>
            </a:r>
            <a:r>
              <a:rPr lang="ko-KR" altLang="en-US" dirty="0" err="1"/>
              <a:t>홈브루</a:t>
            </a:r>
            <a:r>
              <a:rPr lang="ko-KR" altLang="en-US" dirty="0"/>
              <a:t> 이용한 경우 설치 경로 달라짐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518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532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082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DBMS(MySQL </a:t>
            </a:r>
            <a:r>
              <a:rPr lang="ko-KR" altLang="en-US" dirty="0"/>
              <a:t>설치 가정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데이터베이스를 만들어야 </a:t>
            </a:r>
            <a:r>
              <a:rPr lang="en-US" altLang="ko-KR" dirty="0"/>
              <a:t>“</a:t>
            </a:r>
            <a:r>
              <a:rPr lang="ko-KR" altLang="en-US" dirty="0"/>
              <a:t>테이블</a:t>
            </a:r>
            <a:r>
              <a:rPr lang="en-US" altLang="ko-KR" dirty="0"/>
              <a:t>”</a:t>
            </a:r>
            <a:r>
              <a:rPr lang="ko-KR" altLang="en-US" dirty="0"/>
              <a:t>을 만들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417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이 아닌 </a:t>
            </a:r>
            <a:r>
              <a:rPr lang="ko-KR" altLang="en-US" dirty="0" err="1"/>
              <a:t>워크벤치에서</a:t>
            </a:r>
            <a:r>
              <a:rPr lang="ko-KR" altLang="en-US" dirty="0"/>
              <a:t> </a:t>
            </a:r>
            <a:r>
              <a:rPr lang="en-US" altLang="ko-KR" dirty="0"/>
              <a:t>GUI</a:t>
            </a:r>
            <a:r>
              <a:rPr lang="ko-KR" altLang="en-US" dirty="0"/>
              <a:t>로 테이블 생성하기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교재 </a:t>
            </a:r>
            <a:r>
              <a:rPr lang="en-US" altLang="ko-KR" dirty="0"/>
              <a:t>67 ~ 83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028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bunny	</a:t>
            </a:r>
            <a:r>
              <a:rPr lang="ko-KR" altLang="en-US" dirty="0" err="1"/>
              <a:t>강해린</a:t>
            </a:r>
            <a:r>
              <a:rPr lang="ko-KR" altLang="en-US" dirty="0"/>
              <a:t>	대한민국 서울	</a:t>
            </a:r>
            <a:r>
              <a:rPr lang="en-US" altLang="ko-KR" dirty="0"/>
              <a:t>01012341234	2000-02-23</a:t>
            </a:r>
          </a:p>
          <a:p>
            <a:r>
              <a:rPr lang="en-US" altLang="ko-KR" dirty="0"/>
              <a:t>hello	</a:t>
            </a:r>
            <a:r>
              <a:rPr lang="ko-KR" altLang="en-US" dirty="0"/>
              <a:t>이지민	대한민국 포항	</a:t>
            </a:r>
            <a:r>
              <a:rPr lang="en-US" altLang="ko-KR" dirty="0"/>
              <a:t>01022221234	1999-08-08</a:t>
            </a:r>
          </a:p>
          <a:p>
            <a:r>
              <a:rPr lang="en-US" altLang="ko-KR" dirty="0"/>
              <a:t>imminji01	</a:t>
            </a:r>
            <a:r>
              <a:rPr lang="ko-KR" altLang="en-US" dirty="0"/>
              <a:t>강민지	영국 런던	</a:t>
            </a:r>
            <a:r>
              <a:rPr lang="en-US" altLang="ko-KR" dirty="0"/>
              <a:t>01060001000	1995-01-11</a:t>
            </a:r>
          </a:p>
          <a:p>
            <a:r>
              <a:rPr lang="en-US" altLang="ko-KR" dirty="0" err="1"/>
              <a:t>jjjeee</a:t>
            </a:r>
            <a:r>
              <a:rPr lang="en-US" altLang="ko-KR" dirty="0"/>
              <a:t>	</a:t>
            </a:r>
            <a:r>
              <a:rPr lang="ko-KR" altLang="en-US" dirty="0"/>
              <a:t>홍은정	대한민국 서울	</a:t>
            </a:r>
            <a:r>
              <a:rPr lang="en-US" altLang="ko-KR" dirty="0"/>
              <a:t>01099991111	2004-08-17</a:t>
            </a:r>
          </a:p>
          <a:p>
            <a:r>
              <a:rPr lang="en-US" altLang="ko-KR" dirty="0"/>
              <a:t>jy9987	</a:t>
            </a:r>
            <a:r>
              <a:rPr lang="ko-KR" altLang="en-US" dirty="0"/>
              <a:t>강지연	일본 삿포로	</a:t>
            </a:r>
            <a:r>
              <a:rPr lang="en-US" altLang="ko-KR" dirty="0"/>
              <a:t>01012312323	1996-09-01</a:t>
            </a:r>
          </a:p>
          <a:p>
            <a:r>
              <a:rPr lang="en-US" altLang="ko-KR" dirty="0"/>
              <a:t>kiwi	</a:t>
            </a:r>
            <a:r>
              <a:rPr lang="ko-KR" altLang="en-US" dirty="0"/>
              <a:t>최지수	미국 뉴욕	</a:t>
            </a:r>
            <a:r>
              <a:rPr lang="en-US" altLang="ko-KR" dirty="0"/>
              <a:t>01050005000	1990-12-25</a:t>
            </a:r>
          </a:p>
          <a:p>
            <a:r>
              <a:rPr lang="en-US" altLang="ko-KR" dirty="0" err="1"/>
              <a:t>lalala</a:t>
            </a:r>
            <a:r>
              <a:rPr lang="en-US" altLang="ko-KR" dirty="0"/>
              <a:t>	</a:t>
            </a:r>
            <a:r>
              <a:rPr lang="ko-KR" altLang="en-US" dirty="0" err="1"/>
              <a:t>홍지수</a:t>
            </a:r>
            <a:r>
              <a:rPr lang="ko-KR" altLang="en-US" dirty="0"/>
              <a:t>	미국 로스앤젤레스	</a:t>
            </a:r>
            <a:r>
              <a:rPr lang="en-US" altLang="ko-KR" dirty="0"/>
              <a:t>01010109090	2007-05-16</a:t>
            </a:r>
          </a:p>
          <a:p>
            <a:r>
              <a:rPr lang="en-US" altLang="ko-KR" dirty="0" err="1"/>
              <a:t>minjipark</a:t>
            </a:r>
            <a:r>
              <a:rPr lang="en-US" altLang="ko-KR" dirty="0"/>
              <a:t>	</a:t>
            </a:r>
            <a:r>
              <a:rPr lang="ko-KR" altLang="en-US" dirty="0"/>
              <a:t>박민지	프랑스 파리	</a:t>
            </a:r>
            <a:r>
              <a:rPr lang="en-US" altLang="ko-KR" dirty="0"/>
              <a:t>01088776655	1998-04-08</a:t>
            </a:r>
          </a:p>
          <a:p>
            <a:r>
              <a:rPr lang="en-US" altLang="ko-KR" dirty="0"/>
              <a:t>wow123	</a:t>
            </a:r>
            <a:r>
              <a:rPr lang="ko-KR" altLang="en-US" dirty="0"/>
              <a:t>이민혁	일본 삿포로	</a:t>
            </a:r>
            <a:r>
              <a:rPr lang="en-US" altLang="ko-KR" dirty="0"/>
              <a:t>01011223344	1994-05-31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	jy9987	</a:t>
            </a:r>
            <a:r>
              <a:rPr lang="ko-KR" altLang="en-US" dirty="0" err="1"/>
              <a:t>프링글스</a:t>
            </a:r>
            <a:r>
              <a:rPr lang="ko-KR" altLang="en-US" dirty="0"/>
              <a:t>	</a:t>
            </a:r>
            <a:r>
              <a:rPr lang="en-US" altLang="ko-KR" dirty="0"/>
              <a:t>3500	2</a:t>
            </a:r>
          </a:p>
          <a:p>
            <a:r>
              <a:rPr lang="en-US" altLang="ko-KR" dirty="0"/>
              <a:t>2	kiwi	</a:t>
            </a:r>
            <a:r>
              <a:rPr lang="ko-KR" altLang="en-US" dirty="0" err="1"/>
              <a:t>새우깡</a:t>
            </a:r>
            <a:r>
              <a:rPr lang="ko-KR" altLang="en-US" dirty="0"/>
              <a:t>	</a:t>
            </a:r>
            <a:r>
              <a:rPr lang="en-US" altLang="ko-KR" dirty="0"/>
              <a:t>1200	1</a:t>
            </a:r>
          </a:p>
          <a:p>
            <a:r>
              <a:rPr lang="en-US" altLang="ko-KR" dirty="0"/>
              <a:t>3	hello	</a:t>
            </a:r>
            <a:r>
              <a:rPr lang="ko-KR" altLang="en-US" dirty="0" err="1"/>
              <a:t>홈런볼</a:t>
            </a:r>
            <a:r>
              <a:rPr lang="ko-KR" altLang="en-US" dirty="0"/>
              <a:t>	</a:t>
            </a:r>
            <a:r>
              <a:rPr lang="en-US" altLang="ko-KR" dirty="0"/>
              <a:t>4200	2</a:t>
            </a:r>
          </a:p>
          <a:p>
            <a:r>
              <a:rPr lang="en-US" altLang="ko-KR" dirty="0"/>
              <a:t>4	</a:t>
            </a:r>
            <a:r>
              <a:rPr lang="en-US" altLang="ko-KR" dirty="0" err="1"/>
              <a:t>minjipark</a:t>
            </a:r>
            <a:r>
              <a:rPr lang="en-US" altLang="ko-KR" dirty="0"/>
              <a:t>	</a:t>
            </a:r>
            <a:r>
              <a:rPr lang="ko-KR" altLang="en-US" dirty="0" err="1"/>
              <a:t>맛동산</a:t>
            </a:r>
            <a:r>
              <a:rPr lang="ko-KR" altLang="en-US" dirty="0"/>
              <a:t>	</a:t>
            </a:r>
            <a:r>
              <a:rPr lang="en-US" altLang="ko-KR" dirty="0"/>
              <a:t>2400	1</a:t>
            </a:r>
          </a:p>
          <a:p>
            <a:r>
              <a:rPr lang="en-US" altLang="ko-KR" dirty="0"/>
              <a:t>5	bunny	</a:t>
            </a:r>
            <a:r>
              <a:rPr lang="ko-KR" altLang="en-US" dirty="0" err="1"/>
              <a:t>오감자</a:t>
            </a:r>
            <a:r>
              <a:rPr lang="ko-KR" altLang="en-US" dirty="0"/>
              <a:t>	</a:t>
            </a:r>
            <a:r>
              <a:rPr lang="en-US" altLang="ko-KR" dirty="0"/>
              <a:t>1500	4</a:t>
            </a:r>
          </a:p>
          <a:p>
            <a:r>
              <a:rPr lang="en-US" altLang="ko-KR" dirty="0"/>
              <a:t>6	</a:t>
            </a:r>
            <a:r>
              <a:rPr lang="en-US" altLang="ko-KR" dirty="0" err="1"/>
              <a:t>jjjeee</a:t>
            </a:r>
            <a:r>
              <a:rPr lang="en-US" altLang="ko-KR" dirty="0"/>
              <a:t>	</a:t>
            </a:r>
            <a:r>
              <a:rPr lang="ko-KR" altLang="en-US" dirty="0" err="1"/>
              <a:t>양파링</a:t>
            </a:r>
            <a:r>
              <a:rPr lang="ko-KR" altLang="en-US" dirty="0"/>
              <a:t>	</a:t>
            </a:r>
            <a:r>
              <a:rPr lang="en-US" altLang="ko-KR" dirty="0"/>
              <a:t>2000	1</a:t>
            </a:r>
          </a:p>
          <a:p>
            <a:r>
              <a:rPr lang="en-US" altLang="ko-KR" dirty="0"/>
              <a:t>7	hello	</a:t>
            </a:r>
            <a:r>
              <a:rPr lang="ko-KR" altLang="en-US" dirty="0"/>
              <a:t>자갈치	</a:t>
            </a:r>
            <a:r>
              <a:rPr lang="en-US" altLang="ko-KR" dirty="0"/>
              <a:t>1300	2</a:t>
            </a:r>
          </a:p>
          <a:p>
            <a:r>
              <a:rPr lang="en-US" altLang="ko-KR" dirty="0"/>
              <a:t>8	</a:t>
            </a:r>
            <a:r>
              <a:rPr lang="en-US" altLang="ko-KR" dirty="0" err="1"/>
              <a:t>jjjeee</a:t>
            </a:r>
            <a:r>
              <a:rPr lang="en-US" altLang="ko-KR" dirty="0"/>
              <a:t>	</a:t>
            </a:r>
            <a:r>
              <a:rPr lang="ko-KR" altLang="en-US" dirty="0" err="1"/>
              <a:t>감자깡</a:t>
            </a:r>
            <a:r>
              <a:rPr lang="ko-KR" altLang="en-US" dirty="0"/>
              <a:t>	</a:t>
            </a:r>
            <a:r>
              <a:rPr lang="en-US" altLang="ko-KR" dirty="0"/>
              <a:t>1200	4</a:t>
            </a:r>
          </a:p>
          <a:p>
            <a:r>
              <a:rPr lang="en-US" altLang="ko-KR" dirty="0"/>
              <a:t>9	bunny	</a:t>
            </a:r>
            <a:r>
              <a:rPr lang="ko-KR" altLang="en-US" dirty="0" err="1"/>
              <a:t>죠리퐁</a:t>
            </a:r>
            <a:r>
              <a:rPr lang="ko-KR" altLang="en-US" dirty="0"/>
              <a:t>	</a:t>
            </a:r>
            <a:r>
              <a:rPr lang="en-US" altLang="ko-KR" dirty="0"/>
              <a:t>1500	3</a:t>
            </a:r>
          </a:p>
          <a:p>
            <a:r>
              <a:rPr lang="en-US" altLang="ko-KR" dirty="0"/>
              <a:t>10	kiwi	</a:t>
            </a:r>
            <a:r>
              <a:rPr lang="ko-KR" altLang="en-US" dirty="0" err="1"/>
              <a:t>꼬깔콘</a:t>
            </a:r>
            <a:r>
              <a:rPr lang="ko-KR" altLang="en-US" dirty="0"/>
              <a:t>	</a:t>
            </a:r>
            <a:r>
              <a:rPr lang="en-US" altLang="ko-KR" dirty="0"/>
              <a:t>1700	2</a:t>
            </a:r>
          </a:p>
          <a:p>
            <a:r>
              <a:rPr lang="en-US" altLang="ko-KR" dirty="0"/>
              <a:t>11	hello	</a:t>
            </a:r>
            <a:r>
              <a:rPr lang="ko-KR" altLang="en-US" dirty="0" err="1"/>
              <a:t>버터링</a:t>
            </a:r>
            <a:r>
              <a:rPr lang="ko-KR" altLang="en-US" dirty="0"/>
              <a:t>	</a:t>
            </a:r>
            <a:r>
              <a:rPr lang="en-US" altLang="ko-KR" dirty="0"/>
              <a:t>4000	2</a:t>
            </a:r>
          </a:p>
          <a:p>
            <a:r>
              <a:rPr lang="en-US" altLang="ko-KR" dirty="0"/>
              <a:t>12	</a:t>
            </a:r>
            <a:r>
              <a:rPr lang="en-US" altLang="ko-KR" dirty="0" err="1"/>
              <a:t>minjipark</a:t>
            </a:r>
            <a:r>
              <a:rPr lang="en-US" altLang="ko-KR" dirty="0"/>
              <a:t>	</a:t>
            </a:r>
            <a:r>
              <a:rPr lang="ko-KR" altLang="en-US" dirty="0" err="1"/>
              <a:t>칙촉</a:t>
            </a:r>
            <a:r>
              <a:rPr lang="ko-KR" altLang="en-US" dirty="0"/>
              <a:t>	</a:t>
            </a:r>
            <a:r>
              <a:rPr lang="en-US" altLang="ko-KR" dirty="0"/>
              <a:t>4000	1</a:t>
            </a:r>
          </a:p>
          <a:p>
            <a:r>
              <a:rPr lang="en-US" altLang="ko-KR" dirty="0"/>
              <a:t>13	wow123	</a:t>
            </a:r>
            <a:r>
              <a:rPr lang="ko-KR" altLang="en-US" dirty="0" err="1"/>
              <a:t>콘초</a:t>
            </a:r>
            <a:r>
              <a:rPr lang="ko-KR" altLang="en-US" dirty="0"/>
              <a:t>	</a:t>
            </a:r>
            <a:r>
              <a:rPr lang="en-US" altLang="ko-KR" dirty="0"/>
              <a:t>1700	3</a:t>
            </a:r>
          </a:p>
          <a:p>
            <a:r>
              <a:rPr lang="en-US" altLang="ko-KR" dirty="0"/>
              <a:t>14	imminji01	</a:t>
            </a:r>
            <a:r>
              <a:rPr lang="ko-KR" altLang="en-US" dirty="0" err="1"/>
              <a:t>꼬북칩</a:t>
            </a:r>
            <a:r>
              <a:rPr lang="ko-KR" altLang="en-US" dirty="0"/>
              <a:t>	</a:t>
            </a:r>
            <a:r>
              <a:rPr lang="en-US" altLang="ko-KR" dirty="0"/>
              <a:t>2000	2</a:t>
            </a:r>
          </a:p>
          <a:p>
            <a:r>
              <a:rPr lang="en-US" altLang="ko-KR" dirty="0"/>
              <a:t>15	bunny	</a:t>
            </a:r>
            <a:r>
              <a:rPr lang="ko-KR" altLang="en-US" dirty="0" err="1"/>
              <a:t>썬칩</a:t>
            </a:r>
            <a:r>
              <a:rPr lang="ko-KR" altLang="en-US" dirty="0"/>
              <a:t>	</a:t>
            </a:r>
            <a:r>
              <a:rPr lang="en-US" altLang="ko-KR" dirty="0"/>
              <a:t>1800	5</a:t>
            </a:r>
          </a:p>
          <a:p>
            <a:r>
              <a:rPr lang="en-US" altLang="ko-KR" dirty="0"/>
              <a:t>16	kiwi	</a:t>
            </a:r>
            <a:r>
              <a:rPr lang="ko-KR" altLang="en-US" dirty="0" err="1"/>
              <a:t>고구마깡</a:t>
            </a:r>
            <a:r>
              <a:rPr lang="ko-KR" altLang="en-US" dirty="0"/>
              <a:t>	</a:t>
            </a:r>
            <a:r>
              <a:rPr lang="en-US" altLang="ko-KR" dirty="0"/>
              <a:t>1300	3</a:t>
            </a:r>
          </a:p>
          <a:p>
            <a:r>
              <a:rPr lang="en-US" altLang="ko-KR" dirty="0"/>
              <a:t>17	jy9987	</a:t>
            </a:r>
            <a:r>
              <a:rPr lang="ko-KR" altLang="en-US" dirty="0"/>
              <a:t>오징어집	</a:t>
            </a:r>
            <a:r>
              <a:rPr lang="en-US" altLang="ko-KR" dirty="0"/>
              <a:t>1700	5</a:t>
            </a:r>
          </a:p>
          <a:p>
            <a:r>
              <a:rPr lang="en-US" altLang="ko-KR" dirty="0"/>
              <a:t>18	</a:t>
            </a:r>
            <a:r>
              <a:rPr lang="en-US" altLang="ko-KR" dirty="0" err="1"/>
              <a:t>jjjeee</a:t>
            </a:r>
            <a:r>
              <a:rPr lang="en-US" altLang="ko-KR" dirty="0"/>
              <a:t>	</a:t>
            </a:r>
            <a:r>
              <a:rPr lang="ko-KR" altLang="en-US" dirty="0" err="1"/>
              <a:t>바나나킥</a:t>
            </a:r>
            <a:r>
              <a:rPr lang="ko-KR" altLang="en-US" dirty="0"/>
              <a:t>	</a:t>
            </a:r>
            <a:r>
              <a:rPr lang="en-US" altLang="ko-KR" dirty="0"/>
              <a:t>2000	4</a:t>
            </a:r>
          </a:p>
          <a:p>
            <a:r>
              <a:rPr lang="en-US" altLang="ko-KR" dirty="0"/>
              <a:t>19	imminji01	</a:t>
            </a:r>
            <a:r>
              <a:rPr lang="ko-KR" altLang="en-US" dirty="0" err="1"/>
              <a:t>초코파이</a:t>
            </a:r>
            <a:r>
              <a:rPr lang="ko-KR" altLang="en-US" dirty="0"/>
              <a:t>	</a:t>
            </a:r>
            <a:r>
              <a:rPr lang="en-US" altLang="ko-KR" dirty="0"/>
              <a:t>5000	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373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교재 </a:t>
            </a:r>
            <a:r>
              <a:rPr lang="en-US" altLang="ko-KR" dirty="0"/>
              <a:t>67 ~ 83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3520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교재 </a:t>
            </a:r>
            <a:r>
              <a:rPr lang="en-US" altLang="ko-KR" dirty="0"/>
              <a:t>67 ~ 83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41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2E87-7957-A5BC-1F4B-015AC9D3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BDA3E2-2A5B-869E-DBE3-F072A28F8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20E00B-D8C0-F5D8-69EA-8C4C320EB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교재 </a:t>
            </a:r>
            <a:r>
              <a:rPr lang="en-US" altLang="ko-KR" dirty="0"/>
              <a:t>67 ~ 83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E44C4-B3AD-3F70-E0D7-5C24501A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9067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39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mysql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30071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3461004C-8186-96F2-8923-668AA8F20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377687" y="2600493"/>
            <a:ext cx="74366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MySQL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시작하기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D96-2E13-82D4-8580-4CA6BDF8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9E60A-44CF-ACE9-2DD2-D2B2C6353C94}"/>
              </a:ext>
            </a:extLst>
          </p:cNvPr>
          <p:cNvSpPr txBox="1"/>
          <p:nvPr/>
        </p:nvSpPr>
        <p:spPr>
          <a:xfrm>
            <a:off x="3464517" y="2600493"/>
            <a:ext cx="52629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MySQL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이란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940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8B238-C731-0D08-561D-2E717DAD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A5D929-9C11-8873-92B7-78BA08710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9007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오픈 소스 관계형 데이터베이스 관리 시스템</a:t>
            </a:r>
            <a:r>
              <a:rPr lang="en-US" altLang="ko-KR" dirty="0"/>
              <a:t>(RDBMS)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주요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가장 널리 사용되고 있는 </a:t>
            </a:r>
            <a:r>
              <a:rPr lang="en-US" altLang="ko-KR" b="1" dirty="0"/>
              <a:t>RDBMS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빠른 처리 속도와 높은 안정성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운영체제 지원 </a:t>
            </a:r>
            <a:r>
              <a:rPr lang="en-US" altLang="ko-KR" dirty="0"/>
              <a:t>(Windows, Mac, Linux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ACID </a:t>
            </a:r>
            <a:r>
              <a:rPr lang="ko-KR" altLang="en-US" dirty="0"/>
              <a:t>트랜잭션 지원</a:t>
            </a:r>
            <a:endParaRPr lang="en-US" altLang="ko-K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63CB52-18AF-EA91-E00C-E528BEE7E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994" y="4008935"/>
            <a:ext cx="4009406" cy="207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40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BB06655-8C1B-2906-5E0D-A531DF44A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0" y="76200"/>
            <a:ext cx="6869404" cy="40832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7734584-83A3-9902-74B1-97BD70129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100" y="2468715"/>
            <a:ext cx="8476648" cy="381546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F35D093-C88E-8C1B-30E1-EB2B94BB067C}"/>
              </a:ext>
            </a:extLst>
          </p:cNvPr>
          <p:cNvSpPr/>
          <p:nvPr/>
        </p:nvSpPr>
        <p:spPr>
          <a:xfrm>
            <a:off x="5460013" y="293197"/>
            <a:ext cx="528037" cy="1699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F1A69-E15D-97E8-6A00-13AA6D36A852}"/>
              </a:ext>
            </a:extLst>
          </p:cNvPr>
          <p:cNvSpPr/>
          <p:nvPr/>
        </p:nvSpPr>
        <p:spPr>
          <a:xfrm>
            <a:off x="3715352" y="3625075"/>
            <a:ext cx="8380396" cy="302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8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C3CE-92A9-08AC-AE73-EF6DD218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CD4C4-613E-DB6C-AEDE-981094472653}"/>
              </a:ext>
            </a:extLst>
          </p:cNvPr>
          <p:cNvSpPr txBox="1"/>
          <p:nvPr/>
        </p:nvSpPr>
        <p:spPr>
          <a:xfrm>
            <a:off x="2862593" y="2600493"/>
            <a:ext cx="6466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MySQL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설치하기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152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6601E3-0757-8B6D-C365-E74AA8F0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37" y="1145407"/>
            <a:ext cx="11701221" cy="69609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ko-KR" altLang="en-US" sz="2800" dirty="0">
                <a:hlinkClick r:id="rId3"/>
              </a:rPr>
              <a:t>https://dev.mysql.com/downloads/mysql/</a:t>
            </a:r>
            <a:r>
              <a:rPr lang="ko-KR" altLang="en-US" sz="2800" dirty="0"/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CDE6A40-3614-8A3B-C883-09D0FC0C7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36" y="2302388"/>
            <a:ext cx="6237442" cy="340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953" y="2302387"/>
            <a:ext cx="4618916" cy="340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7095744" y="3267456"/>
            <a:ext cx="2749296" cy="213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959340" y="5385816"/>
            <a:ext cx="1260348" cy="242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2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928688"/>
            <a:ext cx="6145213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134106" y="5493382"/>
            <a:ext cx="2522982" cy="3168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49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893" y="1040696"/>
            <a:ext cx="6855452" cy="519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832128" y="4178932"/>
            <a:ext cx="1892522" cy="707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65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6601E3-0757-8B6D-C365-E74AA8F0B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364" y="993093"/>
            <a:ext cx="6897686" cy="523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7241953" y="2788283"/>
            <a:ext cx="1892522" cy="4883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63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6601E3-0757-8B6D-C365-E74AA8F0B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035" y="1034013"/>
            <a:ext cx="6859930" cy="5201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7812944" y="5846443"/>
            <a:ext cx="807815" cy="276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885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43" y="1245138"/>
            <a:ext cx="6423978" cy="487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6601E3-0757-8B6D-C365-E74AA8F0B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A1F86F8-D573-82F2-1C8E-8CA83F97423D}"/>
              </a:ext>
            </a:extLst>
          </p:cNvPr>
          <p:cNvSpPr txBox="1">
            <a:spLocks/>
          </p:cNvSpPr>
          <p:nvPr/>
        </p:nvSpPr>
        <p:spPr>
          <a:xfrm>
            <a:off x="7557941" y="3066537"/>
            <a:ext cx="2933595" cy="8306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highlight>
                  <a:srgbClr val="FFFF00"/>
                </a:highlight>
              </a:rPr>
              <a:t>MySQL </a:t>
            </a:r>
            <a:r>
              <a:rPr lang="ko-KR" altLang="en-US" sz="1800" b="1" dirty="0">
                <a:highlight>
                  <a:srgbClr val="FFFF00"/>
                </a:highlight>
              </a:rPr>
              <a:t>접속 비밀번호 입력</a:t>
            </a:r>
            <a:r>
              <a:rPr lang="en-US" altLang="ko-KR" sz="1800" b="1" dirty="0">
                <a:highlight>
                  <a:srgbClr val="FFFF00"/>
                </a:highlight>
              </a:rPr>
              <a:t>!!!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highlight>
                  <a:srgbClr val="FFFF00"/>
                </a:highlight>
              </a:rPr>
              <a:t>ex. 1234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139852" y="3066537"/>
            <a:ext cx="930752" cy="222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899564" y="2426457"/>
            <a:ext cx="3787236" cy="519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51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439766"/>
            <a:ext cx="5615519" cy="42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526692" y="5386827"/>
            <a:ext cx="658718" cy="222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857" y="1439767"/>
            <a:ext cx="5606195" cy="42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11105214" y="5369375"/>
            <a:ext cx="658718" cy="222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5AA7-2635-C0A1-9103-F13C9E9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298232" y="1460490"/>
            <a:ext cx="5595535" cy="4230370"/>
            <a:chOff x="377823" y="1379210"/>
            <a:chExt cx="5595535" cy="4230370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823" y="1379210"/>
              <a:ext cx="5595535" cy="4230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644552" y="4380988"/>
              <a:ext cx="1270223" cy="20434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44552" y="4615303"/>
              <a:ext cx="759683" cy="20434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589145" y="5295900"/>
              <a:ext cx="628650" cy="219076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3467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B51FB-7171-FD5C-F378-820F34A33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 </a:t>
            </a:r>
            <a:r>
              <a:rPr lang="ko-KR" altLang="en-US" dirty="0"/>
              <a:t>실행 </a:t>
            </a:r>
            <a:r>
              <a:rPr lang="en-US" altLang="ko-KR" dirty="0"/>
              <a:t>– </a:t>
            </a:r>
            <a:r>
              <a:rPr lang="ko-KR" altLang="en-US" dirty="0"/>
              <a:t>로컬 </a:t>
            </a:r>
            <a:r>
              <a:rPr lang="en-US" altLang="ko-KR" dirty="0"/>
              <a:t>(</a:t>
            </a:r>
            <a:r>
              <a:rPr lang="en-US" altLang="ko-KR" b="1" dirty="0"/>
              <a:t>Windows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7CDEB-24B4-1661-6AF6-93D399DA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43DCF6-BB7C-190F-05B1-574B910EA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92" y="1007791"/>
            <a:ext cx="9035677" cy="28512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E197AE8-DA15-0F96-303F-0F798C30CE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268"/>
          <a:stretch/>
        </p:blipFill>
        <p:spPr>
          <a:xfrm>
            <a:off x="4846631" y="2433420"/>
            <a:ext cx="5487937" cy="30904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00FE1D-5C6B-D1E0-C39D-512D0E6D9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891" y="3429000"/>
            <a:ext cx="5006124" cy="27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1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2B10C-AE19-58E9-265D-BE3E4A8A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 </a:t>
            </a:r>
            <a:r>
              <a:rPr lang="ko-KR" altLang="en-US" dirty="0"/>
              <a:t>실행 </a:t>
            </a:r>
            <a:r>
              <a:rPr lang="en-US" altLang="ko-KR" dirty="0"/>
              <a:t>– </a:t>
            </a:r>
            <a:r>
              <a:rPr lang="ko-KR" altLang="en-US" dirty="0"/>
              <a:t>로컬 </a:t>
            </a:r>
            <a:r>
              <a:rPr lang="en-US" altLang="ko-KR" dirty="0"/>
              <a:t>(</a:t>
            </a:r>
            <a:r>
              <a:rPr lang="en-US" altLang="ko-KR" b="1" dirty="0"/>
              <a:t>MacOS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E0C88-202E-E215-8A6C-94282204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031E7-AC32-471E-B975-1BADAF616D67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5D5FF-B726-D1C1-9E41-E3C45DC7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6381083B-B53F-B320-E3DE-5FDB785C0A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2" t="4811" r="5015" b="27683"/>
          <a:stretch/>
        </p:blipFill>
        <p:spPr>
          <a:xfrm>
            <a:off x="6538097" y="2097617"/>
            <a:ext cx="5048190" cy="30410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703EEDF-5BB1-B442-72EF-BC59EC16E4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0" r="8944"/>
          <a:stretch/>
        </p:blipFill>
        <p:spPr>
          <a:xfrm>
            <a:off x="779929" y="2097618"/>
            <a:ext cx="5567083" cy="30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9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37738-78F7-55CB-FA48-31F1AB51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 Workbench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FFA9F-C7CA-F05E-7A47-A3FBA2D18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77" y="2962175"/>
            <a:ext cx="6354234" cy="14149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GUI</a:t>
            </a:r>
            <a:r>
              <a:rPr lang="ko-KR" altLang="en-US" sz="2400" dirty="0"/>
              <a:t>로 설치 시 함께 설치 완료</a:t>
            </a:r>
            <a:r>
              <a:rPr lang="en-US" altLang="ko-KR" sz="2400" dirty="0"/>
              <a:t>!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데이터를 시각적으로 확인하기 편리함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콘솔 </a:t>
            </a:r>
            <a:r>
              <a:rPr lang="en-US" altLang="ko-KR" sz="2400" dirty="0"/>
              <a:t>(git bash, </a:t>
            </a:r>
            <a:r>
              <a:rPr lang="en-US" altLang="ko-KR" sz="2400" dirty="0" err="1"/>
              <a:t>cmd</a:t>
            </a:r>
            <a:r>
              <a:rPr lang="ko-KR" altLang="en-US" sz="2400" dirty="0"/>
              <a:t> 등</a:t>
            </a:r>
            <a:r>
              <a:rPr lang="en-US" altLang="ko-KR" sz="2400" dirty="0"/>
              <a:t>)</a:t>
            </a:r>
            <a:r>
              <a:rPr lang="ko-KR" altLang="en-US" sz="2400" dirty="0"/>
              <a:t>에서도 동일한 작업 가능</a:t>
            </a:r>
            <a:endParaRPr lang="en-US" altLang="ko-KR" sz="2400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466E9FBE-9748-E9E6-AC8A-4E7D72DBE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511" y="1601380"/>
            <a:ext cx="4853919" cy="379716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7B6454B-5512-0CCC-4757-88C55DB36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77" y="1601380"/>
            <a:ext cx="1070449" cy="10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96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0BC2-2324-69D8-2759-E23D26D3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C827B-C885-0CE4-97CC-5B9A4A61F37F}"/>
              </a:ext>
            </a:extLst>
          </p:cNvPr>
          <p:cNvSpPr txBox="1"/>
          <p:nvPr/>
        </p:nvSpPr>
        <p:spPr>
          <a:xfrm>
            <a:off x="2862594" y="2600493"/>
            <a:ext cx="6466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MySQL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시작하기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384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37738-78F7-55CB-FA48-31F1AB51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데이터베이스 구성도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C9C3FE1-F79B-CF68-D5EA-4F690BD2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09" y="1580644"/>
            <a:ext cx="7327939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13EE79-F012-6D60-7134-E201C888B28E}"/>
              </a:ext>
            </a:extLst>
          </p:cNvPr>
          <p:cNvSpPr txBox="1"/>
          <p:nvPr/>
        </p:nvSpPr>
        <p:spPr>
          <a:xfrm>
            <a:off x="290945" y="6368183"/>
            <a:ext cx="117867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이미지 출처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: https://velog.io/@estell/SQL-3-mySQL-%ED%85%8C%EC%9D%B4%EB%B8%94%EB%8D%B0%EC%9D%B4%ED%84%B0%EB%B2%A0%EC%9D%B4%EC%8A%A4-%EB%AA%A8%EB%8D%B8%EB%A7%81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0AC19D4-5D1B-078A-E1F3-48122B1AAEBB}"/>
              </a:ext>
            </a:extLst>
          </p:cNvPr>
          <p:cNvSpPr/>
          <p:nvPr/>
        </p:nvSpPr>
        <p:spPr>
          <a:xfrm>
            <a:off x="838200" y="3293918"/>
            <a:ext cx="3037609" cy="924791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데이터베이스 모델링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015DC-EC67-0DD2-CE8F-34A582DAEA6B}"/>
              </a:ext>
            </a:extLst>
          </p:cNvPr>
          <p:cNvSpPr txBox="1"/>
          <p:nvPr/>
        </p:nvSpPr>
        <p:spPr>
          <a:xfrm>
            <a:off x="1101995" y="4150833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현실 세계의 개념을 </a:t>
            </a:r>
            <a:endParaRPr lang="en-US" altLang="ko-KR" sz="1400" dirty="0"/>
          </a:p>
          <a:p>
            <a:pPr algn="ctr"/>
            <a:r>
              <a:rPr lang="ko-KR" altLang="en-US" sz="1400" dirty="0"/>
              <a:t>테이블로 변경하는 작업</a:t>
            </a:r>
            <a:r>
              <a:rPr lang="en-US" altLang="ko-KR" sz="1400" dirty="0"/>
              <a:t>!!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08656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37738-78F7-55CB-FA48-31F1AB51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구축 단계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696A285-1826-F849-8BD9-1C79F2A1FC6B}"/>
              </a:ext>
            </a:extLst>
          </p:cNvPr>
          <p:cNvGrpSpPr/>
          <p:nvPr/>
        </p:nvGrpSpPr>
        <p:grpSpPr>
          <a:xfrm>
            <a:off x="1103169" y="2974108"/>
            <a:ext cx="9985662" cy="1153392"/>
            <a:chOff x="1340428" y="3304308"/>
            <a:chExt cx="9985662" cy="1153392"/>
          </a:xfrm>
        </p:grpSpPr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0E7D9137-F667-C9AE-1685-8F601372F26D}"/>
                </a:ext>
              </a:extLst>
            </p:cNvPr>
            <p:cNvSpPr/>
            <p:nvPr/>
          </p:nvSpPr>
          <p:spPr>
            <a:xfrm rot="16200000" flipH="1">
              <a:off x="6063238" y="971549"/>
              <a:ext cx="425742" cy="5818908"/>
            </a:xfrm>
            <a:prstGeom prst="downArrow">
              <a:avLst/>
            </a:prstGeom>
            <a:gradFill>
              <a:gsLst>
                <a:gs pos="0">
                  <a:srgbClr val="FFC000">
                    <a:alpha val="20000"/>
                  </a:srgbClr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0606CB2-73A4-F448-1C01-D55A6D63D892}"/>
                </a:ext>
              </a:extLst>
            </p:cNvPr>
            <p:cNvSpPr/>
            <p:nvPr/>
          </p:nvSpPr>
          <p:spPr>
            <a:xfrm>
              <a:off x="1340428" y="3304308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데이터베이스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만들기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A7D1987-2A57-D288-F564-D6CCEAEDEAA3}"/>
                </a:ext>
              </a:extLst>
            </p:cNvPr>
            <p:cNvSpPr/>
            <p:nvPr/>
          </p:nvSpPr>
          <p:spPr>
            <a:xfrm>
              <a:off x="3955473" y="3304309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테이블 만들기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D817A8F-E653-BD97-349C-4A2474BEF47B}"/>
                </a:ext>
              </a:extLst>
            </p:cNvPr>
            <p:cNvSpPr/>
            <p:nvPr/>
          </p:nvSpPr>
          <p:spPr>
            <a:xfrm>
              <a:off x="6570518" y="3304308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데이터</a:t>
              </a:r>
              <a:endParaRPr lang="en-US" altLang="ko-KR" b="1" dirty="0"/>
            </a:p>
            <a:p>
              <a:pPr algn="ctr"/>
              <a:r>
                <a:rPr lang="ko-KR" altLang="en-US" b="1" dirty="0"/>
                <a:t>입력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수정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삭제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0FA82FF-D09D-FD86-CA1D-CDAEF0B99F11}"/>
                </a:ext>
              </a:extLst>
            </p:cNvPr>
            <p:cNvSpPr/>
            <p:nvPr/>
          </p:nvSpPr>
          <p:spPr>
            <a:xfrm>
              <a:off x="9185563" y="3304308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데이터 조회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35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37738-78F7-55CB-FA48-31F1AB51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 만들기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175C9A5-175F-00BE-880C-9CE8FFE0A99D}"/>
              </a:ext>
            </a:extLst>
          </p:cNvPr>
          <p:cNvGrpSpPr/>
          <p:nvPr/>
        </p:nvGrpSpPr>
        <p:grpSpPr>
          <a:xfrm>
            <a:off x="2368331" y="2584306"/>
            <a:ext cx="7455336" cy="2850138"/>
            <a:chOff x="1607993" y="2418052"/>
            <a:chExt cx="7455336" cy="2850138"/>
          </a:xfrm>
        </p:grpSpPr>
        <p:sp>
          <p:nvSpPr>
            <p:cNvPr id="3" name="순서도: 자기 디스크 2">
              <a:extLst>
                <a:ext uri="{FF2B5EF4-FFF2-40B4-BE49-F238E27FC236}">
                  <a16:creationId xmlns:a16="http://schemas.microsoft.com/office/drawing/2014/main" id="{27A9AAF6-0FCD-0A7D-FB45-4BB1C42F46C3}"/>
                </a:ext>
              </a:extLst>
            </p:cNvPr>
            <p:cNvSpPr/>
            <p:nvPr/>
          </p:nvSpPr>
          <p:spPr>
            <a:xfrm>
              <a:off x="1607993" y="2418052"/>
              <a:ext cx="7455336" cy="2850138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CFD8B09-8F43-3F0E-0084-6FC67AA3EC0D}"/>
                </a:ext>
              </a:extLst>
            </p:cNvPr>
            <p:cNvSpPr/>
            <p:nvPr/>
          </p:nvSpPr>
          <p:spPr>
            <a:xfrm>
              <a:off x="3231573" y="3709554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Customer</a:t>
              </a:r>
              <a:endParaRPr lang="ko-KR" altLang="en-US" sz="2400" b="1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AB68AF0-9651-2FE4-1BF1-53729E6E57DA}"/>
                </a:ext>
              </a:extLst>
            </p:cNvPr>
            <p:cNvSpPr/>
            <p:nvPr/>
          </p:nvSpPr>
          <p:spPr>
            <a:xfrm>
              <a:off x="5551343" y="3709554"/>
              <a:ext cx="2140527" cy="1153391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Orders</a:t>
              </a:r>
              <a:endParaRPr lang="ko-KR" altLang="en-US" sz="2400" b="1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1C1CD16-DA7E-3313-E265-6B69B2205F9B}"/>
              </a:ext>
            </a:extLst>
          </p:cNvPr>
          <p:cNvSpPr txBox="1"/>
          <p:nvPr/>
        </p:nvSpPr>
        <p:spPr>
          <a:xfrm>
            <a:off x="4331734" y="1869704"/>
            <a:ext cx="3528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err="1"/>
              <a:t>코딩온</a:t>
            </a:r>
            <a:r>
              <a:rPr lang="ko-KR" altLang="en-US" sz="2400" b="1" dirty="0"/>
              <a:t> 쇼핑몰 데이터베이스</a:t>
            </a:r>
          </a:p>
        </p:txBody>
      </p:sp>
    </p:spTree>
    <p:extLst>
      <p:ext uri="{BB962C8B-B14F-4D97-AF65-F5344CB8AC3E}">
        <p14:creationId xmlns:p14="http://schemas.microsoft.com/office/powerpoint/2010/main" val="425188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836-DE5C-D396-1FA5-E1CD3627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MySQL Workbench</a:t>
            </a:r>
            <a:r>
              <a:rPr lang="ko-KR" altLang="en-US" dirty="0"/>
              <a:t>에서 테이블 생성하기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A09CBBA-4F8B-C99B-89A4-77F58548379C}"/>
              </a:ext>
            </a:extLst>
          </p:cNvPr>
          <p:cNvGrpSpPr/>
          <p:nvPr/>
        </p:nvGrpSpPr>
        <p:grpSpPr>
          <a:xfrm>
            <a:off x="408006" y="2128732"/>
            <a:ext cx="11375987" cy="3281468"/>
            <a:chOff x="838200" y="3033228"/>
            <a:chExt cx="10222926" cy="294886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5AFA7B8-FE32-20EA-BDA4-338B844B1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033228"/>
              <a:ext cx="3583132" cy="279806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89DBC05-879E-1B8C-0FA7-878EAC2F4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3797" y="3033228"/>
              <a:ext cx="5987329" cy="2948861"/>
            </a:xfrm>
            <a:prstGeom prst="rect">
              <a:avLst/>
            </a:prstGeom>
          </p:spPr>
        </p:pic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C1FBC9C0-F3E7-CE85-8849-EA7F4BB3988A}"/>
                </a:ext>
              </a:extLst>
            </p:cNvPr>
            <p:cNvSpPr/>
            <p:nvPr/>
          </p:nvSpPr>
          <p:spPr>
            <a:xfrm>
              <a:off x="4507493" y="4432260"/>
              <a:ext cx="480143" cy="394855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70616D5-1BEC-BEA5-009F-E9C90F8964D3}"/>
              </a:ext>
            </a:extLst>
          </p:cNvPr>
          <p:cNvSpPr txBox="1"/>
          <p:nvPr/>
        </p:nvSpPr>
        <p:spPr>
          <a:xfrm>
            <a:off x="251788" y="1289265"/>
            <a:ext cx="7935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800" dirty="0"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b="1" dirty="0"/>
              <a:t>테이블 설계</a:t>
            </a:r>
            <a:r>
              <a:rPr lang="en-US" altLang="ko-KR" sz="2800" b="1" dirty="0"/>
              <a:t> : </a:t>
            </a:r>
            <a:r>
              <a:rPr lang="ko-KR" altLang="en-US" sz="2800" b="1" dirty="0"/>
              <a:t>테이블 열 이름과 데이터 형식 정하기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07458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867931CC-F5D3-B7CA-A461-6AF78BC7B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28798"/>
              </p:ext>
            </p:extLst>
          </p:nvPr>
        </p:nvGraphicFramePr>
        <p:xfrm>
          <a:off x="1286740" y="2218553"/>
          <a:ext cx="9618520" cy="33455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23704">
                  <a:extLst>
                    <a:ext uri="{9D8B030D-6E8A-4147-A177-3AD203B41FA5}">
                      <a16:colId xmlns:a16="http://schemas.microsoft.com/office/drawing/2014/main" val="398921568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692352523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26550674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341205409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865839740"/>
                    </a:ext>
                  </a:extLst>
                </a:gridCol>
              </a:tblGrid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열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영문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데이터 형식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최대 길이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Not</a:t>
                      </a:r>
                      <a:r>
                        <a:rPr lang="ko-KR" altLang="en-US" sz="1800" dirty="0"/>
                        <a:t> </a:t>
                      </a:r>
                      <a:r>
                        <a:rPr lang="en-US" altLang="ko-KR" sz="1800" dirty="0"/>
                        <a:t>Null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3975156258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아이디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id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문자</a:t>
                      </a:r>
                      <a:r>
                        <a:rPr lang="en-US" altLang="ko-KR" sz="1800" dirty="0"/>
                        <a:t> (VARCHAR)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10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Yes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39343848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비밀번호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pw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문자</a:t>
                      </a:r>
                      <a:r>
                        <a:rPr lang="en-US" altLang="ko-KR" sz="1800" dirty="0"/>
                        <a:t> (VARCHAR)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20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Yes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4000620247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name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문자</a:t>
                      </a:r>
                      <a:r>
                        <a:rPr lang="en-US" altLang="ko-KR" sz="1800" dirty="0"/>
                        <a:t> (VARCHAR)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5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Yes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65945055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성별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gender 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문자</a:t>
                      </a:r>
                      <a:r>
                        <a:rPr lang="en-US" altLang="ko-KR" sz="1800" dirty="0"/>
                        <a:t> (CHAR)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253733006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생년월일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birthday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날짜 </a:t>
                      </a:r>
                      <a:r>
                        <a:rPr lang="en-US" altLang="ko-KR" sz="1800" dirty="0"/>
                        <a:t>(DATE)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Yes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1992094953"/>
                  </a:ext>
                </a:extLst>
              </a:tr>
              <a:tr h="446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나이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age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숫자 </a:t>
                      </a:r>
                      <a:r>
                        <a:rPr lang="en-US" altLang="ko-KR" sz="1800" dirty="0"/>
                        <a:t>(INT)</a:t>
                      </a:r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Yes</a:t>
                      </a:r>
                      <a:endParaRPr lang="ko-KR" altLang="en-US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11643456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246892-B2F2-972B-A730-9E6176868F05}"/>
              </a:ext>
            </a:extLst>
          </p:cNvPr>
          <p:cNvSpPr txBox="1"/>
          <p:nvPr/>
        </p:nvSpPr>
        <p:spPr>
          <a:xfrm>
            <a:off x="1286740" y="1662113"/>
            <a:ext cx="697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Workbench</a:t>
            </a:r>
            <a:r>
              <a:rPr lang="ko-KR" altLang="en-US" sz="2400" dirty="0"/>
              <a:t>에서 아래 조건을 만족하는 테이블 생성하기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C10120C-6CD7-93B3-034D-E4074C2151C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MySQL Workbench</a:t>
            </a:r>
            <a:r>
              <a:rPr lang="ko-KR" altLang="en-US" dirty="0"/>
              <a:t>에서 테이블 생성하기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305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B62FC-9EC1-35A2-130E-94E8548B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테이블에 데이터 추가하기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26F1CE-F230-F22E-7E04-B503F997D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" y="1738607"/>
            <a:ext cx="9118600" cy="33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32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84516F25-896B-9ED5-E6E9-63FD9D57CC6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en-US" altLang="ko-KR" dirty="0" err="1">
                <a:solidFill>
                  <a:srgbClr val="ED7D31"/>
                </a:solidFill>
              </a:rPr>
              <a:t>my_shop</a:t>
            </a:r>
            <a:r>
              <a:rPr lang="en-US" altLang="ko-KR" dirty="0">
                <a:solidFill>
                  <a:srgbClr val="ED7D31"/>
                </a:solidFill>
              </a:rPr>
              <a:t> DB</a:t>
            </a:r>
            <a:r>
              <a:rPr lang="ko-KR" altLang="en-US" dirty="0">
                <a:solidFill>
                  <a:srgbClr val="ED7D31"/>
                </a:solidFill>
              </a:rPr>
              <a:t>만들기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709479CA-1802-B617-A327-9AAAE3D0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977" y="1145406"/>
            <a:ext cx="6379823" cy="22835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My_shop</a:t>
            </a:r>
            <a:r>
              <a:rPr lang="ko-KR" altLang="en-US" dirty="0"/>
              <a:t>이라는 이름의 </a:t>
            </a:r>
            <a:r>
              <a:rPr lang="en-US" altLang="ko-KR" dirty="0" err="1"/>
              <a:t>db</a:t>
            </a:r>
            <a:r>
              <a:rPr lang="ko-KR" altLang="en-US" dirty="0"/>
              <a:t>를 새로 생성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제시된 표의 조건대로 테이블 생성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테이블에 제시된 데이터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2179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B380D-260F-5EC2-0467-820C50AD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en-US" altLang="ko-KR" dirty="0" err="1">
                <a:solidFill>
                  <a:srgbClr val="ED7D31"/>
                </a:solidFill>
              </a:rPr>
              <a:t>my_shop</a:t>
            </a:r>
            <a:r>
              <a:rPr lang="en-US" altLang="ko-KR" dirty="0">
                <a:solidFill>
                  <a:srgbClr val="ED7D31"/>
                </a:solidFill>
              </a:rPr>
              <a:t> DB</a:t>
            </a:r>
            <a:r>
              <a:rPr lang="ko-KR" altLang="en-US" dirty="0">
                <a:solidFill>
                  <a:srgbClr val="ED7D31"/>
                </a:solidFill>
              </a:rPr>
              <a:t>만들기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150D4DD7-1772-5B0A-0155-7F45F2FE9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003843"/>
              </p:ext>
            </p:extLst>
          </p:nvPr>
        </p:nvGraphicFramePr>
        <p:xfrm>
          <a:off x="1286740" y="4055785"/>
          <a:ext cx="9618520" cy="23117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23704">
                  <a:extLst>
                    <a:ext uri="{9D8B030D-6E8A-4147-A177-3AD203B41FA5}">
                      <a16:colId xmlns:a16="http://schemas.microsoft.com/office/drawing/2014/main" val="398921568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692352523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26550674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341205409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865839740"/>
                    </a:ext>
                  </a:extLst>
                </a:gridCol>
              </a:tblGrid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열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영문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형식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최대 길이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Null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3975156258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주문번호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order_id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숫자 </a:t>
                      </a:r>
                      <a:r>
                        <a:rPr lang="en-US" altLang="ko-KR" sz="1600" dirty="0"/>
                        <a:t>(INT)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39343848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고객번호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cust_id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(VARCHAR)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4000620247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상품명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prod_name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(VARCHAR)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65945055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가격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price 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숫자 </a:t>
                      </a:r>
                      <a:r>
                        <a:rPr lang="en-US" altLang="ko-KR" sz="1600" dirty="0"/>
                        <a:t>(INT)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253733006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수량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amount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숫자 </a:t>
                      </a:r>
                      <a:r>
                        <a:rPr lang="en-US" altLang="ko-KR" sz="1600" dirty="0"/>
                        <a:t>(SMALLINT)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1992094953"/>
                  </a:ext>
                </a:extLst>
              </a:tr>
            </a:tbl>
          </a:graphicData>
        </a:graphic>
      </p:graphicFrame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150D4DD7-1772-5B0A-0155-7F45F2FE9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165802"/>
              </p:ext>
            </p:extLst>
          </p:nvPr>
        </p:nvGraphicFramePr>
        <p:xfrm>
          <a:off x="1286740" y="1299885"/>
          <a:ext cx="9618520" cy="23117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23704">
                  <a:extLst>
                    <a:ext uri="{9D8B030D-6E8A-4147-A177-3AD203B41FA5}">
                      <a16:colId xmlns:a16="http://schemas.microsoft.com/office/drawing/2014/main" val="398921568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692352523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26550674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3412054090"/>
                    </a:ext>
                  </a:extLst>
                </a:gridCol>
                <a:gridCol w="1923704">
                  <a:extLst>
                    <a:ext uri="{9D8B030D-6E8A-4147-A177-3AD203B41FA5}">
                      <a16:colId xmlns:a16="http://schemas.microsoft.com/office/drawing/2014/main" val="2865839740"/>
                    </a:ext>
                  </a:extLst>
                </a:gridCol>
              </a:tblGrid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열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영문 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형식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최대 길이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Null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3975156258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아이디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cust_id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(VARCHAR)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39343848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cust_name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(VARCHAR)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4000620247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주소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addr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(VARCHAR)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Yes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865945055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전화번호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phone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문자 </a:t>
                      </a:r>
                      <a:r>
                        <a:rPr lang="en-US" altLang="ko-KR" sz="1600" dirty="0"/>
                        <a:t>(CHAR)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11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253733006"/>
                  </a:ext>
                </a:extLst>
              </a:tr>
              <a:tr h="3852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생년월일</a:t>
                      </a:r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birth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날짜 </a:t>
                      </a:r>
                      <a:r>
                        <a:rPr lang="en-US" altLang="ko-KR" sz="1600" dirty="0"/>
                        <a:t>(DATE)</a:t>
                      </a:r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19263" marR="119263" marT="59631" marB="59631" anchor="ctr"/>
                </a:tc>
                <a:extLst>
                  <a:ext uri="{0D108BD9-81ED-4DB2-BD59-A6C34878D82A}">
                    <a16:rowId xmlns:a16="http://schemas.microsoft.com/office/drawing/2014/main" val="2836109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BA874B-CDFD-9AC3-F44C-03665A1DA9BE}"/>
              </a:ext>
            </a:extLst>
          </p:cNvPr>
          <p:cNvSpPr txBox="1"/>
          <p:nvPr/>
        </p:nvSpPr>
        <p:spPr>
          <a:xfrm>
            <a:off x="1185140" y="838220"/>
            <a:ext cx="2436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customer </a:t>
            </a:r>
            <a:r>
              <a:rPr lang="ko-KR" altLang="en-US" sz="2400" dirty="0"/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D6075-106E-C8AC-EAFC-08F82284F3E1}"/>
              </a:ext>
            </a:extLst>
          </p:cNvPr>
          <p:cNvSpPr txBox="1"/>
          <p:nvPr/>
        </p:nvSpPr>
        <p:spPr>
          <a:xfrm>
            <a:off x="1185140" y="3621920"/>
            <a:ext cx="1816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order </a:t>
            </a:r>
            <a:r>
              <a:rPr lang="ko-KR" altLang="en-US" sz="2400" dirty="0"/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3277776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33E5-CA73-31CF-D1EC-7C8B2FF1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0C888BB1-3AD1-6EE6-6ECE-7BB1F61BB74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en-US" altLang="ko-KR" dirty="0" err="1">
                <a:solidFill>
                  <a:srgbClr val="ED7D31"/>
                </a:solidFill>
              </a:rPr>
              <a:t>my_shop</a:t>
            </a:r>
            <a:r>
              <a:rPr lang="en-US" altLang="ko-KR" dirty="0">
                <a:solidFill>
                  <a:srgbClr val="ED7D31"/>
                </a:solidFill>
              </a:rPr>
              <a:t> DB</a:t>
            </a:r>
            <a:r>
              <a:rPr lang="ko-KR" altLang="en-US" dirty="0">
                <a:solidFill>
                  <a:srgbClr val="ED7D31"/>
                </a:solidFill>
              </a:rPr>
              <a:t>만들기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8B6790-FB98-E864-8EE1-23B681F64346}"/>
              </a:ext>
            </a:extLst>
          </p:cNvPr>
          <p:cNvGrpSpPr/>
          <p:nvPr/>
        </p:nvGrpSpPr>
        <p:grpSpPr>
          <a:xfrm>
            <a:off x="1040596" y="1145407"/>
            <a:ext cx="10110807" cy="4885401"/>
            <a:chOff x="980982" y="1512170"/>
            <a:chExt cx="9422050" cy="455260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6C0C6D4-2365-A028-0373-9A2D27064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982" y="2845519"/>
              <a:ext cx="5042282" cy="231154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580204-E8AD-AA5C-BB8E-897B7499E7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75" t="1087" r="1435" b="495"/>
            <a:stretch/>
          </p:blipFill>
          <p:spPr>
            <a:xfrm>
              <a:off x="7046768" y="1937812"/>
              <a:ext cx="3356264" cy="41269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278CA2-9188-E57A-BA92-37F0AE8CAB56}"/>
                </a:ext>
              </a:extLst>
            </p:cNvPr>
            <p:cNvSpPr txBox="1"/>
            <p:nvPr/>
          </p:nvSpPr>
          <p:spPr>
            <a:xfrm>
              <a:off x="980982" y="2476187"/>
              <a:ext cx="1241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Customer</a:t>
              </a:r>
              <a:endParaRPr lang="ko-KR" alt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0B5741-19E4-72CD-DA5F-E87060408D5C}"/>
                </a:ext>
              </a:extLst>
            </p:cNvPr>
            <p:cNvSpPr txBox="1"/>
            <p:nvPr/>
          </p:nvSpPr>
          <p:spPr>
            <a:xfrm>
              <a:off x="7046768" y="1512387"/>
              <a:ext cx="735252" cy="344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Order</a:t>
              </a:r>
              <a:endParaRPr lang="ko-KR" altLang="en-US" b="1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576A905-052B-70AC-3D19-2C4A1389EB06}"/>
                </a:ext>
              </a:extLst>
            </p:cNvPr>
            <p:cNvSpPr/>
            <p:nvPr/>
          </p:nvSpPr>
          <p:spPr>
            <a:xfrm>
              <a:off x="1328657" y="2845518"/>
              <a:ext cx="749525" cy="261363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086C3CF-059D-A9CC-8349-500603A9A43F}"/>
                </a:ext>
              </a:extLst>
            </p:cNvPr>
            <p:cNvSpPr/>
            <p:nvPr/>
          </p:nvSpPr>
          <p:spPr>
            <a:xfrm>
              <a:off x="7876381" y="1927421"/>
              <a:ext cx="737682" cy="254670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C95119BA-7118-0E38-BBE9-A20FC4FCF5FF}"/>
                </a:ext>
              </a:extLst>
            </p:cNvPr>
            <p:cNvCxnSpPr>
              <a:cxnSpLocks/>
              <a:stCxn id="10" idx="0"/>
              <a:endCxn id="11" idx="0"/>
            </p:cNvCxnSpPr>
            <p:nvPr/>
          </p:nvCxnSpPr>
          <p:spPr>
            <a:xfrm rot="5400000" flipH="1" flipV="1">
              <a:off x="4515273" y="-884431"/>
              <a:ext cx="918097" cy="6541802"/>
            </a:xfrm>
            <a:prstGeom prst="bentConnector3">
              <a:avLst>
                <a:gd name="adj1" fmla="val 148667"/>
              </a:avLst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AA9E40-7E76-E6A1-617D-B063C420814F}"/>
                </a:ext>
              </a:extLst>
            </p:cNvPr>
            <p:cNvSpPr txBox="1"/>
            <p:nvPr/>
          </p:nvSpPr>
          <p:spPr>
            <a:xfrm>
              <a:off x="4601494" y="151217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00B0F0"/>
                  </a:solidFill>
                </a:rPr>
                <a:t>참조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314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3161</TotalTime>
  <Words>834</Words>
  <Application>Microsoft Office PowerPoint</Application>
  <PresentationFormat>와이드스크린</PresentationFormat>
  <Paragraphs>213</Paragraphs>
  <Slides>28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MySQL</vt:lpstr>
      <vt:lpstr>PowerPoint 프레젠테이션</vt:lpstr>
      <vt:lpstr>PowerPoint 프레젠테이션</vt:lpstr>
      <vt:lpstr>MySQL 설치</vt:lpstr>
      <vt:lpstr>MySQL 설치</vt:lpstr>
      <vt:lpstr>MySQL 설치</vt:lpstr>
      <vt:lpstr>MySQL 설치</vt:lpstr>
      <vt:lpstr>MySQL 설치</vt:lpstr>
      <vt:lpstr>MySQL 설치</vt:lpstr>
      <vt:lpstr>MySQL 설치</vt:lpstr>
      <vt:lpstr>MySQL 설치</vt:lpstr>
      <vt:lpstr>MySQL 실행 – 로컬 (Windows)</vt:lpstr>
      <vt:lpstr>MySQL 실행 – 로컬 (MacOS)</vt:lpstr>
      <vt:lpstr>MySQL Workbench </vt:lpstr>
      <vt:lpstr>PowerPoint 프레젠테이션</vt:lpstr>
      <vt:lpstr>전체 데이터베이스 구성도</vt:lpstr>
      <vt:lpstr>데이터베이스 구축 단계</vt:lpstr>
      <vt:lpstr>테이블 만들기</vt:lpstr>
      <vt:lpstr>MySQL Workbench에서 테이블 생성하기</vt:lpstr>
      <vt:lpstr>PowerPoint 프레젠테이션</vt:lpstr>
      <vt:lpstr>테이블에 데이터 추가하기</vt:lpstr>
      <vt:lpstr>PowerPoint 프레젠테이션</vt:lpstr>
      <vt:lpstr>실습1. my_shop DB만들기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283</cp:revision>
  <dcterms:created xsi:type="dcterms:W3CDTF">2023-01-31T04:26:23Z</dcterms:created>
  <dcterms:modified xsi:type="dcterms:W3CDTF">2025-10-22T03:45:38Z</dcterms:modified>
</cp:coreProperties>
</file>