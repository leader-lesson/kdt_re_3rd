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1044" r:id="rId2"/>
    <p:sldId id="1012" r:id="rId3"/>
    <p:sldId id="1043" r:id="rId4"/>
    <p:sldId id="1013" r:id="rId5"/>
    <p:sldId id="1014" r:id="rId6"/>
    <p:sldId id="1015" r:id="rId7"/>
    <p:sldId id="1016" r:id="rId8"/>
    <p:sldId id="1017" r:id="rId9"/>
    <p:sldId id="257" r:id="rId10"/>
    <p:sldId id="446" r:id="rId11"/>
    <p:sldId id="1042" r:id="rId12"/>
    <p:sldId id="1028" r:id="rId13"/>
    <p:sldId id="1029" r:id="rId14"/>
    <p:sldId id="1030" r:id="rId15"/>
    <p:sldId id="1031" r:id="rId16"/>
    <p:sldId id="1032" r:id="rId17"/>
    <p:sldId id="1033" r:id="rId18"/>
    <p:sldId id="1034" r:id="rId19"/>
    <p:sldId id="1041" r:id="rId20"/>
    <p:sldId id="1035" r:id="rId21"/>
    <p:sldId id="1039" r:id="rId22"/>
    <p:sldId id="1036" r:id="rId23"/>
    <p:sldId id="1037" r:id="rId24"/>
    <p:sldId id="1038" r:id="rId25"/>
    <p:sldId id="1040" r:id="rId26"/>
    <p:sldId id="813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5050"/>
    <a:srgbClr val="66FF99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71932" autoAdjust="0"/>
  </p:normalViewPr>
  <p:slideViewPr>
    <p:cSldViewPr snapToGrid="0">
      <p:cViewPr varScale="1">
        <p:scale>
          <a:sx n="69" d="100"/>
          <a:sy n="69" d="100"/>
        </p:scale>
        <p:origin x="6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4925-CD89-AE98-EE82-A864E438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17AF9-5973-67B9-FA8C-2FB7071B7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ECD322-5C90-ED38-8DF0-C78CDBADB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B86FB-B305-D2BE-A1FA-427256FD9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870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CDD0-7E72-76AC-4A04-3AB6CF81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92A05-E690-39EE-C723-A9FC44EB4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AD220F-C96B-61F7-98B8-21A1B36EC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6EC4CC-F66C-6C1C-DF51-148E8F86F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71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6AA2-6A59-9C1E-C67E-B0F4B08C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FC22B3-CA22-E1AE-7043-D91286504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D2AB4F-E72F-87B1-C140-F26426DE1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54605-6C89-4153-00E0-71420AB89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749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0023-C62A-FEFA-A693-6D8DE810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8AC8DD-6D83-01B7-CD0B-C4582A846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BF599A-1C2C-637D-6F3C-864EF8C1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4BE41-71F1-4691-C1D9-45ED28E34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10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D413-C648-EDBB-EA90-C2CD6EFA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B9BC51-7B19-0925-B7D6-6E86B35E2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B73996-9B2D-2DAB-9B68-39EFDD4BE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E612C-F5C5-6F65-FFF1-71C627128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092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https://haon.blog/haon/index/cluster/</a:t>
            </a:r>
          </a:p>
          <a:p>
            <a:r>
              <a:rPr lang="ko-KR" altLang="en-US" dirty="0"/>
              <a:t>인덱스가 없다면 맨 처음부터 시작해서 순차적으로 모든 레코드를 스캔할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MySQL 8.0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의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InnoDB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스토리지 엔진은 각 테이블당 기본적으로 하나 이상의 인덱스를 생성하는 것을 강제로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하고있으며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이 때문에 기본적으로 클러스터링 인덱스를 생성합니다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. 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데이터를 인덱스 정렬 순으로 실제 테이블에 저장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id</a:t>
            </a:r>
            <a:r>
              <a:rPr lang="ko-KR" altLang="en-US" dirty="0"/>
              <a:t>가 </a:t>
            </a:r>
            <a:r>
              <a:rPr lang="en-US" altLang="ko-KR" dirty="0"/>
              <a:t>1~4 </a:t>
            </a:r>
            <a:r>
              <a:rPr lang="ko-KR" altLang="en-US" dirty="0"/>
              <a:t>범위의 데이터는 페이지 </a:t>
            </a:r>
            <a:r>
              <a:rPr lang="en-US" altLang="ko-KR" dirty="0"/>
              <a:t>10001</a:t>
            </a:r>
            <a:r>
              <a:rPr lang="ko-KR" altLang="en-US" dirty="0"/>
              <a:t>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id</a:t>
            </a:r>
            <a:r>
              <a:rPr lang="ko-KR" altLang="en-US" dirty="0"/>
              <a:t>가 </a:t>
            </a:r>
            <a:r>
              <a:rPr lang="en-US" altLang="ko-KR" dirty="0"/>
              <a:t>5~8 </a:t>
            </a:r>
            <a:r>
              <a:rPr lang="ko-KR" altLang="en-US" dirty="0"/>
              <a:t>범위의 데이터는 페이지 </a:t>
            </a:r>
            <a:r>
              <a:rPr lang="en-US" altLang="ko-KR" dirty="0"/>
              <a:t>10002</a:t>
            </a:r>
            <a:r>
              <a:rPr lang="ko-KR" altLang="en-US" dirty="0"/>
              <a:t>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id</a:t>
            </a:r>
            <a:r>
              <a:rPr lang="ko-KR" altLang="en-US" dirty="0"/>
              <a:t>가 </a:t>
            </a:r>
            <a:r>
              <a:rPr lang="en-US" altLang="ko-KR" dirty="0"/>
              <a:t>9~12 </a:t>
            </a:r>
            <a:r>
              <a:rPr lang="ko-KR" altLang="en-US" dirty="0"/>
              <a:t>범위의 데이터는 페이지 </a:t>
            </a:r>
            <a:r>
              <a:rPr lang="en-US" altLang="ko-KR" dirty="0"/>
              <a:t>10003</a:t>
            </a:r>
            <a:r>
              <a:rPr lang="ko-KR" altLang="en-US" dirty="0"/>
              <a:t>에 저장되어 있음을 의미합니다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조회 과정 </a:t>
            </a:r>
            <a:r>
              <a:rPr lang="en-US" altLang="ko-KR" b="1" dirty="0"/>
              <a:t>(SELECT * FROM Member WHERE id = 7)</a:t>
            </a:r>
          </a:p>
          <a:p>
            <a:r>
              <a:rPr lang="en-US" altLang="ko-KR" dirty="0"/>
              <a:t>DB</a:t>
            </a:r>
            <a:r>
              <a:rPr lang="ko-KR" altLang="en-US" dirty="0"/>
              <a:t>는 루트 노드에서 </a:t>
            </a:r>
            <a:r>
              <a:rPr lang="en-US" altLang="ko-KR" dirty="0"/>
              <a:t>id = 7</a:t>
            </a:r>
            <a:r>
              <a:rPr lang="ko-KR" altLang="en-US" dirty="0"/>
              <a:t>을 찾기 시작합니다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루트 노드 기준으로</a:t>
            </a:r>
            <a:r>
              <a:rPr lang="en-US" altLang="ko-KR" dirty="0"/>
              <a:t>,</a:t>
            </a:r>
          </a:p>
          <a:p>
            <a:pPr lvl="1"/>
            <a:r>
              <a:rPr lang="en-US" altLang="ko-KR" dirty="0"/>
              <a:t>7</a:t>
            </a:r>
            <a:r>
              <a:rPr lang="ko-KR" altLang="en-US" dirty="0"/>
              <a:t>은 </a:t>
            </a:r>
            <a:r>
              <a:rPr lang="en-US" altLang="ko-KR" dirty="0"/>
              <a:t>5 </a:t>
            </a:r>
            <a:r>
              <a:rPr lang="ko-KR" altLang="en-US" dirty="0"/>
              <a:t>이상 </a:t>
            </a:r>
            <a:r>
              <a:rPr lang="en-US" altLang="ko-KR" dirty="0"/>
              <a:t>9 </a:t>
            </a:r>
            <a:r>
              <a:rPr lang="ko-KR" altLang="en-US" dirty="0"/>
              <a:t>미만이므로 → </a:t>
            </a:r>
            <a:r>
              <a:rPr lang="ko-KR" altLang="en-US" b="1" dirty="0"/>
              <a:t>리프 노드 </a:t>
            </a:r>
            <a:r>
              <a:rPr lang="en-US" altLang="ko-KR" b="1" dirty="0"/>
              <a:t>10002</a:t>
            </a:r>
            <a:r>
              <a:rPr lang="ko-KR" altLang="en-US" dirty="0"/>
              <a:t> 로 이동</a:t>
            </a:r>
          </a:p>
          <a:p>
            <a:r>
              <a:rPr lang="ko-KR" altLang="en-US" dirty="0"/>
              <a:t>페이지 </a:t>
            </a:r>
            <a:r>
              <a:rPr lang="en-US" altLang="ko-KR" dirty="0"/>
              <a:t>10002</a:t>
            </a:r>
            <a:r>
              <a:rPr lang="ko-KR" altLang="en-US" dirty="0"/>
              <a:t>를 읽고 </a:t>
            </a:r>
            <a:r>
              <a:rPr lang="en-US" altLang="ko-KR" dirty="0"/>
              <a:t>id = 7</a:t>
            </a:r>
            <a:r>
              <a:rPr lang="ko-KR" altLang="en-US" dirty="0"/>
              <a:t>인 레코드를 직접 찾습니다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중간에 다른 테이블 접근 없이 </a:t>
            </a:r>
            <a:r>
              <a:rPr lang="ko-KR" altLang="en-US" b="1" dirty="0"/>
              <a:t>한 번에 실제 데이터 접근</a:t>
            </a:r>
            <a:r>
              <a:rPr lang="ko-KR" altLang="en-US" dirty="0"/>
              <a:t>이 가능합니다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➡️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클러스터형 인덱스는 인덱스를 통해 곧바로 실제 데이터 페이지에 도달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핵심은 </a:t>
            </a:r>
            <a:r>
              <a:rPr lang="ko-KR" altLang="en-US" b="1" dirty="0"/>
              <a:t>인덱스와 실제 데이터</a:t>
            </a:r>
            <a:r>
              <a:rPr lang="en-US" altLang="ko-KR" b="1" dirty="0"/>
              <a:t>(</a:t>
            </a:r>
            <a:r>
              <a:rPr lang="ko-KR" altLang="en-US" b="1" dirty="0"/>
              <a:t>테이블</a:t>
            </a:r>
            <a:r>
              <a:rPr lang="en-US" altLang="ko-KR" b="1" dirty="0"/>
              <a:t>)</a:t>
            </a:r>
            <a:r>
              <a:rPr lang="ko-KR" altLang="en-US" b="1" dirty="0"/>
              <a:t>가 분리되어 있다는 점</a:t>
            </a:r>
            <a:endParaRPr lang="en-US" altLang="ko-KR" b="1" dirty="0"/>
          </a:p>
          <a:p>
            <a:endParaRPr lang="en-US" altLang="ko-KR" b="1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1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580952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78641339-6B3A-6EFB-2920-5E45FD8CE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0919"/>
            <a:ext cx="9144000" cy="1655762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05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00F0-BB65-878D-073E-C0B894A6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79E9D-0464-14CF-F117-35A2AA1DD488}"/>
              </a:ext>
            </a:extLst>
          </p:cNvPr>
          <p:cNvSpPr txBox="1"/>
          <p:nvPr/>
        </p:nvSpPr>
        <p:spPr>
          <a:xfrm>
            <a:off x="4040807" y="2600493"/>
            <a:ext cx="41104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8.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서브쿼리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8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서브쿼리</a:t>
            </a:r>
            <a:r>
              <a:rPr lang="en-US" altLang="ko-KR" dirty="0"/>
              <a:t>(Subquery)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42233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다른 </a:t>
            </a:r>
            <a:r>
              <a:rPr lang="en-US" altLang="ko-KR" dirty="0"/>
              <a:t>SQL </a:t>
            </a:r>
            <a:r>
              <a:rPr lang="ko-KR" altLang="en-US" dirty="0"/>
              <a:t>문 내에 중첩되어 사용되는 </a:t>
            </a:r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일반적으로 </a:t>
            </a:r>
            <a:r>
              <a:rPr lang="ko-KR" altLang="en-US" b="1" dirty="0"/>
              <a:t>메인 쿼리</a:t>
            </a:r>
            <a:r>
              <a:rPr lang="en-US" altLang="ko-KR" b="1" dirty="0"/>
              <a:t>(Main Query)</a:t>
            </a:r>
            <a:r>
              <a:rPr lang="ko-KR" altLang="en-US" b="1" dirty="0"/>
              <a:t>의 조건을 결정</a:t>
            </a:r>
            <a:r>
              <a:rPr lang="ko-KR" altLang="en-US" dirty="0"/>
              <a:t>하는 데 사용 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</a:t>
            </a:r>
            <a:r>
              <a:rPr lang="ko-KR" altLang="en-US" sz="2800" dirty="0" err="1"/>
              <a:t>서브쿼리</a:t>
            </a:r>
            <a:r>
              <a:rPr lang="ko-KR" altLang="en-US" sz="2800" dirty="0"/>
              <a:t> 사용 목적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조건식의 기준 데이터를 동적으로 조회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복잡한 필터링을 단순화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비교 또는 집계 결과 활용</a:t>
            </a:r>
            <a:endParaRPr lang="ko-KR" altLang="en-US" dirty="0">
              <a:latin typeface="+mn-ea"/>
              <a:ea typeface="+mn-ea"/>
            </a:endParaRPr>
          </a:p>
        </p:txBody>
      </p:sp>
      <p:pic>
        <p:nvPicPr>
          <p:cNvPr id="1026" name="Picture 2" descr="MySQL 서브쿼리 , 집합 연산자에 대해">
            <a:extLst>
              <a:ext uri="{FF2B5EF4-FFF2-40B4-BE49-F238E27FC236}">
                <a16:creationId xmlns:a16="http://schemas.microsoft.com/office/drawing/2014/main" id="{BF5E4F8C-B974-DFF5-EC84-900B0ED5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523" y="2787872"/>
            <a:ext cx="53530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9E25FE-035F-4BDA-974C-2EFABFA8B55D}"/>
              </a:ext>
            </a:extLst>
          </p:cNvPr>
          <p:cNvSpPr txBox="1"/>
          <p:nvPr/>
        </p:nvSpPr>
        <p:spPr>
          <a:xfrm>
            <a:off x="7502857" y="5210092"/>
            <a:ext cx="2415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https://swkn.tistory.com/99</a:t>
            </a:r>
          </a:p>
        </p:txBody>
      </p:sp>
    </p:spTree>
    <p:extLst>
      <p:ext uri="{BB962C8B-B14F-4D97-AF65-F5344CB8AC3E}">
        <p14:creationId xmlns:p14="http://schemas.microsoft.com/office/powerpoint/2010/main" val="107490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28A4-3DBC-A40F-D620-2C27F524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5F674-3CB8-615C-3952-62658C4E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서브쿼리의</a:t>
            </a:r>
            <a:r>
              <a:rPr lang="ko-KR" altLang="en-US" dirty="0"/>
              <a:t>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6B564-EC1B-8B86-26B0-9F8F0FF39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9" y="1058334"/>
            <a:ext cx="5844212" cy="12869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WHERE</a:t>
            </a:r>
            <a:r>
              <a:rPr lang="ko-KR" altLang="en-US" sz="2400" dirty="0"/>
              <a:t>절 </a:t>
            </a:r>
            <a:r>
              <a:rPr lang="ko-KR" altLang="en-US" sz="2400" dirty="0" err="1"/>
              <a:t>서브쿼리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평균 가격보다 높은 가격인 상품 조회</a:t>
            </a:r>
            <a:r>
              <a:rPr lang="en-US" altLang="ko-KR" sz="2400" dirty="0"/>
              <a:t>	</a:t>
            </a:r>
            <a:endParaRPr lang="ko-KR" altLang="en-US" sz="2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FE92998-8422-A0C4-A02C-AF59F949FBEE}"/>
              </a:ext>
            </a:extLst>
          </p:cNvPr>
          <p:cNvGrpSpPr/>
          <p:nvPr/>
        </p:nvGrpSpPr>
        <p:grpSpPr>
          <a:xfrm>
            <a:off x="973313" y="2842853"/>
            <a:ext cx="4401164" cy="2495898"/>
            <a:chOff x="1121096" y="2365530"/>
            <a:chExt cx="4401164" cy="249589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3F12BA7-19D9-B227-0934-AB8190BDB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096" y="2365530"/>
              <a:ext cx="4401164" cy="249589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CB4B5BA-A42E-F824-3E37-D325A804167C}"/>
                </a:ext>
              </a:extLst>
            </p:cNvPr>
            <p:cNvSpPr/>
            <p:nvPr/>
          </p:nvSpPr>
          <p:spPr>
            <a:xfrm>
              <a:off x="1646866" y="3787146"/>
              <a:ext cx="3362325" cy="23177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D56F342-F80D-8488-4263-DE5839859546}"/>
                </a:ext>
              </a:extLst>
            </p:cNvPr>
            <p:cNvSpPr/>
            <p:nvPr/>
          </p:nvSpPr>
          <p:spPr>
            <a:xfrm>
              <a:off x="1408742" y="3503942"/>
              <a:ext cx="609600" cy="23177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02D6AF39-682F-6254-1F31-876F5DD078D5}"/>
              </a:ext>
            </a:extLst>
          </p:cNvPr>
          <p:cNvSpPr txBox="1">
            <a:spLocks/>
          </p:cNvSpPr>
          <p:nvPr/>
        </p:nvSpPr>
        <p:spPr>
          <a:xfrm>
            <a:off x="6096000" y="1058334"/>
            <a:ext cx="5844212" cy="169238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FROM</a:t>
            </a:r>
            <a:r>
              <a:rPr lang="ko-KR" altLang="en-US" sz="2400" dirty="0"/>
              <a:t>절 </a:t>
            </a:r>
            <a:r>
              <a:rPr lang="ko-KR" altLang="en-US" sz="2400" dirty="0" err="1"/>
              <a:t>서브쿼리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000" dirty="0"/>
              <a:t>✔️ 카테고리별 평균 가격을 구하고</a:t>
            </a:r>
            <a:r>
              <a:rPr lang="en-US" altLang="ko-KR" sz="2000" dirty="0"/>
              <a:t>,</a:t>
            </a:r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      </a:t>
            </a:r>
            <a:r>
              <a:rPr lang="ko-KR" altLang="en-US" sz="2000" dirty="0"/>
              <a:t>평균이 </a:t>
            </a:r>
            <a:r>
              <a:rPr lang="en-US" altLang="ko-KR" sz="2000" dirty="0"/>
              <a:t>100,000</a:t>
            </a:r>
            <a:r>
              <a:rPr lang="ko-KR" altLang="en-US" sz="2000" dirty="0"/>
              <a:t>원 이상인 카테고리만 출력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2400" dirty="0"/>
              <a:t>	</a:t>
            </a:r>
            <a:endParaRPr lang="ko-KR" altLang="en-US" sz="24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99D1903-4F2B-1806-4FB0-F981F4D1ED4C}"/>
              </a:ext>
            </a:extLst>
          </p:cNvPr>
          <p:cNvGrpSpPr/>
          <p:nvPr/>
        </p:nvGrpSpPr>
        <p:grpSpPr>
          <a:xfrm>
            <a:off x="6668579" y="2842853"/>
            <a:ext cx="5039428" cy="3077004"/>
            <a:chOff x="6617779" y="2865604"/>
            <a:chExt cx="5039428" cy="3077004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A544EDD-8BA3-C244-D229-22D177F2F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7779" y="2865604"/>
              <a:ext cx="5039428" cy="3077004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D2758C-C3D3-C262-0CE6-C70359F6E690}"/>
                </a:ext>
              </a:extLst>
            </p:cNvPr>
            <p:cNvSpPr/>
            <p:nvPr/>
          </p:nvSpPr>
          <p:spPr>
            <a:xfrm>
              <a:off x="7150583" y="4012810"/>
              <a:ext cx="4025417" cy="81001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80822C0-C849-7F19-733F-3C2EFECB0602}"/>
                </a:ext>
              </a:extLst>
            </p:cNvPr>
            <p:cNvSpPr/>
            <p:nvPr/>
          </p:nvSpPr>
          <p:spPr>
            <a:xfrm>
              <a:off x="6953734" y="3710596"/>
              <a:ext cx="485291" cy="23177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25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A4BC-007E-7DD0-F07C-C2399C76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4632E-50DE-7C11-A864-13B8CB41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서브쿼리의</a:t>
            </a:r>
            <a:r>
              <a:rPr lang="ko-KR" altLang="en-US" dirty="0"/>
              <a:t>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94BA3-8B63-D07C-271C-745A7EE2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6449954" cy="12869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SELECT</a:t>
            </a:r>
            <a:r>
              <a:rPr lang="ko-KR" altLang="en-US" sz="2400" dirty="0"/>
              <a:t>절 </a:t>
            </a:r>
            <a:r>
              <a:rPr lang="ko-KR" altLang="en-US" sz="2400" dirty="0" err="1"/>
              <a:t>서브쿼리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각 고객의 이름과 해당 고객의 총 주문 수를 함께 출력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	</a:t>
            </a:r>
            <a:endParaRPr lang="ko-KR" altLang="en-US" sz="2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78A1CC-8887-E136-EF47-9A6B3AC5898D}"/>
              </a:ext>
            </a:extLst>
          </p:cNvPr>
          <p:cNvGrpSpPr/>
          <p:nvPr/>
        </p:nvGrpSpPr>
        <p:grpSpPr>
          <a:xfrm>
            <a:off x="2861811" y="2570240"/>
            <a:ext cx="6468378" cy="3229426"/>
            <a:chOff x="2861811" y="2570240"/>
            <a:chExt cx="6468378" cy="32294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4C09E54-8E76-4ACD-EE81-E36AD3830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1811" y="2570240"/>
              <a:ext cx="6468378" cy="322942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32DC06E-0483-8FBF-15B8-13DED0126D0E}"/>
                </a:ext>
              </a:extLst>
            </p:cNvPr>
            <p:cNvSpPr/>
            <p:nvPr/>
          </p:nvSpPr>
          <p:spPr>
            <a:xfrm>
              <a:off x="3496879" y="3536950"/>
              <a:ext cx="5304221" cy="133223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4D641B5-E082-008B-22A9-31B99BD5E9F5}"/>
                </a:ext>
              </a:extLst>
            </p:cNvPr>
            <p:cNvSpPr/>
            <p:nvPr/>
          </p:nvSpPr>
          <p:spPr>
            <a:xfrm>
              <a:off x="3232802" y="3223418"/>
              <a:ext cx="817704" cy="23177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389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AED6E-1B01-3373-DA5F-14C711FB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A8A7C-72BF-88CE-92B8-AAE8633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서브쿼리의</a:t>
            </a:r>
            <a:r>
              <a:rPr lang="ko-KR" altLang="en-US" dirty="0"/>
              <a:t>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752A0-42E3-6EA7-B77D-329AA1334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5844212" cy="12869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단일 행 </a:t>
            </a:r>
            <a:r>
              <a:rPr lang="ko-KR" altLang="en-US" sz="2400" dirty="0" err="1"/>
              <a:t>서브쿼리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결과가 오직 한 행만 나와야 함</a:t>
            </a:r>
            <a:r>
              <a:rPr lang="en-US" altLang="ko-KR" sz="2400" dirty="0"/>
              <a:t>	</a:t>
            </a:r>
            <a:endParaRPr lang="ko-KR" altLang="en-US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EE19FC-46ED-F190-76F7-F46BCBCBB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48" y="2345273"/>
            <a:ext cx="4980916" cy="28748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174FDE-0AB7-052E-0CC7-D4AE2035D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48" y="5304297"/>
            <a:ext cx="2323946" cy="944103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A1E62D-CE98-CCC9-7F3E-C67EC76AE799}"/>
              </a:ext>
            </a:extLst>
          </p:cNvPr>
          <p:cNvSpPr txBox="1">
            <a:spLocks/>
          </p:cNvSpPr>
          <p:nvPr/>
        </p:nvSpPr>
        <p:spPr>
          <a:xfrm>
            <a:off x="6347788" y="1058334"/>
            <a:ext cx="5844212" cy="12869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/>
              <a:t>✅ 다중 행 </a:t>
            </a:r>
            <a:r>
              <a:rPr lang="ko-KR" altLang="en-US" sz="2400" dirty="0" err="1"/>
              <a:t>서브쿼리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000" dirty="0"/>
              <a:t>✔️ 여러 행을 반환하는 </a:t>
            </a:r>
            <a:r>
              <a:rPr lang="ko-KR" altLang="en-US" sz="2000" dirty="0" err="1"/>
              <a:t>서브쿼리</a:t>
            </a:r>
            <a:r>
              <a:rPr lang="en-US" altLang="ko-KR" dirty="0"/>
              <a:t>	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B85D775-BF91-E338-3C62-DF45FF7FAD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86" b="11218"/>
          <a:stretch/>
        </p:blipFill>
        <p:spPr>
          <a:xfrm>
            <a:off x="6933956" y="2345273"/>
            <a:ext cx="4671876" cy="27178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4408F9E-72AC-3118-552E-5D44AA080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56" y="5177648"/>
            <a:ext cx="1433427" cy="107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BC76-C1A7-9013-7C65-3A19BF92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C81C7C7A-FE17-8D7B-17C7-1CBF3355A3C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서브쿼리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0CD7B-B23A-6036-7A6B-DE9F06D0D0F5}"/>
              </a:ext>
            </a:extLst>
          </p:cNvPr>
          <p:cNvSpPr txBox="1"/>
          <p:nvPr/>
        </p:nvSpPr>
        <p:spPr>
          <a:xfrm>
            <a:off x="464687" y="1185770"/>
            <a:ext cx="6144457" cy="336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카테고리가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'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전자기기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'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 상품 중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가장 가격이 높은 상품의 이름과 가격을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조회하시오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결제가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신용카드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이루어진 주문을 한 고객의 이름과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조회하시오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550F5C-28D5-AF10-F64D-6EC649DD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520" y="1817657"/>
            <a:ext cx="3440654" cy="8747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35E68A7-9AF7-E885-D957-4E0E4A91B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20" y="3622626"/>
            <a:ext cx="3442278" cy="162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9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4F32-3C45-C5C0-ADB4-B6B20B08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D97B740-74BA-3558-E53D-3C71D44818B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서브쿼리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E5EB6-94FC-9243-B3BD-01F723475D05}"/>
              </a:ext>
            </a:extLst>
          </p:cNvPr>
          <p:cNvSpPr txBox="1"/>
          <p:nvPr/>
        </p:nvSpPr>
        <p:spPr>
          <a:xfrm>
            <a:off x="464687" y="1185770"/>
            <a:ext cx="61444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회 이상 주문한 고객 중 가장 최근에 주문한 고객의 이름과 주문일을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출력하시오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서브쿼리를 사용하여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총 결제 금액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수량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×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×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할인 반영 합계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원 이상인 주문의 주문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금액을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출력하시오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total_price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정수형으로 출력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 참조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할인율은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(1 -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discount_rate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/ 100)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계산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FAB9D1-7B57-78E4-F400-3C40E9285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520" y="1789083"/>
            <a:ext cx="4155427" cy="11454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D6EE9D-55E2-E995-A0B3-850A43E0E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20" y="3704406"/>
            <a:ext cx="4155427" cy="12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8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5106" y="2600493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</a:t>
            </a:r>
            <a:r>
              <a:rPr lang="en-US" altLang="ko-KR" dirty="0"/>
              <a:t>(Index)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42233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데이터베이스에서 데이터를 빠르게 찾기 위해 사용하는 자료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마치 책의 목차처럼</a:t>
            </a:r>
            <a:r>
              <a:rPr lang="en-US" altLang="ko-KR" dirty="0"/>
              <a:t>, </a:t>
            </a:r>
            <a:r>
              <a:rPr lang="ko-KR" altLang="en-US" dirty="0"/>
              <a:t>검색 속도를 높여줌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</a:t>
            </a:r>
            <a:r>
              <a:rPr lang="ko-KR" altLang="en-US" dirty="0"/>
              <a:t>→ 대용량 테이블에서 성능 향상에 핵심적인 역할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인덱스의 분류 </a:t>
            </a:r>
            <a:r>
              <a:rPr lang="en-US" altLang="ko-KR" sz="2800" dirty="0"/>
              <a:t>: </a:t>
            </a:r>
            <a:r>
              <a:rPr lang="ko-KR" altLang="en-US" dirty="0" err="1"/>
              <a:t>클러스터형</a:t>
            </a:r>
            <a:r>
              <a:rPr lang="ko-KR" altLang="en-US" dirty="0"/>
              <a:t> 인덱스 </a:t>
            </a:r>
            <a:r>
              <a:rPr lang="en-US" altLang="ko-KR" dirty="0"/>
              <a:t>/ </a:t>
            </a:r>
            <a:r>
              <a:rPr lang="ko-KR" altLang="en-US" dirty="0"/>
              <a:t>보조 인덱스</a:t>
            </a:r>
            <a:endParaRPr lang="en-US" altLang="ko-KR" sz="28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291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</a:t>
            </a:r>
            <a:r>
              <a:rPr lang="en-US" altLang="ko-KR" dirty="0"/>
              <a:t>(Index)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36051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인덱스의 주요 장점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검색 속도 향상</a:t>
            </a:r>
            <a:r>
              <a:rPr lang="en-US" altLang="ko-KR" sz="2000" b="1" dirty="0"/>
              <a:t>:</a:t>
            </a:r>
            <a:r>
              <a:rPr lang="ko-KR" altLang="en-US" sz="2000" dirty="0"/>
              <a:t> 원하는 데이터를 빠르게 찾을 수 있음 </a:t>
            </a:r>
            <a:r>
              <a:rPr lang="en-US" altLang="ko-KR" sz="2000" dirty="0"/>
              <a:t>(Full Scan </a:t>
            </a:r>
            <a:r>
              <a:rPr lang="ko-KR" altLang="en-US" sz="2000" dirty="0"/>
              <a:t>방지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쿼리 성능 최적화</a:t>
            </a:r>
            <a:r>
              <a:rPr lang="en-US" altLang="ko-KR" sz="2000" b="1" dirty="0"/>
              <a:t>: </a:t>
            </a:r>
            <a:r>
              <a:rPr lang="ko-KR" altLang="en-US" sz="2000" dirty="0"/>
              <a:t> </a:t>
            </a:r>
            <a:r>
              <a:rPr lang="en-US" altLang="ko-KR" sz="2000" dirty="0"/>
              <a:t>WHERE, JOIN, ORDER BY, GROUP BY </a:t>
            </a:r>
            <a:r>
              <a:rPr lang="ko-KR" altLang="en-US" sz="2000" dirty="0"/>
              <a:t>쿼리에서 성능 개선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CPU &amp; </a:t>
            </a:r>
            <a:r>
              <a:rPr lang="ko-KR" altLang="en-US" sz="2000" b="1" dirty="0"/>
              <a:t>디스크 </a:t>
            </a:r>
            <a:r>
              <a:rPr lang="en-US" altLang="ko-KR" sz="2000" b="1" dirty="0"/>
              <a:t>I/O </a:t>
            </a:r>
            <a:r>
              <a:rPr lang="ko-KR" altLang="en-US" sz="2000" b="1" dirty="0"/>
              <a:t>자원 절약</a:t>
            </a:r>
            <a:r>
              <a:rPr lang="en-US" altLang="ko-KR" sz="2000" b="1" dirty="0"/>
              <a:t>:</a:t>
            </a:r>
            <a:r>
              <a:rPr lang="ko-KR" altLang="en-US" sz="2000" dirty="0"/>
              <a:t> 필요한 데이터만 읽기 때문에 효율적인 자원 사용 가능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정렬된 결과 처리 속도 향상</a:t>
            </a:r>
            <a:r>
              <a:rPr lang="en-US" altLang="ko-KR" sz="2000" b="1" dirty="0"/>
              <a:t>: </a:t>
            </a:r>
            <a:r>
              <a:rPr lang="ko-KR" altLang="en-US" sz="2000" dirty="0"/>
              <a:t>이미 정렬된 인덱스를 이용하면 </a:t>
            </a:r>
            <a:r>
              <a:rPr lang="en-US" altLang="ko-KR" sz="2000" dirty="0"/>
              <a:t>ORDER BY </a:t>
            </a:r>
            <a:r>
              <a:rPr lang="ko-KR" altLang="en-US" sz="2000" dirty="0"/>
              <a:t>속도가 빨라짐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조인 성능 향상</a:t>
            </a:r>
            <a:r>
              <a:rPr lang="en-US" altLang="ko-KR" sz="2000" b="1" dirty="0"/>
              <a:t>: </a:t>
            </a:r>
            <a:r>
              <a:rPr lang="ko-KR" altLang="en-US" sz="2000" dirty="0"/>
              <a:t> 조인 키에 인덱스가 있을 경우 탐색 비용 감소</a:t>
            </a:r>
          </a:p>
          <a:p>
            <a:pPr marL="0" indent="0">
              <a:lnSpc>
                <a:spcPct val="150000"/>
              </a:lnSpc>
              <a:buNone/>
            </a:pP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088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xford Junior Illustrated Dictionary | Dictionaries | T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585" y="1457325"/>
            <a:ext cx="39433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클러스터형</a:t>
            </a:r>
            <a:r>
              <a:rPr lang="ko-KR" altLang="en-US" dirty="0"/>
              <a:t> 인덱스 </a:t>
            </a:r>
            <a:r>
              <a:rPr lang="en-US" altLang="ko-KR" dirty="0"/>
              <a:t>(Clustered Index)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34" y="2190009"/>
            <a:ext cx="7947966" cy="274214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기본 키</a:t>
            </a:r>
            <a:r>
              <a:rPr lang="en-US" altLang="ko-KR" dirty="0"/>
              <a:t>(Primary Key)</a:t>
            </a:r>
            <a:r>
              <a:rPr lang="ko-KR" altLang="en-US" dirty="0"/>
              <a:t>에 자동으로 생성되는 인덱스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테이블 전체가 이 인덱스를 기준으로 </a:t>
            </a:r>
            <a:r>
              <a:rPr lang="ko-KR" altLang="en-US" b="1" dirty="0"/>
              <a:t>정렬되어 저장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테이블에는 </a:t>
            </a:r>
            <a:r>
              <a:rPr lang="ko-KR" altLang="en-US" b="1" dirty="0"/>
              <a:t>하나의 </a:t>
            </a:r>
            <a:r>
              <a:rPr lang="ko-KR" altLang="en-US" b="1" dirty="0" err="1"/>
              <a:t>클러스터형</a:t>
            </a:r>
            <a:r>
              <a:rPr lang="ko-KR" altLang="en-US" b="1" dirty="0"/>
              <a:t> 인덱스만 존재 가능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인덱스의 </a:t>
            </a:r>
            <a:r>
              <a:rPr lang="ko-KR" altLang="en-US" dirty="0" err="1"/>
              <a:t>리프</a:t>
            </a:r>
            <a:r>
              <a:rPr lang="ko-KR" altLang="en-US" dirty="0"/>
              <a:t> </a:t>
            </a:r>
            <a:r>
              <a:rPr lang="ko-KR" altLang="en-US" dirty="0" err="1"/>
              <a:t>노드에</a:t>
            </a:r>
            <a:r>
              <a:rPr lang="ko-KR" altLang="en-US" dirty="0"/>
              <a:t> </a:t>
            </a:r>
            <a:r>
              <a:rPr lang="ko-KR" altLang="en-US" b="1" dirty="0"/>
              <a:t>실제 데이터 행 전체</a:t>
            </a:r>
            <a:r>
              <a:rPr lang="ko-KR" altLang="en-US" dirty="0"/>
              <a:t>가 저장됨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7754620" y="5539592"/>
            <a:ext cx="439928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https://www.tts-group.co.uk/oxford-junior-illustrated-dictionary/1001435.html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B4B5BA-A42E-F824-3E37-D325A804167C}"/>
              </a:ext>
            </a:extLst>
          </p:cNvPr>
          <p:cNvSpPr/>
          <p:nvPr/>
        </p:nvSpPr>
        <p:spPr>
          <a:xfrm>
            <a:off x="8273097" y="1826069"/>
            <a:ext cx="1419543" cy="87649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60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 인덱스 </a:t>
            </a:r>
            <a:r>
              <a:rPr lang="en-US" altLang="ko-KR" dirty="0"/>
              <a:t>(Secondary Index)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09" y="2562014"/>
            <a:ext cx="7612052" cy="2040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 err="1"/>
              <a:t>클러스터형</a:t>
            </a:r>
            <a:r>
              <a:rPr lang="ko-KR" altLang="en-US" dirty="0"/>
              <a:t> 인덱스가 아닌</a:t>
            </a:r>
            <a:r>
              <a:rPr lang="en-US" altLang="ko-KR" dirty="0"/>
              <a:t>, </a:t>
            </a:r>
            <a:r>
              <a:rPr lang="ko-KR" altLang="en-US" dirty="0"/>
              <a:t>사용자 정의 인덱스</a:t>
            </a:r>
            <a:endParaRPr lang="en-US" altLang="ko-KR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리프</a:t>
            </a:r>
            <a:r>
              <a:rPr lang="ko-KR" altLang="en-US" dirty="0"/>
              <a:t> </a:t>
            </a:r>
            <a:r>
              <a:rPr lang="ko-KR" altLang="en-US" dirty="0" err="1"/>
              <a:t>노드에</a:t>
            </a:r>
            <a:r>
              <a:rPr lang="ko-KR" altLang="en-US" dirty="0"/>
              <a:t> 해당 </a:t>
            </a:r>
            <a:r>
              <a:rPr lang="ko-KR" altLang="en-US" dirty="0" err="1"/>
              <a:t>컬럼</a:t>
            </a:r>
            <a:r>
              <a:rPr lang="ko-KR" altLang="en-US" dirty="0"/>
              <a:t> 값 </a:t>
            </a:r>
            <a:r>
              <a:rPr lang="en-US" altLang="ko-KR" dirty="0"/>
              <a:t>+ </a:t>
            </a:r>
            <a:r>
              <a:rPr lang="ko-KR" altLang="en-US" dirty="0"/>
              <a:t>기본 키 값이 저장됨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실제로 가져오려면 기본 키를 통해 한 번 더 조회</a:t>
            </a:r>
            <a:endParaRPr lang="en-US" altLang="ko-KR" dirty="0"/>
          </a:p>
        </p:txBody>
      </p:sp>
      <p:pic>
        <p:nvPicPr>
          <p:cNvPr id="2050" name="Picture 2" descr="Bullet Journal Index 101: The What, Why, How &amp; Free Reference Printable |  Archer and Oliv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7"/>
          <a:stretch/>
        </p:blipFill>
        <p:spPr bwMode="auto">
          <a:xfrm>
            <a:off x="8056880" y="1318577"/>
            <a:ext cx="3769360" cy="422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8056880" y="5539422"/>
            <a:ext cx="3769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https://www.archerandolive.com/blogs/news/bullet-journal-index-101-the-what-why-how-free-reference-printable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890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작동 원리</a:t>
            </a:r>
            <a:r>
              <a:rPr lang="en-US" altLang="ko-KR" dirty="0"/>
              <a:t>: </a:t>
            </a:r>
            <a:r>
              <a:rPr lang="ko-KR" altLang="en-US" dirty="0"/>
              <a:t>트리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486790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트리</a:t>
            </a:r>
            <a:r>
              <a:rPr lang="en-US" altLang="ko-KR" dirty="0"/>
              <a:t>(Tree)</a:t>
            </a:r>
            <a:r>
              <a:rPr lang="ko-KR" altLang="en-US" dirty="0"/>
              <a:t>는 위에서 아래로 뻗어 나가는 계층적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→ 데이터를 </a:t>
            </a:r>
            <a:r>
              <a:rPr lang="ko-KR" altLang="en-US" b="1" dirty="0"/>
              <a:t>빠르게 탐색</a:t>
            </a:r>
            <a:r>
              <a:rPr lang="ko-KR" altLang="en-US" dirty="0"/>
              <a:t>하는 데에 최적화되어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용어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노드</a:t>
            </a:r>
            <a:r>
              <a:rPr lang="en-US" altLang="ko-KR" dirty="0"/>
              <a:t>(Node): </a:t>
            </a:r>
            <a:r>
              <a:rPr lang="ko-KR" altLang="en-US" dirty="0" err="1"/>
              <a:t>트리를</a:t>
            </a:r>
            <a:r>
              <a:rPr lang="ko-KR" altLang="en-US" dirty="0"/>
              <a:t> 구성하는 기본 단위</a:t>
            </a:r>
            <a:r>
              <a:rPr lang="en-US" altLang="ko-KR" dirty="0"/>
              <a:t>. </a:t>
            </a:r>
            <a:r>
              <a:rPr lang="ko-KR" altLang="en-US" dirty="0"/>
              <a:t>데이터나 키 값을 담고 있음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루트 </a:t>
            </a:r>
            <a:r>
              <a:rPr lang="ko-KR" altLang="en-US" dirty="0" err="1"/>
              <a:t>노드</a:t>
            </a:r>
            <a:r>
              <a:rPr lang="en-US" altLang="ko-KR" dirty="0"/>
              <a:t>(Root Node): </a:t>
            </a:r>
            <a:r>
              <a:rPr lang="ko-KR" altLang="en-US" dirty="0" err="1"/>
              <a:t>트리의</a:t>
            </a:r>
            <a:r>
              <a:rPr lang="ko-KR" altLang="en-US" dirty="0"/>
              <a:t> 가장 위에 있는 </a:t>
            </a:r>
            <a:r>
              <a:rPr lang="ko-KR" altLang="en-US" dirty="0" err="1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탐색의 시작점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리프</a:t>
            </a:r>
            <a:r>
              <a:rPr lang="ko-KR" altLang="en-US" dirty="0"/>
              <a:t> </a:t>
            </a:r>
            <a:r>
              <a:rPr lang="ko-KR" altLang="en-US" dirty="0" err="1"/>
              <a:t>노드</a:t>
            </a:r>
            <a:r>
              <a:rPr lang="en-US" altLang="ko-KR" dirty="0"/>
              <a:t>(Leaf Node): </a:t>
            </a:r>
            <a:r>
              <a:rPr lang="ko-KR" altLang="en-US" dirty="0"/>
              <a:t>루트 </a:t>
            </a:r>
            <a:r>
              <a:rPr lang="ko-KR" altLang="en-US" dirty="0" err="1"/>
              <a:t>노드</a:t>
            </a:r>
            <a:r>
              <a:rPr lang="ko-KR" altLang="en-US" dirty="0"/>
              <a:t> 아래 </a:t>
            </a:r>
            <a:r>
              <a:rPr lang="ko-KR" altLang="en-US" dirty="0" err="1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데이터 주소 또는 실제 데이터를 가지고 있음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400" dirty="0" err="1"/>
              <a:t>노드를</a:t>
            </a:r>
            <a:r>
              <a:rPr lang="ko-KR" altLang="en-US" sz="2400" dirty="0"/>
              <a:t> </a:t>
            </a:r>
            <a:r>
              <a:rPr lang="en-US" altLang="ko-KR" sz="2400" b="1" dirty="0"/>
              <a:t>‘</a:t>
            </a:r>
            <a:r>
              <a:rPr lang="ko-KR" altLang="en-US" sz="2400" b="1" dirty="0"/>
              <a:t>페이지</a:t>
            </a:r>
            <a:r>
              <a:rPr lang="en-US" altLang="ko-KR" sz="2400" b="1" dirty="0"/>
              <a:t>’</a:t>
            </a:r>
            <a:r>
              <a:rPr lang="ko-KR" altLang="en-US" sz="2400" dirty="0"/>
              <a:t>로도 지칭함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0052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작동 원리</a:t>
            </a:r>
            <a:r>
              <a:rPr lang="en-US" altLang="ko-KR" dirty="0"/>
              <a:t>: </a:t>
            </a:r>
            <a:r>
              <a:rPr lang="ko-KR" altLang="en-US" dirty="0"/>
              <a:t>트리 구조</a:t>
            </a:r>
          </a:p>
        </p:txBody>
      </p:sp>
      <p:pic>
        <p:nvPicPr>
          <p:cNvPr id="3074" name="Picture 2" descr="https://velog.velcdn.com/images/msung99/post/7828b570-cbe8-4869-ab86-4de2d7b90144/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09" y="2021840"/>
            <a:ext cx="9029582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489768" y="1439373"/>
            <a:ext cx="5396029" cy="5815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인덱스가 없다면</a:t>
            </a:r>
            <a:r>
              <a:rPr lang="en-US" altLang="ko-KR" sz="2400" dirty="0"/>
              <a:t>? </a:t>
            </a:r>
            <a:r>
              <a:rPr lang="ko-KR" altLang="en-US" sz="2400" dirty="0"/>
              <a:t>일반적인 데이터 조회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768586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작동 원리</a:t>
            </a:r>
            <a:r>
              <a:rPr lang="en-US" altLang="ko-KR" dirty="0"/>
              <a:t>: </a:t>
            </a:r>
            <a:r>
              <a:rPr lang="ko-KR" altLang="en-US" dirty="0"/>
              <a:t>트리 구조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489768" y="1112574"/>
            <a:ext cx="2887329" cy="5815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클러스터형 인덱스</a:t>
            </a:r>
            <a:endParaRPr lang="en-US" altLang="ko-KR" sz="2400" dirty="0"/>
          </a:p>
        </p:txBody>
      </p:sp>
      <p:pic>
        <p:nvPicPr>
          <p:cNvPr id="4098" name="Picture 2" descr="https://velog.velcdn.com/images/msung99/post/190cb1bf-4b0d-4132-95d5-9754cb2741e0/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688" y="1700126"/>
            <a:ext cx="8918623" cy="460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52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velog.velcdn.com/images/msung99/post/c7d79044-5686-4174-8787-09c1ea8e8d57/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932" y="1435739"/>
            <a:ext cx="8718136" cy="491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작동 원리</a:t>
            </a:r>
            <a:r>
              <a:rPr lang="en-US" altLang="ko-KR" dirty="0"/>
              <a:t>: </a:t>
            </a:r>
            <a:r>
              <a:rPr lang="ko-KR" altLang="en-US" dirty="0"/>
              <a:t>트리 구조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736932" y="915804"/>
            <a:ext cx="3153427" cy="5815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비클러스터형 인덱스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87596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생성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055" y="1179755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인덱스 생성 기본 문법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3E14614B-1472-60EE-98A6-003637311484}"/>
              </a:ext>
            </a:extLst>
          </p:cNvPr>
          <p:cNvSpPr txBox="1">
            <a:spLocks/>
          </p:cNvSpPr>
          <p:nvPr/>
        </p:nvSpPr>
        <p:spPr>
          <a:xfrm>
            <a:off x="2213055" y="3810387"/>
            <a:ext cx="5533418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인덱스 생성 예시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7" b="15615"/>
          <a:stretch/>
        </p:blipFill>
        <p:spPr bwMode="auto">
          <a:xfrm>
            <a:off x="2341147" y="2040037"/>
            <a:ext cx="7509706" cy="122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82" b="19381"/>
          <a:stretch/>
        </p:blipFill>
        <p:spPr bwMode="auto">
          <a:xfrm>
            <a:off x="2341147" y="4578038"/>
            <a:ext cx="7509706" cy="122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658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유니크 인덱스 생성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95334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💡해</a:t>
            </a:r>
            <a:r>
              <a:rPr lang="ko-KR" altLang="en-US" dirty="0"/>
              <a:t>당 </a:t>
            </a:r>
            <a:r>
              <a:rPr lang="ko-KR" altLang="en-US" dirty="0" err="1"/>
              <a:t>컬럼의</a:t>
            </a:r>
            <a:r>
              <a:rPr lang="ko-KR" altLang="en-US" dirty="0"/>
              <a:t> 값이 중복되지 않도록 보장하면서</a:t>
            </a:r>
            <a:r>
              <a:rPr lang="en-US" altLang="ko-KR" dirty="0"/>
              <a:t>, </a:t>
            </a:r>
            <a:r>
              <a:rPr lang="ko-KR" altLang="en-US" dirty="0"/>
              <a:t>검색 속도도 향상시키는 인덱스</a:t>
            </a:r>
            <a:endParaRPr lang="en-US" altLang="ko-KR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255349" y="2321046"/>
            <a:ext cx="5840651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테이블 생성 시 </a:t>
            </a:r>
            <a:r>
              <a:rPr lang="en-US" altLang="ko-KR" sz="2400" dirty="0"/>
              <a:t>UNIQUE </a:t>
            </a:r>
            <a:r>
              <a:rPr lang="ko-KR" altLang="en-US" sz="2400" dirty="0"/>
              <a:t>제약조건으로 생성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367109" y="2965238"/>
            <a:ext cx="5280501" cy="2107497"/>
            <a:chOff x="3355499" y="2935497"/>
            <a:chExt cx="5481002" cy="2187519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41" b="13562"/>
            <a:stretch/>
          </p:blipFill>
          <p:spPr bwMode="auto">
            <a:xfrm>
              <a:off x="3355499" y="2935497"/>
              <a:ext cx="5481002" cy="2187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CB4B5BA-A42E-F824-3E37-D325A804167C}"/>
                </a:ext>
              </a:extLst>
            </p:cNvPr>
            <p:cNvSpPr/>
            <p:nvPr/>
          </p:nvSpPr>
          <p:spPr>
            <a:xfrm>
              <a:off x="7165657" y="4029256"/>
              <a:ext cx="1074103" cy="438245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56949" y="5146232"/>
            <a:ext cx="58801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→ </a:t>
            </a:r>
            <a:r>
              <a:rPr kumimoji="1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UNIQUE </a:t>
            </a:r>
            <a:r>
              <a:rPr kumimoji="1" 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제약조건을 선언하면</a:t>
            </a:r>
            <a:r>
              <a:rPr kumimoji="1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kumimoji="1" 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자동으로 </a:t>
            </a:r>
            <a:r>
              <a:rPr kumimoji="1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UNIQUE </a:t>
            </a:r>
            <a:r>
              <a:rPr kumimoji="1" 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인덱스가 생성</a:t>
            </a:r>
            <a:r>
              <a:rPr kumimoji="1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됨</a:t>
            </a:r>
            <a:r>
              <a:rPr kumimoji="1" 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085" y="3371286"/>
            <a:ext cx="5688013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6248400" y="2333322"/>
            <a:ext cx="5840651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명시적으로 생성</a:t>
            </a:r>
          </a:p>
        </p:txBody>
      </p:sp>
    </p:spTree>
    <p:extLst>
      <p:ext uri="{BB962C8B-B14F-4D97-AF65-F5344CB8AC3E}">
        <p14:creationId xmlns:p14="http://schemas.microsoft.com/office/powerpoint/2010/main" val="342060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사용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7" r="31262"/>
          <a:stretch/>
        </p:blipFill>
        <p:spPr bwMode="auto">
          <a:xfrm>
            <a:off x="542924" y="4381500"/>
            <a:ext cx="4876801" cy="198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65" y="1644966"/>
            <a:ext cx="11243470" cy="2031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20" y="993789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</a:t>
            </a:r>
            <a:r>
              <a:rPr lang="ko-KR" altLang="en-US" dirty="0"/>
              <a:t>인덱스 </a:t>
            </a:r>
            <a:r>
              <a:rPr lang="ko-KR" altLang="en-US" dirty="0" err="1"/>
              <a:t>적용전</a:t>
            </a:r>
            <a:endParaRPr lang="ko-KR" altLang="en-US" sz="2800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358220" y="3625548"/>
            <a:ext cx="6344536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인덱스 </a:t>
            </a:r>
            <a:r>
              <a:rPr lang="ko-KR" altLang="en-US" dirty="0" err="1"/>
              <a:t>적용후</a:t>
            </a:r>
            <a:endParaRPr lang="ko-KR" alt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r="31026"/>
          <a:stretch/>
        </p:blipFill>
        <p:spPr bwMode="auto">
          <a:xfrm>
            <a:off x="6702756" y="4364319"/>
            <a:ext cx="4876801" cy="200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625370" y="4364319"/>
            <a:ext cx="279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B050"/>
                </a:solidFill>
              </a:rPr>
              <a:t>조건으로 단 하나의 행만 찾음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470837" y="4350111"/>
            <a:ext cx="3297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B050"/>
                </a:solidFill>
              </a:rPr>
              <a:t>인덱스를 이용해 특정 구간을 탐색</a:t>
            </a:r>
          </a:p>
        </p:txBody>
      </p:sp>
    </p:spTree>
    <p:extLst>
      <p:ext uri="{BB962C8B-B14F-4D97-AF65-F5344CB8AC3E}">
        <p14:creationId xmlns:p14="http://schemas.microsoft.com/office/powerpoint/2010/main" val="261497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관련 명령어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756" y="838406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</a:t>
            </a:r>
            <a:r>
              <a:rPr lang="ko-KR" altLang="en-US" dirty="0"/>
              <a:t>인덱스 목록 조회</a:t>
            </a:r>
            <a:endParaRPr lang="ko-KR" alt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3" b="32580"/>
          <a:stretch/>
        </p:blipFill>
        <p:spPr bwMode="auto">
          <a:xfrm>
            <a:off x="2438876" y="1553718"/>
            <a:ext cx="7314247" cy="140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2367756" y="3558548"/>
            <a:ext cx="6344536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인덱스 통계 갱신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74" b="27175"/>
          <a:stretch/>
        </p:blipFill>
        <p:spPr bwMode="auto">
          <a:xfrm>
            <a:off x="2438876" y="4303761"/>
            <a:ext cx="7314247" cy="140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2438875" y="5712771"/>
            <a:ext cx="7314247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→ 테이블의 행 분포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키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카디널리티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등 통계 정보를 최신화하는 명령어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876" y="2991401"/>
            <a:ext cx="7314246" cy="38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9660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수정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72" y="1161347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인덱스 이름 수정 문법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7" b="24681"/>
          <a:stretch/>
        </p:blipFill>
        <p:spPr bwMode="auto">
          <a:xfrm>
            <a:off x="686447" y="1898249"/>
            <a:ext cx="10819099" cy="127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19288"/>
          <a:stretch/>
        </p:blipFill>
        <p:spPr bwMode="auto">
          <a:xfrm>
            <a:off x="686446" y="4155312"/>
            <a:ext cx="10819099" cy="127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610247" y="3446985"/>
            <a:ext cx="6344536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인덱스 이름 수정 예시</a:t>
            </a:r>
          </a:p>
        </p:txBody>
      </p:sp>
    </p:spTree>
    <p:extLst>
      <p:ext uri="{BB962C8B-B14F-4D97-AF65-F5344CB8AC3E}">
        <p14:creationId xmlns:p14="http://schemas.microsoft.com/office/powerpoint/2010/main" val="344186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삭제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367" y="1161347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인덱스 삭제 문법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2322367" y="3773375"/>
            <a:ext cx="6344536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</a:t>
            </a:r>
            <a:r>
              <a:rPr lang="ko-KR" altLang="en-US"/>
              <a:t>인덱스 삭제 예시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55" b="27518"/>
          <a:stretch/>
        </p:blipFill>
        <p:spPr bwMode="auto">
          <a:xfrm>
            <a:off x="2363007" y="1974138"/>
            <a:ext cx="7465986" cy="145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3" b="17522"/>
          <a:stretch/>
        </p:blipFill>
        <p:spPr bwMode="auto">
          <a:xfrm>
            <a:off x="2363007" y="4529327"/>
            <a:ext cx="7465986" cy="145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49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삭제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367" y="1917299"/>
            <a:ext cx="6344536" cy="7559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 </a:t>
            </a:r>
            <a:r>
              <a:rPr lang="en-US" altLang="ko-KR" sz="2800" dirty="0"/>
              <a:t>Primary Key </a:t>
            </a:r>
            <a:r>
              <a:rPr lang="ko-KR" altLang="en-US" sz="2800" dirty="0"/>
              <a:t>삭제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6632DBB-332B-0C6F-4593-3F6394ACA4E2}"/>
              </a:ext>
            </a:extLst>
          </p:cNvPr>
          <p:cNvSpPr txBox="1">
            <a:spLocks/>
          </p:cNvSpPr>
          <p:nvPr/>
        </p:nvSpPr>
        <p:spPr>
          <a:xfrm>
            <a:off x="2397124" y="3806976"/>
            <a:ext cx="6344536" cy="7559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→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기본키의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경우 별도의 방법으로 삭제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79" b="27494"/>
          <a:stretch/>
        </p:blipFill>
        <p:spPr bwMode="auto">
          <a:xfrm>
            <a:off x="2397124" y="2757472"/>
            <a:ext cx="7386956" cy="959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0050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인덱스 사용 시 주의사항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506360"/>
              </p:ext>
            </p:extLst>
          </p:nvPr>
        </p:nvGraphicFramePr>
        <p:xfrm>
          <a:off x="477520" y="1731804"/>
          <a:ext cx="11236960" cy="3571715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3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상황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문제점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너무 많은 인덱스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쓰기 작업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(INSERT, UPDATE, DELETE)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마다 인덱스도 갱신되어 성능 저하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선택도가 낮은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컬럼에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인덱스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성별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국가 코드 등 값의 종류가 적은 경우 → 인덱스 탐색보다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Full Scan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 더 빠름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불필요한 복합 인덱스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사용하지 않는 조합이면 공간 낭비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+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옵티마이저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혼란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자주 쓰이지 않는 컬럼에 인덱스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저장 공간만 차지하고 성능 개선 없음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92759" y="5452795"/>
            <a:ext cx="97265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🔎</a:t>
            </a:r>
            <a:r>
              <a:rPr lang="ko-KR" altLang="en-US" sz="16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옵티마이저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SQL 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쿼리를 가장 효율적으로 실행하기 위해 최적의 실행 계획을 자동으로 선택하는 </a:t>
            </a:r>
            <a:r>
              <a:rPr lang="en-US" altLang="ko-KR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MySQL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내부 엔진</a:t>
            </a:r>
          </a:p>
        </p:txBody>
      </p:sp>
    </p:spTree>
    <p:extLst>
      <p:ext uri="{BB962C8B-B14F-4D97-AF65-F5344CB8AC3E}">
        <p14:creationId xmlns:p14="http://schemas.microsoft.com/office/powerpoint/2010/main" val="1494640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4945</TotalTime>
  <Words>1004</Words>
  <Application>Microsoft Office PowerPoint</Application>
  <PresentationFormat>와이드스크린</PresentationFormat>
  <Paragraphs>159</Paragraphs>
  <Slides>26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G마켓 산스 TTF Bold</vt:lpstr>
      <vt:lpstr>Kim jung chul Gothic Regular</vt:lpstr>
      <vt:lpstr>Pretendard Black</vt:lpstr>
      <vt:lpstr>Pretendard Light</vt:lpstr>
      <vt:lpstr>Pretendard Medium</vt:lpstr>
      <vt:lpstr>Pretendard Thin</vt:lpstr>
      <vt:lpstr>메이플스토리</vt:lpstr>
      <vt:lpstr>Arial</vt:lpstr>
      <vt:lpstr>Wingdings</vt:lpstr>
      <vt:lpstr>1_Office 테마</vt:lpstr>
      <vt:lpstr>x</vt:lpstr>
      <vt:lpstr>PowerPoint 프레젠테이션</vt:lpstr>
      <vt:lpstr>서브쿼리(Subquery)</vt:lpstr>
      <vt:lpstr>서브쿼리의 활용</vt:lpstr>
      <vt:lpstr>서브쿼리의 활용</vt:lpstr>
      <vt:lpstr>서브쿼리의 활용</vt:lpstr>
      <vt:lpstr>PowerPoint 프레젠테이션</vt:lpstr>
      <vt:lpstr>PowerPoint 프레젠테이션</vt:lpstr>
      <vt:lpstr>PowerPoint 프레젠테이션</vt:lpstr>
      <vt:lpstr>인덱스(Index)</vt:lpstr>
      <vt:lpstr>인덱스(Index)</vt:lpstr>
      <vt:lpstr>클러스터형 인덱스 (Clustered Index)</vt:lpstr>
      <vt:lpstr>보조 인덱스 (Secondary Index)</vt:lpstr>
      <vt:lpstr>인덱스 작동 원리: 트리 구조</vt:lpstr>
      <vt:lpstr>인덱스 작동 원리: 트리 구조</vt:lpstr>
      <vt:lpstr>인덱스 작동 원리: 트리 구조</vt:lpstr>
      <vt:lpstr>인덱스 작동 원리: 트리 구조</vt:lpstr>
      <vt:lpstr>인덱스 생성</vt:lpstr>
      <vt:lpstr>유니크 인덱스 생성</vt:lpstr>
      <vt:lpstr>인덱스 사용</vt:lpstr>
      <vt:lpstr>인덱스 관련 명령어</vt:lpstr>
      <vt:lpstr>인덱스 수정</vt:lpstr>
      <vt:lpstr>인덱스 삭제</vt:lpstr>
      <vt:lpstr>인덱스 삭제</vt:lpstr>
      <vt:lpstr>인덱스 사용 시 주의사항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347</cp:revision>
  <dcterms:created xsi:type="dcterms:W3CDTF">2023-01-31T04:26:23Z</dcterms:created>
  <dcterms:modified xsi:type="dcterms:W3CDTF">2025-10-21T08:01:18Z</dcterms:modified>
</cp:coreProperties>
</file>