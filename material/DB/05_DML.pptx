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8"/>
  </p:notesMasterIdLst>
  <p:sldIdLst>
    <p:sldId id="1000" r:id="rId2"/>
    <p:sldId id="257" r:id="rId3"/>
    <p:sldId id="410" r:id="rId4"/>
    <p:sldId id="967" r:id="rId5"/>
    <p:sldId id="989" r:id="rId6"/>
    <p:sldId id="578" r:id="rId7"/>
    <p:sldId id="424" r:id="rId8"/>
    <p:sldId id="998" r:id="rId9"/>
    <p:sldId id="999" r:id="rId10"/>
    <p:sldId id="591" r:id="rId11"/>
    <p:sldId id="985" r:id="rId12"/>
    <p:sldId id="986" r:id="rId13"/>
    <p:sldId id="987" r:id="rId14"/>
    <p:sldId id="988" r:id="rId15"/>
    <p:sldId id="993" r:id="rId16"/>
    <p:sldId id="450" r:id="rId17"/>
    <p:sldId id="976" r:id="rId18"/>
    <p:sldId id="452" r:id="rId19"/>
    <p:sldId id="992" r:id="rId20"/>
    <p:sldId id="977" r:id="rId21"/>
    <p:sldId id="451" r:id="rId22"/>
    <p:sldId id="968" r:id="rId23"/>
    <p:sldId id="969" r:id="rId24"/>
    <p:sldId id="970" r:id="rId25"/>
    <p:sldId id="971" r:id="rId26"/>
    <p:sldId id="978" r:id="rId27"/>
    <p:sldId id="972" r:id="rId28"/>
    <p:sldId id="458" r:id="rId29"/>
    <p:sldId id="460" r:id="rId30"/>
    <p:sldId id="983" r:id="rId31"/>
    <p:sldId id="459" r:id="rId32"/>
    <p:sldId id="671" r:id="rId33"/>
    <p:sldId id="995" r:id="rId34"/>
    <p:sldId id="996" r:id="rId35"/>
    <p:sldId id="979" r:id="rId36"/>
    <p:sldId id="982" r:id="rId37"/>
    <p:sldId id="981" r:id="rId38"/>
    <p:sldId id="592" r:id="rId39"/>
    <p:sldId id="997" r:id="rId40"/>
    <p:sldId id="991" r:id="rId41"/>
    <p:sldId id="973" r:id="rId42"/>
    <p:sldId id="974" r:id="rId43"/>
    <p:sldId id="990" r:id="rId44"/>
    <p:sldId id="980" r:id="rId45"/>
    <p:sldId id="984" r:id="rId46"/>
    <p:sldId id="813" r:id="rId4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99"/>
    <a:srgbClr val="00B050"/>
    <a:srgbClr val="FF5050"/>
    <a:srgbClr val="ED7D31"/>
    <a:srgbClr val="00599C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3" autoAdjust="0"/>
    <p:restoredTop sz="78297" autoAdjust="0"/>
  </p:normalViewPr>
  <p:slideViewPr>
    <p:cSldViewPr snapToGrid="0">
      <p:cViewPr varScale="1">
        <p:scale>
          <a:sx n="50" d="100"/>
          <a:sy n="50" d="100"/>
        </p:scale>
        <p:origin x="749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2025-10-24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inpa.tistory.com/entry/MYSQL-%F0%9F%93%9A-%EB%B3%80%EC%88%98#%EC%A7%80%EC%97%AD%EB%B3%80%EC%88%98" TargetMode="External"/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12224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82664-BDE3-1C2E-21BC-4A405EF44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3ED422E-0102-B8C0-BB44-8AA3329943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42B980-97FB-D7E8-3152-24FFB701F8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D7C14A-A42B-D71F-CC9D-A340977968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02185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26144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13557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13557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13557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3426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AAA9C-D29C-D6BB-BBBC-4493F42A2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5008C5-A547-5C4B-6DF8-1B3A8A00BF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950C16-86E1-190C-2507-3963DEA794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39E535-E925-3772-C365-068B9877CE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6623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2DF30-FD2A-6605-DF4F-DB48D9275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F5873EA-BFA6-91F5-A48D-A392BE9EDA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BCE1307-0FE0-50A0-F784-25D8DC40CB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8257B4-99B0-A748-509B-73A14F839D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79138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497F9-F192-088D-2499-345F1AFF6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8C6740-D20F-439D-E796-255B77CB46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FCEA219-7B13-C65A-AF1E-8B9A205C8A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957A97-7318-71C6-EEFE-52181E11E7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7824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6687C-3460-36E1-80D2-F1F1B5D4A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F06542E-A8B8-DEE9-BAF9-E0125F220C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8D7062-285B-C6BD-59ED-385331D083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812E37-63F8-3F0D-689B-A0FA4E96A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47197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6687C-3460-36E1-80D2-F1F1B5D4A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F06542E-A8B8-DEE9-BAF9-E0125F220C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8D7062-285B-C6BD-59ED-385331D083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812E37-63F8-3F0D-689B-A0FA4E96A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47197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01499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1A9FE-F3BF-8F57-4FFA-D2F293FD9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59F958-A8F7-5822-3112-6463B0322B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5FA6ADC-4B06-F85F-1458-F22C85A39E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957AEA-F63E-3BBA-AA21-8269504741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9554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8420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8420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DC720-237D-2719-5445-969AD4482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CE09CAE-E58C-C89C-C0E6-21265333BC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32E321-0FD4-FFF4-A88D-789093C3EF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F004D1-C332-357C-C3C6-BB9E066354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520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8346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7D397-04D8-F654-EBBE-5C159ACB2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731BBE1-FD58-F514-EA85-E485C44C98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AB0DCD-C205-5EEA-1567-C1660E6309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40A625-B5BC-A590-87C9-B4C65ECB1F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14898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4154B-2299-AD51-EB19-AD6C3576A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2BE755-B8A3-FE12-266A-3978A26353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9AAD5E-4B07-8BC0-7D86-CEA6D775CC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33B5BC-7167-734A-2146-B587133BEA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87701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9F21A-DEDF-0D02-B905-0B236B963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5462AAC-CA16-A2D4-1F4C-0219D5131E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1B5E35C-F614-2490-77EF-F22B809495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D6D2E5-9EE0-080A-E262-22F672C2AC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1462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8B575-33BD-065E-3C92-0AA3096CE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091C89-9C26-DF1C-8BA6-177B394FD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6BABBF5-5853-FD07-E722-E862BC15D3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E7FD80-3E9B-90D3-741F-AFC86C50E1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64108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F59BC-7A99-EA56-2B9C-DDBB34DD2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B76174D-A00B-7E6A-9C3B-F882A72C81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8C1ABC-0588-B114-08DB-A8BF2166A1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CE95B4-FA0D-BB1C-8B76-C9DD50976A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44155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67159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51073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510738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practice_01.sq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510738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E17BE-894F-EE96-2199-73582DE6F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A5761B-0130-3178-C9DE-DF243899AA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A5EBE5-6380-5F36-AF51-90B3A7C7CF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494C61-0078-F4FA-10F8-DDED173BAE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5872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915F4-56C2-4D09-0864-3AD0576BE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DA0409-CBD2-408C-9B27-DAA662EEEB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B4868D-5548-2787-F343-AD267D945A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80F4A1-151A-BE5C-F904-043F89CAA5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461375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12693-739E-FCA7-8DF7-7A2DD0D80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A8A56E2-E466-1D79-47B5-FE0A220DE8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825991E-D5B3-194A-D511-8689D33AB8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C6D354-5563-7FC4-F32B-63B25B889E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262314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43806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43806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43806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F94FB-2934-F0E0-C93B-F53B7AE7D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34C458-78D0-3970-EDF0-B558CF35A6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73FF39-E694-EF5E-F8EF-17C75C07EB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990E89-568F-1CE2-D385-B208BCE869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98582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E5F13-F967-9A37-A2FA-87DC8C713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EB5F371-BB0F-5957-398B-6132AC8C55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29351E7-B765-1F0F-CCFD-680330E4B7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F9821F-F506-8215-E9C0-6AA874EB61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109251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43806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3D779-D725-8534-0C82-E3241FDC7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CD9471F-7F7D-999C-202C-37B001D219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463CFC4-1103-8293-3E74-37ED63BE2C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*</a:t>
            </a:r>
            <a:r>
              <a:rPr lang="ko-KR" altLang="en-US" dirty="0"/>
              <a:t>완전한 프로그래밍 언어는 아님</a:t>
            </a:r>
            <a:endParaRPr lang="en-US" altLang="ko-KR" dirty="0"/>
          </a:p>
          <a:p>
            <a:r>
              <a:rPr lang="en-US" altLang="ko-KR" dirty="0"/>
              <a:t>*</a:t>
            </a:r>
            <a:r>
              <a:rPr lang="ko-KR" altLang="en-US" dirty="0"/>
              <a:t>데이터베이스의 데이터와 메타 데이터를 생성하고 처리하는 문법만 갖고 있기 때문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0CF655-342E-CDF0-D13F-DE0FA013AF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192904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D64E5-4914-2C36-DF16-AD885DA1A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E245AF7-BF37-5BBD-B014-909CF8489E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C42E1B-5E15-5DF4-1D72-67AF8A650C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SET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@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변수이름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=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대입값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; </a:t>
            </a:r>
            <a:endParaRPr lang="ko-KR" altLang="en-US" sz="1200" kern="1200" dirty="0">
              <a:solidFill>
                <a:schemeClr val="tx1"/>
              </a:solidFill>
              <a:latin typeface="Kim jung chul Gothic Regular" panose="020B0503000000000000" pitchFamily="50" charset="-127"/>
              <a:ea typeface="Kim jung chul Gothic Regular" panose="020B0503000000000000" pitchFamily="50" charset="-127"/>
              <a:cs typeface="+mn-cs"/>
            </a:endParaRPr>
          </a:p>
          <a:p>
            <a:r>
              <a:rPr lang="en-US" altLang="ko-KR" sz="1200" i="1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-- or </a:t>
            </a:r>
            <a:endParaRPr lang="ko-KR" altLang="en-US" sz="1200" kern="1200" dirty="0">
              <a:solidFill>
                <a:schemeClr val="tx1"/>
              </a:solidFill>
              <a:latin typeface="Kim jung chul Gothic Regular" panose="020B0503000000000000" pitchFamily="50" charset="-127"/>
              <a:ea typeface="Kim jung chul Gothic Regular" panose="020B0503000000000000" pitchFamily="50" charset="-127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SET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@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변수이름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:=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대입값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;</a:t>
            </a:r>
            <a:endParaRPr lang="ko-KR" altLang="en-US" sz="1200" kern="1200" dirty="0">
              <a:solidFill>
                <a:schemeClr val="tx1"/>
              </a:solidFill>
              <a:latin typeface="Kim jung chul Gothic Regular" panose="020B0503000000000000" pitchFamily="50" charset="-127"/>
              <a:ea typeface="Kim jung chul Gothic Regular" panose="020B0503000000000000" pitchFamily="50" charset="-127"/>
              <a:cs typeface="+mn-cs"/>
            </a:endParaRPr>
          </a:p>
          <a:p>
            <a:endParaRPr lang="ko-KR" altLang="en-US" sz="1200" kern="1200" dirty="0">
              <a:solidFill>
                <a:schemeClr val="tx1"/>
              </a:solidFill>
              <a:latin typeface="Kim jung chul Gothic Regular" panose="020B0503000000000000" pitchFamily="50" charset="-127"/>
              <a:ea typeface="Kim jung chul Gothic Regular" panose="020B0503000000000000" pitchFamily="50" charset="-127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SELECT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@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변수이름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:=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대입값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;</a:t>
            </a:r>
          </a:p>
          <a:p>
            <a:r>
              <a:rPr lang="ko-KR" altLang="en-US" sz="1200" b="1" kern="1200" dirty="0">
                <a:solidFill>
                  <a:schemeClr val="tx1"/>
                </a:solidFill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​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SET</a:t>
            </a:r>
            <a:r>
              <a:rPr lang="ko-KR" altLang="en-US" sz="1200" b="1" kern="1200" dirty="0">
                <a:solidFill>
                  <a:schemeClr val="tx1"/>
                </a:solidFill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이외의 명령문에서는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=</a:t>
            </a:r>
            <a:r>
              <a:rPr lang="ko-KR" altLang="en-US" sz="1200" kern="1200" dirty="0">
                <a:solidFill>
                  <a:schemeClr val="tx1"/>
                </a:solidFill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 가 비교연산자로 취급되기 때문에</a:t>
            </a:r>
            <a:r>
              <a:rPr lang="en-US" altLang="ko-KR" sz="1200" kern="1200" dirty="0">
                <a:solidFill>
                  <a:schemeClr val="tx1"/>
                </a:solidFill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,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SELECT</a:t>
            </a:r>
            <a:r>
              <a:rPr lang="ko-KR" altLang="en-US" sz="1200" b="1" kern="1200" dirty="0">
                <a:solidFill>
                  <a:schemeClr val="tx1"/>
                </a:solidFill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로 변수를 선언하고 값을 대입할 때는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:= </a:t>
            </a:r>
            <a:r>
              <a:rPr lang="ko-KR" altLang="en-US" sz="1200" kern="1200" dirty="0">
                <a:solidFill>
                  <a:schemeClr val="tx1"/>
                </a:solidFill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를 사용한다</a:t>
            </a:r>
            <a:r>
              <a:rPr lang="en-US" altLang="ko-KR" sz="1200" kern="1200" dirty="0">
                <a:solidFill>
                  <a:schemeClr val="tx1"/>
                </a:solidFill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.</a:t>
            </a:r>
          </a:p>
          <a:p>
            <a:r>
              <a:rPr lang="ko-KR" altLang="en-US" dirty="0"/>
              <a:t>출처</a:t>
            </a:r>
            <a:r>
              <a:rPr lang="en-US" altLang="ko-KR" dirty="0"/>
              <a:t>: </a:t>
            </a:r>
            <a:r>
              <a:rPr lang="en-US" altLang="ko-KR" dirty="0">
                <a:hlinkClick r:id="rId3"/>
              </a:rPr>
              <a:t>https://inpa.tistory.com/entry/MYSQL-</a:t>
            </a:r>
            <a:r>
              <a:rPr lang="ko-KR" altLang="en-US" dirty="0">
                <a:hlinkClick r:id="rId3"/>
              </a:rPr>
              <a:t>📚</a:t>
            </a:r>
            <a:r>
              <a:rPr lang="en-US" altLang="ko-KR" dirty="0">
                <a:hlinkClick r:id="rId3"/>
              </a:rPr>
              <a:t>-</a:t>
            </a:r>
            <a:r>
              <a:rPr lang="ko-KR" altLang="en-US" dirty="0">
                <a:hlinkClick r:id="rId3"/>
              </a:rPr>
              <a:t>변수</a:t>
            </a:r>
            <a:r>
              <a:rPr lang="en-US" altLang="ko-KR" dirty="0">
                <a:hlinkClick r:id="rId3"/>
              </a:rPr>
              <a:t>#</a:t>
            </a:r>
            <a:r>
              <a:rPr lang="ko-KR" altLang="en-US" dirty="0">
                <a:hlinkClick r:id="rId3"/>
              </a:rPr>
              <a:t>지역변수</a:t>
            </a:r>
            <a:r>
              <a:rPr lang="ko-KR" altLang="en-US" dirty="0"/>
              <a:t> </a:t>
            </a:r>
            <a:r>
              <a:rPr lang="en-US" altLang="ko-KR" dirty="0"/>
              <a:t>[Inpa Dev </a:t>
            </a:r>
            <a:r>
              <a:rPr lang="ko-KR" altLang="en-US" dirty="0"/>
              <a:t>👨‍💻</a:t>
            </a:r>
            <a:r>
              <a:rPr lang="en-US" altLang="ko-KR" dirty="0"/>
              <a:t>:</a:t>
            </a:r>
            <a:r>
              <a:rPr lang="ko-KR" altLang="en-US" dirty="0"/>
              <a:t>티스토리</a:t>
            </a:r>
            <a:r>
              <a:rPr lang="en-US" altLang="ko-KR" dirty="0"/>
              <a:t>]</a:t>
            </a:r>
          </a:p>
          <a:p>
            <a:endParaRPr lang="en-US" altLang="ko-KR" dirty="0"/>
          </a:p>
          <a:p>
            <a:r>
              <a:rPr lang="en-US" altLang="ko-KR" dirty="0"/>
              <a:t>SET @age_limit = 24;SELECT name, </a:t>
            </a:r>
            <a:r>
              <a:rPr lang="en-US" altLang="ko-KR" dirty="0" err="1"/>
              <a:t>ageFROM</a:t>
            </a:r>
            <a:r>
              <a:rPr lang="en-US" altLang="ko-KR" dirty="0"/>
              <a:t> </a:t>
            </a:r>
            <a:r>
              <a:rPr lang="en-US" altLang="ko-KR" dirty="0" err="1"/>
              <a:t>studentWHERE</a:t>
            </a:r>
            <a:r>
              <a:rPr lang="en-US" altLang="ko-KR" dirty="0"/>
              <a:t> age &gt; @age_limit;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E8001A-9934-BB42-64A3-06088CD533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854819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35EAA9-0B63-B1B8-4EED-C4DADC598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rgbClr val="FFC000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41ADFC4-328D-DD28-2221-32EEADE3B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F2426-F011-4048-96E6-328581C59A1B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B4CE1E7-E630-CA70-B72A-5FC1EB603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2F153F4-B6EB-CFB6-5607-F964BAD57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089B3-387A-415A-B004-61FFB39DE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5555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669" y="3630071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7" name="부제목 6">
            <a:extLst>
              <a:ext uri="{FF2B5EF4-FFF2-40B4-BE49-F238E27FC236}">
                <a16:creationId xmlns:a16="http://schemas.microsoft.com/office/drawing/2014/main" id="{3461004C-8186-96F2-8923-668AA8F20F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5490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4548955" y="2600493"/>
            <a:ext cx="309411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5. DML</a:t>
            </a: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9BB773-54B9-7B9F-A27C-21233F1D7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기초 조회 쿼리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0C65B9-1DD6-C390-DDEE-F46657AF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8"/>
            <a:ext cx="11701221" cy="72149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en-US" altLang="ko-KR" dirty="0"/>
              <a:t>MySQL </a:t>
            </a:r>
            <a:r>
              <a:rPr lang="ko-KR" altLang="en-US" dirty="0"/>
              <a:t>기초 조회 쿼리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9B5791C-E4AC-A945-C47F-7FDF5081CE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9173547"/>
              </p:ext>
            </p:extLst>
          </p:nvPr>
        </p:nvGraphicFramePr>
        <p:xfrm>
          <a:off x="507999" y="2127540"/>
          <a:ext cx="11176001" cy="3384258"/>
        </p:xfrm>
        <a:graphic>
          <a:graphicData uri="http://schemas.openxmlformats.org/drawingml/2006/table">
            <a:tbl>
              <a:tblPr/>
              <a:tblGrid>
                <a:gridCol w="2320770">
                  <a:extLst>
                    <a:ext uri="{9D8B030D-6E8A-4147-A177-3AD203B41FA5}">
                      <a16:colId xmlns:a16="http://schemas.microsoft.com/office/drawing/2014/main" val="2649423278"/>
                    </a:ext>
                  </a:extLst>
                </a:gridCol>
                <a:gridCol w="3445030">
                  <a:extLst>
                    <a:ext uri="{9D8B030D-6E8A-4147-A177-3AD203B41FA5}">
                      <a16:colId xmlns:a16="http://schemas.microsoft.com/office/drawing/2014/main" val="2543805990"/>
                    </a:ext>
                  </a:extLst>
                </a:gridCol>
                <a:gridCol w="2520950">
                  <a:extLst>
                    <a:ext uri="{9D8B030D-6E8A-4147-A177-3AD203B41FA5}">
                      <a16:colId xmlns:a16="http://schemas.microsoft.com/office/drawing/2014/main" val="868297798"/>
                    </a:ext>
                  </a:extLst>
                </a:gridCol>
                <a:gridCol w="2889251">
                  <a:extLst>
                    <a:ext uri="{9D8B030D-6E8A-4147-A177-3AD203B41FA5}">
                      <a16:colId xmlns:a16="http://schemas.microsoft.com/office/drawing/2014/main" val="830887188"/>
                    </a:ext>
                  </a:extLst>
                </a:gridCol>
              </a:tblGrid>
              <a:tr h="56404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명령어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역할 </a:t>
                      </a: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 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예시 명령어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비고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46798"/>
                  </a:ext>
                </a:extLst>
              </a:tr>
              <a:tr h="5640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USE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사용할 데이터베이스 선택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USE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my_database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;</a:t>
                      </a:r>
                    </a:p>
                  </a:txBody>
                  <a:tcPr marL="360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이후 쿼리의 기본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DB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로 설정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36683"/>
                  </a:ext>
                </a:extLst>
              </a:tr>
              <a:tr h="56404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SHOW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데이터베이스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테이블 등 목록 확인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SHOW DATABASES;</a:t>
                      </a:r>
                    </a:p>
                  </a:txBody>
                  <a:tcPr marL="360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다양한 대상 확인 가능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0343672"/>
                  </a:ext>
                </a:extLst>
              </a:tr>
              <a:tr h="56404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SHOW TABLES;</a:t>
                      </a:r>
                    </a:p>
                  </a:txBody>
                  <a:tcPr marL="360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805187"/>
                  </a:ext>
                </a:extLst>
              </a:tr>
              <a:tr h="56404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DESCRIBE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또는 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DESC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테이블의 구조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컬럼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자료형 등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확인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DESC users;</a:t>
                      </a:r>
                    </a:p>
                  </a:txBody>
                  <a:tcPr marL="360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테이블 스키마 확인 용도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6425391"/>
                  </a:ext>
                </a:extLst>
              </a:tr>
              <a:tr h="56404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DESCRIBE users;</a:t>
                      </a:r>
                    </a:p>
                  </a:txBody>
                  <a:tcPr marL="360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2023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0670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FDA5F-CC35-933A-6F00-E566CED3B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D3B20F-4E71-2B06-887A-518E1A885085}"/>
              </a:ext>
            </a:extLst>
          </p:cNvPr>
          <p:cNvSpPr txBox="1"/>
          <p:nvPr/>
        </p:nvSpPr>
        <p:spPr>
          <a:xfrm>
            <a:off x="1314094" y="2600493"/>
            <a:ext cx="956383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데이터 </a:t>
            </a:r>
            <a:r>
              <a:rPr lang="ko-KR" altLang="en-US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조작어</a:t>
            </a:r>
            <a:b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</a:br>
            <a:r>
              <a:rPr lang="en-US" altLang="ko-KR" sz="36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(DML, Data Manipulation Language)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11512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57420-6F64-B0F9-A45A-E57667299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4918F-E4E5-C6DD-C341-0733F28FD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DML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94EF5C-31CD-A581-C785-1A1482CFE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8"/>
            <a:ext cx="11701221" cy="160626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 </a:t>
            </a:r>
            <a:r>
              <a:rPr lang="ko-KR" altLang="en-US" dirty="0"/>
              <a:t>데이터를 조작</a:t>
            </a:r>
            <a:r>
              <a:rPr lang="en-US" altLang="ko-KR" dirty="0"/>
              <a:t>(Manipulate)</a:t>
            </a:r>
            <a:r>
              <a:rPr lang="ko-KR" altLang="en-US" dirty="0"/>
              <a:t>하는 명령어들을 의미함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주요 명령어</a:t>
            </a:r>
            <a:r>
              <a:rPr lang="en-US" altLang="ko-KR" dirty="0"/>
              <a:t>: </a:t>
            </a:r>
            <a:r>
              <a:rPr lang="en-US" altLang="ko-KR" dirty="0">
                <a:solidFill>
                  <a:srgbClr val="00B050"/>
                </a:solidFill>
              </a:rPr>
              <a:t>SELECT</a:t>
            </a:r>
            <a:r>
              <a:rPr lang="en-US" altLang="ko-KR" dirty="0"/>
              <a:t>, INSERT, UPDATE, DELETE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1B4A0B0-2B1B-5593-27E6-AEC96F179579}"/>
              </a:ext>
            </a:extLst>
          </p:cNvPr>
          <p:cNvGraphicFramePr>
            <a:graphicFrameLocks noGrp="1"/>
          </p:cNvGraphicFramePr>
          <p:nvPr/>
        </p:nvGraphicFramePr>
        <p:xfrm>
          <a:off x="537575" y="2889249"/>
          <a:ext cx="11154891" cy="3113620"/>
        </p:xfrm>
        <a:graphic>
          <a:graphicData uri="http://schemas.openxmlformats.org/drawingml/2006/table">
            <a:tbl>
              <a:tblPr/>
              <a:tblGrid>
                <a:gridCol w="2677174">
                  <a:extLst>
                    <a:ext uri="{9D8B030D-6E8A-4147-A177-3AD203B41FA5}">
                      <a16:colId xmlns:a16="http://schemas.microsoft.com/office/drawing/2014/main" val="3143271518"/>
                    </a:ext>
                  </a:extLst>
                </a:gridCol>
                <a:gridCol w="8477717">
                  <a:extLst>
                    <a:ext uri="{9D8B030D-6E8A-4147-A177-3AD203B41FA5}">
                      <a16:colId xmlns:a16="http://schemas.microsoft.com/office/drawing/2014/main" val="925609413"/>
                    </a:ext>
                  </a:extLst>
                </a:gridCol>
              </a:tblGrid>
              <a:tr h="62272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명령어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224211"/>
                  </a:ext>
                </a:extLst>
              </a:tr>
              <a:tr h="62272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SELECT</a:t>
                      </a:r>
                    </a:p>
                  </a:txBody>
                  <a:tcPr marL="72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테이블에서 데이터를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조회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</a:t>
                      </a:r>
                    </a:p>
                  </a:txBody>
                  <a:tcPr marL="72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8900530"/>
                  </a:ext>
                </a:extLst>
              </a:tr>
              <a:tr h="62272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INSERT</a:t>
                      </a:r>
                    </a:p>
                  </a:txBody>
                  <a:tcPr marL="72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테이블에 데이터를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삽입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</a:t>
                      </a:r>
                    </a:p>
                  </a:txBody>
                  <a:tcPr marL="72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1561621"/>
                  </a:ext>
                </a:extLst>
              </a:tr>
              <a:tr h="62272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UPDATE</a:t>
                      </a:r>
                    </a:p>
                  </a:txBody>
                  <a:tcPr marL="72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기존 데이터를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수정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</a:t>
                      </a:r>
                    </a:p>
                  </a:txBody>
                  <a:tcPr marL="72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6810355"/>
                  </a:ext>
                </a:extLst>
              </a:tr>
              <a:tr h="62272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DELETE</a:t>
                      </a:r>
                    </a:p>
                  </a:txBody>
                  <a:tcPr marL="72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데이터를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삭제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</a:t>
                      </a:r>
                    </a:p>
                  </a:txBody>
                  <a:tcPr marL="72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57240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7455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C1516A-114F-FCD4-9D91-10C23661F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CRUD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FBA3FD-10BD-CA0D-D034-D3929E864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20676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 </a:t>
            </a:r>
            <a:r>
              <a:rPr lang="ko-KR" altLang="en-US" dirty="0"/>
              <a:t>대부분의 컴퓨터 소프트웨어가 가지는 </a:t>
            </a:r>
            <a:r>
              <a:rPr lang="ko-KR" altLang="en-US" b="1" dirty="0"/>
              <a:t>기본적인 처리 기능</a:t>
            </a:r>
            <a:endParaRPr lang="en-US" altLang="ko-KR" b="1" dirty="0"/>
          </a:p>
          <a:p>
            <a:pPr lvl="1"/>
            <a:r>
              <a:rPr lang="ko-KR" altLang="en-US" dirty="0"/>
              <a:t>데이터베이스에서 데이터를 </a:t>
            </a:r>
            <a:r>
              <a:rPr lang="ko-KR" altLang="en-US" b="1" dirty="0"/>
              <a:t>생성</a:t>
            </a:r>
            <a:r>
              <a:rPr lang="en-US" altLang="ko-KR" b="1" dirty="0"/>
              <a:t>(Create), </a:t>
            </a:r>
            <a:r>
              <a:rPr lang="ko-KR" altLang="en-US" b="1" dirty="0"/>
              <a:t>조회</a:t>
            </a:r>
            <a:r>
              <a:rPr lang="en-US" altLang="ko-KR" b="1" dirty="0"/>
              <a:t>(Read), </a:t>
            </a:r>
            <a:r>
              <a:rPr lang="ko-KR" altLang="en-US" b="1" dirty="0"/>
              <a:t>수정</a:t>
            </a:r>
            <a:r>
              <a:rPr lang="en-US" altLang="ko-KR" b="1" dirty="0"/>
              <a:t>(Update), </a:t>
            </a:r>
            <a:r>
              <a:rPr lang="ko-KR" altLang="en-US" b="1" dirty="0"/>
              <a:t>삭제</a:t>
            </a:r>
            <a:r>
              <a:rPr lang="en-US" altLang="ko-KR" b="1" dirty="0"/>
              <a:t>(Delete)</a:t>
            </a:r>
            <a:r>
              <a:rPr lang="ko-KR" altLang="en-US" dirty="0"/>
              <a:t>하는 네 가지 기본 작업을 의미</a:t>
            </a:r>
            <a:endParaRPr lang="en-US" altLang="ko-KR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4D96280-A53A-AB4F-13F9-204DA491CB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056407"/>
              </p:ext>
            </p:extLst>
          </p:nvPr>
        </p:nvGraphicFramePr>
        <p:xfrm>
          <a:off x="568325" y="2844800"/>
          <a:ext cx="11055350" cy="3284485"/>
        </p:xfrm>
        <a:graphic>
          <a:graphicData uri="http://schemas.openxmlformats.org/drawingml/2006/table">
            <a:tbl>
              <a:tblPr/>
              <a:tblGrid>
                <a:gridCol w="3928760">
                  <a:extLst>
                    <a:ext uri="{9D8B030D-6E8A-4147-A177-3AD203B41FA5}">
                      <a16:colId xmlns:a16="http://schemas.microsoft.com/office/drawing/2014/main" val="2538652773"/>
                    </a:ext>
                  </a:extLst>
                </a:gridCol>
                <a:gridCol w="3357817">
                  <a:extLst>
                    <a:ext uri="{9D8B030D-6E8A-4147-A177-3AD203B41FA5}">
                      <a16:colId xmlns:a16="http://schemas.microsoft.com/office/drawing/2014/main" val="3437027478"/>
                    </a:ext>
                  </a:extLst>
                </a:gridCol>
                <a:gridCol w="3768773">
                  <a:extLst>
                    <a:ext uri="{9D8B030D-6E8A-4147-A177-3AD203B41FA5}">
                      <a16:colId xmlns:a16="http://schemas.microsoft.com/office/drawing/2014/main" val="2408890477"/>
                    </a:ext>
                  </a:extLst>
                </a:gridCol>
              </a:tblGrid>
              <a:tr h="65689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조작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SQL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400376"/>
                  </a:ext>
                </a:extLst>
              </a:tr>
              <a:tr h="65689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reate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생성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INSERT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0191408"/>
                  </a:ext>
                </a:extLst>
              </a:tr>
              <a:tr h="65689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ead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읽기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SELECT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7168374"/>
                  </a:ext>
                </a:extLst>
              </a:tr>
              <a:tr h="65689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U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pdate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갱신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UPDATE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539091"/>
                  </a:ext>
                </a:extLst>
              </a:tr>
              <a:tr h="65689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elete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삭제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DELETE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41811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4966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INSERT </a:t>
            </a:r>
            <a:r>
              <a:rPr lang="ko-KR" altLang="en-US" dirty="0"/>
              <a:t>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93E9857-3581-8B58-E381-054D4780D44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79"/>
          <a:stretch/>
        </p:blipFill>
        <p:spPr>
          <a:xfrm>
            <a:off x="1343920" y="3582162"/>
            <a:ext cx="9504159" cy="713318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7A3A0772-C342-8BDA-65BC-4D89582CCC23}"/>
              </a:ext>
            </a:extLst>
          </p:cNvPr>
          <p:cNvGrpSpPr/>
          <p:nvPr/>
        </p:nvGrpSpPr>
        <p:grpSpPr>
          <a:xfrm>
            <a:off x="1343921" y="4451057"/>
            <a:ext cx="6381045" cy="713318"/>
            <a:chOff x="1126065" y="3544008"/>
            <a:chExt cx="6381045" cy="713318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0B66E75B-7582-9A8B-6887-754077A7A1C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763" t="6028" r="2424" b="5648"/>
            <a:stretch/>
          </p:blipFill>
          <p:spPr>
            <a:xfrm>
              <a:off x="1126065" y="3544008"/>
              <a:ext cx="6381045" cy="713318"/>
            </a:xfrm>
            <a:prstGeom prst="rect">
              <a:avLst/>
            </a:prstGeom>
          </p:spPr>
        </p:pic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AB784662-F3D5-7577-EF6E-257E8798EA8F}"/>
                </a:ext>
              </a:extLst>
            </p:cNvPr>
            <p:cNvSpPr/>
            <p:nvPr/>
          </p:nvSpPr>
          <p:spPr>
            <a:xfrm>
              <a:off x="4707001" y="3677362"/>
              <a:ext cx="2541523" cy="427559"/>
            </a:xfrm>
            <a:prstGeom prst="roundRect">
              <a:avLst>
                <a:gd name="adj" fmla="val 7658"/>
              </a:avLst>
            </a:prstGeom>
            <a:solidFill>
              <a:srgbClr val="FFC0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</p:grp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64FFEB1F-4E1C-BEB2-5D95-C679350F55AF}"/>
              </a:ext>
            </a:extLst>
          </p:cNvPr>
          <p:cNvSpPr txBox="1">
            <a:spLocks/>
          </p:cNvSpPr>
          <p:nvPr/>
        </p:nvSpPr>
        <p:spPr>
          <a:xfrm>
            <a:off x="245389" y="1145407"/>
            <a:ext cx="11701221" cy="209309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테이블에 새로운 데이터를 추가할 때 사용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컬럼명과 값은 </a:t>
            </a:r>
            <a:r>
              <a:rPr lang="ko-KR" altLang="en-US" b="1" dirty="0"/>
              <a:t>순서</a:t>
            </a:r>
            <a:r>
              <a:rPr lang="ko-KR" altLang="en-US" dirty="0"/>
              <a:t>와 </a:t>
            </a:r>
            <a:r>
              <a:rPr lang="ko-KR" altLang="en-US" b="1" dirty="0"/>
              <a:t>개수</a:t>
            </a:r>
            <a:r>
              <a:rPr lang="ko-KR" altLang="en-US" dirty="0"/>
              <a:t>가 일치해야 함</a:t>
            </a:r>
            <a:endParaRPr lang="en-US" altLang="ko-KR" dirty="0"/>
          </a:p>
          <a:p>
            <a:pPr lvl="1"/>
            <a:r>
              <a:rPr lang="ko-KR" altLang="en-US" dirty="0">
                <a:latin typeface="+mn-ea"/>
              </a:rPr>
              <a:t>필드를 명시하지 않는 경우 </a:t>
            </a:r>
            <a:r>
              <a:rPr lang="ko-KR" altLang="en-US" sz="2400" dirty="0">
                <a:latin typeface="+mn-ea"/>
              </a:rPr>
              <a:t>테이블의 </a:t>
            </a:r>
            <a:r>
              <a:rPr lang="ko-KR" altLang="en-US" sz="2400" b="1" dirty="0">
                <a:solidFill>
                  <a:srgbClr val="00B050"/>
                </a:solidFill>
                <a:latin typeface="+mn-ea"/>
              </a:rPr>
              <a:t>모든 컬럼에 값을 순서대로 </a:t>
            </a:r>
            <a:r>
              <a:rPr lang="ko-KR" altLang="en-US" sz="2400" dirty="0">
                <a:latin typeface="+mn-ea"/>
              </a:rPr>
              <a:t>추가해야 함</a:t>
            </a:r>
          </a:p>
          <a:p>
            <a:pPr lvl="1">
              <a:lnSpc>
                <a:spcPct val="150000"/>
              </a:lnSpc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8186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INSERT </a:t>
            </a:r>
            <a:r>
              <a:rPr lang="ko-KR" altLang="en-US" dirty="0"/>
              <a:t>문</a:t>
            </a:r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64FFEB1F-4E1C-BEB2-5D95-C679350F55AF}"/>
              </a:ext>
            </a:extLst>
          </p:cNvPr>
          <p:cNvSpPr txBox="1">
            <a:spLocks/>
          </p:cNvSpPr>
          <p:nvPr/>
        </p:nvSpPr>
        <p:spPr>
          <a:xfrm>
            <a:off x="245389" y="983363"/>
            <a:ext cx="11701221" cy="1401022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my_shop</a:t>
            </a:r>
            <a:r>
              <a:rPr lang="en-US" altLang="ko-KR" dirty="0"/>
              <a:t> DB</a:t>
            </a:r>
            <a:r>
              <a:rPr lang="ko-KR" altLang="en-US" dirty="0"/>
              <a:t>에 </a:t>
            </a:r>
            <a:r>
              <a:rPr lang="en-US" altLang="ko-KR" dirty="0"/>
              <a:t>INSERT </a:t>
            </a:r>
            <a:r>
              <a:rPr lang="ko-KR" altLang="en-US" dirty="0"/>
              <a:t>해보자</a:t>
            </a:r>
            <a:r>
              <a:rPr lang="en-US" altLang="ko-KR" dirty="0"/>
              <a:t>!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customer </a:t>
            </a:r>
            <a:r>
              <a:rPr lang="ko-KR" altLang="en-US" sz="2400" dirty="0"/>
              <a:t>테이블 데이터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7945023"/>
              </p:ext>
            </p:extLst>
          </p:nvPr>
        </p:nvGraphicFramePr>
        <p:xfrm>
          <a:off x="416687" y="2380789"/>
          <a:ext cx="11358623" cy="3892691"/>
        </p:xfrm>
        <a:graphic>
          <a:graphicData uri="http://schemas.openxmlformats.org/drawingml/2006/table">
            <a:tbl>
              <a:tblPr/>
              <a:tblGrid>
                <a:gridCol w="1735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46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36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13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35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38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cust_id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itchFamily="2" charset="-127"/>
                        <a:ea typeface="Pretendard Light" pitchFamily="2" charset="-127"/>
                        <a:cs typeface="Pretendard Light" pitchFamily="2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cust_name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itchFamily="2" charset="-127"/>
                        <a:ea typeface="Pretendard Light" pitchFamily="2" charset="-127"/>
                        <a:cs typeface="Pretendard Light" pitchFamily="2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address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phone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birth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8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C001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김민수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서울시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01012345678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1990-05-14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8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C002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이영희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부산시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01023456789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1985-08-22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8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C003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박철수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대전시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01034567890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1992-11-02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8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C004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정유진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광주시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01045678901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1998-01-19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8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C005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한지민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수원시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01056789012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1996-06-30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8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C006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최우성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서울시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01067890123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1989-03-15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38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C007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장윤아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대구시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01078901234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1994-10-05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38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C008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오태식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인천시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01089012345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1987-02-25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38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C009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류수정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서울시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01090123456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1995-07-08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38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C010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배진영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부산시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01001234567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1993-12-12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551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INSERT </a:t>
            </a:r>
            <a:r>
              <a:rPr lang="ko-KR" altLang="en-US" dirty="0"/>
              <a:t>문</a:t>
            </a:r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64FFEB1F-4E1C-BEB2-5D95-C679350F55AF}"/>
              </a:ext>
            </a:extLst>
          </p:cNvPr>
          <p:cNvSpPr txBox="1">
            <a:spLocks/>
          </p:cNvSpPr>
          <p:nvPr/>
        </p:nvSpPr>
        <p:spPr>
          <a:xfrm>
            <a:off x="245389" y="983363"/>
            <a:ext cx="11701221" cy="1401022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my_shop</a:t>
            </a:r>
            <a:r>
              <a:rPr lang="en-US" altLang="ko-KR" dirty="0"/>
              <a:t> DB</a:t>
            </a:r>
            <a:r>
              <a:rPr lang="ko-KR" altLang="en-US" dirty="0"/>
              <a:t>에 </a:t>
            </a:r>
            <a:r>
              <a:rPr lang="en-US" altLang="ko-KR" dirty="0"/>
              <a:t>INSERT </a:t>
            </a:r>
            <a:r>
              <a:rPr lang="ko-KR" altLang="en-US" dirty="0"/>
              <a:t>해보자</a:t>
            </a:r>
            <a:r>
              <a:rPr lang="en-US" altLang="ko-KR" dirty="0"/>
              <a:t>!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orders </a:t>
            </a:r>
            <a:r>
              <a:rPr lang="ko-KR" altLang="en-US" sz="2400" dirty="0"/>
              <a:t>테이블 데이터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2402362"/>
              </p:ext>
            </p:extLst>
          </p:nvPr>
        </p:nvGraphicFramePr>
        <p:xfrm>
          <a:off x="388233" y="2496534"/>
          <a:ext cx="11394794" cy="3707495"/>
        </p:xfrm>
        <a:graphic>
          <a:graphicData uri="http://schemas.openxmlformats.org/drawingml/2006/table">
            <a:tbl>
              <a:tblPr/>
              <a:tblGrid>
                <a:gridCol w="22367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1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64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57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70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order_id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itchFamily="2" charset="-127"/>
                        <a:ea typeface="Pretendard Light" pitchFamily="2" charset="-127"/>
                        <a:cs typeface="Pretendard Light" pitchFamily="2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cust_id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prod_name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price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amount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04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자동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C001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커피머신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120,000</a:t>
                      </a:r>
                    </a:p>
                  </a:txBody>
                  <a:tcPr marL="7620" marR="360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04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자동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C003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노트북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950,000</a:t>
                      </a:r>
                    </a:p>
                  </a:txBody>
                  <a:tcPr marL="7620" marR="360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04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자동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C002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헤드폰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85,000</a:t>
                      </a:r>
                    </a:p>
                  </a:txBody>
                  <a:tcPr marL="7620" marR="360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04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자동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C001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모니터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250,000</a:t>
                      </a:r>
                    </a:p>
                  </a:txBody>
                  <a:tcPr marL="7620" marR="360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04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자동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C005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의자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130,000</a:t>
                      </a:r>
                    </a:p>
                  </a:txBody>
                  <a:tcPr marL="7620" marR="360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04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자동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C004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키보드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45,000</a:t>
                      </a:r>
                    </a:p>
                  </a:txBody>
                  <a:tcPr marL="7620" marR="360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04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자동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C007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마우스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32,000</a:t>
                      </a:r>
                    </a:p>
                  </a:txBody>
                  <a:tcPr marL="7620" marR="360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04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자동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C009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조명등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28,000</a:t>
                      </a:r>
                    </a:p>
                  </a:txBody>
                  <a:tcPr marL="7620" marR="360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704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자동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C008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휴대폰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990,000</a:t>
                      </a:r>
                    </a:p>
                  </a:txBody>
                  <a:tcPr marL="7620" marR="360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704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자동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C010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게임기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480,000</a:t>
                      </a:r>
                    </a:p>
                  </a:txBody>
                  <a:tcPr marL="7620" marR="360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8730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303CF2F4-7172-5244-CB08-74133A4D4DAE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DDL </a:t>
            </a:r>
            <a:r>
              <a:rPr lang="ko-KR" altLang="en-US" dirty="0">
                <a:solidFill>
                  <a:srgbClr val="ED7D31"/>
                </a:solidFill>
              </a:rPr>
              <a:t>종합연습 및 </a:t>
            </a:r>
            <a:r>
              <a:rPr lang="en-US" altLang="ko-KR" dirty="0">
                <a:solidFill>
                  <a:srgbClr val="ED7D31"/>
                </a:solidFill>
              </a:rPr>
              <a:t>INSERT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8D6BDA-58BD-D884-E722-1D2A4363D96D}"/>
              </a:ext>
            </a:extLst>
          </p:cNvPr>
          <p:cNvSpPr txBox="1"/>
          <p:nvPr/>
        </p:nvSpPr>
        <p:spPr>
          <a:xfrm>
            <a:off x="251788" y="1145407"/>
            <a:ext cx="8751114" cy="21628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🚀</a:t>
            </a:r>
            <a:r>
              <a:rPr lang="en-US" altLang="ko-KR" sz="2800" dirty="0"/>
              <a:t>DML </a:t>
            </a:r>
            <a:r>
              <a:rPr lang="ko-KR" altLang="en-US" sz="2800" dirty="0"/>
              <a:t>연습에 사용할 </a:t>
            </a:r>
            <a:r>
              <a:rPr lang="en-US" altLang="ko-KR" sz="2800" dirty="0"/>
              <a:t>DB</a:t>
            </a:r>
            <a:r>
              <a:rPr lang="ko-KR" altLang="en-US" sz="2800" dirty="0"/>
              <a:t>를 직접 만들어 봅시다</a:t>
            </a:r>
            <a:r>
              <a:rPr lang="en-US" altLang="ko-KR" sz="2800" dirty="0"/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/>
              <a:t>데이터베이스 이름이 </a:t>
            </a:r>
            <a:r>
              <a:rPr lang="en-US" altLang="ko-KR" sz="2400" dirty="0" err="1"/>
              <a:t>codingon_db</a:t>
            </a:r>
            <a:r>
              <a:rPr lang="ko-KR" altLang="en-US" sz="2400" dirty="0"/>
              <a:t>인 데이터베이스를 생성하세요</a:t>
            </a:r>
            <a:r>
              <a:rPr lang="en-US" altLang="ko-KR" sz="2400" dirty="0"/>
              <a:t>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단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동일한 이름의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DB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이미 존재하면 삭제하고 새로 생성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db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생성 후 앞으로 사용할 데이터베이스를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codingon_db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지정</a:t>
            </a:r>
          </a:p>
        </p:txBody>
      </p:sp>
    </p:spTree>
    <p:extLst>
      <p:ext uri="{BB962C8B-B14F-4D97-AF65-F5344CB8AC3E}">
        <p14:creationId xmlns:p14="http://schemas.microsoft.com/office/powerpoint/2010/main" val="691624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E5353-EE28-BB12-DA8B-A56CAF5CF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10064B5F-C74A-AC33-6DF4-4C38648FD71B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DDL </a:t>
            </a:r>
            <a:r>
              <a:rPr lang="ko-KR" altLang="en-US" dirty="0">
                <a:solidFill>
                  <a:srgbClr val="ED7D31"/>
                </a:solidFill>
              </a:rPr>
              <a:t>종합연습 및 </a:t>
            </a:r>
            <a:r>
              <a:rPr lang="en-US" altLang="ko-KR" dirty="0">
                <a:solidFill>
                  <a:srgbClr val="ED7D31"/>
                </a:solidFill>
              </a:rPr>
              <a:t>INSERT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07D0A3-2B77-70B5-DFD2-2F9EC7F730AA}"/>
              </a:ext>
            </a:extLst>
          </p:cNvPr>
          <p:cNvSpPr txBox="1"/>
          <p:nvPr/>
        </p:nvSpPr>
        <p:spPr>
          <a:xfrm>
            <a:off x="251788" y="1145407"/>
            <a:ext cx="6138219" cy="29015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2"/>
            </a:pPr>
            <a:r>
              <a:rPr lang="ko-KR" altLang="en-US" sz="2400" dirty="0"/>
              <a:t>다음 조건에 맞는 </a:t>
            </a:r>
            <a:r>
              <a:rPr lang="en-US" altLang="ko-KR" sz="2400" dirty="0"/>
              <a:t>class </a:t>
            </a:r>
            <a:r>
              <a:rPr lang="ko-KR" altLang="en-US" sz="2400" dirty="0"/>
              <a:t>테이블을 생성하세요</a:t>
            </a:r>
            <a:r>
              <a:rPr lang="en-US" altLang="ko-KR" sz="2400" dirty="0"/>
              <a:t>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class_id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CHAR(5),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기본키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NOT NULL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class_name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VARCHAR(30), NOT NULL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category: VARCHAR(20)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room : CHAR(5), NOT NULL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start_date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DATE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형식</a:t>
            </a:r>
          </a:p>
        </p:txBody>
      </p:sp>
    </p:spTree>
    <p:extLst>
      <p:ext uri="{BB962C8B-B14F-4D97-AF65-F5344CB8AC3E}">
        <p14:creationId xmlns:p14="http://schemas.microsoft.com/office/powerpoint/2010/main" val="4074233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5CFB7-9C45-7E02-1A3D-74944AE55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70B6457E-F6DD-497C-8E70-E979E20BB188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DDL </a:t>
            </a:r>
            <a:r>
              <a:rPr lang="ko-KR" altLang="en-US" dirty="0">
                <a:solidFill>
                  <a:srgbClr val="ED7D31"/>
                </a:solidFill>
              </a:rPr>
              <a:t>종합연습 및 </a:t>
            </a:r>
            <a:r>
              <a:rPr lang="en-US" altLang="ko-KR" dirty="0">
                <a:solidFill>
                  <a:srgbClr val="ED7D31"/>
                </a:solidFill>
              </a:rPr>
              <a:t>INSERT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286810-2D57-F8A1-CEF7-018806CEE1CE}"/>
              </a:ext>
            </a:extLst>
          </p:cNvPr>
          <p:cNvSpPr txBox="1"/>
          <p:nvPr/>
        </p:nvSpPr>
        <p:spPr>
          <a:xfrm>
            <a:off x="251788" y="1145407"/>
            <a:ext cx="8332730" cy="336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2400" dirty="0"/>
              <a:t>다음 조건에 맞는 </a:t>
            </a:r>
            <a:r>
              <a:rPr lang="en-US" altLang="ko-KR" sz="2400" dirty="0"/>
              <a:t>student </a:t>
            </a:r>
            <a:r>
              <a:rPr lang="ko-KR" altLang="en-US" sz="2400" dirty="0"/>
              <a:t>테이블을 생성하세요</a:t>
            </a:r>
            <a:r>
              <a:rPr lang="en-US" altLang="ko-KR" sz="2400" dirty="0"/>
              <a:t>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student_id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INT, AUTO_INCREMENT,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기본키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name: VARCHAR(20), NOT NULL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age: INT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gender : ENUM(‘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남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’, ‘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여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‘)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class_id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CHAR(5), NOT NULL, class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테이블의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class_id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참조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외래키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join_date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DATE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형식</a:t>
            </a:r>
          </a:p>
        </p:txBody>
      </p:sp>
    </p:spTree>
    <p:extLst>
      <p:ext uri="{BB962C8B-B14F-4D97-AF65-F5344CB8AC3E}">
        <p14:creationId xmlns:p14="http://schemas.microsoft.com/office/powerpoint/2010/main" val="466376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CEFBC-FA13-3B88-9824-D8B6F1DC8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5287B944-2B31-3637-5682-20FAF45C733A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DDL </a:t>
            </a:r>
            <a:r>
              <a:rPr lang="ko-KR" altLang="en-US" dirty="0">
                <a:solidFill>
                  <a:srgbClr val="ED7D31"/>
                </a:solidFill>
              </a:rPr>
              <a:t>종합연습 및 </a:t>
            </a:r>
            <a:r>
              <a:rPr lang="en-US" altLang="ko-KR" dirty="0">
                <a:solidFill>
                  <a:srgbClr val="ED7D31"/>
                </a:solidFill>
              </a:rPr>
              <a:t>INSERT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5127E5-D02B-976B-EB16-3A8DADF261C9}"/>
              </a:ext>
            </a:extLst>
          </p:cNvPr>
          <p:cNvSpPr txBox="1"/>
          <p:nvPr/>
        </p:nvSpPr>
        <p:spPr>
          <a:xfrm>
            <a:off x="251788" y="1145407"/>
            <a:ext cx="5796780" cy="582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sz="2400" dirty="0"/>
              <a:t>class </a:t>
            </a:r>
            <a:r>
              <a:rPr lang="ko-KR" altLang="en-US" sz="2400" dirty="0"/>
              <a:t>테이블에 다음 데이터를 삽입하세요</a:t>
            </a:r>
            <a:r>
              <a:rPr lang="en-US" altLang="ko-KR" sz="2400" dirty="0"/>
              <a:t>.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52876BE-CA71-292C-C6ED-93AD6FF445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8085941"/>
              </p:ext>
            </p:extLst>
          </p:nvPr>
        </p:nvGraphicFramePr>
        <p:xfrm>
          <a:off x="424542" y="1858569"/>
          <a:ext cx="11342915" cy="4295486"/>
        </p:xfrm>
        <a:graphic>
          <a:graphicData uri="http://schemas.openxmlformats.org/drawingml/2006/table">
            <a:tbl>
              <a:tblPr/>
              <a:tblGrid>
                <a:gridCol w="1268615">
                  <a:extLst>
                    <a:ext uri="{9D8B030D-6E8A-4147-A177-3AD203B41FA5}">
                      <a16:colId xmlns:a16="http://schemas.microsoft.com/office/drawing/2014/main" val="193433641"/>
                    </a:ext>
                  </a:extLst>
                </a:gridCol>
                <a:gridCol w="2810854">
                  <a:extLst>
                    <a:ext uri="{9D8B030D-6E8A-4147-A177-3AD203B41FA5}">
                      <a16:colId xmlns:a16="http://schemas.microsoft.com/office/drawing/2014/main" val="1732235720"/>
                    </a:ext>
                  </a:extLst>
                </a:gridCol>
                <a:gridCol w="2810854">
                  <a:extLst>
                    <a:ext uri="{9D8B030D-6E8A-4147-A177-3AD203B41FA5}">
                      <a16:colId xmlns:a16="http://schemas.microsoft.com/office/drawing/2014/main" val="387441455"/>
                    </a:ext>
                  </a:extLst>
                </a:gridCol>
                <a:gridCol w="2810854">
                  <a:extLst>
                    <a:ext uri="{9D8B030D-6E8A-4147-A177-3AD203B41FA5}">
                      <a16:colId xmlns:a16="http://schemas.microsoft.com/office/drawing/2014/main" val="3001939622"/>
                    </a:ext>
                  </a:extLst>
                </a:gridCol>
                <a:gridCol w="1641738">
                  <a:extLst>
                    <a:ext uri="{9D8B030D-6E8A-4147-A177-3AD203B41FA5}">
                      <a16:colId xmlns:a16="http://schemas.microsoft.com/office/drawing/2014/main" val="2761540843"/>
                    </a:ext>
                  </a:extLst>
                </a:gridCol>
              </a:tblGrid>
              <a:tr h="5391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class_id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class_name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category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room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start_date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632038"/>
                  </a:ext>
                </a:extLst>
              </a:tr>
              <a:tr h="469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CLS01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프론트엔드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12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프론트엔드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B-101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2024-01-08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22454"/>
                  </a:ext>
                </a:extLst>
              </a:tr>
              <a:tr h="469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CLS02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백엔드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8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백엔드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B-102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2024-02-05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264501"/>
                  </a:ext>
                </a:extLst>
              </a:tr>
              <a:tr h="469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CLS03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AI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엔지니어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C-201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2024-03-01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9461344"/>
                  </a:ext>
                </a:extLst>
              </a:tr>
              <a:tr h="469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CLS04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모바일 앱 개발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5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모바일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A-301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2024-04-10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6273244"/>
                  </a:ext>
                </a:extLst>
              </a:tr>
              <a:tr h="469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CLS05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UI/UX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디자인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6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디자인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D-401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2024-05-15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4793945"/>
                  </a:ext>
                </a:extLst>
              </a:tr>
              <a:tr h="469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CLS06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데이터 분석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데이터분석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B-201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2024-06-03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7705655"/>
                  </a:ext>
                </a:extLst>
              </a:tr>
              <a:tr h="469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CLS07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클라우드 인프라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클라우드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E-102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2024-06-24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5042979"/>
                  </a:ext>
                </a:extLst>
              </a:tr>
              <a:tr h="4695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CLS08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게임 프로그래밍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4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게임개발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G-301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2024-07-15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8313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95046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9F175-75EF-B85B-367A-0A51F04F4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A7EA8AB5-061D-B791-99C1-6E901C00970D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DDL </a:t>
            </a:r>
            <a:r>
              <a:rPr lang="ko-KR" altLang="en-US" dirty="0">
                <a:solidFill>
                  <a:srgbClr val="ED7D31"/>
                </a:solidFill>
              </a:rPr>
              <a:t>종합연습 및 </a:t>
            </a:r>
            <a:r>
              <a:rPr lang="en-US" altLang="ko-KR" dirty="0">
                <a:solidFill>
                  <a:srgbClr val="ED7D31"/>
                </a:solidFill>
              </a:rPr>
              <a:t>INSERT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0B9188-AE68-DE48-F4B2-E43FDA7B2A49}"/>
              </a:ext>
            </a:extLst>
          </p:cNvPr>
          <p:cNvSpPr txBox="1"/>
          <p:nvPr/>
        </p:nvSpPr>
        <p:spPr>
          <a:xfrm>
            <a:off x="251788" y="1145407"/>
            <a:ext cx="6159058" cy="582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en-US" altLang="ko-KR" sz="2400" dirty="0"/>
              <a:t>student </a:t>
            </a:r>
            <a:r>
              <a:rPr lang="ko-KR" altLang="en-US" sz="2400" dirty="0"/>
              <a:t>테이블에 다음 데이터를 삽입하세요</a:t>
            </a:r>
            <a:r>
              <a:rPr lang="en-US" altLang="ko-KR" sz="2400" dirty="0"/>
              <a:t>.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2CF9B27-4AF0-6FDC-377A-B14F5644C0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9961634"/>
              </p:ext>
            </p:extLst>
          </p:nvPr>
        </p:nvGraphicFramePr>
        <p:xfrm>
          <a:off x="412296" y="1858568"/>
          <a:ext cx="11367407" cy="4135829"/>
        </p:xfrm>
        <a:graphic>
          <a:graphicData uri="http://schemas.openxmlformats.org/drawingml/2006/table">
            <a:tbl>
              <a:tblPr/>
              <a:tblGrid>
                <a:gridCol w="2627642">
                  <a:extLst>
                    <a:ext uri="{9D8B030D-6E8A-4147-A177-3AD203B41FA5}">
                      <a16:colId xmlns:a16="http://schemas.microsoft.com/office/drawing/2014/main" val="1369414932"/>
                    </a:ext>
                  </a:extLst>
                </a:gridCol>
                <a:gridCol w="1370944">
                  <a:extLst>
                    <a:ext uri="{9D8B030D-6E8A-4147-A177-3AD203B41FA5}">
                      <a16:colId xmlns:a16="http://schemas.microsoft.com/office/drawing/2014/main" val="428620570"/>
                    </a:ext>
                  </a:extLst>
                </a:gridCol>
                <a:gridCol w="1272822">
                  <a:extLst>
                    <a:ext uri="{9D8B030D-6E8A-4147-A177-3AD203B41FA5}">
                      <a16:colId xmlns:a16="http://schemas.microsoft.com/office/drawing/2014/main" val="1936198326"/>
                    </a:ext>
                  </a:extLst>
                </a:gridCol>
                <a:gridCol w="1621392">
                  <a:extLst>
                    <a:ext uri="{9D8B030D-6E8A-4147-A177-3AD203B41FA5}">
                      <a16:colId xmlns:a16="http://schemas.microsoft.com/office/drawing/2014/main" val="1479564088"/>
                    </a:ext>
                  </a:extLst>
                </a:gridCol>
                <a:gridCol w="2094497">
                  <a:extLst>
                    <a:ext uri="{9D8B030D-6E8A-4147-A177-3AD203B41FA5}">
                      <a16:colId xmlns:a16="http://schemas.microsoft.com/office/drawing/2014/main" val="3694711316"/>
                    </a:ext>
                  </a:extLst>
                </a:gridCol>
                <a:gridCol w="2380110">
                  <a:extLst>
                    <a:ext uri="{9D8B030D-6E8A-4147-A177-3AD203B41FA5}">
                      <a16:colId xmlns:a16="http://schemas.microsoft.com/office/drawing/2014/main" val="2513073167"/>
                    </a:ext>
                  </a:extLst>
                </a:gridCol>
              </a:tblGrid>
              <a:tr h="42594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student_id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name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age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gender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class_id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join_date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0794847"/>
                  </a:ext>
                </a:extLst>
              </a:tr>
              <a:tr h="37098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자동생성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정국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남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CLS01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2024-01-08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2780461"/>
                  </a:ext>
                </a:extLst>
              </a:tr>
              <a:tr h="37098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자동생성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장원영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CLS01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2024-01-09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9320877"/>
                  </a:ext>
                </a:extLst>
              </a:tr>
              <a:tr h="37098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자동생성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변우석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NULL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남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CLS02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2024-02-05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633500"/>
                  </a:ext>
                </a:extLst>
              </a:tr>
              <a:tr h="37098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자동생성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고윤정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CLS02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2024-02-06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9411659"/>
                  </a:ext>
                </a:extLst>
              </a:tr>
              <a:tr h="37098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자동생성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안유진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CLS03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2024-03-01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5237638"/>
                  </a:ext>
                </a:extLst>
              </a:tr>
              <a:tr h="37098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자동생성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이도현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남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CLS03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2024-03-02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15761"/>
                  </a:ext>
                </a:extLst>
              </a:tr>
              <a:tr h="37098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자동생성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박채영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NULL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CLS04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2024-04-10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8479335"/>
                  </a:ext>
                </a:extLst>
              </a:tr>
              <a:tr h="37098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자동생성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박보검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남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CLS04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2024-04-11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892495"/>
                  </a:ext>
                </a:extLst>
              </a:tr>
              <a:tr h="37098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자동생성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이지은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NULL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CLS05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2024-05-15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8528089"/>
                  </a:ext>
                </a:extLst>
              </a:tr>
              <a:tr h="37098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자동생성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오해원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CLS05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</a:rPr>
                        <a:t>2024-05-16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7818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09798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9F175-75EF-B85B-367A-0A51F04F4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A7EA8AB5-061D-B791-99C1-6E901C00970D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DDL </a:t>
            </a:r>
            <a:r>
              <a:rPr lang="ko-KR" altLang="en-US" dirty="0">
                <a:solidFill>
                  <a:srgbClr val="ED7D31"/>
                </a:solidFill>
              </a:rPr>
              <a:t>종합연습 및 </a:t>
            </a:r>
            <a:r>
              <a:rPr lang="en-US" altLang="ko-KR" dirty="0">
                <a:solidFill>
                  <a:srgbClr val="ED7D31"/>
                </a:solidFill>
              </a:rPr>
              <a:t>INSERT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0B9188-AE68-DE48-F4B2-E43FDA7B2A49}"/>
              </a:ext>
            </a:extLst>
          </p:cNvPr>
          <p:cNvSpPr txBox="1"/>
          <p:nvPr/>
        </p:nvSpPr>
        <p:spPr>
          <a:xfrm>
            <a:off x="342473" y="1820596"/>
            <a:ext cx="2225289" cy="5824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class </a:t>
            </a:r>
            <a:r>
              <a:rPr lang="ko-KR" altLang="en-US" sz="2400" dirty="0"/>
              <a:t>테이블</a:t>
            </a:r>
            <a:endParaRPr lang="en-US" altLang="ko-KR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473" y="2403063"/>
            <a:ext cx="5410145" cy="2214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0B9188-AE68-DE48-F4B2-E43FDA7B2A49}"/>
              </a:ext>
            </a:extLst>
          </p:cNvPr>
          <p:cNvSpPr txBox="1"/>
          <p:nvPr/>
        </p:nvSpPr>
        <p:spPr>
          <a:xfrm>
            <a:off x="6303230" y="1820596"/>
            <a:ext cx="2587568" cy="5824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student </a:t>
            </a:r>
            <a:r>
              <a:rPr lang="ko-KR" altLang="en-US" sz="2400" dirty="0"/>
              <a:t>테이블</a:t>
            </a:r>
            <a:endParaRPr lang="en-US" altLang="ko-KR" sz="2400" dirty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4179" y="2403062"/>
            <a:ext cx="5464863" cy="2874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846725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SELECT</a:t>
            </a:r>
            <a:r>
              <a:rPr lang="ko-KR" altLang="en-US" dirty="0"/>
              <a:t> 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1913646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💡</a:t>
            </a:r>
            <a:r>
              <a:rPr lang="ko-KR" altLang="en-US" b="1" dirty="0">
                <a:solidFill>
                  <a:srgbClr val="00B0F0"/>
                </a:solidFill>
              </a:rPr>
              <a:t> </a:t>
            </a:r>
            <a:r>
              <a:rPr lang="ko-KR" altLang="en-US" dirty="0"/>
              <a:t>테이블에서 </a:t>
            </a:r>
            <a:r>
              <a:rPr lang="ko-KR" altLang="en-US" dirty="0">
                <a:solidFill>
                  <a:srgbClr val="00B050"/>
                </a:solidFill>
              </a:rPr>
              <a:t>데이터를 조회</a:t>
            </a:r>
            <a:r>
              <a:rPr lang="en-US" altLang="ko-KR" dirty="0"/>
              <a:t>(read)</a:t>
            </a:r>
            <a:r>
              <a:rPr lang="ko-KR" altLang="en-US" dirty="0"/>
              <a:t>할 때 사용하는 </a:t>
            </a:r>
            <a:r>
              <a:rPr lang="en-US" altLang="ko-KR" dirty="0"/>
              <a:t>SQL </a:t>
            </a:r>
            <a:r>
              <a:rPr lang="ko-KR" altLang="en-US" dirty="0"/>
              <a:t>구문</a:t>
            </a:r>
            <a:endParaRPr lang="en-US" altLang="ko-KR" dirty="0"/>
          </a:p>
          <a:p>
            <a:pPr lvl="1"/>
            <a:r>
              <a:rPr lang="ko-KR" altLang="en-US" dirty="0" err="1"/>
              <a:t>질의어</a:t>
            </a:r>
            <a:r>
              <a:rPr lang="ko-KR" altLang="en-US" dirty="0"/>
              <a:t> </a:t>
            </a:r>
            <a:r>
              <a:rPr lang="en-US" altLang="ko-KR" dirty="0"/>
              <a:t>(query) </a:t>
            </a:r>
            <a:r>
              <a:rPr lang="ko-KR" altLang="en-US" dirty="0"/>
              <a:t>라고도 함</a:t>
            </a:r>
            <a:endParaRPr lang="en-US" altLang="ko-KR" dirty="0"/>
          </a:p>
          <a:p>
            <a:pPr lvl="1"/>
            <a:r>
              <a:rPr lang="en-US" altLang="ko-KR" dirty="0"/>
              <a:t>SQL </a:t>
            </a:r>
            <a:r>
              <a:rPr lang="ko-KR" altLang="en-US" dirty="0"/>
              <a:t>문 중 가장 많이 사용되는 문법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4731A27-E05D-D437-9EE5-CF5C54F6103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740"/>
          <a:stretch/>
        </p:blipFill>
        <p:spPr>
          <a:xfrm>
            <a:off x="2250677" y="3067737"/>
            <a:ext cx="7676793" cy="8308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19DB156-5B6C-CF13-0A0F-3B48AD928D3D}"/>
              </a:ext>
            </a:extLst>
          </p:cNvPr>
          <p:cNvSpPr txBox="1"/>
          <p:nvPr/>
        </p:nvSpPr>
        <p:spPr>
          <a:xfrm>
            <a:off x="2141198" y="4002508"/>
            <a:ext cx="47003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✔️ 대괄호</a:t>
            </a:r>
            <a:r>
              <a:rPr lang="en-US" altLang="ko-KR" sz="1600" dirty="0"/>
              <a:t>([]) </a:t>
            </a:r>
            <a:r>
              <a:rPr lang="ko-KR" altLang="en-US" sz="1600" dirty="0"/>
              <a:t>안의 </a:t>
            </a:r>
            <a:r>
              <a:rPr lang="en-US" altLang="ko-KR" sz="1600" dirty="0"/>
              <a:t>SQL </a:t>
            </a:r>
            <a:r>
              <a:rPr lang="ko-KR" altLang="en-US" sz="1600" dirty="0" err="1"/>
              <a:t>예약어는</a:t>
            </a:r>
            <a:r>
              <a:rPr lang="ko-KR" altLang="en-US" sz="1600" dirty="0"/>
              <a:t> 선택적으로 사용 가능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5234670E-F171-3761-6794-00E40FA08EC4}"/>
              </a:ext>
            </a:extLst>
          </p:cNvPr>
          <p:cNvGrpSpPr/>
          <p:nvPr/>
        </p:nvGrpSpPr>
        <p:grpSpPr>
          <a:xfrm>
            <a:off x="2264527" y="4792891"/>
            <a:ext cx="7662943" cy="1081139"/>
            <a:chOff x="1401443" y="4734828"/>
            <a:chExt cx="7662943" cy="1081139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DDA30145-23B4-F6E9-0B17-FD1A14703BB7}"/>
                </a:ext>
              </a:extLst>
            </p:cNvPr>
            <p:cNvSpPr/>
            <p:nvPr/>
          </p:nvSpPr>
          <p:spPr>
            <a:xfrm>
              <a:off x="1671958" y="5246125"/>
              <a:ext cx="770267" cy="358920"/>
            </a:xfrm>
            <a:prstGeom prst="roundRect">
              <a:avLst>
                <a:gd name="adj" fmla="val 7658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Table1</a:t>
              </a:r>
              <a:endParaRPr lang="ko-KR" altLang="en-US" sz="1200" dirty="0"/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8C5FD227-A847-6F00-140C-B73EFB4438CC}"/>
                </a:ext>
              </a:extLst>
            </p:cNvPr>
            <p:cNvSpPr/>
            <p:nvPr/>
          </p:nvSpPr>
          <p:spPr>
            <a:xfrm>
              <a:off x="2531266" y="5246125"/>
              <a:ext cx="770267" cy="358920"/>
            </a:xfrm>
            <a:prstGeom prst="roundRect">
              <a:avLst>
                <a:gd name="adj" fmla="val 7658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Table2</a:t>
              </a:r>
              <a:endParaRPr lang="ko-KR" altLang="en-US" sz="1200" dirty="0"/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297A77BC-C1F4-1B60-B8A9-0870BE3D7570}"/>
                </a:ext>
              </a:extLst>
            </p:cNvPr>
            <p:cNvSpPr/>
            <p:nvPr/>
          </p:nvSpPr>
          <p:spPr>
            <a:xfrm>
              <a:off x="3390574" y="5246125"/>
              <a:ext cx="770267" cy="358920"/>
            </a:xfrm>
            <a:prstGeom prst="roundRect">
              <a:avLst>
                <a:gd name="adj" fmla="val 7658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Table3</a:t>
              </a:r>
              <a:endParaRPr lang="ko-KR" altLang="en-US" sz="1200" dirty="0"/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58826EDF-D762-39DD-C36F-7D052EA5F410}"/>
                </a:ext>
              </a:extLst>
            </p:cNvPr>
            <p:cNvGrpSpPr/>
            <p:nvPr/>
          </p:nvGrpSpPr>
          <p:grpSpPr>
            <a:xfrm>
              <a:off x="1401443" y="4734828"/>
              <a:ext cx="7662943" cy="1081139"/>
              <a:chOff x="1401443" y="4734828"/>
              <a:chExt cx="7662943" cy="1081139"/>
            </a:xfrm>
          </p:grpSpPr>
          <p:sp>
            <p:nvSpPr>
              <p:cNvPr id="13" name="순서도: 자기 디스크 12">
                <a:extLst>
                  <a:ext uri="{FF2B5EF4-FFF2-40B4-BE49-F238E27FC236}">
                    <a16:creationId xmlns:a16="http://schemas.microsoft.com/office/drawing/2014/main" id="{3A53B50E-0162-A817-6C27-482C6AD888FC}"/>
                  </a:ext>
                </a:extLst>
              </p:cNvPr>
              <p:cNvSpPr/>
              <p:nvPr/>
            </p:nvSpPr>
            <p:spPr>
              <a:xfrm>
                <a:off x="1401443" y="4734828"/>
                <a:ext cx="2869221" cy="1076974"/>
              </a:xfrm>
              <a:prstGeom prst="flowChartMagneticDisk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C2D02B49-7D75-C54E-08CB-2C484CB4CF82}"/>
                  </a:ext>
                </a:extLst>
              </p:cNvPr>
              <p:cNvGrpSpPr/>
              <p:nvPr/>
            </p:nvGrpSpPr>
            <p:grpSpPr>
              <a:xfrm>
                <a:off x="4738606" y="4749271"/>
                <a:ext cx="2431472" cy="1066696"/>
                <a:chOff x="4541179" y="4697004"/>
                <a:chExt cx="2431472" cy="1066696"/>
              </a:xfrm>
            </p:grpSpPr>
            <p:sp>
              <p:nvSpPr>
                <p:cNvPr id="18" name="화살표: 아래쪽 17">
                  <a:extLst>
                    <a:ext uri="{FF2B5EF4-FFF2-40B4-BE49-F238E27FC236}">
                      <a16:creationId xmlns:a16="http://schemas.microsoft.com/office/drawing/2014/main" id="{8B4E6C1E-E4BC-9A21-0148-C4A047EF9761}"/>
                    </a:ext>
                  </a:extLst>
                </p:cNvPr>
                <p:cNvSpPr/>
                <p:nvPr/>
              </p:nvSpPr>
              <p:spPr>
                <a:xfrm rot="16200000" flipH="1">
                  <a:off x="5223567" y="4014616"/>
                  <a:ext cx="1066696" cy="2431472"/>
                </a:xfrm>
                <a:prstGeom prst="downArrow">
                  <a:avLst/>
                </a:prstGeom>
                <a:gradFill>
                  <a:gsLst>
                    <a:gs pos="0">
                      <a:srgbClr val="FFC000">
                        <a:alpha val="2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1B4FC816-6699-A671-8216-864A46D7C94E}"/>
                    </a:ext>
                  </a:extLst>
                </p:cNvPr>
                <p:cNvSpPr txBox="1"/>
                <p:nvPr/>
              </p:nvSpPr>
              <p:spPr>
                <a:xfrm>
                  <a:off x="5130671" y="5061459"/>
                  <a:ext cx="96532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b="1" dirty="0"/>
                    <a:t>SELECT</a:t>
                  </a:r>
                  <a:endParaRPr lang="ko-KR" altLang="en-US" b="1" dirty="0"/>
                </a:p>
              </p:txBody>
            </p:sp>
          </p:grpSp>
          <p:sp>
            <p:nvSpPr>
              <p:cNvPr id="21" name="사각형: 둥근 모서리 20">
                <a:extLst>
                  <a:ext uri="{FF2B5EF4-FFF2-40B4-BE49-F238E27FC236}">
                    <a16:creationId xmlns:a16="http://schemas.microsoft.com/office/drawing/2014/main" id="{B25D59A6-5417-5F9A-2FBE-F9BB75A35BEA}"/>
                  </a:ext>
                </a:extLst>
              </p:cNvPr>
              <p:cNvSpPr/>
              <p:nvPr/>
            </p:nvSpPr>
            <p:spPr>
              <a:xfrm>
                <a:off x="7638020" y="4985814"/>
                <a:ext cx="1426366" cy="619231"/>
              </a:xfrm>
              <a:prstGeom prst="roundRect">
                <a:avLst>
                  <a:gd name="adj" fmla="val 7658"/>
                </a:avLst>
              </a:prstGeom>
              <a:solidFill>
                <a:srgbClr val="F5F5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dirty="0">
                    <a:solidFill>
                      <a:schemeClr val="tx1"/>
                    </a:solidFill>
                  </a:rPr>
                  <a:t>조회 결과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635754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74096-155F-4528-3477-CF54CCCB6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88633F-7F4F-3A1C-01D1-D0EBC56FC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SELECT</a:t>
            </a:r>
            <a:r>
              <a:rPr lang="ko-KR" altLang="en-US" dirty="0"/>
              <a:t> 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BD79F4-BB58-F794-F842-0B5681D0A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1145406"/>
          </a:xfrm>
        </p:spPr>
        <p:txBody>
          <a:bodyPr/>
          <a:lstStyle/>
          <a:p>
            <a:pPr marL="0" indent="0">
              <a:buNone/>
            </a:pPr>
            <a:r>
              <a:rPr lang="ko-KR" altLang="en-US" sz="2800" dirty="0"/>
              <a:t>✅</a:t>
            </a:r>
            <a:r>
              <a:rPr lang="ko-KR" altLang="en-US" b="1" dirty="0">
                <a:solidFill>
                  <a:srgbClr val="00B0F0"/>
                </a:solidFill>
              </a:rPr>
              <a:t> </a:t>
            </a:r>
            <a:r>
              <a:rPr lang="ko-KR" altLang="en-US" dirty="0"/>
              <a:t>전체 컬럼 조회</a:t>
            </a:r>
            <a:r>
              <a:rPr lang="en-US" altLang="ko-KR" dirty="0"/>
              <a:t>: *</a:t>
            </a:r>
          </a:p>
          <a:p>
            <a:pPr lvl="1"/>
            <a:r>
              <a:rPr lang="ko-KR" altLang="en-US" dirty="0"/>
              <a:t>*는 </a:t>
            </a:r>
            <a:r>
              <a:rPr lang="en-US" altLang="ko-KR" dirty="0"/>
              <a:t>"</a:t>
            </a:r>
            <a:r>
              <a:rPr lang="ko-KR" altLang="en-US" dirty="0"/>
              <a:t>모든 컬럼</a:t>
            </a:r>
            <a:r>
              <a:rPr lang="en-US" altLang="ko-KR" dirty="0"/>
              <a:t>"</a:t>
            </a:r>
            <a:r>
              <a:rPr lang="ko-KR" altLang="en-US" dirty="0"/>
              <a:t>을 의미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C238EE4-36F5-4F52-D6B4-610E989716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449" b="24334"/>
          <a:stretch/>
        </p:blipFill>
        <p:spPr>
          <a:xfrm>
            <a:off x="1999281" y="2801888"/>
            <a:ext cx="8193437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3438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SELECT</a:t>
            </a:r>
            <a:r>
              <a:rPr lang="ko-KR" altLang="en-US" dirty="0"/>
              <a:t> 문 구성 요소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C8F3B9-5065-EF14-A38A-34708DA941B8}"/>
              </a:ext>
            </a:extLst>
          </p:cNvPr>
          <p:cNvSpPr txBox="1"/>
          <p:nvPr/>
        </p:nvSpPr>
        <p:spPr>
          <a:xfrm>
            <a:off x="3915717" y="5388502"/>
            <a:ext cx="43605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⚠️</a:t>
            </a:r>
            <a:r>
              <a:rPr lang="ko-KR" altLang="en-US" sz="2400" dirty="0"/>
              <a:t> 반드시 순서대로 작성해야 함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8CF32646-43C1-8232-A1BB-284B772546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535" b="7996"/>
          <a:stretch/>
        </p:blipFill>
        <p:spPr>
          <a:xfrm>
            <a:off x="3885398" y="1435260"/>
            <a:ext cx="4382704" cy="3819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5274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SQL Alias(</a:t>
            </a:r>
            <a:r>
              <a:rPr lang="ko-KR" altLang="en-US" dirty="0"/>
              <a:t>별칭</a:t>
            </a:r>
            <a:r>
              <a:rPr lang="en-US" altLang="ko-KR" dirty="0"/>
              <a:t>) </a:t>
            </a:r>
            <a:r>
              <a:rPr lang="ko-KR" altLang="en-US" dirty="0"/>
              <a:t>문법 정리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2900" y="1799378"/>
            <a:ext cx="3524250" cy="188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9547" y="1789853"/>
            <a:ext cx="3505200" cy="189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8302" y="4744393"/>
            <a:ext cx="5010150" cy="1304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E9BD79F4-BB58-F794-F842-0B5681D0A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2986" y="1217792"/>
            <a:ext cx="2931250" cy="671818"/>
          </a:xfrm>
        </p:spPr>
        <p:txBody>
          <a:bodyPr/>
          <a:lstStyle/>
          <a:p>
            <a:pPr marL="0" indent="0">
              <a:buNone/>
            </a:pPr>
            <a:r>
              <a:rPr lang="ko-KR" altLang="en-US" sz="2800" dirty="0"/>
              <a:t>✅</a:t>
            </a:r>
            <a:r>
              <a:rPr lang="ko-KR" altLang="en-US" b="1" dirty="0">
                <a:solidFill>
                  <a:srgbClr val="00B0F0"/>
                </a:solidFill>
              </a:rPr>
              <a:t> </a:t>
            </a:r>
            <a:r>
              <a:rPr lang="ko-KR" altLang="en-US" dirty="0"/>
              <a:t>별칭 기본 문법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E9BD79F4-BB58-F794-F842-0B5681D0AD80}"/>
              </a:ext>
            </a:extLst>
          </p:cNvPr>
          <p:cNvSpPr txBox="1">
            <a:spLocks/>
          </p:cNvSpPr>
          <p:nvPr/>
        </p:nvSpPr>
        <p:spPr>
          <a:xfrm>
            <a:off x="2442900" y="4165176"/>
            <a:ext cx="2931250" cy="671818"/>
          </a:xfrm>
          <a:prstGeom prst="rect">
            <a:avLst/>
          </a:prstGeom>
        </p:spPr>
        <p:txBody>
          <a:bodyPr vert="horz" lIns="90000" tIns="45720" rIns="9000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ko-KR" altLang="en-US" dirty="0"/>
              <a:t>✅ </a:t>
            </a:r>
            <a:r>
              <a:rPr lang="en-US" altLang="ko-KR" dirty="0"/>
              <a:t>AS </a:t>
            </a:r>
            <a:r>
              <a:rPr lang="ko-KR" altLang="en-US" dirty="0"/>
              <a:t>생략 가능</a:t>
            </a:r>
          </a:p>
        </p:txBody>
      </p:sp>
    </p:spTree>
    <p:extLst>
      <p:ext uri="{BB962C8B-B14F-4D97-AF65-F5344CB8AC3E}">
        <p14:creationId xmlns:p14="http://schemas.microsoft.com/office/powerpoint/2010/main" val="41490530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F732D-8B2E-1439-F3F6-A11FA383C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5AECDE-E648-7B5F-0C60-F9F477BE0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SELECT</a:t>
            </a:r>
            <a:r>
              <a:rPr lang="ko-KR" altLang="en-US" dirty="0"/>
              <a:t> 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15D445-FF2A-9E97-6C9D-CB937C143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1145406"/>
          </a:xfrm>
        </p:spPr>
        <p:txBody>
          <a:bodyPr/>
          <a:lstStyle/>
          <a:p>
            <a:pPr marL="0" indent="0">
              <a:buNone/>
            </a:pPr>
            <a:r>
              <a:rPr lang="ko-KR" altLang="en-US" sz="2800" dirty="0"/>
              <a:t>✅</a:t>
            </a:r>
            <a:r>
              <a:rPr lang="ko-KR" altLang="en-US" b="1" dirty="0">
                <a:solidFill>
                  <a:srgbClr val="00B0F0"/>
                </a:solidFill>
              </a:rPr>
              <a:t> </a:t>
            </a:r>
            <a:r>
              <a:rPr lang="ko-KR" altLang="en-US" dirty="0"/>
              <a:t>조건 지정</a:t>
            </a:r>
            <a:r>
              <a:rPr lang="en-US" altLang="ko-KR" dirty="0"/>
              <a:t>: WHERE</a:t>
            </a:r>
          </a:p>
          <a:p>
            <a:pPr lvl="1"/>
            <a:r>
              <a:rPr lang="ko-KR" altLang="en-US" dirty="0"/>
              <a:t>조건을 지정하여 원하는 행만 조회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FD958A9-E9C8-1AAE-6C25-51D29AE2E3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795" b="19658"/>
          <a:stretch/>
        </p:blipFill>
        <p:spPr>
          <a:xfrm>
            <a:off x="851371" y="2651226"/>
            <a:ext cx="10502054" cy="191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0450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BA7870-1466-C48A-6A0C-3C4F8EFCD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SELECT </a:t>
            </a:r>
            <a:r>
              <a:rPr lang="ko-KR" altLang="en-US" dirty="0"/>
              <a:t>내부적 실행 순서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C10C53-13B9-8F49-5F80-4689F080D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62044"/>
            <a:ext cx="11701221" cy="604817"/>
          </a:xfrm>
        </p:spPr>
        <p:txBody>
          <a:bodyPr/>
          <a:lstStyle/>
          <a:p>
            <a:pPr marL="0" indent="0">
              <a:buNone/>
            </a:pPr>
            <a:r>
              <a:rPr lang="ko-KR" altLang="en-US" sz="2800" dirty="0"/>
              <a:t>✔️ </a:t>
            </a:r>
            <a:r>
              <a:rPr lang="en-US" altLang="ko-KR" sz="2800" dirty="0"/>
              <a:t>ex: </a:t>
            </a:r>
            <a:r>
              <a:rPr lang="ko-KR" altLang="en-US" dirty="0" err="1"/>
              <a:t>홍지수</a:t>
            </a:r>
            <a:r>
              <a:rPr lang="ko-KR" altLang="en-US" dirty="0"/>
              <a:t> 고객의 주소를 </a:t>
            </a:r>
            <a:r>
              <a:rPr lang="ko-KR" altLang="en-US" dirty="0" err="1"/>
              <a:t>찾으시오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32E980D7-80AA-6721-5B65-3CB6CFFBC227}"/>
              </a:ext>
            </a:extLst>
          </p:cNvPr>
          <p:cNvGrpSpPr/>
          <p:nvPr/>
        </p:nvGrpSpPr>
        <p:grpSpPr>
          <a:xfrm>
            <a:off x="1393840" y="3186584"/>
            <a:ext cx="4087228" cy="2027115"/>
            <a:chOff x="1045882" y="3561750"/>
            <a:chExt cx="4087228" cy="2027115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F694E419-4AAD-6CAC-D9FE-AED2113BD27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8877"/>
            <a:stretch/>
          </p:blipFill>
          <p:spPr>
            <a:xfrm>
              <a:off x="1142135" y="3931082"/>
              <a:ext cx="3990975" cy="1657783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EB96908-814F-12D9-5189-D6F30A865086}"/>
                </a:ext>
              </a:extLst>
            </p:cNvPr>
            <p:cNvSpPr txBox="1"/>
            <p:nvPr/>
          </p:nvSpPr>
          <p:spPr>
            <a:xfrm>
              <a:off x="1045882" y="3561750"/>
              <a:ext cx="23419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/>
                <a:t>(1) FROM customer</a:t>
              </a:r>
              <a:endParaRPr lang="ko-KR" altLang="en-US" b="1" dirty="0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F6ECADDF-1265-A18E-7881-DBD227275BE6}"/>
              </a:ext>
            </a:extLst>
          </p:cNvPr>
          <p:cNvGrpSpPr/>
          <p:nvPr/>
        </p:nvGrpSpPr>
        <p:grpSpPr>
          <a:xfrm>
            <a:off x="6580751" y="3186584"/>
            <a:ext cx="3902064" cy="750332"/>
            <a:chOff x="5994411" y="3377084"/>
            <a:chExt cx="3902064" cy="750332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5D16B8B5-D8AA-78EE-DA16-0178066F2F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0" y="3746416"/>
              <a:ext cx="3800475" cy="3810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9ABC898-2001-5D90-F9A4-EF1682314852}"/>
                </a:ext>
              </a:extLst>
            </p:cNvPr>
            <p:cNvSpPr txBox="1"/>
            <p:nvPr/>
          </p:nvSpPr>
          <p:spPr>
            <a:xfrm>
              <a:off x="5994411" y="3377084"/>
              <a:ext cx="35012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/>
                <a:t>(2) WHERE </a:t>
              </a:r>
              <a:r>
                <a:rPr lang="en-US" altLang="ko-KR" b="1" dirty="0" err="1"/>
                <a:t>custname</a:t>
              </a:r>
              <a:r>
                <a:rPr lang="en-US" altLang="ko-KR" b="1" dirty="0"/>
                <a:t>=‘</a:t>
              </a:r>
              <a:r>
                <a:rPr lang="ko-KR" altLang="en-US" b="1" dirty="0" err="1"/>
                <a:t>홍지수</a:t>
              </a:r>
              <a:r>
                <a:rPr lang="en-US" altLang="ko-KR" b="1" dirty="0"/>
                <a:t>’</a:t>
              </a:r>
              <a:endParaRPr lang="ko-KR" altLang="en-US" b="1" dirty="0"/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AB8CE018-BD30-3040-1F92-93D9838EEC38}"/>
              </a:ext>
            </a:extLst>
          </p:cNvPr>
          <p:cNvGrpSpPr/>
          <p:nvPr/>
        </p:nvGrpSpPr>
        <p:grpSpPr>
          <a:xfrm>
            <a:off x="6580751" y="4941127"/>
            <a:ext cx="1933543" cy="754829"/>
            <a:chOff x="6198766" y="4834036"/>
            <a:chExt cx="1933543" cy="754829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ACEDA8F-B3FA-1D1A-A773-D4C0CF8D3A4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00355" y="5179290"/>
              <a:ext cx="1295400" cy="409575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77DE153-DEBC-0B87-B71B-CE4CE3C5B08B}"/>
                </a:ext>
              </a:extLst>
            </p:cNvPr>
            <p:cNvSpPr txBox="1"/>
            <p:nvPr/>
          </p:nvSpPr>
          <p:spPr>
            <a:xfrm>
              <a:off x="6198766" y="4834036"/>
              <a:ext cx="19335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/>
                <a:t>(3) SELECT </a:t>
              </a:r>
              <a:r>
                <a:rPr lang="en-US" altLang="ko-KR" b="1" dirty="0" err="1"/>
                <a:t>addr</a:t>
              </a:r>
              <a:endParaRPr lang="ko-KR" altLang="en-US" b="1" dirty="0"/>
            </a:p>
          </p:txBody>
        </p:sp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E5588B59-6634-1A78-BEC9-F2DEA1B709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0093" y="2215542"/>
            <a:ext cx="9211813" cy="604816"/>
          </a:xfrm>
          <a:prstGeom prst="rect">
            <a:avLst/>
          </a:prstGeom>
        </p:spPr>
      </p:pic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6301DD3C-1F59-8BA5-5601-139E40E7159F}"/>
              </a:ext>
            </a:extLst>
          </p:cNvPr>
          <p:cNvSpPr/>
          <p:nvPr/>
        </p:nvSpPr>
        <p:spPr>
          <a:xfrm>
            <a:off x="5841632" y="3542061"/>
            <a:ext cx="480143" cy="394855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3E870624-1366-DB4F-09D8-E498EEF8FCC3}"/>
              </a:ext>
            </a:extLst>
          </p:cNvPr>
          <p:cNvSpPr/>
          <p:nvPr/>
        </p:nvSpPr>
        <p:spPr>
          <a:xfrm rot="5400000">
            <a:off x="8192906" y="4241594"/>
            <a:ext cx="480143" cy="394855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9660927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ACED2-2D8F-717C-9238-E7A44BFEC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06E1CE-AE34-B7C3-EBDB-A99E441FE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WHERE </a:t>
            </a:r>
            <a:r>
              <a:rPr lang="ko-KR" altLang="en-US" dirty="0"/>
              <a:t>절</a:t>
            </a:r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5D20BE50-2E50-5F85-989C-ADCFD5E47659}"/>
              </a:ext>
            </a:extLst>
          </p:cNvPr>
          <p:cNvSpPr txBox="1">
            <a:spLocks/>
          </p:cNvSpPr>
          <p:nvPr/>
        </p:nvSpPr>
        <p:spPr>
          <a:xfrm>
            <a:off x="245389" y="1145408"/>
            <a:ext cx="11701221" cy="154004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조건을 지정하여</a:t>
            </a:r>
            <a:r>
              <a:rPr lang="en-US" altLang="ko-KR" dirty="0"/>
              <a:t>, </a:t>
            </a:r>
            <a:r>
              <a:rPr lang="ko-KR" altLang="en-US" dirty="0"/>
              <a:t>명령어가 어떤 행에만 적용될지 결정함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/>
              <a:t>📌 </a:t>
            </a:r>
            <a:r>
              <a:rPr lang="en-US" altLang="ko-KR" sz="2800" dirty="0"/>
              <a:t>WHERE</a:t>
            </a:r>
            <a:r>
              <a:rPr lang="ko-KR" altLang="en-US" sz="2800" dirty="0"/>
              <a:t>절의 활용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54E309C-4AF4-A412-8BF1-E5AC873670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1683123"/>
              </p:ext>
            </p:extLst>
          </p:nvPr>
        </p:nvGraphicFramePr>
        <p:xfrm>
          <a:off x="477118" y="2801879"/>
          <a:ext cx="11237764" cy="2795212"/>
        </p:xfrm>
        <a:graphic>
          <a:graphicData uri="http://schemas.openxmlformats.org/drawingml/2006/table">
            <a:tbl>
              <a:tblPr/>
              <a:tblGrid>
                <a:gridCol w="2862449">
                  <a:extLst>
                    <a:ext uri="{9D8B030D-6E8A-4147-A177-3AD203B41FA5}">
                      <a16:colId xmlns:a16="http://schemas.microsoft.com/office/drawing/2014/main" val="3682126691"/>
                    </a:ext>
                  </a:extLst>
                </a:gridCol>
                <a:gridCol w="8375315">
                  <a:extLst>
                    <a:ext uri="{9D8B030D-6E8A-4147-A177-3AD203B41FA5}">
                      <a16:colId xmlns:a16="http://schemas.microsoft.com/office/drawing/2014/main" val="2959361536"/>
                    </a:ext>
                  </a:extLst>
                </a:gridCol>
              </a:tblGrid>
              <a:tr h="6988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SQL </a:t>
                      </a: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구문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사용 예시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067904"/>
                  </a:ext>
                </a:extLst>
              </a:tr>
              <a:tr h="6988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SELECT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원하는 조건의 데이터만 조회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9936931"/>
                  </a:ext>
                </a:extLst>
              </a:tr>
              <a:tr h="6988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UPDATE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조건에 맞는 행만 수정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875530"/>
                  </a:ext>
                </a:extLst>
              </a:tr>
              <a:tr h="6988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DELETE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조건에 맞는 행만 삭제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573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48279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2FCDF-D068-0529-6C95-0CE9DB59F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64117A-B0D6-438B-37F6-2A8BBD23C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 연산자 </a:t>
            </a:r>
            <a:r>
              <a:rPr lang="en-US" altLang="ko-KR" dirty="0"/>
              <a:t>– </a:t>
            </a:r>
            <a:r>
              <a:rPr lang="ko-KR" altLang="en-US" dirty="0"/>
              <a:t>비교 연산자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71DE367-E549-85F8-A542-AFF6FAFB95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654592"/>
              </p:ext>
            </p:extLst>
          </p:nvPr>
        </p:nvGraphicFramePr>
        <p:xfrm>
          <a:off x="395271" y="1715226"/>
          <a:ext cx="11401458" cy="4136930"/>
        </p:xfrm>
        <a:graphic>
          <a:graphicData uri="http://schemas.openxmlformats.org/drawingml/2006/table">
            <a:tbl>
              <a:tblPr/>
              <a:tblGrid>
                <a:gridCol w="2553222">
                  <a:extLst>
                    <a:ext uri="{9D8B030D-6E8A-4147-A177-3AD203B41FA5}">
                      <a16:colId xmlns:a16="http://schemas.microsoft.com/office/drawing/2014/main" val="322796792"/>
                    </a:ext>
                  </a:extLst>
                </a:gridCol>
                <a:gridCol w="2421159">
                  <a:extLst>
                    <a:ext uri="{9D8B030D-6E8A-4147-A177-3AD203B41FA5}">
                      <a16:colId xmlns:a16="http://schemas.microsoft.com/office/drawing/2014/main" val="3913881573"/>
                    </a:ext>
                  </a:extLst>
                </a:gridCol>
                <a:gridCol w="6427077">
                  <a:extLst>
                    <a:ext uri="{9D8B030D-6E8A-4147-A177-3AD203B41FA5}">
                      <a16:colId xmlns:a16="http://schemas.microsoft.com/office/drawing/2014/main" val="3543817611"/>
                    </a:ext>
                  </a:extLst>
                </a:gridCol>
              </a:tblGrid>
              <a:tr h="59099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연산자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의미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533100"/>
                  </a:ext>
                </a:extLst>
              </a:tr>
              <a:tr h="59099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=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같다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WHERE name = '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홍길동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'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581093"/>
                  </a:ext>
                </a:extLst>
              </a:tr>
              <a:tr h="59099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!=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또는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&lt;&gt;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같지 않다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WHERE major != '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컴퓨터공학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'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601312"/>
                  </a:ext>
                </a:extLst>
              </a:tr>
              <a:tr h="59099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&gt;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초과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WHERE age &gt; 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118384"/>
                  </a:ext>
                </a:extLst>
              </a:tr>
              <a:tr h="59099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&lt;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미만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WHERE age &lt; 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2804588"/>
                  </a:ext>
                </a:extLst>
              </a:tr>
              <a:tr h="59099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&gt;=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WHERE age &gt;= 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695492"/>
                  </a:ext>
                </a:extLst>
              </a:tr>
              <a:tr h="59099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&lt;=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WHERE age &lt;= 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824209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F86FBE9-5D10-41FB-06A3-FA080CA92B17}"/>
              </a:ext>
            </a:extLst>
          </p:cNvPr>
          <p:cNvSpPr txBox="1"/>
          <p:nvPr/>
        </p:nvSpPr>
        <p:spPr>
          <a:xfrm>
            <a:off x="251788" y="1145407"/>
            <a:ext cx="61168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✅비교 연산자</a:t>
            </a:r>
          </a:p>
        </p:txBody>
      </p:sp>
    </p:spTree>
    <p:extLst>
      <p:ext uri="{BB962C8B-B14F-4D97-AF65-F5344CB8AC3E}">
        <p14:creationId xmlns:p14="http://schemas.microsoft.com/office/powerpoint/2010/main" val="23909409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59964-3B7C-D1D1-60CB-0E883D610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12D5CD-69E7-D67D-5620-E0EE3F9B5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 연산자 </a:t>
            </a:r>
            <a:r>
              <a:rPr lang="en-US" altLang="ko-KR" dirty="0"/>
              <a:t>- </a:t>
            </a:r>
            <a:r>
              <a:rPr lang="ko-KR" altLang="en-US" dirty="0"/>
              <a:t>논리 연산자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7E680F-E541-535E-F15A-6D4CF8C7755C}"/>
              </a:ext>
            </a:extLst>
          </p:cNvPr>
          <p:cNvSpPr txBox="1"/>
          <p:nvPr/>
        </p:nvSpPr>
        <p:spPr>
          <a:xfrm>
            <a:off x="251788" y="1145407"/>
            <a:ext cx="61168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✅논리 연산자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422D6AD-0CCE-A536-ECC5-8AEB5EC6CA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466277"/>
              </p:ext>
            </p:extLst>
          </p:nvPr>
        </p:nvGraphicFramePr>
        <p:xfrm>
          <a:off x="462480" y="1703325"/>
          <a:ext cx="11267039" cy="3118932"/>
        </p:xfrm>
        <a:graphic>
          <a:graphicData uri="http://schemas.openxmlformats.org/drawingml/2006/table">
            <a:tbl>
              <a:tblPr/>
              <a:tblGrid>
                <a:gridCol w="1867109">
                  <a:extLst>
                    <a:ext uri="{9D8B030D-6E8A-4147-A177-3AD203B41FA5}">
                      <a16:colId xmlns:a16="http://schemas.microsoft.com/office/drawing/2014/main" val="1421802776"/>
                    </a:ext>
                  </a:extLst>
                </a:gridCol>
                <a:gridCol w="2543132">
                  <a:extLst>
                    <a:ext uri="{9D8B030D-6E8A-4147-A177-3AD203B41FA5}">
                      <a16:colId xmlns:a16="http://schemas.microsoft.com/office/drawing/2014/main" val="872528523"/>
                    </a:ext>
                  </a:extLst>
                </a:gridCol>
                <a:gridCol w="6856798">
                  <a:extLst>
                    <a:ext uri="{9D8B030D-6E8A-4147-A177-3AD203B41FA5}">
                      <a16:colId xmlns:a16="http://schemas.microsoft.com/office/drawing/2014/main" val="1103646800"/>
                    </a:ext>
                  </a:extLst>
                </a:gridCol>
              </a:tblGrid>
              <a:tr h="77973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연산자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의미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605531"/>
                  </a:ext>
                </a:extLst>
              </a:tr>
              <a:tr h="77973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AND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모두 만족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WHERE age &gt; 20 AND major = '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컴퓨터공학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'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5029184"/>
                  </a:ext>
                </a:extLst>
              </a:tr>
              <a:tr h="77973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OR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하나라도 만족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WHERE age &lt; 20 OR major = '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수학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'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720978"/>
                  </a:ext>
                </a:extLst>
              </a:tr>
              <a:tr h="77973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NOT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조건 부정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WHERE NOT major = '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심리학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'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29894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72106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1AA67-AB13-5D7F-B9D5-C1D233F54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5CAF06-E88E-4BD4-B903-6FC452ED4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 연산자 </a:t>
            </a:r>
            <a:r>
              <a:rPr lang="en-US" altLang="ko-KR" dirty="0"/>
              <a:t>- </a:t>
            </a:r>
            <a:r>
              <a:rPr lang="ko-KR" altLang="en-US" dirty="0"/>
              <a:t>범위</a:t>
            </a:r>
            <a:r>
              <a:rPr lang="en-US" altLang="ko-KR" dirty="0"/>
              <a:t>, </a:t>
            </a:r>
            <a:r>
              <a:rPr lang="ko-KR" altLang="en-US" dirty="0"/>
              <a:t>집합</a:t>
            </a:r>
            <a:r>
              <a:rPr lang="en-US" altLang="ko-KR" dirty="0"/>
              <a:t>, </a:t>
            </a:r>
            <a:r>
              <a:rPr lang="ko-KR" altLang="en-US" dirty="0"/>
              <a:t>패턴</a:t>
            </a:r>
            <a:r>
              <a:rPr lang="en-US" altLang="ko-KR" dirty="0"/>
              <a:t>, NULL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88F1CA-64CA-A809-DA7C-BE5442C8D82A}"/>
              </a:ext>
            </a:extLst>
          </p:cNvPr>
          <p:cNvSpPr txBox="1"/>
          <p:nvPr/>
        </p:nvSpPr>
        <p:spPr>
          <a:xfrm>
            <a:off x="251788" y="1145407"/>
            <a:ext cx="61168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✅ 범위</a:t>
            </a:r>
            <a:r>
              <a:rPr lang="en-US" altLang="ko-KR" sz="2400" dirty="0"/>
              <a:t>, </a:t>
            </a:r>
            <a:r>
              <a:rPr lang="ko-KR" altLang="en-US" sz="2400" dirty="0"/>
              <a:t>집합</a:t>
            </a:r>
            <a:r>
              <a:rPr lang="en-US" altLang="ko-KR" sz="2400" dirty="0"/>
              <a:t>, </a:t>
            </a:r>
            <a:r>
              <a:rPr lang="ko-KR" altLang="en-US" sz="2400" dirty="0"/>
              <a:t>패턴</a:t>
            </a:r>
            <a:r>
              <a:rPr lang="en-US" altLang="ko-KR" sz="2400" dirty="0"/>
              <a:t>, NULL</a:t>
            </a:r>
            <a:endParaRPr lang="ko-KR" altLang="en-US" sz="24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F025C22-9167-B5B7-BCA0-410A92BD90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504170"/>
              </p:ext>
            </p:extLst>
          </p:nvPr>
        </p:nvGraphicFramePr>
        <p:xfrm>
          <a:off x="421907" y="1751062"/>
          <a:ext cx="11378664" cy="3783465"/>
        </p:xfrm>
        <a:graphic>
          <a:graphicData uri="http://schemas.openxmlformats.org/drawingml/2006/table">
            <a:tbl>
              <a:tblPr/>
              <a:tblGrid>
                <a:gridCol w="1464645">
                  <a:extLst>
                    <a:ext uri="{9D8B030D-6E8A-4147-A177-3AD203B41FA5}">
                      <a16:colId xmlns:a16="http://schemas.microsoft.com/office/drawing/2014/main" val="745649213"/>
                    </a:ext>
                  </a:extLst>
                </a:gridCol>
                <a:gridCol w="5714750">
                  <a:extLst>
                    <a:ext uri="{9D8B030D-6E8A-4147-A177-3AD203B41FA5}">
                      <a16:colId xmlns:a16="http://schemas.microsoft.com/office/drawing/2014/main" val="2915327497"/>
                    </a:ext>
                  </a:extLst>
                </a:gridCol>
                <a:gridCol w="4199269">
                  <a:extLst>
                    <a:ext uri="{9D8B030D-6E8A-4147-A177-3AD203B41FA5}">
                      <a16:colId xmlns:a16="http://schemas.microsoft.com/office/drawing/2014/main" val="1669561457"/>
                    </a:ext>
                  </a:extLst>
                </a:gridCol>
              </a:tblGrid>
              <a:tr h="75669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구문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의미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746219"/>
                  </a:ext>
                </a:extLst>
              </a:tr>
              <a:tr h="7566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BETWEEN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와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b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사이의 값 사이에 있으면 참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altLang="ko-K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a,b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값도 포함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WHERE age BETWEEN 20 AND 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815344"/>
                  </a:ext>
                </a:extLst>
              </a:tr>
              <a:tr h="7566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IN (list)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리스트의 </a:t>
                      </a:r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값중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어느 하나라도 일치하면 참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(or)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WHERE major IN ('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컴퓨터공학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', '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수학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')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31434"/>
                  </a:ext>
                </a:extLst>
              </a:tr>
              <a:tr h="7566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LIKE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비교 문자열과 형태가 일치하면 사용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(%, _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사용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WHERE name LIKE '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김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%'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2934754"/>
                  </a:ext>
                </a:extLst>
              </a:tr>
              <a:tr h="7566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IS NULL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NULL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값인 경우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true,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아니면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false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WHERE major IS NULL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4068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41029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355E0-A4E7-6B84-D284-1627E1693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7F886A-4E07-D77C-F8B3-B5CA176BC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LIKE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CB589C-685F-B013-215F-1E9D453E0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5390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dirty="0"/>
              <a:t>💡 패턴 검색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E933258-A01F-A448-7F1F-61231983D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139" y="2235200"/>
            <a:ext cx="10077722" cy="238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7307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8B3A5-12D6-388D-85DA-CC6C97F2F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322191-0C47-C108-0A35-9162436EA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와일드 문자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66CB79-A8BB-0CEB-C8A4-BCC71AA24C65}"/>
              </a:ext>
            </a:extLst>
          </p:cNvPr>
          <p:cNvSpPr txBox="1"/>
          <p:nvPr/>
        </p:nvSpPr>
        <p:spPr>
          <a:xfrm>
            <a:off x="251788" y="1145407"/>
            <a:ext cx="61168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✅와일드 문자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CA5A416-6E48-6B80-199E-D2239F0290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659812"/>
              </p:ext>
            </p:extLst>
          </p:nvPr>
        </p:nvGraphicFramePr>
        <p:xfrm>
          <a:off x="454988" y="1800518"/>
          <a:ext cx="11278208" cy="2453847"/>
        </p:xfrm>
        <a:graphic>
          <a:graphicData uri="http://schemas.openxmlformats.org/drawingml/2006/table">
            <a:tbl>
              <a:tblPr/>
              <a:tblGrid>
                <a:gridCol w="1898593">
                  <a:extLst>
                    <a:ext uri="{9D8B030D-6E8A-4147-A177-3AD203B41FA5}">
                      <a16:colId xmlns:a16="http://schemas.microsoft.com/office/drawing/2014/main" val="2386756938"/>
                    </a:ext>
                  </a:extLst>
                </a:gridCol>
                <a:gridCol w="3995546">
                  <a:extLst>
                    <a:ext uri="{9D8B030D-6E8A-4147-A177-3AD203B41FA5}">
                      <a16:colId xmlns:a16="http://schemas.microsoft.com/office/drawing/2014/main" val="1348880482"/>
                    </a:ext>
                  </a:extLst>
                </a:gridCol>
                <a:gridCol w="5384069">
                  <a:extLst>
                    <a:ext uri="{9D8B030D-6E8A-4147-A177-3AD203B41FA5}">
                      <a16:colId xmlns:a16="http://schemas.microsoft.com/office/drawing/2014/main" val="1621071534"/>
                    </a:ext>
                  </a:extLst>
                </a:gridCol>
              </a:tblGrid>
              <a:tr h="81794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와일드 문자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의미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0863575"/>
                  </a:ext>
                </a:extLst>
              </a:tr>
              <a:tr h="8179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0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개 이상의 문자열과 일치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‘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%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서울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%’: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서울을 포함하는 문자열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6605258"/>
                  </a:ext>
                </a:extLst>
              </a:tr>
              <a:tr h="8179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_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특정 위치의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개의 문자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‘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_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민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%’: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두번째 글자가 ‘</a:t>
                      </a:r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민’인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문자열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1314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07058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03FE6C-1AB9-17B2-6C8B-A714E919B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ORDER BY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CCD26B-327E-FF5F-C350-D61FD691E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344525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💡결과 데이터를 정렬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b="1" dirty="0">
                <a:solidFill>
                  <a:srgbClr val="00B050"/>
                </a:solidFill>
              </a:rPr>
              <a:t>ASC</a:t>
            </a:r>
            <a:r>
              <a:rPr lang="en-US" altLang="ko-KR" dirty="0"/>
              <a:t>: Ascending,</a:t>
            </a:r>
            <a:r>
              <a:rPr lang="ko-KR" altLang="en-US" dirty="0"/>
              <a:t> </a:t>
            </a:r>
            <a:r>
              <a:rPr lang="ko-KR" altLang="en-US" b="1" dirty="0"/>
              <a:t>오름차순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기본값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b="1" dirty="0">
                <a:solidFill>
                  <a:srgbClr val="00B050"/>
                </a:solidFill>
              </a:rPr>
              <a:t>DESC</a:t>
            </a:r>
            <a:r>
              <a:rPr lang="en-US" altLang="ko-KR" dirty="0"/>
              <a:t>: Descending, </a:t>
            </a:r>
            <a:r>
              <a:rPr lang="ko-KR" altLang="en-US" b="1" dirty="0"/>
              <a:t>내림차순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/>
              <a:t>📌</a:t>
            </a:r>
            <a:r>
              <a:rPr lang="en-US" altLang="ko-KR" dirty="0"/>
              <a:t>where </a:t>
            </a:r>
            <a:r>
              <a:rPr lang="ko-KR" altLang="en-US" dirty="0"/>
              <a:t>절과 함께 사용 가능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단</a:t>
            </a:r>
            <a:r>
              <a:rPr lang="en-US" altLang="ko-KR" dirty="0"/>
              <a:t>, where </a:t>
            </a:r>
            <a:r>
              <a:rPr lang="ko-KR" altLang="en-US" dirty="0"/>
              <a:t>절 뒤에 나와야 함</a:t>
            </a:r>
            <a:endParaRPr lang="ko-KR" altLang="en-US" sz="26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115" y="1864232"/>
            <a:ext cx="4378788" cy="200760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4B2C05D-9594-E6C6-6084-45EA3696AB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097" y="4590661"/>
            <a:ext cx="11203806" cy="149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2532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03FE6C-1AB9-17B2-6C8B-A714E919B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LIMIT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CCD26B-327E-FF5F-C350-D61FD691E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5390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dirty="0"/>
              <a:t>💡출력 개수 제한</a:t>
            </a: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5929" y="1756689"/>
            <a:ext cx="5220142" cy="241758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EA1A56F-CC89-3F65-D266-557004FBB4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7184"/>
          <a:stretch/>
        </p:blipFill>
        <p:spPr>
          <a:xfrm>
            <a:off x="3485929" y="4331465"/>
            <a:ext cx="5220142" cy="1654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7253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AF8DD-BDF9-6393-3985-272E3CB00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CFE491-860B-3267-CDB1-0EE35C97D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LIMIT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FA2830-57E7-6863-41E5-1903B10D5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5390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800" dirty="0"/>
              <a:t>✅</a:t>
            </a:r>
            <a:r>
              <a:rPr lang="en-US" altLang="ko-KR" dirty="0"/>
              <a:t>OFFSET</a:t>
            </a:r>
            <a:r>
              <a:rPr lang="ko-KR" altLang="en-US" dirty="0"/>
              <a:t>과 함께 사용</a:t>
            </a:r>
            <a:endParaRPr lang="en-US" altLang="ko-K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886730-6C1F-FA06-9711-AC57239700AE}"/>
              </a:ext>
            </a:extLst>
          </p:cNvPr>
          <p:cNvSpPr txBox="1"/>
          <p:nvPr/>
        </p:nvSpPr>
        <p:spPr>
          <a:xfrm>
            <a:off x="3554233" y="5712593"/>
            <a:ext cx="61129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번째 행부터 총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개 행을 조회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45B8DC3-983A-9869-BBC9-DDBF07FF3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835" y="1684422"/>
            <a:ext cx="5096329" cy="198239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5494FDC-17AD-FD44-5CAF-CC0E680F17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4233" y="3666814"/>
            <a:ext cx="5096329" cy="1999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8952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03FE6C-1AB9-17B2-6C8B-A714E919B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DISTINCT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CCD26B-327E-FF5F-C350-D61FD691E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6641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💡중복된 데이터 제거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209" y="2000520"/>
            <a:ext cx="5676378" cy="190887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60D846E-4CD8-B68B-C6B0-AAA3F047D6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783"/>
          <a:stretch/>
        </p:blipFill>
        <p:spPr>
          <a:xfrm>
            <a:off x="3217641" y="4100360"/>
            <a:ext cx="5722945" cy="1602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8695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5246892-B2F2-972B-A730-9E6176868F05}"/>
              </a:ext>
            </a:extLst>
          </p:cNvPr>
          <p:cNvSpPr txBox="1"/>
          <p:nvPr/>
        </p:nvSpPr>
        <p:spPr>
          <a:xfrm>
            <a:off x="428286" y="1000575"/>
            <a:ext cx="5667713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🔎</a:t>
            </a:r>
            <a:r>
              <a:rPr lang="en-US" altLang="ko-KR" sz="2400" dirty="0" err="1"/>
              <a:t>codingon_db</a:t>
            </a:r>
            <a:r>
              <a:rPr lang="ko-KR" altLang="en-US" sz="2400" dirty="0"/>
              <a:t>를 활용해서</a:t>
            </a:r>
            <a:endParaRPr lang="en-US" altLang="ko-KR" sz="2400" dirty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student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테이블에서 나이가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25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세 이상인 학생의 이름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(name)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과 성별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(gender)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조회하세요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student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테이블에서 수강생들이 속한 고유한 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ID(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class_id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목록을 중복 없이 조회하세요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student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테이블에서 성별이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남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 학생들의 이름과 나이를 나이 오름차순으로 조회하세요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6F5F7694-0541-BC47-C61B-96F244436D9B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2. SELECT </a:t>
            </a:r>
            <a:r>
              <a:rPr lang="ko-KR" altLang="en-US" dirty="0">
                <a:solidFill>
                  <a:srgbClr val="ED7D31"/>
                </a:solidFill>
              </a:rPr>
              <a:t>연습하기</a:t>
            </a:r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3914" y="1605305"/>
            <a:ext cx="1581150" cy="93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3914" y="2775585"/>
            <a:ext cx="1186365" cy="15300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3914" y="4588720"/>
            <a:ext cx="1447800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576651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5246892-B2F2-972B-A730-9E6176868F05}"/>
              </a:ext>
            </a:extLst>
          </p:cNvPr>
          <p:cNvSpPr txBox="1"/>
          <p:nvPr/>
        </p:nvSpPr>
        <p:spPr>
          <a:xfrm>
            <a:off x="428287" y="1000575"/>
            <a:ext cx="5667713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🔎</a:t>
            </a:r>
            <a:r>
              <a:rPr lang="en-US" altLang="ko-KR" sz="2400" dirty="0" err="1"/>
              <a:t>codingon_db</a:t>
            </a:r>
            <a:r>
              <a:rPr lang="ko-KR" altLang="en-US" sz="2400" dirty="0"/>
              <a:t>를 활용해서</a:t>
            </a:r>
            <a:endParaRPr lang="en-US" altLang="ko-KR" sz="24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student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테이블에서 이름이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‘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’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시작하는 수강생의 이름과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class_id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조회하세요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4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student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테이블에서 나이 정보를 입력하지 않은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(NULL)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수강생을 모두 조회하세요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4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student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테이블에서 수강일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join_date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2024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년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월부터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4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월 사이인 수강생을 조회하세요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6F5F7694-0541-BC47-C61B-96F244436D9B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2. SELECT </a:t>
            </a:r>
            <a:r>
              <a:rPr lang="ko-KR" altLang="en-US" dirty="0">
                <a:solidFill>
                  <a:srgbClr val="ED7D31"/>
                </a:solidFill>
              </a:rPr>
              <a:t>연습하기</a:t>
            </a:r>
          </a:p>
        </p:txBody>
      </p:sp>
      <p:pic>
        <p:nvPicPr>
          <p:cNvPr id="5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5353" y="1624113"/>
            <a:ext cx="1609725" cy="723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5413" y="2981325"/>
            <a:ext cx="4371975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4938" y="4392873"/>
            <a:ext cx="4362450" cy="1095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261033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5246892-B2F2-972B-A730-9E6176868F05}"/>
              </a:ext>
            </a:extLst>
          </p:cNvPr>
          <p:cNvSpPr txBox="1"/>
          <p:nvPr/>
        </p:nvSpPr>
        <p:spPr>
          <a:xfrm>
            <a:off x="428287" y="990298"/>
            <a:ext cx="566771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🔎</a:t>
            </a:r>
            <a:r>
              <a:rPr lang="en-US" altLang="ko-KR" sz="2400" dirty="0" err="1"/>
              <a:t>codingon_db</a:t>
            </a:r>
            <a:r>
              <a:rPr lang="ko-KR" altLang="en-US" sz="2400" dirty="0"/>
              <a:t>를 활용해서</a:t>
            </a:r>
            <a:endParaRPr lang="en-US" altLang="ko-KR" sz="24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 startAt="7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class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테이블에서 가장 최근에 개설된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개의 수업 정보를 조회하세요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7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 startAt="7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student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테이블에서 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ID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CLS01, CLS02, CLS03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중 하나이고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이름에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정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또는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‘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영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 포함된 수강생을 이름순으로 조회하세요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6F5F7694-0541-BC47-C61B-96F244436D9B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2. SELECT </a:t>
            </a:r>
            <a:r>
              <a:rPr lang="ko-KR" altLang="en-US" dirty="0">
                <a:solidFill>
                  <a:srgbClr val="ED7D31"/>
                </a:solidFill>
              </a:rPr>
              <a:t>연습하기</a:t>
            </a:r>
          </a:p>
        </p:txBody>
      </p:sp>
      <p:pic>
        <p:nvPicPr>
          <p:cNvPr id="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9260" y="1658174"/>
            <a:ext cx="4695825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9260" y="2962275"/>
            <a:ext cx="971550" cy="93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89010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F73B3-EC12-CAAC-2CBA-9C89D29B1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3F6274-43EE-C382-3856-C11B8513D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GROUP BY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0CFC6-0B88-B98F-3982-E7D59309D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7214224" cy="172262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💡같은 값을 가진 행끼리 하나의 그룹으로 묶어 줌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</a:t>
            </a:r>
            <a:r>
              <a:rPr lang="ko-KR" altLang="en-US" dirty="0"/>
              <a:t>→ 각 그룹에 대해 집계 함수를 적용하여 계산</a:t>
            </a:r>
            <a:endParaRPr lang="ko-KR" altLang="en-US" sz="26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FA3B6A0-B5F8-1236-031B-E24D0B783A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12" y="1273202"/>
            <a:ext cx="4069116" cy="2344296"/>
          </a:xfrm>
          <a:prstGeom prst="rect">
            <a:avLst/>
          </a:prstGeom>
        </p:spPr>
      </p:pic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D68024D1-53C0-C858-9E45-A3219FFC3E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1397821"/>
              </p:ext>
            </p:extLst>
          </p:nvPr>
        </p:nvGraphicFramePr>
        <p:xfrm>
          <a:off x="806884" y="3977137"/>
          <a:ext cx="10578232" cy="2322390"/>
        </p:xfrm>
        <a:graphic>
          <a:graphicData uri="http://schemas.openxmlformats.org/drawingml/2006/table">
            <a:tbl>
              <a:tblPr/>
              <a:tblGrid>
                <a:gridCol w="3550735">
                  <a:extLst>
                    <a:ext uri="{9D8B030D-6E8A-4147-A177-3AD203B41FA5}">
                      <a16:colId xmlns:a16="http://schemas.microsoft.com/office/drawing/2014/main" val="2456354094"/>
                    </a:ext>
                  </a:extLst>
                </a:gridCol>
                <a:gridCol w="7027497">
                  <a:extLst>
                    <a:ext uri="{9D8B030D-6E8A-4147-A177-3AD203B41FA5}">
                      <a16:colId xmlns:a16="http://schemas.microsoft.com/office/drawing/2014/main" val="1339535571"/>
                    </a:ext>
                  </a:extLst>
                </a:gridCol>
              </a:tblGrid>
              <a:tr h="38706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함수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0921363"/>
                  </a:ext>
                </a:extLst>
              </a:tr>
              <a:tr h="3870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COUNT()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행의 개수를 반환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8675752"/>
                  </a:ext>
                </a:extLst>
              </a:tr>
              <a:tr h="3870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SUM()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총합을 계산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8240239"/>
                  </a:ext>
                </a:extLst>
              </a:tr>
              <a:tr h="3870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AVG()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평균을 계산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482159"/>
                  </a:ext>
                </a:extLst>
              </a:tr>
              <a:tr h="3870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MAX()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최대값을 반환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1045558"/>
                  </a:ext>
                </a:extLst>
              </a:tr>
              <a:tr h="3870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MIN()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최소값을 반환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1249144"/>
                  </a:ext>
                </a:extLst>
              </a:tr>
            </a:tbl>
          </a:graphicData>
        </a:graphic>
      </p:graphicFrame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84220C0E-69F9-386A-FA17-557A3FD0AF32}"/>
              </a:ext>
            </a:extLst>
          </p:cNvPr>
          <p:cNvSpPr txBox="1">
            <a:spLocks/>
          </p:cNvSpPr>
          <p:nvPr/>
        </p:nvSpPr>
        <p:spPr>
          <a:xfrm>
            <a:off x="251788" y="3256844"/>
            <a:ext cx="11701221" cy="85664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📌집계 함수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801076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67B8B-6A18-480A-5A60-68E9E0C91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87296E-2DB7-9830-2ED0-3869403BE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GROUP BY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AD1EC36-7912-6807-F114-CBE8C894E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502" y="936200"/>
            <a:ext cx="9884996" cy="1572350"/>
          </a:xfrm>
          <a:prstGeom prst="rect">
            <a:avLst/>
          </a:prstGeom>
        </p:spPr>
      </p:pic>
      <p:pic>
        <p:nvPicPr>
          <p:cNvPr id="2050" name="Picture 2" descr="GROUP BY (上) : 개념과 실제 사용 방법">
            <a:extLst>
              <a:ext uri="{FF2B5EF4-FFF2-40B4-BE49-F238E27FC236}">
                <a16:creationId xmlns:a16="http://schemas.microsoft.com/office/drawing/2014/main" id="{6515D4C2-C7C4-F500-5E6E-01EB41F97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750" y="2543195"/>
            <a:ext cx="8724499" cy="3378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32AED7C-70FC-2723-D27A-39A5D8EA541E}"/>
              </a:ext>
            </a:extLst>
          </p:cNvPr>
          <p:cNvSpPr txBox="1"/>
          <p:nvPr/>
        </p:nvSpPr>
        <p:spPr>
          <a:xfrm>
            <a:off x="3037572" y="5956445"/>
            <a:ext cx="6116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https://kimsyoung.tistory.com/entry/SQL-GROUP-BY-%E4%B8%8A-%EA%B0%9C%EB%85%90%EA%B3%BC-%EC%8B%A4%EC%A0%9C-%EC%A0%81%EC%9A%A9-%EB%B0%A9%EB%B2%95</a:t>
            </a:r>
          </a:p>
        </p:txBody>
      </p:sp>
    </p:spTree>
    <p:extLst>
      <p:ext uri="{BB962C8B-B14F-4D97-AF65-F5344CB8AC3E}">
        <p14:creationId xmlns:p14="http://schemas.microsoft.com/office/powerpoint/2010/main" val="29235927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9478C-8ABA-A524-184A-D2A225703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D7DCC1-EEE5-CC7E-03B2-FC7D04118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HAVING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D50F3E-7078-0D80-4633-E9ABB53D6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148229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💡그룹화 이후에 조건을 적용할 시 </a:t>
            </a:r>
            <a:r>
              <a:rPr lang="en-US" altLang="ko-KR" dirty="0"/>
              <a:t>HAVING </a:t>
            </a:r>
            <a:r>
              <a:rPr lang="ko-KR" altLang="en-US" dirty="0"/>
              <a:t>사용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그룹화 이전은 </a:t>
            </a:r>
            <a:r>
              <a:rPr lang="en-US" altLang="ko-KR" dirty="0"/>
              <a:t>WHERE, </a:t>
            </a:r>
            <a:r>
              <a:rPr lang="ko-KR" altLang="en-US" dirty="0"/>
              <a:t>그룹화 이후는 </a:t>
            </a:r>
            <a:r>
              <a:rPr lang="en-US" altLang="ko-KR" dirty="0"/>
              <a:t>HAVING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FAD9102-3CC8-E7D9-44AA-1A41F31E6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7367" y="2831929"/>
            <a:ext cx="6577266" cy="3138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2635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BF8C313D-308D-A91D-DB60-E20F00CD5CC5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3. GROUP BY</a:t>
            </a:r>
            <a:r>
              <a:rPr lang="ko-KR" altLang="en-US" dirty="0">
                <a:solidFill>
                  <a:srgbClr val="ED7D31"/>
                </a:solidFill>
              </a:rPr>
              <a:t>와 </a:t>
            </a:r>
            <a:r>
              <a:rPr lang="en-US" altLang="ko-KR" dirty="0">
                <a:solidFill>
                  <a:srgbClr val="ED7D31"/>
                </a:solidFill>
              </a:rPr>
              <a:t>HAVING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2CF58E-FB14-855C-5790-8F806A477A2F}"/>
              </a:ext>
            </a:extLst>
          </p:cNvPr>
          <p:cNvSpPr txBox="1"/>
          <p:nvPr/>
        </p:nvSpPr>
        <p:spPr>
          <a:xfrm>
            <a:off x="464687" y="1185770"/>
            <a:ext cx="614445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🔎</a:t>
            </a:r>
            <a:r>
              <a:rPr lang="en-US" altLang="ko-KR" sz="2400" dirty="0" err="1"/>
              <a:t>codingon_db</a:t>
            </a:r>
            <a:r>
              <a:rPr lang="ko-KR" altLang="en-US" sz="2400" dirty="0"/>
              <a:t>를 활용해서</a:t>
            </a:r>
            <a:endParaRPr lang="en-US" altLang="ko-KR" sz="2400" dirty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student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테이블에서 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ID(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class_id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별 수강생 수를 구하세요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(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출력 </a:t>
            </a:r>
            <a:r>
              <a:rPr lang="ko-KR" altLang="en-US" sz="20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컬럼명은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</a:t>
            </a:r>
            <a:r>
              <a:rPr lang="en-US" altLang="ko-KR" sz="20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student_count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로 하세요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.)</a:t>
            </a: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student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테이블에서 성별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(gender)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별 평균 나이를 구하세요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(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출력 </a:t>
            </a:r>
            <a:r>
              <a:rPr lang="ko-KR" altLang="en-US" sz="20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컬럼명은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</a:t>
            </a:r>
            <a:r>
              <a:rPr lang="en-US" altLang="ko-KR" sz="20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avg_age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로 하세요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.)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0593" y="1748903"/>
            <a:ext cx="2076450" cy="135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9187" y="3653058"/>
            <a:ext cx="17049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884396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BF8C313D-308D-A91D-DB60-E20F00CD5CC5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3. GROUP BY</a:t>
            </a:r>
            <a:r>
              <a:rPr lang="ko-KR" altLang="en-US" dirty="0">
                <a:solidFill>
                  <a:srgbClr val="ED7D31"/>
                </a:solidFill>
              </a:rPr>
              <a:t>와 </a:t>
            </a:r>
            <a:r>
              <a:rPr lang="en-US" altLang="ko-KR" dirty="0">
                <a:solidFill>
                  <a:srgbClr val="ED7D31"/>
                </a:solidFill>
              </a:rPr>
              <a:t>HAVING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2CF58E-FB14-855C-5790-8F806A477A2F}"/>
              </a:ext>
            </a:extLst>
          </p:cNvPr>
          <p:cNvSpPr txBox="1"/>
          <p:nvPr/>
        </p:nvSpPr>
        <p:spPr>
          <a:xfrm>
            <a:off x="464687" y="1185770"/>
            <a:ext cx="6352802" cy="5216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🔎</a:t>
            </a:r>
            <a:r>
              <a:rPr lang="en-US" altLang="ko-KR" sz="2400" dirty="0" err="1"/>
              <a:t>codingon_db</a:t>
            </a:r>
            <a:r>
              <a:rPr lang="ko-KR" altLang="en-US" sz="2400" dirty="0"/>
              <a:t>를 활용해서</a:t>
            </a:r>
            <a:endParaRPr lang="en-US" altLang="ko-KR" sz="24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평균 나이가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26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세 이상인 성별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(gender)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만 조회하고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평균 나이를 함께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평균 나이는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avg_age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라는 이름으로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 startAt="3"/>
            </a:pP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class_id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별 수강생들의 가장 빠른 수강일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join_date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구하세요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.(</a:t>
            </a:r>
            <a:r>
              <a:rPr lang="ko-KR" altLang="en-US" sz="20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수강일을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</a:t>
            </a:r>
            <a:r>
              <a:rPr lang="en-US" altLang="ko-KR" sz="20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first_join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이라는 </a:t>
            </a:r>
            <a:r>
              <a:rPr lang="ko-KR" altLang="en-US" sz="20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컬럼명으로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)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 startAt="3"/>
            </a:pP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 startAt="3"/>
            </a:pP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 startAt="3"/>
            </a:pP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student 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테이블에서 반 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ID(</a:t>
            </a:r>
            <a:r>
              <a:rPr lang="en-US" altLang="ko-KR" sz="20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class_id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)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별로 가장 어린 수강생의 나이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(</a:t>
            </a:r>
            <a:r>
              <a:rPr lang="en-US" altLang="ko-KR" sz="20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min_age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)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를 구하고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,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해당 나이가 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25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세 이상인 반만 출력하세요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.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1235" y="1841200"/>
            <a:ext cx="1695450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5985" y="3176501"/>
            <a:ext cx="1885950" cy="135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7409" y="5068483"/>
            <a:ext cx="18192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24617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BF8C313D-308D-A91D-DB60-E20F00CD5CC5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3. GROUP BY</a:t>
            </a:r>
            <a:r>
              <a:rPr lang="ko-KR" altLang="en-US" dirty="0">
                <a:solidFill>
                  <a:srgbClr val="ED7D31"/>
                </a:solidFill>
              </a:rPr>
              <a:t>와 </a:t>
            </a:r>
            <a:r>
              <a:rPr lang="en-US" altLang="ko-KR" dirty="0">
                <a:solidFill>
                  <a:srgbClr val="ED7D31"/>
                </a:solidFill>
              </a:rPr>
              <a:t>HAVING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2CF58E-FB14-855C-5790-8F806A477A2F}"/>
              </a:ext>
            </a:extLst>
          </p:cNvPr>
          <p:cNvSpPr txBox="1"/>
          <p:nvPr/>
        </p:nvSpPr>
        <p:spPr>
          <a:xfrm>
            <a:off x="464687" y="1185770"/>
            <a:ext cx="5808791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🔎</a:t>
            </a:r>
            <a:r>
              <a:rPr lang="en-US" altLang="ko-KR" sz="2400" dirty="0" err="1"/>
              <a:t>codingon_db</a:t>
            </a:r>
            <a:r>
              <a:rPr lang="ko-KR" altLang="en-US" sz="2400" dirty="0"/>
              <a:t>를 활용해서</a:t>
            </a:r>
            <a:endParaRPr lang="en-US" altLang="ko-KR" sz="24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성별별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나이 최대값과 최소값의 차이를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age_gap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이라는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컬럼명으로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출력하고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차이가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세 이상인 경우만 조회하세요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class_id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별 평균 나이를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avg_age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라는 이름으로 출력하고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그 값이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24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세 이상인 반만 평균 나이 내림차순으로 조회하세요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2500" y="1840597"/>
            <a:ext cx="1695450" cy="75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2500" y="4116107"/>
            <a:ext cx="1743075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6639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7E81B-671B-F7B1-B5C9-0C30D15DB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313E8A-D030-E658-0DAF-60ADF4F63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UPDATE </a:t>
            </a:r>
            <a:r>
              <a:rPr lang="ko-KR" altLang="en-US" dirty="0"/>
              <a:t>문</a:t>
            </a:r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ACEA0050-C630-25BB-1E7A-FAE381C0D395}"/>
              </a:ext>
            </a:extLst>
          </p:cNvPr>
          <p:cNvSpPr txBox="1">
            <a:spLocks/>
          </p:cNvSpPr>
          <p:nvPr/>
        </p:nvSpPr>
        <p:spPr>
          <a:xfrm>
            <a:off x="245389" y="1145407"/>
            <a:ext cx="11701221" cy="150153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테이블에 이미 존재하는 데이터를 수정할 때 사용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⚠️</a:t>
            </a:r>
            <a:r>
              <a:rPr lang="ko-KR" altLang="en-US" dirty="0"/>
              <a:t> </a:t>
            </a:r>
            <a:r>
              <a:rPr lang="en-US" altLang="ko-KR" dirty="0"/>
              <a:t>WHERE</a:t>
            </a:r>
            <a:r>
              <a:rPr lang="ko-KR" altLang="en-US" dirty="0"/>
              <a:t>절 없이 실행하면 모든 행이 수정됨</a:t>
            </a:r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6B35E56-7F8C-74CF-64C2-1558051496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5199" y="3188355"/>
            <a:ext cx="8181600" cy="818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8267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4BB94-E8A9-B686-FE68-C070D32CC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023BE1-F38F-1087-E86C-DAA4EF763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DELETE </a:t>
            </a:r>
            <a:r>
              <a:rPr lang="ko-KR" altLang="en-US" dirty="0"/>
              <a:t>문</a:t>
            </a:r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16109A6C-31C2-1387-F2DE-522BB6AB291F}"/>
              </a:ext>
            </a:extLst>
          </p:cNvPr>
          <p:cNvSpPr txBox="1">
            <a:spLocks/>
          </p:cNvSpPr>
          <p:nvPr/>
        </p:nvSpPr>
        <p:spPr>
          <a:xfrm>
            <a:off x="245389" y="1145407"/>
            <a:ext cx="11701221" cy="150153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테이블에서 데이터를 삭제할 때 사용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⚠️</a:t>
            </a:r>
            <a:r>
              <a:rPr lang="ko-KR" altLang="en-US" dirty="0"/>
              <a:t> </a:t>
            </a:r>
            <a:r>
              <a:rPr lang="en-US" altLang="ko-KR" dirty="0"/>
              <a:t>WHERE </a:t>
            </a:r>
            <a:r>
              <a:rPr lang="ko-KR" altLang="en-US" dirty="0"/>
              <a:t>절을 생략하면 전체 데이터가 삭제됨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23DDB58-9AB4-48DE-F930-41574F78A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973" y="3221816"/>
            <a:ext cx="6430054" cy="989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0002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BF8C313D-308D-A91D-DB60-E20F00CD5CC5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4. UPDATE</a:t>
            </a:r>
            <a:r>
              <a:rPr lang="ko-KR" altLang="en-US" dirty="0">
                <a:solidFill>
                  <a:srgbClr val="ED7D31"/>
                </a:solidFill>
              </a:rPr>
              <a:t>와 </a:t>
            </a:r>
            <a:r>
              <a:rPr lang="en-US" altLang="ko-KR" dirty="0">
                <a:solidFill>
                  <a:srgbClr val="ED7D31"/>
                </a:solidFill>
              </a:rPr>
              <a:t>DELETE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2CF58E-FB14-855C-5790-8F806A477A2F}"/>
              </a:ext>
            </a:extLst>
          </p:cNvPr>
          <p:cNvSpPr txBox="1"/>
          <p:nvPr/>
        </p:nvSpPr>
        <p:spPr>
          <a:xfrm>
            <a:off x="464687" y="1185770"/>
            <a:ext cx="11335427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🔎</a:t>
            </a:r>
            <a:r>
              <a:rPr lang="en-US" altLang="ko-KR" sz="2400" dirty="0" err="1"/>
              <a:t>codingon_db</a:t>
            </a:r>
            <a:r>
              <a:rPr lang="ko-KR" altLang="en-US" sz="2400" dirty="0"/>
              <a:t>를 활용해서</a:t>
            </a:r>
            <a:endParaRPr lang="en-US" altLang="ko-KR" sz="2400" dirty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student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테이블에서 이름이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정국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 수강생의 나이를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26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세로 수정하세요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457200" indent="-457200">
              <a:lnSpc>
                <a:spcPct val="150000"/>
              </a:lnSpc>
              <a:buFontTx/>
              <a:buAutoNum type="arabicPeriod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student 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테이블에서 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'B-101' 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교실에 속한 반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(CLS01)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의 수강생 중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, 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나이가 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25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세 미만인 경우 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age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를 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+1 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증가시키세요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class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테이블에서 교실 이름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(room)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'G'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시작하는 수업 데이터를 삭제하세요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student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테이블에서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2024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년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일 이전에 수강 시작한 모든 수강생을 삭제하세요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054231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4623F-578D-6FD4-512C-3910D6053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C1E088-EEB4-6E13-B8CE-C47FE7F06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변수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8308AE-CB6A-A20A-7B9E-860557247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8"/>
            <a:ext cx="11701221" cy="263556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 </a:t>
            </a:r>
            <a:r>
              <a:rPr lang="en-US" altLang="ko-KR" dirty="0"/>
              <a:t>MySQL</a:t>
            </a:r>
            <a:r>
              <a:rPr lang="ko-KR" altLang="en-US" dirty="0"/>
              <a:t>에서 값을 저장하고 재사용하기 위한 임시 저장 공간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쿼리 내에서 값을 저장</a:t>
            </a:r>
            <a:r>
              <a:rPr lang="en-US" altLang="ko-KR" dirty="0"/>
              <a:t>, </a:t>
            </a:r>
            <a:r>
              <a:rPr lang="ko-KR" altLang="en-US" dirty="0"/>
              <a:t>계산 결과 유지</a:t>
            </a:r>
            <a:r>
              <a:rPr lang="en-US" altLang="ko-KR" dirty="0"/>
              <a:t>, </a:t>
            </a:r>
            <a:r>
              <a:rPr lang="ko-KR" altLang="en-US" dirty="0"/>
              <a:t>조건 처리 등에 활용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/>
              <a:t>✅ 변수의 종류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327247E-4C64-592E-F6B9-B962C278DB5C}"/>
              </a:ext>
            </a:extLst>
          </p:cNvPr>
          <p:cNvGraphicFramePr>
            <a:graphicFrameLocks noGrp="1"/>
          </p:cNvGraphicFramePr>
          <p:nvPr/>
        </p:nvGraphicFramePr>
        <p:xfrm>
          <a:off x="555219" y="3537856"/>
          <a:ext cx="11094357" cy="1931622"/>
        </p:xfrm>
        <a:graphic>
          <a:graphicData uri="http://schemas.openxmlformats.org/drawingml/2006/table">
            <a:tbl>
              <a:tblPr/>
              <a:tblGrid>
                <a:gridCol w="1852310">
                  <a:extLst>
                    <a:ext uri="{9D8B030D-6E8A-4147-A177-3AD203B41FA5}">
                      <a16:colId xmlns:a16="http://schemas.microsoft.com/office/drawing/2014/main" val="4016934967"/>
                    </a:ext>
                  </a:extLst>
                </a:gridCol>
                <a:gridCol w="4738011">
                  <a:extLst>
                    <a:ext uri="{9D8B030D-6E8A-4147-A177-3AD203B41FA5}">
                      <a16:colId xmlns:a16="http://schemas.microsoft.com/office/drawing/2014/main" val="1419453923"/>
                    </a:ext>
                  </a:extLst>
                </a:gridCol>
                <a:gridCol w="4504036">
                  <a:extLst>
                    <a:ext uri="{9D8B030D-6E8A-4147-A177-3AD203B41FA5}">
                      <a16:colId xmlns:a16="http://schemas.microsoft.com/office/drawing/2014/main" val="585479216"/>
                    </a:ext>
                  </a:extLst>
                </a:gridCol>
              </a:tblGrid>
              <a:tr h="64387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2661764"/>
                  </a:ext>
                </a:extLst>
              </a:tr>
              <a:tr h="64387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사용자 변수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세션 내에서 자유롭게 선언 가능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SET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@my_var = 100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4997497"/>
                  </a:ext>
                </a:extLst>
              </a:tr>
              <a:tr h="64387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시스템 변수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MySQL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환경 설정용 변수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@@autocommit, @@sql_mode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등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2709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12483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8AE2F-7E23-C679-37DB-A276E15E1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3E6BC1-3CE8-A37C-7D8F-97DC193CE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사용자 변수 기초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84B23A-CD7C-3C93-D77A-DD7CAF7A3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8277" y="1022247"/>
            <a:ext cx="11701221" cy="56319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변수의 선언과 할당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226002E-8895-BDC2-D120-A558780EEC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364" b="24560"/>
          <a:stretch/>
        </p:blipFill>
        <p:spPr>
          <a:xfrm>
            <a:off x="1017205" y="1585492"/>
            <a:ext cx="4669640" cy="9398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2889F4D-37E4-CBAA-17B8-624C8B3DFA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205" y="3222601"/>
            <a:ext cx="4353455" cy="2145078"/>
          </a:xfrm>
          <a:prstGeom prst="rect">
            <a:avLst/>
          </a:prstGeom>
        </p:spPr>
      </p:pic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8D722985-7111-6D7C-17D8-D78DE9728D34}"/>
              </a:ext>
            </a:extLst>
          </p:cNvPr>
          <p:cNvSpPr txBox="1">
            <a:spLocks/>
          </p:cNvSpPr>
          <p:nvPr/>
        </p:nvSpPr>
        <p:spPr>
          <a:xfrm>
            <a:off x="878277" y="2659408"/>
            <a:ext cx="4316127" cy="56319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/>
              <a:t>✅ 변수 사용 예시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183092D-DF35-C6FB-6487-C3D4360E0A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9588" y="3222601"/>
            <a:ext cx="5665207" cy="2145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3703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4132</TotalTime>
  <Words>2036</Words>
  <Application>Microsoft Office PowerPoint</Application>
  <PresentationFormat>와이드스크린</PresentationFormat>
  <Paragraphs>574</Paragraphs>
  <Slides>46</Slides>
  <Notes>40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46</vt:i4>
      </vt:variant>
    </vt:vector>
  </HeadingPairs>
  <TitlesOfParts>
    <vt:vector size="57" baseType="lpstr">
      <vt:lpstr>G마켓 산스 TTF Bold</vt:lpstr>
      <vt:lpstr>Kim jung chul Gothic Regular</vt:lpstr>
      <vt:lpstr>Pretendard Black</vt:lpstr>
      <vt:lpstr>Pretendard Light</vt:lpstr>
      <vt:lpstr>Pretendard Medium</vt:lpstr>
      <vt:lpstr>맑은 고딕</vt:lpstr>
      <vt:lpstr>Malgun Gothic Semilight</vt:lpstr>
      <vt:lpstr>메이플스토리</vt:lpstr>
      <vt:lpstr>Arial</vt:lpstr>
      <vt:lpstr>Wingdings</vt:lpstr>
      <vt:lpstr>1_Office 테마</vt:lpstr>
      <vt:lpstr>x</vt:lpstr>
      <vt:lpstr>PowerPoint 프레젠테이션</vt:lpstr>
      <vt:lpstr>기초 조회 쿼리</vt:lpstr>
      <vt:lpstr>PowerPoint 프레젠테이션</vt:lpstr>
      <vt:lpstr>DML</vt:lpstr>
      <vt:lpstr>CRUD</vt:lpstr>
      <vt:lpstr>INSERT 문</vt:lpstr>
      <vt:lpstr>INSERT 문</vt:lpstr>
      <vt:lpstr>INSERT 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SELECT 문</vt:lpstr>
      <vt:lpstr>SELECT 문</vt:lpstr>
      <vt:lpstr>SELECT 문 구성 요소</vt:lpstr>
      <vt:lpstr>SQL Alias(별칭) 문법 정리</vt:lpstr>
      <vt:lpstr>SELECT 문</vt:lpstr>
      <vt:lpstr>SELECT 내부적 실행 순서</vt:lpstr>
      <vt:lpstr>WHERE 절</vt:lpstr>
      <vt:lpstr>조건 연산자 – 비교 연산자</vt:lpstr>
      <vt:lpstr>조건 연산자 - 논리 연산자</vt:lpstr>
      <vt:lpstr>조건 연산자 - 범위, 집합, 패턴, NULL</vt:lpstr>
      <vt:lpstr>LIKE</vt:lpstr>
      <vt:lpstr>와일드 문자</vt:lpstr>
      <vt:lpstr>ORDER BY</vt:lpstr>
      <vt:lpstr>LIMIT</vt:lpstr>
      <vt:lpstr>LIMIT</vt:lpstr>
      <vt:lpstr>DISTINCT</vt:lpstr>
      <vt:lpstr>PowerPoint 프레젠테이션</vt:lpstr>
      <vt:lpstr>PowerPoint 프레젠테이션</vt:lpstr>
      <vt:lpstr>PowerPoint 프레젠테이션</vt:lpstr>
      <vt:lpstr>GROUP BY</vt:lpstr>
      <vt:lpstr>GROUP BY</vt:lpstr>
      <vt:lpstr>HAVING</vt:lpstr>
      <vt:lpstr>PowerPoint 프레젠테이션</vt:lpstr>
      <vt:lpstr>PowerPoint 프레젠테이션</vt:lpstr>
      <vt:lpstr>PowerPoint 프레젠테이션</vt:lpstr>
      <vt:lpstr>UPDATE 문</vt:lpstr>
      <vt:lpstr>DELETE 문</vt:lpstr>
      <vt:lpstr>PowerPoint 프레젠테이션</vt:lpstr>
      <vt:lpstr>변수</vt:lpstr>
      <vt:lpstr>사용자 변수 기초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329</cp:revision>
  <dcterms:created xsi:type="dcterms:W3CDTF">2023-01-31T04:26:23Z</dcterms:created>
  <dcterms:modified xsi:type="dcterms:W3CDTF">2025-10-24T01:26:01Z</dcterms:modified>
</cp:coreProperties>
</file>